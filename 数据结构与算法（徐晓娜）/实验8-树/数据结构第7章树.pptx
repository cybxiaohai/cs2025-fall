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gif" ContentType="image/gi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110"/>
  </p:handoutMasterIdLst>
  <p:sldIdLst>
    <p:sldId id="262" r:id="rId5"/>
    <p:sldId id="263" r:id="rId7"/>
    <p:sldId id="552" r:id="rId8"/>
    <p:sldId id="553" r:id="rId9"/>
    <p:sldId id="554" r:id="rId10"/>
    <p:sldId id="555" r:id="rId11"/>
    <p:sldId id="545" r:id="rId12"/>
    <p:sldId id="414" r:id="rId13"/>
    <p:sldId id="605" r:id="rId14"/>
    <p:sldId id="606" r:id="rId15"/>
    <p:sldId id="607" r:id="rId16"/>
    <p:sldId id="608" r:id="rId17"/>
    <p:sldId id="609" r:id="rId18"/>
    <p:sldId id="666" r:id="rId19"/>
    <p:sldId id="611" r:id="rId20"/>
    <p:sldId id="612" r:id="rId21"/>
    <p:sldId id="613" r:id="rId22"/>
    <p:sldId id="614" r:id="rId23"/>
    <p:sldId id="619" r:id="rId24"/>
    <p:sldId id="620" r:id="rId25"/>
    <p:sldId id="546" r:id="rId26"/>
    <p:sldId id="621" r:id="rId27"/>
    <p:sldId id="548" r:id="rId28"/>
    <p:sldId id="840" r:id="rId29"/>
    <p:sldId id="267" r:id="rId30"/>
    <p:sldId id="519" r:id="rId31"/>
    <p:sldId id="622" r:id="rId32"/>
    <p:sldId id="268" r:id="rId33"/>
    <p:sldId id="270" r:id="rId34"/>
    <p:sldId id="564" r:id="rId35"/>
    <p:sldId id="565" r:id="rId36"/>
    <p:sldId id="566" r:id="rId37"/>
    <p:sldId id="273" r:id="rId38"/>
    <p:sldId id="516" r:id="rId39"/>
    <p:sldId id="417" r:id="rId40"/>
    <p:sldId id="277" r:id="rId41"/>
    <p:sldId id="718" r:id="rId42"/>
    <p:sldId id="719" r:id="rId43"/>
    <p:sldId id="720" r:id="rId44"/>
    <p:sldId id="721" r:id="rId45"/>
    <p:sldId id="722" r:id="rId46"/>
    <p:sldId id="723" r:id="rId47"/>
    <p:sldId id="724" r:id="rId48"/>
    <p:sldId id="725" r:id="rId49"/>
    <p:sldId id="288" r:id="rId50"/>
    <p:sldId id="425" r:id="rId51"/>
    <p:sldId id="517" r:id="rId52"/>
    <p:sldId id="518" r:id="rId53"/>
    <p:sldId id="470" r:id="rId54"/>
    <p:sldId id="296" r:id="rId55"/>
    <p:sldId id="726" r:id="rId56"/>
    <p:sldId id="727" r:id="rId57"/>
    <p:sldId id="728" r:id="rId58"/>
    <p:sldId id="729" r:id="rId59"/>
    <p:sldId id="790" r:id="rId60"/>
    <p:sldId id="791" r:id="rId61"/>
    <p:sldId id="792" r:id="rId62"/>
    <p:sldId id="793" r:id="rId63"/>
    <p:sldId id="794" r:id="rId64"/>
    <p:sldId id="795" r:id="rId65"/>
    <p:sldId id="796" r:id="rId66"/>
    <p:sldId id="797" r:id="rId67"/>
    <p:sldId id="798" r:id="rId68"/>
    <p:sldId id="799" r:id="rId69"/>
    <p:sldId id="800" r:id="rId70"/>
    <p:sldId id="801" r:id="rId71"/>
    <p:sldId id="802" r:id="rId72"/>
    <p:sldId id="803" r:id="rId73"/>
    <p:sldId id="804" r:id="rId74"/>
    <p:sldId id="805" r:id="rId75"/>
    <p:sldId id="806" r:id="rId76"/>
    <p:sldId id="807" r:id="rId77"/>
    <p:sldId id="526" r:id="rId78"/>
    <p:sldId id="735" r:id="rId79"/>
    <p:sldId id="737" r:id="rId80"/>
    <p:sldId id="738" r:id="rId81"/>
    <p:sldId id="734" r:id="rId82"/>
    <p:sldId id="563" r:id="rId83"/>
    <p:sldId id="764" r:id="rId84"/>
    <p:sldId id="765" r:id="rId85"/>
    <p:sldId id="766" r:id="rId86"/>
    <p:sldId id="767" r:id="rId87"/>
    <p:sldId id="768" r:id="rId88"/>
    <p:sldId id="769" r:id="rId89"/>
    <p:sldId id="529" r:id="rId90"/>
    <p:sldId id="531" r:id="rId91"/>
    <p:sldId id="530" r:id="rId92"/>
    <p:sldId id="557" r:id="rId93"/>
    <p:sldId id="561" r:id="rId94"/>
    <p:sldId id="560" r:id="rId95"/>
    <p:sldId id="534" r:id="rId96"/>
    <p:sldId id="770" r:id="rId97"/>
    <p:sldId id="731" r:id="rId98"/>
    <p:sldId id="730" r:id="rId99"/>
    <p:sldId id="771" r:id="rId100"/>
    <p:sldId id="732" r:id="rId101"/>
    <p:sldId id="380" r:id="rId102"/>
    <p:sldId id="382" r:id="rId103"/>
    <p:sldId id="449" r:id="rId104"/>
    <p:sldId id="509" r:id="rId105"/>
    <p:sldId id="542" r:id="rId106"/>
    <p:sldId id="513" r:id="rId107"/>
    <p:sldId id="514" r:id="rId108"/>
    <p:sldId id="543" r:id="rId109"/>
  </p:sldIdLst>
  <p:sldSz cx="12192000" cy="6858000"/>
  <p:notesSz cx="6858000" cy="9144000"/>
  <p:custDataLst>
    <p:tags r:id="rId11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4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1552D1"/>
    <a:srgbClr val="FFFFFF"/>
    <a:srgbClr val="1F497D"/>
    <a:srgbClr val="1F8BD5"/>
    <a:srgbClr val="0099FF"/>
    <a:srgbClr val="800080"/>
    <a:srgbClr val="66FF66"/>
    <a:srgbClr val="009900"/>
    <a:srgbClr val="66FF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2786"/>
    <p:restoredTop sz="89974"/>
  </p:normalViewPr>
  <p:slideViewPr>
    <p:cSldViewPr showGuides="1">
      <p:cViewPr varScale="1">
        <p:scale>
          <a:sx n="93" d="100"/>
          <a:sy n="93" d="100"/>
        </p:scale>
        <p:origin x="-1194" y="-96"/>
      </p:cViewPr>
      <p:guideLst>
        <p:guide orient="horz" pos="216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4" Type="http://schemas.openxmlformats.org/officeDocument/2006/relationships/tags" Target="tags/tag1.xml"/><Relationship Id="rId113" Type="http://schemas.openxmlformats.org/officeDocument/2006/relationships/tableStyles" Target="tableStyles.xml"/><Relationship Id="rId112" Type="http://schemas.openxmlformats.org/officeDocument/2006/relationships/viewProps" Target="viewProps.xml"/><Relationship Id="rId111" Type="http://schemas.openxmlformats.org/officeDocument/2006/relationships/presProps" Target="presProps.xml"/><Relationship Id="rId110" Type="http://schemas.openxmlformats.org/officeDocument/2006/relationships/handoutMaster" Target="handoutMasters/handoutMaster1.xml"/><Relationship Id="rId11" Type="http://schemas.openxmlformats.org/officeDocument/2006/relationships/slide" Target="slides/slide6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7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7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7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Rectangle 4"/>
          <p:cNvSpPr>
            <a:spLocks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b="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2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顺序存储，很容易确定前驱和后继，但存储密度低，比如，一颗</a:t>
            </a:r>
            <a:r>
              <a:rPr lang="en-US" altLang="zh-CN" dirty="0"/>
              <a:t>6</a:t>
            </a:r>
            <a:r>
              <a:rPr lang="zh-CN" altLang="en-US" dirty="0"/>
              <a:t>层只有左子树的数，需要</a:t>
            </a:r>
            <a:r>
              <a:rPr lang="en-US" altLang="zh-CN" dirty="0"/>
              <a:t>63</a:t>
            </a:r>
            <a:r>
              <a:rPr lang="zh-CN" altLang="en-US" dirty="0"/>
              <a:t>个节点，大大浪费空间</a:t>
            </a:r>
            <a:endParaRPr lang="zh-CN" altLang="en-US" dirty="0"/>
          </a:p>
        </p:txBody>
      </p:sp>
      <p:sp>
        <p:nvSpPr>
          <p:cNvPr id="430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/>
              <a:t>节点所在的层数</a:t>
            </a:r>
            <a:endParaRPr lang="zh-CN" altLang="en-US" dirty="0"/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24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r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audio" Target="../media/audio1.wav"/><Relationship Id="rId4" Type="http://schemas.openxmlformats.org/officeDocument/2006/relationships/slide" Target="slide99.xml"/><Relationship Id="rId3" Type="http://schemas.openxmlformats.org/officeDocument/2006/relationships/slide" Target="slide45.xml"/><Relationship Id="rId2" Type="http://schemas.openxmlformats.org/officeDocument/2006/relationships/slide" Target="slide25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8.xml"/><Relationship Id="rId4" Type="http://schemas.openxmlformats.org/officeDocument/2006/relationships/oleObject" Target="../embeddings/oleObject6.bin"/><Relationship Id="rId3" Type="http://schemas.openxmlformats.org/officeDocument/2006/relationships/image" Target="../media/image7.GIF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GI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GI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GI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GI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GI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GI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2.GIF"/><Relationship Id="rId1" Type="http://schemas.openxmlformats.org/officeDocument/2006/relationships/image" Target="../media/image1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GI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jpe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7.bin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.png"/><Relationship Id="rId1" Type="http://schemas.openxmlformats.org/officeDocument/2006/relationships/oleObject" Target="../embeddings/oleObject8.bin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5.png"/><Relationship Id="rId1" Type="http://schemas.openxmlformats.org/officeDocument/2006/relationships/oleObject" Target="../embeddings/oleObject9.bin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.png"/><Relationship Id="rId1" Type="http://schemas.openxmlformats.org/officeDocument/2006/relationships/oleObject" Target="../embeddings/oleObject10.bin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1.bin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2.bin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3.bin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9" name="Text Box 3"/>
          <p:cNvSpPr txBox="1">
            <a:spLocks noChangeArrowheads="1"/>
          </p:cNvSpPr>
          <p:nvPr/>
        </p:nvSpPr>
        <p:spPr bwMode="auto">
          <a:xfrm>
            <a:off x="2057400" y="2057400"/>
            <a:ext cx="4648200" cy="343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05000"/>
              </a:lnSpc>
              <a:spcBef>
                <a:spcPct val="10000"/>
              </a:spcBef>
              <a:buClr>
                <a:srgbClr val="008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rId1" action="ppaction://hlinksldjump"/>
              </a:rPr>
              <a:t> </a:t>
            </a:r>
            <a:r>
              <a:rPr kumimoji="1" lang="zh-CN" altLang="en-US" sz="32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rId1" action="ppaction://hlinksldjump"/>
              </a:rPr>
              <a:t>树的概念 </a:t>
            </a:r>
            <a:endParaRPr kumimoji="1" lang="zh-CN" altLang="en-US" sz="3200" b="0" kern="1200" cap="none" spc="0" normalizeH="0" baseline="0" noProof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  <a:hlinkClick r:id="rId1" action="ppaction://hlinksldjump"/>
            </a:endParaRPr>
          </a:p>
          <a:p>
            <a:pPr marR="0" defTabSz="914400">
              <a:lnSpc>
                <a:spcPct val="105000"/>
              </a:lnSpc>
              <a:spcBef>
                <a:spcPct val="10000"/>
              </a:spcBef>
              <a:buClr>
                <a:srgbClr val="008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u="sng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树的遍历及存储</a:t>
            </a:r>
            <a:endParaRPr kumimoji="1" lang="zh-CN" altLang="en-US" sz="3200" u="sng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spcBef>
                <a:spcPct val="10000"/>
              </a:spcBef>
              <a:buClr>
                <a:srgbClr val="008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rId2" action="ppaction://hlinksldjump"/>
              </a:rPr>
              <a:t>二叉树 </a:t>
            </a:r>
            <a:endParaRPr kumimoji="1" lang="zh-CN" altLang="en-US" sz="32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  <a:hlinkClick r:id="rId2" action="ppaction://hlinksldjump"/>
            </a:endParaRPr>
          </a:p>
          <a:p>
            <a:pPr marR="0" defTabSz="914400">
              <a:lnSpc>
                <a:spcPct val="105000"/>
              </a:lnSpc>
              <a:spcBef>
                <a:spcPct val="10000"/>
              </a:spcBef>
              <a:buClr>
                <a:srgbClr val="008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" action="ppaction://noaction"/>
              </a:rPr>
              <a:t> </a:t>
            </a: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rId3" action="ppaction://hlinksldjump"/>
              </a:rPr>
              <a:t>二叉树的遍历</a:t>
            </a:r>
            <a:endParaRPr kumimoji="1" lang="zh-CN" altLang="en-US" sz="32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  <a:hlinkClick r:id="rId3" action="ppaction://hlinksldjump"/>
            </a:endParaRPr>
          </a:p>
          <a:p>
            <a:pPr marR="0" defTabSz="914400">
              <a:lnSpc>
                <a:spcPct val="105000"/>
              </a:lnSpc>
              <a:spcBef>
                <a:spcPct val="10000"/>
              </a:spcBef>
              <a:buClr>
                <a:srgbClr val="008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" action="ppaction://noaction"/>
              </a:rPr>
              <a:t> 线索二叉树</a:t>
            </a:r>
            <a:endParaRPr kumimoji="1" lang="zh-CN" altLang="en-US" sz="32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  <a:hlinkClick r:id="" action="ppaction://noaction"/>
            </a:endParaRPr>
          </a:p>
          <a:p>
            <a:pPr marR="0" defTabSz="914400">
              <a:lnSpc>
                <a:spcPct val="105000"/>
              </a:lnSpc>
              <a:spcBef>
                <a:spcPct val="10000"/>
              </a:spcBef>
              <a:buClr>
                <a:srgbClr val="008000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" action="ppaction://noaction"/>
              </a:rPr>
              <a:t> </a:t>
            </a:r>
            <a:r>
              <a:rPr kumimoji="1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  <a:hlinkClick r:id="rId4" action="ppaction://hlinksldjump"/>
              </a:rPr>
              <a:t>哈夫曼树及其应用 </a:t>
            </a:r>
            <a:endParaRPr kumimoji="1" lang="zh-CN" altLang="en-US" sz="32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  <a:hlinkClick r:id="" action="ppaction://noaction"/>
            </a:endParaRPr>
          </a:p>
        </p:txBody>
      </p:sp>
      <p:sp>
        <p:nvSpPr>
          <p:cNvPr id="8194" name="WordArt 4"/>
          <p:cNvSpPr>
            <a:spLocks noTextEdit="1"/>
          </p:cNvSpPr>
          <p:nvPr/>
        </p:nvSpPr>
        <p:spPr>
          <a:xfrm>
            <a:off x="3048000" y="838200"/>
            <a:ext cx="5143500" cy="685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0"/>
              </a:avLst>
            </a:prstTxWarp>
            <a:normAutofit fontScale="70000"/>
          </a:bodyPr>
          <a:p>
            <a:pPr algn="ctr" fontAlgn="base"/>
            <a:r>
              <a:rPr lang="zh-CN" altLang="en-US" sz="5400" b="1" strike="noStrike" noProof="1">
                <a:ln w="9525" cap="flat" cmpd="sng">
                  <a:solidFill>
                    <a:srgbClr val="CC99FF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  <a:tileRect/>
                </a:gradFill>
                <a:effectLst>
                  <a:outerShdw dist="53882" dir="2699999" algn="ctr" rotWithShape="0">
                    <a:srgbClr val="9999FF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第七章 树</a:t>
            </a:r>
            <a:endParaRPr lang="zh-CN" altLang="en-US" sz="5400" b="1" strike="noStrike" noProof="1">
              <a:ln w="9525" cap="flat" cmpd="sng">
                <a:solidFill>
                  <a:srgbClr val="CC99FF"/>
                </a:solidFill>
                <a:prstDash val="solid"/>
                <a:round/>
                <a:headEnd type="none" w="med" len="med"/>
                <a:tailEnd type="none" w="med" len="med"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  <a:tileRect/>
              </a:gradFill>
              <a:effectLst>
                <a:outerShdw dist="53882" dir="2699999" algn="ctr" rotWithShape="0">
                  <a:srgbClr val="9999FF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6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charRg st="6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14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6739">
                                            <p:txEl>
                                              <p:charRg st="14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19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6739">
                                            <p:txEl>
                                              <p:charRg st="19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2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6739">
                                            <p:txEl>
                                              <p:charRg st="27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6739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6324600" y="1219200"/>
            <a:ext cx="5195570" cy="53003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pPr marR="0" defTabSz="914400">
              <a:lnSpc>
                <a:spcPct val="105000"/>
              </a:lnSpc>
              <a:spcBef>
                <a:spcPct val="20000"/>
              </a:spcBef>
              <a:buClrTx/>
              <a:buSzTx/>
              <a:defRPr/>
            </a:pPr>
            <a:r>
              <a:rPr kumimoji="1" lang="en-US" altLang="zh-CN" sz="36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</a:t>
            </a:r>
            <a:r>
              <a:rPr kumimoji="1" lang="zh-CN" altLang="en-US" sz="36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树的递归定义</a:t>
            </a: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endParaRPr kumimoji="1" lang="zh-CN" altLang="en-US" sz="28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spcBef>
                <a:spcPct val="20000"/>
              </a:spcBef>
              <a:buClrTx/>
              <a:buSzTx/>
              <a:defRPr/>
            </a:pP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r>
              <a:rPr kumimoji="1" lang="zh-CN" altLang="en-US" sz="2800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树是由</a:t>
            </a: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i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(</a:t>
            </a:r>
            <a:r>
              <a:rPr kumimoji="1" lang="en-US" altLang="zh-CN" sz="2800" i="1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</a:t>
            </a:r>
            <a:r>
              <a:rPr kumimoji="1" lang="en-US" altLang="zh-CN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0) </a:t>
            </a:r>
            <a:r>
              <a:rPr kumimoji="1" lang="zh-CN" altLang="en-US" sz="2800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个结点组成的有限集合。如果 </a:t>
            </a:r>
            <a:r>
              <a:rPr kumimoji="1" lang="en-US" altLang="zh-CN" sz="2800" i="1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= 0</a:t>
            </a:r>
            <a:r>
              <a:rPr kumimoji="1" lang="zh-CN" altLang="en-US" sz="2800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，称为空树；如果 </a:t>
            </a:r>
            <a:r>
              <a:rPr kumimoji="1" lang="en-US" altLang="zh-CN" sz="2800" i="1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&gt; 0</a:t>
            </a:r>
            <a:r>
              <a:rPr kumimoji="1" lang="zh-CN" altLang="en-US" sz="2800" kern="1200" cap="none" spc="0" normalizeH="0" baseline="0" noProof="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，则</a:t>
            </a:r>
            <a:endParaRPr kumimoji="1" lang="zh-CN" altLang="en-US" sz="28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spcBef>
                <a:spcPct val="20000"/>
              </a:spcBef>
              <a:buClrTx/>
              <a:buSzTx/>
              <a:defRPr/>
            </a:pP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r>
              <a:rPr kumimoji="1" lang="zh-CN" altLang="en-US" sz="2800" kern="1200" cap="none" spc="0" normalizeH="0" baseline="0" noProof="0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Wingdings" panose="05000000000000000000" pitchFamily="2" charset="2"/>
              </a:rPr>
              <a:t> 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有一个特定的称之为</a:t>
            </a:r>
            <a:r>
              <a:rPr kumimoji="1" lang="zh-CN" altLang="en-US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根</a:t>
            </a:r>
            <a:r>
              <a:rPr kumimoji="1" lang="en-US" altLang="zh-CN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(root)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的结点，它只有直接后继，但没有直接前驱；</a:t>
            </a:r>
            <a:endParaRPr kumimoji="1" lang="zh-CN" altLang="en-US" sz="2800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spcBef>
                <a:spcPct val="20000"/>
              </a:spcBef>
              <a:buClrTx/>
              <a:buSzTx/>
              <a:defRPr/>
            </a:pP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r>
              <a:rPr kumimoji="1" lang="zh-CN" altLang="en-US" sz="2800" kern="1200" cap="none" spc="0" normalizeH="0" baseline="0" noProof="0" dirty="0"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Wingdings" panose="05000000000000000000" pitchFamily="2" charset="2"/>
              </a:rPr>
              <a:t></a:t>
            </a: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Wingdings" panose="05000000000000000000" pitchFamily="2" charset="2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除根以外的其它结点划分为 </a:t>
            </a:r>
            <a:r>
              <a:rPr kumimoji="1" lang="en-US" altLang="zh-CN" sz="2800" i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m</a:t>
            </a:r>
            <a:r>
              <a:rPr kumimoji="1" lang="en-US" altLang="zh-CN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(</a:t>
            </a:r>
            <a:r>
              <a:rPr kumimoji="1" lang="en-US" altLang="zh-CN" sz="2800" i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m</a:t>
            </a:r>
            <a:r>
              <a:rPr kumimoji="1" lang="en-US" altLang="zh-CN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</a:t>
            </a:r>
            <a:r>
              <a:rPr kumimoji="1" lang="en-US" altLang="zh-CN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0) 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 互不相交的有限集合</a:t>
            </a:r>
            <a:r>
              <a:rPr kumimoji="1" lang="en-US" altLang="zh-CN" sz="2800" i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800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0</a:t>
            </a:r>
            <a:r>
              <a:rPr kumimoji="1" lang="en-US" altLang="zh-CN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800" i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800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en-US" altLang="zh-CN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…, </a:t>
            </a:r>
            <a:r>
              <a:rPr kumimoji="1" lang="en-US" altLang="zh-CN" sz="2800" i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800" i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m</a:t>
            </a:r>
            <a:r>
              <a:rPr kumimoji="1" lang="en-US" altLang="zh-CN" sz="2800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-1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，每个集合又是一棵树</a:t>
            </a: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，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并且称之为根的</a:t>
            </a:r>
            <a:r>
              <a:rPr kumimoji="1" lang="zh-CN" altLang="en-US" sz="28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子树</a:t>
            </a:r>
            <a:r>
              <a:rPr kumimoji="1" lang="zh-CN" altLang="en-US" sz="28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。</a:t>
            </a:r>
            <a:endParaRPr kumimoji="1" lang="zh-CN" altLang="en-US" sz="28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2286000" y="228600"/>
            <a:ext cx="67818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树的概念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752600" y="1065213"/>
            <a:ext cx="4495800" cy="3051175"/>
            <a:chOff x="816" y="1631"/>
            <a:chExt cx="2832" cy="1922"/>
          </a:xfrm>
        </p:grpSpPr>
        <p:sp>
          <p:nvSpPr>
            <p:cNvPr id="10244" name="Line 6"/>
            <p:cNvSpPr/>
            <p:nvPr/>
          </p:nvSpPr>
          <p:spPr>
            <a:xfrm>
              <a:off x="3168" y="2448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5" name="Line 7"/>
            <p:cNvSpPr/>
            <p:nvPr/>
          </p:nvSpPr>
          <p:spPr>
            <a:xfrm flipH="1">
              <a:off x="2640" y="2448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6" name="Line 8"/>
            <p:cNvSpPr/>
            <p:nvPr/>
          </p:nvSpPr>
          <p:spPr>
            <a:xfrm>
              <a:off x="3024" y="2496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7" name="Line 9"/>
            <p:cNvSpPr/>
            <p:nvPr/>
          </p:nvSpPr>
          <p:spPr>
            <a:xfrm>
              <a:off x="2640" y="302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8" name="Line 10"/>
            <p:cNvSpPr/>
            <p:nvPr/>
          </p:nvSpPr>
          <p:spPr>
            <a:xfrm>
              <a:off x="2304" y="1872"/>
              <a:ext cx="67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9" name="Line 11"/>
            <p:cNvSpPr/>
            <p:nvPr/>
          </p:nvSpPr>
          <p:spPr>
            <a:xfrm flipH="1">
              <a:off x="1488" y="1872"/>
              <a:ext cx="576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50" name="Line 12"/>
            <p:cNvSpPr/>
            <p:nvPr/>
          </p:nvSpPr>
          <p:spPr>
            <a:xfrm>
              <a:off x="2208" y="1920"/>
              <a:ext cx="0" cy="110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51" name="Line 13"/>
            <p:cNvSpPr/>
            <p:nvPr/>
          </p:nvSpPr>
          <p:spPr>
            <a:xfrm>
              <a:off x="1536" y="2448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52" name="Line 14"/>
            <p:cNvSpPr/>
            <p:nvPr/>
          </p:nvSpPr>
          <p:spPr>
            <a:xfrm>
              <a:off x="1296" y="2976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53" name="Line 15"/>
            <p:cNvSpPr/>
            <p:nvPr/>
          </p:nvSpPr>
          <p:spPr>
            <a:xfrm flipH="1">
              <a:off x="960" y="2448"/>
              <a:ext cx="432" cy="96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54" name="Oval 16"/>
            <p:cNvSpPr/>
            <p:nvPr/>
          </p:nvSpPr>
          <p:spPr>
            <a:xfrm>
              <a:off x="2016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5" name="Oval 17"/>
            <p:cNvSpPr/>
            <p:nvPr/>
          </p:nvSpPr>
          <p:spPr>
            <a:xfrm>
              <a:off x="1296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6" name="Oval 18"/>
            <p:cNvSpPr/>
            <p:nvPr/>
          </p:nvSpPr>
          <p:spPr>
            <a:xfrm>
              <a:off x="2016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7" name="Oval 19"/>
            <p:cNvSpPr/>
            <p:nvPr/>
          </p:nvSpPr>
          <p:spPr>
            <a:xfrm>
              <a:off x="2880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8" name="Oval 20"/>
            <p:cNvSpPr/>
            <p:nvPr/>
          </p:nvSpPr>
          <p:spPr>
            <a:xfrm>
              <a:off x="1056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9" name="Oval 21"/>
            <p:cNvSpPr/>
            <p:nvPr/>
          </p:nvSpPr>
          <p:spPr>
            <a:xfrm>
              <a:off x="1488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0" name="Oval 22"/>
            <p:cNvSpPr/>
            <p:nvPr/>
          </p:nvSpPr>
          <p:spPr>
            <a:xfrm>
              <a:off x="2016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1" name="Oval 23"/>
            <p:cNvSpPr/>
            <p:nvPr/>
          </p:nvSpPr>
          <p:spPr>
            <a:xfrm>
              <a:off x="2448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2" name="Oval 24"/>
            <p:cNvSpPr/>
            <p:nvPr/>
          </p:nvSpPr>
          <p:spPr>
            <a:xfrm>
              <a:off x="2880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3" name="Oval 25"/>
            <p:cNvSpPr/>
            <p:nvPr/>
          </p:nvSpPr>
          <p:spPr>
            <a:xfrm>
              <a:off x="3312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4" name="Oval 26"/>
            <p:cNvSpPr/>
            <p:nvPr/>
          </p:nvSpPr>
          <p:spPr>
            <a:xfrm>
              <a:off x="816" y="32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5" name="Oval 27"/>
            <p:cNvSpPr/>
            <p:nvPr/>
          </p:nvSpPr>
          <p:spPr>
            <a:xfrm>
              <a:off x="1296" y="32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6" name="Oval 28"/>
            <p:cNvSpPr/>
            <p:nvPr/>
          </p:nvSpPr>
          <p:spPr>
            <a:xfrm>
              <a:off x="2448" y="32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7" name="Text Box 29"/>
            <p:cNvSpPr txBox="1"/>
            <p:nvPr/>
          </p:nvSpPr>
          <p:spPr>
            <a:xfrm>
              <a:off x="2065" y="163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8" name="Text Box 30"/>
            <p:cNvSpPr txBox="1"/>
            <p:nvPr/>
          </p:nvSpPr>
          <p:spPr>
            <a:xfrm>
              <a:off x="2065" y="215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69" name="Text Box 31"/>
            <p:cNvSpPr txBox="1"/>
            <p:nvPr/>
          </p:nvSpPr>
          <p:spPr>
            <a:xfrm>
              <a:off x="2058" y="2696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0" name="Text Box 32"/>
            <p:cNvSpPr txBox="1"/>
            <p:nvPr/>
          </p:nvSpPr>
          <p:spPr>
            <a:xfrm>
              <a:off x="1345" y="215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1" name="Text Box 33"/>
            <p:cNvSpPr txBox="1"/>
            <p:nvPr/>
          </p:nvSpPr>
          <p:spPr>
            <a:xfrm>
              <a:off x="2929" y="2168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2" name="Text Box 34"/>
            <p:cNvSpPr txBox="1"/>
            <p:nvPr/>
          </p:nvSpPr>
          <p:spPr>
            <a:xfrm>
              <a:off x="1110" y="2696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3" name="Text Box 35"/>
            <p:cNvSpPr txBox="1"/>
            <p:nvPr/>
          </p:nvSpPr>
          <p:spPr>
            <a:xfrm>
              <a:off x="1543" y="2696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4" name="Text Box 36"/>
            <p:cNvSpPr txBox="1"/>
            <p:nvPr/>
          </p:nvSpPr>
          <p:spPr>
            <a:xfrm>
              <a:off x="875" y="3224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5" name="Text Box 37"/>
            <p:cNvSpPr txBox="1"/>
            <p:nvPr/>
          </p:nvSpPr>
          <p:spPr>
            <a:xfrm>
              <a:off x="1345" y="3224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6" name="Text Box 38"/>
            <p:cNvSpPr txBox="1"/>
            <p:nvPr/>
          </p:nvSpPr>
          <p:spPr>
            <a:xfrm>
              <a:off x="2491" y="2696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7" name="Text Box 39"/>
            <p:cNvSpPr txBox="1"/>
            <p:nvPr/>
          </p:nvSpPr>
          <p:spPr>
            <a:xfrm>
              <a:off x="2453" y="3224"/>
              <a:ext cx="30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8" name="Text Box 40"/>
            <p:cNvSpPr txBox="1"/>
            <p:nvPr/>
          </p:nvSpPr>
          <p:spPr>
            <a:xfrm>
              <a:off x="2946" y="2696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9" name="Text Box 41"/>
            <p:cNvSpPr txBox="1"/>
            <p:nvPr/>
          </p:nvSpPr>
          <p:spPr>
            <a:xfrm>
              <a:off x="3373" y="2696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7802" name="Rectangle 42"/>
          <p:cNvSpPr>
            <a:spLocks noChangeArrowheads="1"/>
          </p:cNvSpPr>
          <p:nvPr/>
        </p:nvSpPr>
        <p:spPr bwMode="auto">
          <a:xfrm>
            <a:off x="1327785" y="4267200"/>
            <a:ext cx="4996815" cy="2286000"/>
          </a:xfrm>
          <a:prstGeom prst="rect">
            <a:avLst/>
          </a:prstGeom>
          <a:solidFill>
            <a:srgbClr val="FF99FF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树的逻辑结构</a:t>
            </a:r>
            <a:b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</a:b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•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除了根结点外，每个结点有且仅有一个直接前驱。</a:t>
            </a:r>
            <a:b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</a:b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•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所有结点可以有多个直接后继。</a:t>
            </a:r>
            <a:b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</a:b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   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1--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多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ldLvl="0" animBg="1"/>
      <p:bldP spid="11780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Text Box 2"/>
          <p:cNvSpPr txBox="1"/>
          <p:nvPr/>
        </p:nvSpPr>
        <p:spPr>
          <a:xfrm>
            <a:off x="1127760" y="476568"/>
            <a:ext cx="3124200" cy="644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3600" dirty="0">
                <a:solidFill>
                  <a:srgbClr val="80008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树的表示</a:t>
            </a:r>
            <a:endParaRPr lang="zh-CN" altLang="en-US" sz="3600" dirty="0">
              <a:solidFill>
                <a:srgbClr val="80008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266" name="Text Box 3"/>
          <p:cNvSpPr txBox="1"/>
          <p:nvPr/>
        </p:nvSpPr>
        <p:spPr>
          <a:xfrm>
            <a:off x="1205865" y="1165225"/>
            <a:ext cx="9233535" cy="15125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en-US" altLang="zh-CN" sz="2800" dirty="0">
                <a:solidFill>
                  <a:srgbClr val="1552D1"/>
                </a:solidFill>
                <a:latin typeface="+mn-ea"/>
                <a:ea typeface="+mn-ea"/>
                <a:cs typeface="+mn-ea"/>
              </a:rPr>
              <a:t> (1) </a:t>
            </a:r>
            <a:r>
              <a:rPr lang="zh-CN" altLang="en-US" sz="2800" dirty="0">
                <a:solidFill>
                  <a:srgbClr val="1552D1"/>
                </a:solidFill>
                <a:latin typeface="+mn-ea"/>
                <a:ea typeface="+mn-ea"/>
                <a:cs typeface="+mn-ea"/>
              </a:rPr>
              <a:t>树形表示法。这是树的最基本的表示</a:t>
            </a:r>
            <a:r>
              <a:rPr lang="en-US" altLang="zh-CN" sz="2800" dirty="0">
                <a:solidFill>
                  <a:srgbClr val="1552D1"/>
                </a:solidFill>
                <a:latin typeface="+mn-ea"/>
                <a:ea typeface="+mn-ea"/>
                <a:cs typeface="+mn-ea"/>
              </a:rPr>
              <a:t>,</a:t>
            </a:r>
            <a:r>
              <a:rPr lang="zh-CN" altLang="en-US" sz="2800" dirty="0">
                <a:solidFill>
                  <a:srgbClr val="1552D1"/>
                </a:solidFill>
                <a:latin typeface="+mn-ea"/>
                <a:ea typeface="+mn-ea"/>
                <a:cs typeface="+mn-ea"/>
              </a:rPr>
              <a:t>使用一棵倒置的树表示树结构</a:t>
            </a:r>
            <a:r>
              <a:rPr lang="en-US" altLang="zh-CN" sz="2800" dirty="0">
                <a:solidFill>
                  <a:srgbClr val="1552D1"/>
                </a:solidFill>
                <a:latin typeface="+mn-ea"/>
                <a:ea typeface="+mn-ea"/>
                <a:cs typeface="+mn-ea"/>
              </a:rPr>
              <a:t>,</a:t>
            </a:r>
            <a:r>
              <a:rPr lang="zh-CN" altLang="en-US" sz="2800" dirty="0">
                <a:solidFill>
                  <a:srgbClr val="1552D1"/>
                </a:solidFill>
                <a:latin typeface="+mn-ea"/>
                <a:ea typeface="+mn-ea"/>
                <a:cs typeface="+mn-ea"/>
              </a:rPr>
              <a:t>非常直观和形象。下图就是采用这种表示法。</a:t>
            </a:r>
            <a:endParaRPr lang="zh-CN" altLang="en-US" sz="2800" dirty="0">
              <a:solidFill>
                <a:srgbClr val="1552D1"/>
              </a:solidFill>
              <a:latin typeface="+mn-ea"/>
              <a:ea typeface="+mn-ea"/>
              <a:cs typeface="+mn-ea"/>
            </a:endParaRPr>
          </a:p>
        </p:txBody>
      </p:sp>
      <p:graphicFrame>
        <p:nvGraphicFramePr>
          <p:cNvPr id="11267" name="Object 4"/>
          <p:cNvGraphicFramePr>
            <a:graphicFrameLocks noChangeAspect="1"/>
          </p:cNvGraphicFramePr>
          <p:nvPr/>
        </p:nvGraphicFramePr>
        <p:xfrm>
          <a:off x="3648075" y="2971800"/>
          <a:ext cx="4459288" cy="358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229485" imgH="1790700" progId="Word.Picture.8">
                  <p:embed/>
                </p:oleObj>
              </mc:Choice>
              <mc:Fallback>
                <p:oleObj name="" r:id="rId1" imgW="2229485" imgH="179070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8075" y="2971800"/>
                        <a:ext cx="4459288" cy="358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Text Box 2"/>
          <p:cNvSpPr txBox="1"/>
          <p:nvPr/>
        </p:nvSpPr>
        <p:spPr>
          <a:xfrm>
            <a:off x="738505" y="990600"/>
            <a:ext cx="10250170" cy="103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800" dirty="0">
                <a:solidFill>
                  <a:srgbClr val="1552D1"/>
                </a:solidFill>
                <a:latin typeface="仿宋" panose="02010609060101010101" charset="-122"/>
                <a:ea typeface="仿宋" panose="02010609060101010101" charset="-122"/>
              </a:rPr>
              <a:t>  (2) 文氏图表示法。使用集合以及集合的包含关系描述树结构。下图就是树的文氏图表示法。</a:t>
            </a:r>
            <a:endParaRPr lang="en-US" altLang="zh-CN" sz="2800" dirty="0">
              <a:solidFill>
                <a:srgbClr val="1552D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290" name="Rectangle 3"/>
          <p:cNvSpPr/>
          <p:nvPr/>
        </p:nvSpPr>
        <p:spPr>
          <a:xfrm>
            <a:off x="4948238" y="2390775"/>
            <a:ext cx="9144000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291" name="Object 4"/>
          <p:cNvGraphicFramePr>
            <a:graphicFrameLocks noChangeAspect="1"/>
          </p:cNvGraphicFramePr>
          <p:nvPr/>
        </p:nvGraphicFramePr>
        <p:xfrm>
          <a:off x="3810000" y="2551113"/>
          <a:ext cx="4592638" cy="415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294890" imgH="2077085" progId="Word.Picture.8">
                  <p:embed/>
                </p:oleObj>
              </mc:Choice>
              <mc:Fallback>
                <p:oleObj name="" r:id="rId1" imgW="2294890" imgH="2077085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0" y="2551113"/>
                        <a:ext cx="4592638" cy="415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Text Box 2"/>
          <p:cNvSpPr txBox="1"/>
          <p:nvPr/>
        </p:nvSpPr>
        <p:spPr>
          <a:xfrm>
            <a:off x="744220" y="762000"/>
            <a:ext cx="10062845" cy="1038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800" dirty="0">
                <a:solidFill>
                  <a:srgbClr val="1552D1"/>
                </a:solidFill>
                <a:latin typeface="仿宋" panose="02010609060101010101" charset="-122"/>
                <a:ea typeface="仿宋" panose="02010609060101010101" charset="-122"/>
              </a:rPr>
              <a:t>  (3) 凹入表示法。使用线段的伸缩描述树结构。下图是树的凹入表示法。</a:t>
            </a:r>
            <a:endParaRPr lang="en-US" altLang="zh-CN" sz="2800" dirty="0">
              <a:solidFill>
                <a:srgbClr val="1552D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3314" name="Rectangle 3"/>
          <p:cNvSpPr/>
          <p:nvPr/>
        </p:nvSpPr>
        <p:spPr>
          <a:xfrm>
            <a:off x="4905375" y="2085975"/>
            <a:ext cx="9144000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3962400" y="2209800"/>
          <a:ext cx="3573463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381885" imgH="2686685" progId="Word.Picture.8">
                  <p:embed/>
                </p:oleObj>
              </mc:Choice>
              <mc:Fallback>
                <p:oleObj name="" r:id="rId1" imgW="2381885" imgH="2686685" progId="Word.Pictur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2400" y="2209800"/>
                        <a:ext cx="3573463" cy="4032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Text Box 2"/>
          <p:cNvSpPr txBox="1"/>
          <p:nvPr/>
        </p:nvSpPr>
        <p:spPr>
          <a:xfrm>
            <a:off x="675640" y="990600"/>
            <a:ext cx="10887075" cy="15125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800" dirty="0">
                <a:solidFill>
                  <a:srgbClr val="1552D1"/>
                </a:solidFill>
                <a:latin typeface="仿宋" panose="02010609060101010101" charset="-122"/>
                <a:ea typeface="仿宋" panose="02010609060101010101" charset="-122"/>
              </a:rPr>
              <a:t>   (4) 括号表示法。将树的根结点写在括号的左边,除根结点之外的其余结点写在括号中并用逗号间隔来描述树结构。下图是树的括号表示法。</a:t>
            </a:r>
            <a:endParaRPr lang="en-US" altLang="zh-CN" sz="2800" dirty="0">
              <a:solidFill>
                <a:srgbClr val="1552D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4338" name="Rectangle 3"/>
          <p:cNvSpPr/>
          <p:nvPr/>
        </p:nvSpPr>
        <p:spPr>
          <a:xfrm>
            <a:off x="5072063" y="2909888"/>
            <a:ext cx="9144000" cy="768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3810000" y="2854325"/>
          <a:ext cx="60198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048510" imgH="743585" progId="Word.Picture.8">
                  <p:embed/>
                </p:oleObj>
              </mc:Choice>
              <mc:Fallback>
                <p:oleObj name="" r:id="rId1" imgW="2048510" imgH="743585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0" y="2854325"/>
                        <a:ext cx="6019800" cy="218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Text Box 2"/>
          <p:cNvSpPr txBox="1"/>
          <p:nvPr/>
        </p:nvSpPr>
        <p:spPr>
          <a:xfrm>
            <a:off x="2999740" y="116840"/>
            <a:ext cx="7010400" cy="66776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ADT  Tree</a:t>
            </a:r>
            <a:endParaRPr lang="en-US" altLang="zh-CN" sz="3200" dirty="0">
              <a:solidFill>
                <a:srgbClr val="FF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zh-CN" altLang="en-US" sz="32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数据对象</a:t>
            </a:r>
            <a:r>
              <a:rPr lang="en-US" altLang="zh-CN" sz="32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endParaRPr lang="en-US" altLang="zh-CN" sz="3200" b="0" dirty="0">
              <a:solidFill>
                <a:srgbClr val="FF0066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D={a</a:t>
            </a:r>
            <a:r>
              <a:rPr lang="en-US" altLang="zh-CN" sz="2800" b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|1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n, n 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0, a</a:t>
            </a:r>
            <a:r>
              <a:rPr lang="en-US" altLang="zh-CN" sz="2800" b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属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Elemtype</a:t>
            </a:r>
            <a:r>
              <a:rPr lang="zh-CN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类型</a:t>
            </a:r>
            <a:endParaRPr lang="zh-CN" altLang="en-US" sz="28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数据关系</a:t>
            </a:r>
            <a:r>
              <a:rPr lang="en-US" altLang="zh-CN" sz="28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endParaRPr lang="en-US" altLang="zh-CN" sz="2800" b="0" dirty="0">
              <a:solidFill>
                <a:srgbClr val="FF0066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R1={&lt; a</a:t>
            </a:r>
            <a:r>
              <a:rPr lang="en-US" altLang="zh-CN" sz="2800" b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,a</a:t>
            </a:r>
            <a:r>
              <a:rPr lang="en-US" altLang="zh-CN" sz="2800" b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&gt;| a</a:t>
            </a:r>
            <a:r>
              <a:rPr lang="en-US" altLang="zh-CN" sz="2800" b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,a</a:t>
            </a:r>
            <a:r>
              <a:rPr lang="en-US" altLang="zh-CN" sz="2800" b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D, 1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n, 1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n,</a:t>
            </a:r>
            <a:endParaRPr lang="en-US" altLang="zh-CN" sz="28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r>
              <a:rPr lang="zh-CN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每个元素只有一个前驱可以有多个后继</a:t>
            </a: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8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基本运算</a:t>
            </a:r>
            <a:r>
              <a:rPr lang="en-US" altLang="zh-CN" sz="28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endParaRPr lang="en-US" altLang="zh-CN" sz="2800" b="0" dirty="0">
              <a:solidFill>
                <a:srgbClr val="FF0066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InitTree(t);</a:t>
            </a:r>
            <a:endParaRPr lang="en-US" altLang="zh-CN" sz="32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ClearTree(t);</a:t>
            </a:r>
            <a:endParaRPr lang="en-US" altLang="zh-CN" sz="32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Parent(t,e);</a:t>
            </a:r>
            <a:endParaRPr lang="en-US" altLang="zh-CN" sz="32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Sons(t,e);</a:t>
            </a:r>
            <a:endParaRPr lang="en-US" altLang="zh-CN" sz="32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Traver(t);</a:t>
            </a:r>
            <a:endParaRPr lang="en-US" altLang="zh-CN" sz="32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3200" b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2" name="Text Box 3"/>
          <p:cNvSpPr txBox="1"/>
          <p:nvPr/>
        </p:nvSpPr>
        <p:spPr>
          <a:xfrm>
            <a:off x="2130425" y="381000"/>
            <a:ext cx="674688" cy="5105400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抽象数据类型的定义</a:t>
            </a:r>
            <a:endParaRPr lang="zh-CN" altLang="en-US" sz="3200" b="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126"/>
          <p:cNvGrpSpPr/>
          <p:nvPr/>
        </p:nvGrpSpPr>
        <p:grpSpPr>
          <a:xfrm>
            <a:off x="4114800" y="2817813"/>
            <a:ext cx="2711450" cy="2709862"/>
            <a:chOff x="1632" y="1883"/>
            <a:chExt cx="1708" cy="1707"/>
          </a:xfrm>
        </p:grpSpPr>
        <p:sp>
          <p:nvSpPr>
            <p:cNvPr id="16386" name="Line 1039"/>
            <p:cNvSpPr/>
            <p:nvPr/>
          </p:nvSpPr>
          <p:spPr>
            <a:xfrm>
              <a:off x="1632" y="2077"/>
              <a:ext cx="624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6387" name="Line 1052"/>
            <p:cNvSpPr/>
            <p:nvPr/>
          </p:nvSpPr>
          <p:spPr>
            <a:xfrm>
              <a:off x="1920" y="2525"/>
              <a:ext cx="384" cy="19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6388" name="Line 1053"/>
            <p:cNvSpPr/>
            <p:nvPr/>
          </p:nvSpPr>
          <p:spPr>
            <a:xfrm>
              <a:off x="2179" y="2964"/>
              <a:ext cx="203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6389" name="Line 1054"/>
            <p:cNvSpPr/>
            <p:nvPr/>
          </p:nvSpPr>
          <p:spPr>
            <a:xfrm>
              <a:off x="1680" y="3408"/>
              <a:ext cx="541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6390" name="Text Box 1055"/>
            <p:cNvSpPr txBox="1"/>
            <p:nvPr/>
          </p:nvSpPr>
          <p:spPr>
            <a:xfrm>
              <a:off x="2228" y="1883"/>
              <a:ext cx="49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层</a:t>
              </a:r>
              <a:endParaRPr lang="zh-CN" altLang="en-US" sz="32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1" name="Text Box 1056"/>
            <p:cNvSpPr txBox="1"/>
            <p:nvPr/>
          </p:nvSpPr>
          <p:spPr>
            <a:xfrm>
              <a:off x="2228" y="2326"/>
              <a:ext cx="49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层</a:t>
              </a:r>
              <a:endParaRPr lang="zh-CN" altLang="en-US" sz="32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2" name="Text Box 1057"/>
            <p:cNvSpPr txBox="1"/>
            <p:nvPr/>
          </p:nvSpPr>
          <p:spPr>
            <a:xfrm>
              <a:off x="2218" y="3222"/>
              <a:ext cx="49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zh-CN" altLang="en-US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层</a:t>
              </a:r>
              <a:endParaRPr lang="zh-CN" altLang="en-US" sz="32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3" name="Text Box 1058"/>
            <p:cNvSpPr txBox="1"/>
            <p:nvPr/>
          </p:nvSpPr>
          <p:spPr>
            <a:xfrm>
              <a:off x="2228" y="2774"/>
              <a:ext cx="49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3200" b="0" dirty="0">
                  <a:solidFill>
                    <a:schemeClr val="tx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层</a:t>
              </a:r>
              <a:endParaRPr lang="zh-CN" altLang="en-US" sz="32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Text Box 1059"/>
            <p:cNvSpPr txBox="1"/>
            <p:nvPr/>
          </p:nvSpPr>
          <p:spPr>
            <a:xfrm>
              <a:off x="2640" y="2500"/>
              <a:ext cx="700" cy="49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lnSpc>
                  <a:spcPct val="80000"/>
                </a:lnSpc>
              </a:pPr>
              <a:r>
                <a:rPr lang="en-US" altLang="zh-CN" sz="2800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height</a:t>
              </a:r>
              <a:endPara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4</a:t>
              </a:r>
              <a:endParaRPr lang="en-US" altLang="zh-CN" sz="32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5" name="Line 1060"/>
            <p:cNvSpPr/>
            <p:nvPr/>
          </p:nvSpPr>
          <p:spPr>
            <a:xfrm>
              <a:off x="2835" y="1967"/>
              <a:ext cx="90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6" name="Line 1061"/>
            <p:cNvSpPr/>
            <p:nvPr/>
          </p:nvSpPr>
          <p:spPr>
            <a:xfrm flipV="1">
              <a:off x="2880" y="1967"/>
              <a:ext cx="0" cy="57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6397" name="Line 1062"/>
            <p:cNvSpPr/>
            <p:nvPr/>
          </p:nvSpPr>
          <p:spPr>
            <a:xfrm>
              <a:off x="2835" y="3520"/>
              <a:ext cx="90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398" name="Line 1063"/>
            <p:cNvSpPr/>
            <p:nvPr/>
          </p:nvSpPr>
          <p:spPr>
            <a:xfrm flipV="1">
              <a:off x="2880" y="2947"/>
              <a:ext cx="0" cy="573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triangle" w="sm" len="lg"/>
              <a:tailEnd type="none" w="sm" len="lg"/>
            </a:ln>
          </p:spPr>
        </p:sp>
      </p:grpSp>
      <p:sp>
        <p:nvSpPr>
          <p:cNvPr id="16399" name="Text Box 1084"/>
          <p:cNvSpPr txBox="1"/>
          <p:nvPr/>
        </p:nvSpPr>
        <p:spPr>
          <a:xfrm>
            <a:off x="3635375" y="88900"/>
            <a:ext cx="4267200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树的基本常用术语</a:t>
            </a:r>
            <a:endParaRPr lang="zh-CN" altLang="en-US" sz="40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3" name="Group 1085"/>
          <p:cNvGrpSpPr/>
          <p:nvPr/>
        </p:nvGrpSpPr>
        <p:grpSpPr>
          <a:xfrm>
            <a:off x="1906588" y="2894013"/>
            <a:ext cx="3005137" cy="2660650"/>
            <a:chOff x="803" y="1600"/>
            <a:chExt cx="2871" cy="1986"/>
          </a:xfrm>
        </p:grpSpPr>
        <p:sp>
          <p:nvSpPr>
            <p:cNvPr id="16401" name="Line 1086"/>
            <p:cNvSpPr/>
            <p:nvPr/>
          </p:nvSpPr>
          <p:spPr>
            <a:xfrm>
              <a:off x="3168" y="2448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2" name="Line 1087"/>
            <p:cNvSpPr/>
            <p:nvPr/>
          </p:nvSpPr>
          <p:spPr>
            <a:xfrm flipH="1">
              <a:off x="2640" y="2448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3" name="Line 1088"/>
            <p:cNvSpPr/>
            <p:nvPr/>
          </p:nvSpPr>
          <p:spPr>
            <a:xfrm>
              <a:off x="3024" y="2496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4" name="Line 1089"/>
            <p:cNvSpPr/>
            <p:nvPr/>
          </p:nvSpPr>
          <p:spPr>
            <a:xfrm>
              <a:off x="2640" y="302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5" name="Line 1090"/>
            <p:cNvSpPr/>
            <p:nvPr/>
          </p:nvSpPr>
          <p:spPr>
            <a:xfrm>
              <a:off x="2304" y="1872"/>
              <a:ext cx="67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6" name="Line 1091"/>
            <p:cNvSpPr/>
            <p:nvPr/>
          </p:nvSpPr>
          <p:spPr>
            <a:xfrm flipH="1">
              <a:off x="1488" y="1872"/>
              <a:ext cx="576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7" name="Line 1092"/>
            <p:cNvSpPr/>
            <p:nvPr/>
          </p:nvSpPr>
          <p:spPr>
            <a:xfrm>
              <a:off x="2208" y="1920"/>
              <a:ext cx="0" cy="110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8" name="Line 1093"/>
            <p:cNvSpPr/>
            <p:nvPr/>
          </p:nvSpPr>
          <p:spPr>
            <a:xfrm>
              <a:off x="1536" y="2448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9" name="Line 1094"/>
            <p:cNvSpPr/>
            <p:nvPr/>
          </p:nvSpPr>
          <p:spPr>
            <a:xfrm>
              <a:off x="1296" y="2976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10" name="Line 1095"/>
            <p:cNvSpPr/>
            <p:nvPr/>
          </p:nvSpPr>
          <p:spPr>
            <a:xfrm flipH="1">
              <a:off x="960" y="2448"/>
              <a:ext cx="432" cy="96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11" name="Oval 1096"/>
            <p:cNvSpPr/>
            <p:nvPr/>
          </p:nvSpPr>
          <p:spPr>
            <a:xfrm>
              <a:off x="2016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2" name="Oval 1097"/>
            <p:cNvSpPr/>
            <p:nvPr/>
          </p:nvSpPr>
          <p:spPr>
            <a:xfrm>
              <a:off x="1296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3" name="Oval 1098"/>
            <p:cNvSpPr/>
            <p:nvPr/>
          </p:nvSpPr>
          <p:spPr>
            <a:xfrm>
              <a:off x="2016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4" name="Oval 1099"/>
            <p:cNvSpPr/>
            <p:nvPr/>
          </p:nvSpPr>
          <p:spPr>
            <a:xfrm>
              <a:off x="2880" y="216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5" name="Oval 1100"/>
            <p:cNvSpPr/>
            <p:nvPr/>
          </p:nvSpPr>
          <p:spPr>
            <a:xfrm>
              <a:off x="1056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6" name="Oval 1101"/>
            <p:cNvSpPr/>
            <p:nvPr/>
          </p:nvSpPr>
          <p:spPr>
            <a:xfrm>
              <a:off x="1488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7" name="Oval 1102"/>
            <p:cNvSpPr/>
            <p:nvPr/>
          </p:nvSpPr>
          <p:spPr>
            <a:xfrm>
              <a:off x="2016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8" name="Oval 1103"/>
            <p:cNvSpPr/>
            <p:nvPr/>
          </p:nvSpPr>
          <p:spPr>
            <a:xfrm>
              <a:off x="2448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9" name="Oval 1104"/>
            <p:cNvSpPr/>
            <p:nvPr/>
          </p:nvSpPr>
          <p:spPr>
            <a:xfrm>
              <a:off x="2880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0" name="Oval 1105"/>
            <p:cNvSpPr/>
            <p:nvPr/>
          </p:nvSpPr>
          <p:spPr>
            <a:xfrm>
              <a:off x="3312" y="268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1" name="Oval 1106"/>
            <p:cNvSpPr/>
            <p:nvPr/>
          </p:nvSpPr>
          <p:spPr>
            <a:xfrm>
              <a:off x="816" y="32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2" name="Oval 1107"/>
            <p:cNvSpPr/>
            <p:nvPr/>
          </p:nvSpPr>
          <p:spPr>
            <a:xfrm>
              <a:off x="1296" y="32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3" name="Oval 1108"/>
            <p:cNvSpPr/>
            <p:nvPr/>
          </p:nvSpPr>
          <p:spPr>
            <a:xfrm>
              <a:off x="2448" y="321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4" name="Text Box 1109"/>
            <p:cNvSpPr txBox="1"/>
            <p:nvPr/>
          </p:nvSpPr>
          <p:spPr>
            <a:xfrm>
              <a:off x="1995" y="1600"/>
              <a:ext cx="420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5" name="Text Box 1110"/>
            <p:cNvSpPr txBox="1"/>
            <p:nvPr/>
          </p:nvSpPr>
          <p:spPr>
            <a:xfrm>
              <a:off x="1995" y="2127"/>
              <a:ext cx="420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6" name="Text Box 1111"/>
            <p:cNvSpPr txBox="1"/>
            <p:nvPr/>
          </p:nvSpPr>
          <p:spPr>
            <a:xfrm>
              <a:off x="1985" y="2667"/>
              <a:ext cx="439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7" name="Text Box 1112"/>
            <p:cNvSpPr txBox="1"/>
            <p:nvPr/>
          </p:nvSpPr>
          <p:spPr>
            <a:xfrm>
              <a:off x="1273" y="2127"/>
              <a:ext cx="420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8" name="Text Box 1113"/>
            <p:cNvSpPr txBox="1"/>
            <p:nvPr/>
          </p:nvSpPr>
          <p:spPr>
            <a:xfrm>
              <a:off x="2858" y="2138"/>
              <a:ext cx="420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29" name="Text Box 1114"/>
            <p:cNvSpPr txBox="1"/>
            <p:nvPr/>
          </p:nvSpPr>
          <p:spPr>
            <a:xfrm>
              <a:off x="1042" y="2667"/>
              <a:ext cx="402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0" name="Text Box 1115"/>
            <p:cNvSpPr txBox="1"/>
            <p:nvPr/>
          </p:nvSpPr>
          <p:spPr>
            <a:xfrm>
              <a:off x="1478" y="2667"/>
              <a:ext cx="382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1" name="Text Box 1116"/>
            <p:cNvSpPr txBox="1"/>
            <p:nvPr/>
          </p:nvSpPr>
          <p:spPr>
            <a:xfrm>
              <a:off x="803" y="3195"/>
              <a:ext cx="420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2" name="Text Box 1117"/>
            <p:cNvSpPr txBox="1"/>
            <p:nvPr/>
          </p:nvSpPr>
          <p:spPr>
            <a:xfrm>
              <a:off x="1280" y="3195"/>
              <a:ext cx="382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3" name="Text Box 1118"/>
            <p:cNvSpPr txBox="1"/>
            <p:nvPr/>
          </p:nvSpPr>
          <p:spPr>
            <a:xfrm>
              <a:off x="2420" y="2667"/>
              <a:ext cx="420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4" name="Text Box 1119"/>
            <p:cNvSpPr txBox="1"/>
            <p:nvPr/>
          </p:nvSpPr>
          <p:spPr>
            <a:xfrm>
              <a:off x="2374" y="3196"/>
              <a:ext cx="457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5" name="Text Box 1120"/>
            <p:cNvSpPr txBox="1"/>
            <p:nvPr/>
          </p:nvSpPr>
          <p:spPr>
            <a:xfrm>
              <a:off x="2901" y="2667"/>
              <a:ext cx="269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6" name="Text Box 1121"/>
            <p:cNvSpPr txBox="1"/>
            <p:nvPr/>
          </p:nvSpPr>
          <p:spPr>
            <a:xfrm>
              <a:off x="3311" y="2667"/>
              <a:ext cx="363" cy="3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3508" name="Text Box 1124"/>
          <p:cNvSpPr txBox="1"/>
          <p:nvPr/>
        </p:nvSpPr>
        <p:spPr>
          <a:xfrm>
            <a:off x="6324600" y="2814638"/>
            <a:ext cx="4191000" cy="954087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层次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根为第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层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最大层数为树的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深度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高度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1" name="Text Box 1127"/>
          <p:cNvSpPr txBox="1"/>
          <p:nvPr/>
        </p:nvSpPr>
        <p:spPr>
          <a:xfrm>
            <a:off x="7010400" y="3876675"/>
            <a:ext cx="2835275" cy="20605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双亲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直接前驱）</a:t>
            </a:r>
            <a:r>
              <a:rPr lang="zh-CN" altLang="en-US" sz="3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zh-CN" altLang="en-US" sz="3200" dirty="0">
              <a:solidFill>
                <a:srgbClr val="FF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孩子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（直接后继）</a:t>
            </a:r>
            <a:r>
              <a:rPr lang="zh-CN" altLang="en-US" sz="3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en-US" sz="3200" dirty="0">
              <a:solidFill>
                <a:srgbClr val="FF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兄弟      堂兄弟  </a:t>
            </a:r>
            <a:endParaRPr lang="zh-CN" altLang="en-US" sz="3200" dirty="0">
              <a:solidFill>
                <a:srgbClr val="FF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子孙      祖先</a:t>
            </a:r>
            <a:endParaRPr lang="zh-CN" altLang="en-US" sz="3200" dirty="0">
              <a:solidFill>
                <a:srgbClr val="FF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2" name="Text Box 1128"/>
          <p:cNvSpPr txBox="1"/>
          <p:nvPr/>
        </p:nvSpPr>
        <p:spPr>
          <a:xfrm>
            <a:off x="2030413" y="6018213"/>
            <a:ext cx="577850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森林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----m(m&gt;=0)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棵互不相交的树的集合。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3" name="Text Box 1129"/>
          <p:cNvSpPr txBox="1"/>
          <p:nvPr/>
        </p:nvSpPr>
        <p:spPr>
          <a:xfrm>
            <a:off x="2514600" y="2741613"/>
            <a:ext cx="6794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d=3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4" name="Text Box 1130"/>
          <p:cNvSpPr txBox="1"/>
          <p:nvPr/>
        </p:nvSpPr>
        <p:spPr>
          <a:xfrm>
            <a:off x="3962400" y="5180013"/>
            <a:ext cx="6794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d=0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6" name="Text Box 1132"/>
          <p:cNvSpPr txBox="1"/>
          <p:nvPr/>
        </p:nvSpPr>
        <p:spPr>
          <a:xfrm>
            <a:off x="2198688" y="836613"/>
            <a:ext cx="620077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度 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一个结点的子树的个数称为该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结点的度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7" name="Text Box 1133"/>
          <p:cNvSpPr txBox="1"/>
          <p:nvPr/>
        </p:nvSpPr>
        <p:spPr>
          <a:xfrm>
            <a:off x="2811463" y="1370013"/>
            <a:ext cx="416242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度为零的结点称为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叶子结点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8" name="Text Box 1134"/>
          <p:cNvSpPr txBox="1"/>
          <p:nvPr/>
        </p:nvSpPr>
        <p:spPr>
          <a:xfrm>
            <a:off x="2811463" y="1827213"/>
            <a:ext cx="446722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度不为零的结点称为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分支结点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9" name="Text Box 1135"/>
          <p:cNvSpPr txBox="1"/>
          <p:nvPr/>
        </p:nvSpPr>
        <p:spPr>
          <a:xfrm>
            <a:off x="2808288" y="2284413"/>
            <a:ext cx="644207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树中所有结点的度的最大值为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树的度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dmax=3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5" name="Text Box 1131"/>
          <p:cNvSpPr txBox="1"/>
          <p:nvPr/>
        </p:nvSpPr>
        <p:spPr>
          <a:xfrm>
            <a:off x="1524000" y="4265613"/>
            <a:ext cx="6794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d=2</a:t>
            </a:r>
            <a:endParaRPr lang="en-US" altLang="zh-CN" sz="24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1151"/>
          <p:cNvGrpSpPr/>
          <p:nvPr/>
        </p:nvGrpSpPr>
        <p:grpSpPr>
          <a:xfrm>
            <a:off x="1906588" y="4341813"/>
            <a:ext cx="2971800" cy="1208087"/>
            <a:chOff x="241" y="2735"/>
            <a:chExt cx="1872" cy="761"/>
          </a:xfrm>
        </p:grpSpPr>
        <p:sp>
          <p:nvSpPr>
            <p:cNvPr id="16448" name="Text Box 1136"/>
            <p:cNvSpPr txBox="1"/>
            <p:nvPr/>
          </p:nvSpPr>
          <p:spPr>
            <a:xfrm>
              <a:off x="241" y="31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49" name="Text Box 1137"/>
            <p:cNvSpPr txBox="1"/>
            <p:nvPr/>
          </p:nvSpPr>
          <p:spPr>
            <a:xfrm>
              <a:off x="577" y="3167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endPara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0" name="Text Box 1138"/>
            <p:cNvSpPr txBox="1"/>
            <p:nvPr/>
          </p:nvSpPr>
          <p:spPr>
            <a:xfrm>
              <a:off x="673" y="2735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1" name="Text Box 1139"/>
            <p:cNvSpPr txBox="1"/>
            <p:nvPr/>
          </p:nvSpPr>
          <p:spPr>
            <a:xfrm>
              <a:off x="1008" y="2735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2" name="Text Box 1140"/>
            <p:cNvSpPr txBox="1"/>
            <p:nvPr/>
          </p:nvSpPr>
          <p:spPr>
            <a:xfrm>
              <a:off x="1297" y="3167"/>
              <a:ext cx="30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  <a:endPara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3" name="Text Box 1141"/>
            <p:cNvSpPr txBox="1"/>
            <p:nvPr/>
          </p:nvSpPr>
          <p:spPr>
            <a:xfrm>
              <a:off x="1632" y="2735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4" name="Text Box 1142"/>
            <p:cNvSpPr txBox="1"/>
            <p:nvPr/>
          </p:nvSpPr>
          <p:spPr>
            <a:xfrm>
              <a:off x="1873" y="2735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8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150"/>
          <p:cNvGrpSpPr/>
          <p:nvPr/>
        </p:nvGrpSpPr>
        <p:grpSpPr>
          <a:xfrm>
            <a:off x="2133600" y="2894013"/>
            <a:ext cx="2346325" cy="1970087"/>
            <a:chOff x="384" y="1823"/>
            <a:chExt cx="1478" cy="1241"/>
          </a:xfrm>
        </p:grpSpPr>
        <p:sp>
          <p:nvSpPr>
            <p:cNvPr id="16456" name="Text Box 1144"/>
            <p:cNvSpPr txBox="1"/>
            <p:nvPr/>
          </p:nvSpPr>
          <p:spPr>
            <a:xfrm>
              <a:off x="1009" y="182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7" name="Text Box 1145"/>
            <p:cNvSpPr txBox="1"/>
            <p:nvPr/>
          </p:nvSpPr>
          <p:spPr>
            <a:xfrm>
              <a:off x="529" y="225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8" name="Text Box 1146"/>
            <p:cNvSpPr txBox="1"/>
            <p:nvPr/>
          </p:nvSpPr>
          <p:spPr>
            <a:xfrm>
              <a:off x="1009" y="225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59" name="Text Box 1147"/>
            <p:cNvSpPr txBox="1"/>
            <p:nvPr/>
          </p:nvSpPr>
          <p:spPr>
            <a:xfrm>
              <a:off x="1585" y="225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60" name="Text Box 1148"/>
            <p:cNvSpPr txBox="1"/>
            <p:nvPr/>
          </p:nvSpPr>
          <p:spPr>
            <a:xfrm>
              <a:off x="384" y="2735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61" name="Text Box 1149"/>
            <p:cNvSpPr txBox="1"/>
            <p:nvPr/>
          </p:nvSpPr>
          <p:spPr>
            <a:xfrm>
              <a:off x="1297" y="273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7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7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7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7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27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27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273511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1">
                                            <p:txEl>
                                              <p:charRg st="14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273511">
                                            <p:txEl>
                                              <p:charRg st="14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1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273511">
                                            <p:txEl>
                                              <p:charRg st="25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1">
                                            <p:txEl>
                                              <p:charRg st="39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73511">
                                            <p:txEl>
                                              <p:charRg st="39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3" dur="500"/>
                                        <p:tgtEl>
                                          <p:spTgt spid="27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508" grpId="0"/>
      <p:bldP spid="273511" grpId="0" build="p"/>
      <p:bldP spid="273512" grpId="0"/>
      <p:bldP spid="273513" grpId="0"/>
      <p:bldP spid="273514" grpId="0"/>
      <p:bldP spid="273516" grpId="0"/>
      <p:bldP spid="273517" grpId="0"/>
      <p:bldP spid="273518" grpId="0"/>
      <p:bldP spid="273519" grpId="0"/>
      <p:bldP spid="2735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ext Box 2"/>
          <p:cNvSpPr txBox="1"/>
          <p:nvPr/>
        </p:nvSpPr>
        <p:spPr>
          <a:xfrm>
            <a:off x="1738313" y="927100"/>
            <a:ext cx="9528175" cy="650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中的结点数等于所有结点的度数之和加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70380" y="222866"/>
            <a:ext cx="3319780" cy="70675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树的性质</a:t>
            </a:r>
            <a:endParaRPr kumimoji="0" lang="zh-CN" altLang="en-US" sz="40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1738313" y="2714625"/>
            <a:ext cx="3816350" cy="2305050"/>
            <a:chOff x="214282" y="2714620"/>
            <a:chExt cx="3816350" cy="2305050"/>
          </a:xfrm>
        </p:grpSpPr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214282" y="401160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7413" name="Freeform 47"/>
            <p:cNvSpPr/>
            <p:nvPr/>
          </p:nvSpPr>
          <p:spPr>
            <a:xfrm>
              <a:off x="453995" y="3724269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4" name="Freeform 48"/>
            <p:cNvSpPr/>
            <p:nvPr/>
          </p:nvSpPr>
          <p:spPr>
            <a:xfrm>
              <a:off x="879429" y="3686169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1582707" y="2714620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574645" y="3363908"/>
              <a:ext cx="360362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1582707" y="3363908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2590770" y="336390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933420" y="401160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1582707" y="401160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1582707" y="465930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J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2230407" y="401160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H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3022570" y="401160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2446307" y="465930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K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3027332" y="465930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L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3670270" y="465930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M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7427" name="Line 44"/>
            <p:cNvSpPr/>
            <p:nvPr/>
          </p:nvSpPr>
          <p:spPr>
            <a:xfrm flipH="1">
              <a:off x="869924" y="2944808"/>
              <a:ext cx="725482" cy="444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8" name="Line 45"/>
            <p:cNvSpPr/>
            <p:nvPr/>
          </p:nvSpPr>
          <p:spPr>
            <a:xfrm>
              <a:off x="1760507" y="3074983"/>
              <a:ext cx="0" cy="288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29" name="Line 46"/>
            <p:cNvSpPr/>
            <p:nvPr/>
          </p:nvSpPr>
          <p:spPr>
            <a:xfrm>
              <a:off x="1952595" y="2960683"/>
              <a:ext cx="6477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30" name="Line 49"/>
            <p:cNvSpPr/>
            <p:nvPr/>
          </p:nvSpPr>
          <p:spPr>
            <a:xfrm>
              <a:off x="1765270" y="3770308"/>
              <a:ext cx="0" cy="2159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31" name="Line 50"/>
            <p:cNvSpPr/>
            <p:nvPr/>
          </p:nvSpPr>
          <p:spPr>
            <a:xfrm>
              <a:off x="1765270" y="4371970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32" name="Freeform 51"/>
            <p:cNvSpPr/>
            <p:nvPr/>
          </p:nvSpPr>
          <p:spPr>
            <a:xfrm>
              <a:off x="2462182" y="3709983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33" name="Freeform 52"/>
            <p:cNvSpPr/>
            <p:nvPr/>
          </p:nvSpPr>
          <p:spPr>
            <a:xfrm>
              <a:off x="2901920" y="3681408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34" name="Line 53"/>
            <p:cNvSpPr/>
            <p:nvPr/>
          </p:nvSpPr>
          <p:spPr>
            <a:xfrm flipH="1">
              <a:off x="2706657" y="4300533"/>
              <a:ext cx="360363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35" name="Line 54"/>
            <p:cNvSpPr/>
            <p:nvPr/>
          </p:nvSpPr>
          <p:spPr>
            <a:xfrm>
              <a:off x="3209895" y="4371970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36" name="Freeform 55"/>
            <p:cNvSpPr/>
            <p:nvPr/>
          </p:nvSpPr>
          <p:spPr>
            <a:xfrm>
              <a:off x="3349595" y="4281483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1738313" y="1604963"/>
            <a:ext cx="6049962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3200"/>
              </a:lnSpc>
            </a:pP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证明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 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树中每个分支计为一个结点的度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5238750" y="2428875"/>
            <a:ext cx="4857750" cy="2714625"/>
            <a:chOff x="3714744" y="2428868"/>
            <a:chExt cx="4857784" cy="2714644"/>
          </a:xfrm>
        </p:grpSpPr>
        <p:sp>
          <p:nvSpPr>
            <p:cNvPr id="17439" name="Freeform 47"/>
            <p:cNvSpPr/>
            <p:nvPr/>
          </p:nvSpPr>
          <p:spPr>
            <a:xfrm>
              <a:off x="4995891" y="3575047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40" name="Freeform 48"/>
            <p:cNvSpPr/>
            <p:nvPr/>
          </p:nvSpPr>
          <p:spPr>
            <a:xfrm>
              <a:off x="5421325" y="3536947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4" name="Oval 31"/>
            <p:cNvSpPr>
              <a:spLocks noChangeArrowheads="1"/>
            </p:cNvSpPr>
            <p:nvPr/>
          </p:nvSpPr>
          <p:spPr bwMode="auto">
            <a:xfrm>
              <a:off x="6124603" y="2428868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5" name="Oval 32"/>
            <p:cNvSpPr>
              <a:spLocks noChangeArrowheads="1"/>
            </p:cNvSpPr>
            <p:nvPr/>
          </p:nvSpPr>
          <p:spPr bwMode="auto">
            <a:xfrm>
              <a:off x="5116541" y="3214686"/>
              <a:ext cx="360362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6" name="Oval 33"/>
            <p:cNvSpPr>
              <a:spLocks noChangeArrowheads="1"/>
            </p:cNvSpPr>
            <p:nvPr/>
          </p:nvSpPr>
          <p:spPr bwMode="auto">
            <a:xfrm>
              <a:off x="6124603" y="3214686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7" name="Oval 34"/>
            <p:cNvSpPr>
              <a:spLocks noChangeArrowheads="1"/>
            </p:cNvSpPr>
            <p:nvPr/>
          </p:nvSpPr>
          <p:spPr bwMode="auto">
            <a:xfrm>
              <a:off x="7132666" y="3214686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8" name="Oval 35"/>
            <p:cNvSpPr>
              <a:spLocks noChangeArrowheads="1"/>
            </p:cNvSpPr>
            <p:nvPr/>
          </p:nvSpPr>
          <p:spPr bwMode="auto">
            <a:xfrm>
              <a:off x="4756178" y="3992574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9" name="Oval 36"/>
            <p:cNvSpPr>
              <a:spLocks noChangeArrowheads="1"/>
            </p:cNvSpPr>
            <p:nvPr/>
          </p:nvSpPr>
          <p:spPr bwMode="auto">
            <a:xfrm>
              <a:off x="5475316" y="3992574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0" name="Oval 37"/>
            <p:cNvSpPr>
              <a:spLocks noChangeArrowheads="1"/>
            </p:cNvSpPr>
            <p:nvPr/>
          </p:nvSpPr>
          <p:spPr bwMode="auto">
            <a:xfrm>
              <a:off x="6124603" y="3992574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1" name="Oval 38"/>
            <p:cNvSpPr>
              <a:spLocks noChangeArrowheads="1"/>
            </p:cNvSpPr>
            <p:nvPr/>
          </p:nvSpPr>
          <p:spPr bwMode="auto">
            <a:xfrm>
              <a:off x="6124603" y="4783150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J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2" name="Oval 39"/>
            <p:cNvSpPr>
              <a:spLocks noChangeArrowheads="1"/>
            </p:cNvSpPr>
            <p:nvPr/>
          </p:nvSpPr>
          <p:spPr bwMode="auto">
            <a:xfrm>
              <a:off x="6772303" y="3992574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H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3" name="Oval 40"/>
            <p:cNvSpPr>
              <a:spLocks noChangeArrowheads="1"/>
            </p:cNvSpPr>
            <p:nvPr/>
          </p:nvSpPr>
          <p:spPr bwMode="auto">
            <a:xfrm>
              <a:off x="7564466" y="3992574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4" name="Oval 41"/>
            <p:cNvSpPr>
              <a:spLocks noChangeArrowheads="1"/>
            </p:cNvSpPr>
            <p:nvPr/>
          </p:nvSpPr>
          <p:spPr bwMode="auto">
            <a:xfrm>
              <a:off x="6988203" y="4783150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K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5" name="Oval 42"/>
            <p:cNvSpPr>
              <a:spLocks noChangeArrowheads="1"/>
            </p:cNvSpPr>
            <p:nvPr/>
          </p:nvSpPr>
          <p:spPr bwMode="auto">
            <a:xfrm>
              <a:off x="7569228" y="4783150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L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6" name="Oval 43"/>
            <p:cNvSpPr>
              <a:spLocks noChangeArrowheads="1"/>
            </p:cNvSpPr>
            <p:nvPr/>
          </p:nvSpPr>
          <p:spPr bwMode="auto">
            <a:xfrm>
              <a:off x="8212166" y="4783150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M</a:t>
              </a:r>
              <a:endParaRPr kumimoji="0" lang="en-US" altLang="zh-CN" sz="20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7454" name="Line 44"/>
            <p:cNvSpPr/>
            <p:nvPr/>
          </p:nvSpPr>
          <p:spPr>
            <a:xfrm flipH="1">
              <a:off x="5411820" y="2659056"/>
              <a:ext cx="725482" cy="444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5" name="Line 45"/>
            <p:cNvSpPr/>
            <p:nvPr/>
          </p:nvSpPr>
          <p:spPr>
            <a:xfrm>
              <a:off x="6302403" y="2789231"/>
              <a:ext cx="0" cy="288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6" name="Line 46"/>
            <p:cNvSpPr/>
            <p:nvPr/>
          </p:nvSpPr>
          <p:spPr>
            <a:xfrm>
              <a:off x="6494491" y="2674931"/>
              <a:ext cx="6477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7" name="Line 49"/>
            <p:cNvSpPr/>
            <p:nvPr/>
          </p:nvSpPr>
          <p:spPr>
            <a:xfrm>
              <a:off x="6307166" y="3589554"/>
              <a:ext cx="0" cy="2159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8" name="Line 50"/>
            <p:cNvSpPr/>
            <p:nvPr/>
          </p:nvSpPr>
          <p:spPr>
            <a:xfrm>
              <a:off x="6307166" y="4352936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9" name="Freeform 51"/>
            <p:cNvSpPr/>
            <p:nvPr/>
          </p:nvSpPr>
          <p:spPr>
            <a:xfrm>
              <a:off x="7004078" y="3560761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60" name="Freeform 52"/>
            <p:cNvSpPr/>
            <p:nvPr/>
          </p:nvSpPr>
          <p:spPr>
            <a:xfrm>
              <a:off x="7443816" y="3532186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61" name="Line 53"/>
            <p:cNvSpPr/>
            <p:nvPr/>
          </p:nvSpPr>
          <p:spPr>
            <a:xfrm flipH="1">
              <a:off x="7248553" y="4281499"/>
              <a:ext cx="360363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62" name="Line 54"/>
            <p:cNvSpPr/>
            <p:nvPr/>
          </p:nvSpPr>
          <p:spPr>
            <a:xfrm>
              <a:off x="7751791" y="4352936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63" name="Freeform 55"/>
            <p:cNvSpPr/>
            <p:nvPr/>
          </p:nvSpPr>
          <p:spPr>
            <a:xfrm>
              <a:off x="7891491" y="4262449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7" name="右箭头 86"/>
            <p:cNvSpPr/>
            <p:nvPr/>
          </p:nvSpPr>
          <p:spPr>
            <a:xfrm>
              <a:off x="3714744" y="3429000"/>
              <a:ext cx="785818" cy="357190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+mn-ea"/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4238625" y="5572125"/>
            <a:ext cx="4427538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3200"/>
              </a:lnSpc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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    </a:t>
            </a:r>
            <a:r>
              <a:rPr lang="zh-CN" altLang="en-US" sz="20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所有结点的度之和＝分支数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Text Box 5"/>
          <p:cNvSpPr txBox="1"/>
          <p:nvPr/>
        </p:nvSpPr>
        <p:spPr>
          <a:xfrm>
            <a:off x="2024063" y="500063"/>
            <a:ext cx="38369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 </a:t>
            </a:r>
            <a:r>
              <a:rPr lang="zh-CN" altLang="en-US" sz="24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根结点加上一个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分支</a:t>
            </a:r>
            <a:endParaRPr lang="zh-CN" altLang="en-US" sz="2400" dirty="0">
              <a:solidFill>
                <a:srgbClr val="CC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8434" name="组合 88"/>
          <p:cNvGrpSpPr/>
          <p:nvPr/>
        </p:nvGrpSpPr>
        <p:grpSpPr>
          <a:xfrm>
            <a:off x="1738313" y="1317625"/>
            <a:ext cx="3816350" cy="2305050"/>
            <a:chOff x="214282" y="1514880"/>
            <a:chExt cx="3816350" cy="2305050"/>
          </a:xfrm>
        </p:grpSpPr>
        <p:sp>
          <p:nvSpPr>
            <p:cNvPr id="18435" name="Freeform 47"/>
            <p:cNvSpPr/>
            <p:nvPr/>
          </p:nvSpPr>
          <p:spPr>
            <a:xfrm>
              <a:off x="453995" y="2524529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36" name="Freeform 48"/>
            <p:cNvSpPr/>
            <p:nvPr/>
          </p:nvSpPr>
          <p:spPr>
            <a:xfrm>
              <a:off x="879429" y="2486429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" name="Oval 31"/>
            <p:cNvSpPr>
              <a:spLocks noChangeArrowheads="1"/>
            </p:cNvSpPr>
            <p:nvPr/>
          </p:nvSpPr>
          <p:spPr bwMode="auto">
            <a:xfrm>
              <a:off x="1582707" y="1514880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en-US" altLang="zh-CN" sz="24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5" name="Oval 32"/>
            <p:cNvSpPr>
              <a:spLocks noChangeArrowheads="1"/>
            </p:cNvSpPr>
            <p:nvPr/>
          </p:nvSpPr>
          <p:spPr bwMode="auto">
            <a:xfrm>
              <a:off x="574645" y="2164168"/>
              <a:ext cx="360362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en-US" altLang="zh-CN" sz="24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6" name="Oval 33"/>
            <p:cNvSpPr>
              <a:spLocks noChangeArrowheads="1"/>
            </p:cNvSpPr>
            <p:nvPr/>
          </p:nvSpPr>
          <p:spPr bwMode="auto">
            <a:xfrm>
              <a:off x="1582707" y="2164168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2590770" y="216416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214282" y="281186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933420" y="281186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1582707" y="281186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1582707" y="345956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J</a:t>
              </a:r>
              <a:endParaRPr kumimoji="0" lang="en-US" altLang="zh-CN" sz="24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2230407" y="281186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H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3022570" y="281186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2446307" y="345956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K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3027332" y="3459568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L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6" name="Oval 43"/>
            <p:cNvSpPr>
              <a:spLocks noChangeArrowheads="1"/>
            </p:cNvSpPr>
            <p:nvPr/>
          </p:nvSpPr>
          <p:spPr bwMode="auto">
            <a:xfrm>
              <a:off x="3670270" y="345956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M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8450" name="Line 44"/>
            <p:cNvSpPr/>
            <p:nvPr/>
          </p:nvSpPr>
          <p:spPr>
            <a:xfrm flipH="1">
              <a:off x="869924" y="1745068"/>
              <a:ext cx="725482" cy="444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1" name="Line 45"/>
            <p:cNvSpPr/>
            <p:nvPr/>
          </p:nvSpPr>
          <p:spPr>
            <a:xfrm>
              <a:off x="1760507" y="1875243"/>
              <a:ext cx="0" cy="288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2" name="Line 46"/>
            <p:cNvSpPr/>
            <p:nvPr/>
          </p:nvSpPr>
          <p:spPr>
            <a:xfrm>
              <a:off x="1952595" y="1760943"/>
              <a:ext cx="6477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3" name="Line 49"/>
            <p:cNvSpPr/>
            <p:nvPr/>
          </p:nvSpPr>
          <p:spPr>
            <a:xfrm>
              <a:off x="1765270" y="2570568"/>
              <a:ext cx="0" cy="2159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4" name="Line 50"/>
            <p:cNvSpPr/>
            <p:nvPr/>
          </p:nvSpPr>
          <p:spPr>
            <a:xfrm>
              <a:off x="1765270" y="3172230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5" name="Freeform 51"/>
            <p:cNvSpPr/>
            <p:nvPr/>
          </p:nvSpPr>
          <p:spPr>
            <a:xfrm>
              <a:off x="2462182" y="2510243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56" name="Freeform 52"/>
            <p:cNvSpPr/>
            <p:nvPr/>
          </p:nvSpPr>
          <p:spPr>
            <a:xfrm>
              <a:off x="2901920" y="2481668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57" name="Line 53"/>
            <p:cNvSpPr/>
            <p:nvPr/>
          </p:nvSpPr>
          <p:spPr>
            <a:xfrm flipH="1">
              <a:off x="2706657" y="3100793"/>
              <a:ext cx="360363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8" name="Line 54"/>
            <p:cNvSpPr/>
            <p:nvPr/>
          </p:nvSpPr>
          <p:spPr>
            <a:xfrm>
              <a:off x="3209895" y="3172230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59" name="Freeform 55"/>
            <p:cNvSpPr/>
            <p:nvPr/>
          </p:nvSpPr>
          <p:spPr>
            <a:xfrm>
              <a:off x="3349595" y="3081743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881313" y="5072063"/>
            <a:ext cx="2428875" cy="1031875"/>
            <a:chOff x="1357290" y="5072074"/>
            <a:chExt cx="2428892" cy="1031881"/>
          </a:xfrm>
        </p:grpSpPr>
        <p:sp>
          <p:nvSpPr>
            <p:cNvPr id="18461" name="TextBox 56"/>
            <p:cNvSpPr txBox="1"/>
            <p:nvPr/>
          </p:nvSpPr>
          <p:spPr>
            <a:xfrm>
              <a:off x="1357290" y="5643578"/>
              <a:ext cx="2428892" cy="460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 i="1" dirty="0">
                  <a:solidFill>
                    <a:srgbClr val="CC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n</a:t>
              </a:r>
              <a:r>
                <a:rPr lang="en-US" altLang="zh-CN" sz="2400" dirty="0">
                  <a:solidFill>
                    <a:srgbClr val="CC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</a:t>
              </a:r>
              <a:r>
                <a:rPr lang="zh-CN" altLang="en-US" sz="2400" dirty="0">
                  <a:solidFill>
                    <a:srgbClr val="CC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度之和</a:t>
              </a:r>
              <a:r>
                <a:rPr lang="en-US" altLang="zh-CN" sz="2400" dirty="0">
                  <a:solidFill>
                    <a:srgbClr val="CC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+1</a:t>
              </a:r>
              <a:endParaRPr lang="en-US" altLang="zh-CN" sz="24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下箭头 57"/>
            <p:cNvSpPr/>
            <p:nvPr/>
          </p:nvSpPr>
          <p:spPr>
            <a:xfrm>
              <a:off x="2357422" y="5072074"/>
              <a:ext cx="285752" cy="428628"/>
            </a:xfrm>
            <a:prstGeom prst="down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2400" strike="noStrike" noProof="1">
                <a:latin typeface="+mn-ea"/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2524125" y="4017963"/>
            <a:ext cx="5949950" cy="10144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这样分支数与结点数相同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  </a:t>
            </a:r>
            <a:r>
              <a:rPr lang="zh-CN" altLang="en-US" sz="24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实际分支数</a:t>
            </a:r>
            <a:r>
              <a:rPr lang="en-US" altLang="zh-CN" sz="24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</a:t>
            </a:r>
            <a:r>
              <a:rPr lang="en-US" altLang="zh-CN" sz="2400" i="1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endParaRPr lang="en-US" altLang="zh-CN" sz="2400">
              <a:solidFill>
                <a:srgbClr val="CC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8464" name="组合 89"/>
          <p:cNvGrpSpPr/>
          <p:nvPr/>
        </p:nvGrpSpPr>
        <p:grpSpPr>
          <a:xfrm>
            <a:off x="6208713" y="660400"/>
            <a:ext cx="3816350" cy="3214688"/>
            <a:chOff x="4684740" y="857232"/>
            <a:chExt cx="3816350" cy="3214710"/>
          </a:xfrm>
        </p:grpSpPr>
        <p:sp>
          <p:nvSpPr>
            <p:cNvPr id="18465" name="Freeform 47"/>
            <p:cNvSpPr/>
            <p:nvPr/>
          </p:nvSpPr>
          <p:spPr>
            <a:xfrm>
              <a:off x="4924453" y="2633665"/>
              <a:ext cx="211120" cy="300039"/>
            </a:xfrm>
            <a:custGeom>
              <a:avLst/>
              <a:gdLst/>
              <a:ahLst/>
              <a:cxnLst>
                <a:cxn ang="0">
                  <a:pos x="121" y="0"/>
                </a:cxn>
                <a:cxn ang="0">
                  <a:pos x="0" y="144"/>
                </a:cxn>
              </a:cxnLst>
              <a:pathLst>
                <a:path w="121" h="144">
                  <a:moveTo>
                    <a:pt x="121" y="0"/>
                  </a:moveTo>
                  <a:lnTo>
                    <a:pt x="0" y="144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66" name="Freeform 48"/>
            <p:cNvSpPr/>
            <p:nvPr/>
          </p:nvSpPr>
          <p:spPr>
            <a:xfrm>
              <a:off x="5349887" y="2595565"/>
              <a:ext cx="214314" cy="3238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" y="147"/>
                </a:cxn>
              </a:cxnLst>
              <a:pathLst>
                <a:path w="115" h="147">
                  <a:moveTo>
                    <a:pt x="0" y="0"/>
                  </a:moveTo>
                  <a:lnTo>
                    <a:pt x="115" y="147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5" name="Oval 31"/>
            <p:cNvSpPr>
              <a:spLocks noChangeArrowheads="1"/>
            </p:cNvSpPr>
            <p:nvPr/>
          </p:nvSpPr>
          <p:spPr bwMode="auto">
            <a:xfrm>
              <a:off x="6053165" y="1229128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en-US" altLang="zh-CN" sz="24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6" name="Oval 32"/>
            <p:cNvSpPr>
              <a:spLocks noChangeArrowheads="1"/>
            </p:cNvSpPr>
            <p:nvPr/>
          </p:nvSpPr>
          <p:spPr bwMode="auto">
            <a:xfrm>
              <a:off x="5045103" y="2130428"/>
              <a:ext cx="360362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en-US" altLang="zh-CN" sz="24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7" name="Oval 33"/>
            <p:cNvSpPr>
              <a:spLocks noChangeArrowheads="1"/>
            </p:cNvSpPr>
            <p:nvPr/>
          </p:nvSpPr>
          <p:spPr bwMode="auto">
            <a:xfrm>
              <a:off x="6053165" y="2130428"/>
              <a:ext cx="360363" cy="360363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8" name="Oval 34"/>
            <p:cNvSpPr>
              <a:spLocks noChangeArrowheads="1"/>
            </p:cNvSpPr>
            <p:nvPr/>
          </p:nvSpPr>
          <p:spPr bwMode="auto">
            <a:xfrm>
              <a:off x="7061228" y="2130428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9" name="Oval 35"/>
            <p:cNvSpPr>
              <a:spLocks noChangeArrowheads="1"/>
            </p:cNvSpPr>
            <p:nvPr/>
          </p:nvSpPr>
          <p:spPr bwMode="auto">
            <a:xfrm>
              <a:off x="4684740" y="2921004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0" name="Oval 36"/>
            <p:cNvSpPr>
              <a:spLocks noChangeArrowheads="1"/>
            </p:cNvSpPr>
            <p:nvPr/>
          </p:nvSpPr>
          <p:spPr bwMode="auto">
            <a:xfrm>
              <a:off x="5403878" y="2921004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1" name="Oval 37"/>
            <p:cNvSpPr>
              <a:spLocks noChangeArrowheads="1"/>
            </p:cNvSpPr>
            <p:nvPr/>
          </p:nvSpPr>
          <p:spPr bwMode="auto">
            <a:xfrm>
              <a:off x="6053165" y="2921004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2" name="Oval 38"/>
            <p:cNvSpPr>
              <a:spLocks noChangeArrowheads="1"/>
            </p:cNvSpPr>
            <p:nvPr/>
          </p:nvSpPr>
          <p:spPr bwMode="auto">
            <a:xfrm>
              <a:off x="6053165" y="3711580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 dirty="0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J</a:t>
              </a:r>
              <a:endParaRPr kumimoji="0" lang="en-US" altLang="zh-CN" sz="2400" b="1" i="1" u="none" strike="noStrike" kern="1200" cap="none" spc="0" normalizeH="0" baseline="0" noProof="1" dirty="0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3" name="Oval 39"/>
            <p:cNvSpPr>
              <a:spLocks noChangeArrowheads="1"/>
            </p:cNvSpPr>
            <p:nvPr/>
          </p:nvSpPr>
          <p:spPr bwMode="auto">
            <a:xfrm>
              <a:off x="6700865" y="2921004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H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4" name="Oval 40"/>
            <p:cNvSpPr>
              <a:spLocks noChangeArrowheads="1"/>
            </p:cNvSpPr>
            <p:nvPr/>
          </p:nvSpPr>
          <p:spPr bwMode="auto">
            <a:xfrm>
              <a:off x="7493028" y="2921004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I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5" name="Oval 41"/>
            <p:cNvSpPr>
              <a:spLocks noChangeArrowheads="1"/>
            </p:cNvSpPr>
            <p:nvPr/>
          </p:nvSpPr>
          <p:spPr bwMode="auto">
            <a:xfrm>
              <a:off x="6916765" y="3711580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K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6" name="Oval 42"/>
            <p:cNvSpPr>
              <a:spLocks noChangeArrowheads="1"/>
            </p:cNvSpPr>
            <p:nvPr/>
          </p:nvSpPr>
          <p:spPr bwMode="auto">
            <a:xfrm>
              <a:off x="7497790" y="3711580"/>
              <a:ext cx="360363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L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7" name="Oval 43"/>
            <p:cNvSpPr>
              <a:spLocks noChangeArrowheads="1"/>
            </p:cNvSpPr>
            <p:nvPr/>
          </p:nvSpPr>
          <p:spPr bwMode="auto">
            <a:xfrm>
              <a:off x="8140728" y="3711580"/>
              <a:ext cx="360362" cy="36036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400" b="1" i="1" u="none" strike="noStrike" kern="1200" cap="none" spc="0" normalizeH="0" baseline="0" noProof="1">
                  <a:solidFill>
                    <a:srgbClr val="3333FF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M</a:t>
              </a:r>
              <a:endParaRPr kumimoji="0" lang="en-US" altLang="zh-CN" sz="2400" b="1" i="1" u="none" strike="noStrike" kern="1200" cap="none" spc="0" normalizeH="0" baseline="0" noProof="1">
                <a:solidFill>
                  <a:srgbClr val="3333FF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8480" name="Line 44"/>
            <p:cNvSpPr/>
            <p:nvPr/>
          </p:nvSpPr>
          <p:spPr>
            <a:xfrm flipH="1">
              <a:off x="5340382" y="1711328"/>
              <a:ext cx="725482" cy="4444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81" name="Line 45"/>
            <p:cNvSpPr/>
            <p:nvPr/>
          </p:nvSpPr>
          <p:spPr>
            <a:xfrm>
              <a:off x="6230965" y="1841503"/>
              <a:ext cx="0" cy="2880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82" name="Line 46"/>
            <p:cNvSpPr/>
            <p:nvPr/>
          </p:nvSpPr>
          <p:spPr>
            <a:xfrm>
              <a:off x="6423053" y="1727203"/>
              <a:ext cx="6477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83" name="Line 49"/>
            <p:cNvSpPr/>
            <p:nvPr/>
          </p:nvSpPr>
          <p:spPr>
            <a:xfrm>
              <a:off x="6219962" y="2711236"/>
              <a:ext cx="0" cy="2159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84" name="Line 50"/>
            <p:cNvSpPr/>
            <p:nvPr/>
          </p:nvSpPr>
          <p:spPr>
            <a:xfrm>
              <a:off x="6235728" y="3424242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85" name="Freeform 51"/>
            <p:cNvSpPr/>
            <p:nvPr/>
          </p:nvSpPr>
          <p:spPr>
            <a:xfrm>
              <a:off x="6932640" y="2619379"/>
              <a:ext cx="220663" cy="301625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0" y="190"/>
                </a:cxn>
              </a:cxnLst>
              <a:pathLst>
                <a:path w="139" h="190">
                  <a:moveTo>
                    <a:pt x="139" y="0"/>
                  </a:moveTo>
                  <a:lnTo>
                    <a:pt x="0" y="19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6" name="Freeform 52"/>
            <p:cNvSpPr/>
            <p:nvPr/>
          </p:nvSpPr>
          <p:spPr>
            <a:xfrm>
              <a:off x="7372378" y="2590804"/>
              <a:ext cx="265112" cy="330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7" y="208"/>
                </a:cxn>
              </a:cxnLst>
              <a:pathLst>
                <a:path w="167" h="208">
                  <a:moveTo>
                    <a:pt x="0" y="0"/>
                  </a:moveTo>
                  <a:lnTo>
                    <a:pt x="167" y="208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87" name="Line 53"/>
            <p:cNvSpPr/>
            <p:nvPr/>
          </p:nvSpPr>
          <p:spPr>
            <a:xfrm flipH="1">
              <a:off x="7177115" y="3352805"/>
              <a:ext cx="360363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88" name="Line 54"/>
            <p:cNvSpPr/>
            <p:nvPr/>
          </p:nvSpPr>
          <p:spPr>
            <a:xfrm>
              <a:off x="7680353" y="3424242"/>
              <a:ext cx="0" cy="2873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89" name="Freeform 55"/>
            <p:cNvSpPr/>
            <p:nvPr/>
          </p:nvSpPr>
          <p:spPr>
            <a:xfrm>
              <a:off x="7820053" y="3333755"/>
              <a:ext cx="447675" cy="3905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2" y="246"/>
                </a:cxn>
              </a:cxnLst>
              <a:pathLst>
                <a:path w="282" h="246">
                  <a:moveTo>
                    <a:pt x="0" y="0"/>
                  </a:moveTo>
                  <a:lnTo>
                    <a:pt x="282" y="246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88" name="直接连接符 87"/>
            <p:cNvCxnSpPr/>
            <p:nvPr/>
          </p:nvCxnSpPr>
          <p:spPr>
            <a:xfrm rot="5400000">
              <a:off x="6230576" y="962010"/>
              <a:ext cx="390930" cy="18137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右箭头 90"/>
          <p:cNvSpPr/>
          <p:nvPr/>
        </p:nvSpPr>
        <p:spPr>
          <a:xfrm>
            <a:off x="5453063" y="2017713"/>
            <a:ext cx="571500" cy="357188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2400" strike="noStrike" noProof="1">
              <a:latin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/>
          <p:nvPr/>
        </p:nvSpPr>
        <p:spPr>
          <a:xfrm>
            <a:off x="5899785" y="2622550"/>
            <a:ext cx="3517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algn="ctr"/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458" name="Text Box 3"/>
          <p:cNvSpPr txBox="1"/>
          <p:nvPr/>
        </p:nvSpPr>
        <p:spPr>
          <a:xfrm>
            <a:off x="680085" y="142875"/>
            <a:ext cx="9987915" cy="2489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例（补充）</a:t>
            </a:r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一棵度为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的树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中，若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个度为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的结点，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个度为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的结点，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个度为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的结点，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个度为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的结点，则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的叶子结点个数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sz="2400" u="sng" dirty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A.41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				</a:t>
            </a: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B.82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C.113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				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D.122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9558" name="Text Box 6"/>
          <p:cNvSpPr txBox="1"/>
          <p:nvPr/>
        </p:nvSpPr>
        <p:spPr>
          <a:xfrm>
            <a:off x="1373505" y="3967480"/>
            <a:ext cx="8620125" cy="460375"/>
          </a:xfrm>
          <a:prstGeom prst="rect">
            <a:avLst/>
          </a:prstGeom>
          <a:noFill/>
          <a:ln w="2857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4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  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+10+1+10+20 = 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+41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0335" y="4538980"/>
            <a:ext cx="8307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-1 =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度之和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+2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+3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+4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4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 122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，得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 123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61185" y="5181600"/>
            <a:ext cx="44494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aseline="-25000">
                <a:latin typeface="宋体" panose="02010600030101010101" pitchFamily="2" charset="-122"/>
                <a:ea typeface="宋体" panose="02010600030101010101" pitchFamily="2" charset="-122"/>
              </a:rPr>
              <a:t>0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-41 = 123-41 = 82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79320" y="5824855"/>
            <a:ext cx="23450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答案为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4880" y="2857500"/>
            <a:ext cx="97072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结点个数表示：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为总结点个数，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i="1" baseline="-2500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为度为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0≤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）的结点个数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8" grpId="0" bldLvl="0" animBg="1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"/>
          <p:cNvSpPr txBox="1"/>
          <p:nvPr/>
        </p:nvSpPr>
        <p:spPr>
          <a:xfrm>
            <a:off x="479425" y="1000125"/>
            <a:ext cx="1133094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度为</a:t>
            </a:r>
            <a:r>
              <a:rPr lang="en-US" altLang="zh-CN" sz="3200" i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的树中第</a:t>
            </a:r>
            <a:r>
              <a:rPr lang="en-US" altLang="zh-CN" sz="3200" i="1" dirty="0" err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层上至多有</a:t>
            </a:r>
            <a:r>
              <a:rPr lang="en-US" altLang="zh-CN" sz="3200" i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3200" i="1" baseline="3000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200" baseline="3000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个结点（</a:t>
            </a:r>
            <a:r>
              <a:rPr lang="en-US" altLang="zh-CN" sz="3200" i="1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lang="en-US" altLang="zh-CN" sz="3200" err="1"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482" name="Line 20"/>
          <p:cNvSpPr/>
          <p:nvPr/>
        </p:nvSpPr>
        <p:spPr>
          <a:xfrm flipH="1">
            <a:off x="4811713" y="2495550"/>
            <a:ext cx="792162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Line 21"/>
          <p:cNvSpPr/>
          <p:nvPr/>
        </p:nvSpPr>
        <p:spPr>
          <a:xfrm>
            <a:off x="5748338" y="2568575"/>
            <a:ext cx="0" cy="358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4" name="Line 22"/>
          <p:cNvSpPr/>
          <p:nvPr/>
        </p:nvSpPr>
        <p:spPr>
          <a:xfrm>
            <a:off x="5819775" y="2495550"/>
            <a:ext cx="936625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5603875" y="23526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4595813" y="2857500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5605463" y="2857500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611938" y="2857500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0489" name="TextBox 11"/>
          <p:cNvSpPr txBox="1"/>
          <p:nvPr/>
        </p:nvSpPr>
        <p:spPr>
          <a:xfrm>
            <a:off x="3667125" y="3502025"/>
            <a:ext cx="50942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度为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的树第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层至多有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个结点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Text Box 5"/>
          <p:cNvSpPr txBox="1"/>
          <p:nvPr/>
        </p:nvSpPr>
        <p:spPr>
          <a:xfrm>
            <a:off x="1330960" y="590550"/>
            <a:ext cx="10229850" cy="6080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高度为</a:t>
            </a:r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次树至多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有        个结点。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1506" name="Object 6"/>
          <p:cNvGraphicFramePr>
            <a:graphicFrameLocks noChangeAspect="1"/>
          </p:cNvGraphicFramePr>
          <p:nvPr/>
        </p:nvGraphicFramePr>
        <p:xfrm>
          <a:off x="7182485" y="644525"/>
          <a:ext cx="6794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0972800" imgH="10058400" progId="Equation.3">
                  <p:embed/>
                </p:oleObj>
              </mc:Choice>
              <mc:Fallback>
                <p:oleObj name="" r:id="rId1" imgW="10972800" imgH="100584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82485" y="644525"/>
                        <a:ext cx="679450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TextBox 4"/>
          <p:cNvSpPr txBox="1"/>
          <p:nvPr/>
        </p:nvSpPr>
        <p:spPr>
          <a:xfrm>
            <a:off x="1878648" y="1500188"/>
            <a:ext cx="501173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次树每层最多结点数：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8" name="TextBox 6"/>
          <p:cNvSpPr txBox="1"/>
          <p:nvPr/>
        </p:nvSpPr>
        <p:spPr>
          <a:xfrm>
            <a:off x="2021523" y="2286000"/>
            <a:ext cx="2659062" cy="2143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ts val="3200"/>
              </a:lnSpc>
              <a:buBlip>
                <a:blip r:embed="rId3"/>
              </a:buBlip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层：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ts val="3200"/>
              </a:lnSpc>
              <a:buBlip>
                <a:blip r:embed="rId3"/>
              </a:buBlip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层：</a:t>
            </a:r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800" baseline="30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800" baseline="30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ts val="3200"/>
              </a:lnSpc>
              <a:buBlip>
                <a:blip r:embed="rId3"/>
              </a:buBlip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层：</a:t>
            </a:r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800" baseline="30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ts val="3200"/>
              </a:lnSpc>
              <a:buBlip>
                <a:blip r:embed="rId3"/>
              </a:buBlip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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ts val="3200"/>
              </a:lnSpc>
              <a:buBlip>
                <a:blip r:embed="rId3"/>
              </a:buBlip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层：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800" i="1" baseline="3000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800" baseline="3000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endParaRPr lang="en-US" altLang="zh-CN" sz="2800" baseline="30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4807585" y="2422525"/>
            <a:ext cx="142875" cy="1785938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/>
            <a:endParaRPr lang="zh-CN" altLang="en-US" sz="2800" strike="noStrike" noProof="1">
              <a:latin typeface="+mn-ea"/>
            </a:endParaRPr>
          </a:p>
        </p:txBody>
      </p:sp>
      <p:graphicFrame>
        <p:nvGraphicFramePr>
          <p:cNvPr id="21510" name="Object 7"/>
          <p:cNvGraphicFramePr>
            <a:graphicFrameLocks noChangeAspect="1"/>
          </p:cNvGraphicFramePr>
          <p:nvPr/>
        </p:nvGraphicFramePr>
        <p:xfrm>
          <a:off x="4950460" y="3000375"/>
          <a:ext cx="6794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10972800" imgH="10058400" progId="Equation.3">
                  <p:embed/>
                </p:oleObj>
              </mc:Choice>
              <mc:Fallback>
                <p:oleObj name="" r:id="rId4" imgW="10972800" imgH="10058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50460" y="3000375"/>
                        <a:ext cx="679450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ext Box 2"/>
          <p:cNvSpPr txBox="1"/>
          <p:nvPr/>
        </p:nvSpPr>
        <p:spPr>
          <a:xfrm>
            <a:off x="1367155" y="919480"/>
            <a:ext cx="10184130" cy="607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具有</a:t>
            </a:r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个结点的</a:t>
            </a:r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次树的</a:t>
            </a:r>
            <a:r>
              <a:rPr lang="zh-CN" altLang="en-US" sz="28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最小高度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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log</a:t>
            </a:r>
            <a:r>
              <a:rPr lang="en-US" altLang="zh-CN" sz="2800" i="1" baseline="-30000" dirty="0" err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-1)+1)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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0" name="Text Box 32"/>
          <p:cNvSpPr txBox="1"/>
          <p:nvPr/>
        </p:nvSpPr>
        <p:spPr>
          <a:xfrm>
            <a:off x="2235200" y="1857375"/>
            <a:ext cx="1928813" cy="4302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2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=10</a:t>
            </a:r>
            <a:r>
              <a:rPr lang="zh-CN" altLang="en-US" sz="22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i="1"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200">
                <a:latin typeface="宋体" panose="02010600030101010101" pitchFamily="2" charset="-122"/>
                <a:ea typeface="宋体" panose="02010600030101010101" pitchFamily="2" charset="-122"/>
              </a:rPr>
              <a:t>=3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1" name="Line 20"/>
          <p:cNvSpPr/>
          <p:nvPr/>
        </p:nvSpPr>
        <p:spPr>
          <a:xfrm flipH="1">
            <a:off x="2384425" y="2571750"/>
            <a:ext cx="792163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2" name="Line 21"/>
          <p:cNvSpPr/>
          <p:nvPr/>
        </p:nvSpPr>
        <p:spPr>
          <a:xfrm>
            <a:off x="3321050" y="2644775"/>
            <a:ext cx="0" cy="358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3" name="Line 22"/>
          <p:cNvSpPr/>
          <p:nvPr/>
        </p:nvSpPr>
        <p:spPr>
          <a:xfrm>
            <a:off x="3392488" y="2571750"/>
            <a:ext cx="936625" cy="431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4" name="Line 23"/>
          <p:cNvSpPr/>
          <p:nvPr/>
        </p:nvSpPr>
        <p:spPr>
          <a:xfrm flipH="1">
            <a:off x="1881188" y="3076575"/>
            <a:ext cx="43180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5" name="Line 24"/>
          <p:cNvSpPr/>
          <p:nvPr/>
        </p:nvSpPr>
        <p:spPr>
          <a:xfrm flipH="1">
            <a:off x="2241550" y="3148013"/>
            <a:ext cx="71438" cy="5048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6" name="Line 25"/>
          <p:cNvSpPr/>
          <p:nvPr/>
        </p:nvSpPr>
        <p:spPr>
          <a:xfrm>
            <a:off x="2384425" y="3076575"/>
            <a:ext cx="215900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7" name="Line 26"/>
          <p:cNvSpPr/>
          <p:nvPr/>
        </p:nvSpPr>
        <p:spPr>
          <a:xfrm flipH="1">
            <a:off x="2960688" y="3076575"/>
            <a:ext cx="360362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8" name="Line 27"/>
          <p:cNvSpPr/>
          <p:nvPr/>
        </p:nvSpPr>
        <p:spPr>
          <a:xfrm>
            <a:off x="3321050" y="3148013"/>
            <a:ext cx="0" cy="360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9" name="Line 28"/>
          <p:cNvSpPr/>
          <p:nvPr/>
        </p:nvSpPr>
        <p:spPr>
          <a:xfrm>
            <a:off x="3392488" y="3076575"/>
            <a:ext cx="288925" cy="5032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Oval 7"/>
          <p:cNvSpPr>
            <a:spLocks noChangeArrowheads="1"/>
          </p:cNvSpPr>
          <p:nvPr/>
        </p:nvSpPr>
        <p:spPr bwMode="auto">
          <a:xfrm>
            <a:off x="3176588" y="24288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3" name="Oval 8"/>
          <p:cNvSpPr>
            <a:spLocks noChangeArrowheads="1"/>
          </p:cNvSpPr>
          <p:nvPr/>
        </p:nvSpPr>
        <p:spPr bwMode="auto">
          <a:xfrm>
            <a:off x="2168525" y="2933700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4" name="Oval 9"/>
          <p:cNvSpPr>
            <a:spLocks noChangeArrowheads="1"/>
          </p:cNvSpPr>
          <p:nvPr/>
        </p:nvSpPr>
        <p:spPr bwMode="auto">
          <a:xfrm>
            <a:off x="3178175" y="2933700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5" name="Oval 10"/>
          <p:cNvSpPr>
            <a:spLocks noChangeArrowheads="1"/>
          </p:cNvSpPr>
          <p:nvPr/>
        </p:nvSpPr>
        <p:spPr bwMode="auto">
          <a:xfrm>
            <a:off x="4184650" y="2933700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6" name="Oval 11"/>
          <p:cNvSpPr>
            <a:spLocks noChangeArrowheads="1"/>
          </p:cNvSpPr>
          <p:nvPr/>
        </p:nvSpPr>
        <p:spPr bwMode="auto">
          <a:xfrm>
            <a:off x="1735138" y="35083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7" name="Oval 12"/>
          <p:cNvSpPr>
            <a:spLocks noChangeArrowheads="1"/>
          </p:cNvSpPr>
          <p:nvPr/>
        </p:nvSpPr>
        <p:spPr bwMode="auto">
          <a:xfrm>
            <a:off x="2097088" y="35083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8" name="Oval 13"/>
          <p:cNvSpPr>
            <a:spLocks noChangeArrowheads="1"/>
          </p:cNvSpPr>
          <p:nvPr/>
        </p:nvSpPr>
        <p:spPr bwMode="auto">
          <a:xfrm>
            <a:off x="2457450" y="35083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9" name="Oval 14"/>
          <p:cNvSpPr>
            <a:spLocks noChangeArrowheads="1"/>
          </p:cNvSpPr>
          <p:nvPr/>
        </p:nvSpPr>
        <p:spPr bwMode="auto">
          <a:xfrm>
            <a:off x="2816225" y="35083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30" name="Oval 15"/>
          <p:cNvSpPr>
            <a:spLocks noChangeArrowheads="1"/>
          </p:cNvSpPr>
          <p:nvPr/>
        </p:nvSpPr>
        <p:spPr bwMode="auto">
          <a:xfrm>
            <a:off x="3178175" y="35083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31" name="Oval 16"/>
          <p:cNvSpPr>
            <a:spLocks noChangeArrowheads="1"/>
          </p:cNvSpPr>
          <p:nvPr/>
        </p:nvSpPr>
        <p:spPr bwMode="auto">
          <a:xfrm>
            <a:off x="3538538" y="3508375"/>
            <a:ext cx="288925" cy="28733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p>
            <a:pPr fontAlgn="base"/>
            <a:endParaRPr lang="zh-CN" altLang="en-US" strike="noStrike" noProof="1">
              <a:latin typeface="+mn-ea"/>
            </a:endParaRPr>
          </a:p>
        </p:txBody>
      </p:sp>
      <p:sp>
        <p:nvSpPr>
          <p:cNvPr id="22550" name="TextBox 44"/>
          <p:cNvSpPr txBox="1"/>
          <p:nvPr/>
        </p:nvSpPr>
        <p:spPr>
          <a:xfrm>
            <a:off x="4650105" y="2649855"/>
            <a:ext cx="636714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3200"/>
              </a:lnSpc>
            </a:pPr>
            <a:r>
              <a:rPr lang="zh-CN" altLang="en-US" sz="28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最小高度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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log</a:t>
            </a:r>
            <a:r>
              <a:rPr lang="en-US" altLang="zh-CN" sz="2800" baseline="-30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(10 ×(3-1)+1)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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32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    =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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log</a:t>
            </a:r>
            <a:r>
              <a:rPr lang="en-US" altLang="zh-CN" sz="2800" baseline="-30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21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 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ts val="3200"/>
              </a:lnSpc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    =3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Text Box 2"/>
          <p:cNvSpPr txBox="1"/>
          <p:nvPr/>
        </p:nvSpPr>
        <p:spPr>
          <a:xfrm>
            <a:off x="2214563" y="1387475"/>
            <a:ext cx="7869237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 解：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设含</a:t>
            </a:r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个结点的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次树的</a:t>
            </a:r>
            <a:r>
              <a:rPr lang="zh-CN" altLang="en-US" sz="28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最小高度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800" baseline="30000" dirty="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554" name="Text Box 15"/>
          <p:cNvSpPr txBox="1"/>
          <p:nvPr/>
        </p:nvSpPr>
        <p:spPr>
          <a:xfrm>
            <a:off x="369888" y="188913"/>
            <a:ext cx="11271250" cy="9128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ts val="3200"/>
              </a:lnSpc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【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例（补充）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含</a:t>
            </a:r>
            <a:r>
              <a:rPr lang="en-US" altLang="zh-CN" sz="2800" i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个结点的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次树的最小高度是多少？最大高度是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多少？ </a:t>
            </a:r>
            <a:r>
              <a:rPr lang="zh-CN" altLang="en-US" sz="28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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/>
              </a:rPr>
              <a:t> 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看成是性质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的证明过程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173288" y="2428875"/>
            <a:ext cx="8077200" cy="1982788"/>
            <a:chOff x="589941" y="1763716"/>
            <a:chExt cx="8077200" cy="1982396"/>
          </a:xfrm>
        </p:grpSpPr>
        <p:sp>
          <p:nvSpPr>
            <p:cNvPr id="23556" name="Text Box 32"/>
            <p:cNvSpPr txBox="1"/>
            <p:nvPr/>
          </p:nvSpPr>
          <p:spPr>
            <a:xfrm>
              <a:off x="589941" y="3285811"/>
              <a:ext cx="3736340" cy="4603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m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=3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=3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：最多结点情况</a:t>
              </a:r>
              <a:endPara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3557" name="Group 59"/>
            <p:cNvGrpSpPr/>
            <p:nvPr/>
          </p:nvGrpSpPr>
          <p:grpSpPr>
            <a:xfrm>
              <a:off x="869976" y="1763716"/>
              <a:ext cx="6699250" cy="1366837"/>
              <a:chOff x="476" y="2704"/>
              <a:chExt cx="4220" cy="861"/>
            </a:xfrm>
          </p:grpSpPr>
          <p:sp>
            <p:nvSpPr>
              <p:cNvPr id="23558" name="Line 20"/>
              <p:cNvSpPr/>
              <p:nvPr/>
            </p:nvSpPr>
            <p:spPr>
              <a:xfrm flipH="1">
                <a:off x="885" y="2794"/>
                <a:ext cx="499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59" name="Line 21"/>
              <p:cNvSpPr/>
              <p:nvPr/>
            </p:nvSpPr>
            <p:spPr>
              <a:xfrm>
                <a:off x="1475" y="2840"/>
                <a:ext cx="0" cy="22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0" name="Line 22"/>
              <p:cNvSpPr/>
              <p:nvPr/>
            </p:nvSpPr>
            <p:spPr>
              <a:xfrm>
                <a:off x="1520" y="2794"/>
                <a:ext cx="59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1" name="Line 23"/>
              <p:cNvSpPr/>
              <p:nvPr/>
            </p:nvSpPr>
            <p:spPr>
              <a:xfrm flipH="1">
                <a:off x="568" y="3112"/>
                <a:ext cx="27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2" name="Line 24"/>
              <p:cNvSpPr/>
              <p:nvPr/>
            </p:nvSpPr>
            <p:spPr>
              <a:xfrm flipH="1">
                <a:off x="795" y="3157"/>
                <a:ext cx="45" cy="31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3" name="Line 25"/>
              <p:cNvSpPr/>
              <p:nvPr/>
            </p:nvSpPr>
            <p:spPr>
              <a:xfrm>
                <a:off x="885" y="3112"/>
                <a:ext cx="136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4" name="Line 26"/>
              <p:cNvSpPr/>
              <p:nvPr/>
            </p:nvSpPr>
            <p:spPr>
              <a:xfrm flipH="1">
                <a:off x="1248" y="3112"/>
                <a:ext cx="227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5" name="Line 27"/>
              <p:cNvSpPr/>
              <p:nvPr/>
            </p:nvSpPr>
            <p:spPr>
              <a:xfrm>
                <a:off x="1475" y="3157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6" name="Line 28"/>
              <p:cNvSpPr/>
              <p:nvPr/>
            </p:nvSpPr>
            <p:spPr>
              <a:xfrm>
                <a:off x="1520" y="3112"/>
                <a:ext cx="18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7" name="Line 29"/>
              <p:cNvSpPr/>
              <p:nvPr/>
            </p:nvSpPr>
            <p:spPr>
              <a:xfrm flipH="1">
                <a:off x="1929" y="3112"/>
                <a:ext cx="136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8" name="Line 30"/>
              <p:cNvSpPr/>
              <p:nvPr/>
            </p:nvSpPr>
            <p:spPr>
              <a:xfrm>
                <a:off x="2110" y="3157"/>
                <a:ext cx="45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9" name="Line 31"/>
              <p:cNvSpPr/>
              <p:nvPr/>
            </p:nvSpPr>
            <p:spPr>
              <a:xfrm>
                <a:off x="2155" y="3112"/>
                <a:ext cx="227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Oval 7"/>
              <p:cNvSpPr>
                <a:spLocks noChangeArrowheads="1"/>
              </p:cNvSpPr>
              <p:nvPr/>
            </p:nvSpPr>
            <p:spPr bwMode="auto">
              <a:xfrm>
                <a:off x="1384" y="270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33" name="Oval 8"/>
              <p:cNvSpPr>
                <a:spLocks noChangeArrowheads="1"/>
              </p:cNvSpPr>
              <p:nvPr/>
            </p:nvSpPr>
            <p:spPr bwMode="auto">
              <a:xfrm>
                <a:off x="749" y="3022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34" name="Oval 9"/>
              <p:cNvSpPr>
                <a:spLocks noChangeArrowheads="1"/>
              </p:cNvSpPr>
              <p:nvPr/>
            </p:nvSpPr>
            <p:spPr bwMode="auto">
              <a:xfrm>
                <a:off x="1385" y="3022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35" name="Oval 10"/>
              <p:cNvSpPr>
                <a:spLocks noChangeArrowheads="1"/>
              </p:cNvSpPr>
              <p:nvPr/>
            </p:nvSpPr>
            <p:spPr bwMode="auto">
              <a:xfrm>
                <a:off x="2019" y="3022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36" name="Oval 11"/>
              <p:cNvSpPr>
                <a:spLocks noChangeArrowheads="1"/>
              </p:cNvSpPr>
              <p:nvPr/>
            </p:nvSpPr>
            <p:spPr bwMode="auto">
              <a:xfrm>
                <a:off x="476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37" name="Oval 12"/>
              <p:cNvSpPr>
                <a:spLocks noChangeArrowheads="1"/>
              </p:cNvSpPr>
              <p:nvPr/>
            </p:nvSpPr>
            <p:spPr bwMode="auto">
              <a:xfrm>
                <a:off x="704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38" name="Oval 13"/>
              <p:cNvSpPr>
                <a:spLocks noChangeArrowheads="1"/>
              </p:cNvSpPr>
              <p:nvPr/>
            </p:nvSpPr>
            <p:spPr bwMode="auto">
              <a:xfrm>
                <a:off x="931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39" name="Oval 14"/>
              <p:cNvSpPr>
                <a:spLocks noChangeArrowheads="1"/>
              </p:cNvSpPr>
              <p:nvPr/>
            </p:nvSpPr>
            <p:spPr bwMode="auto">
              <a:xfrm>
                <a:off x="1157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1385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41" name="Oval 16"/>
              <p:cNvSpPr>
                <a:spLocks noChangeArrowheads="1"/>
              </p:cNvSpPr>
              <p:nvPr/>
            </p:nvSpPr>
            <p:spPr bwMode="auto">
              <a:xfrm>
                <a:off x="1612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42" name="Oval 17"/>
              <p:cNvSpPr>
                <a:spLocks noChangeArrowheads="1"/>
              </p:cNvSpPr>
              <p:nvPr/>
            </p:nvSpPr>
            <p:spPr bwMode="auto">
              <a:xfrm>
                <a:off x="1838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43" name="Oval 18"/>
              <p:cNvSpPr>
                <a:spLocks noChangeArrowheads="1"/>
              </p:cNvSpPr>
              <p:nvPr/>
            </p:nvSpPr>
            <p:spPr bwMode="auto">
              <a:xfrm>
                <a:off x="2066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44" name="Oval 19"/>
              <p:cNvSpPr>
                <a:spLocks noChangeArrowheads="1"/>
              </p:cNvSpPr>
              <p:nvPr/>
            </p:nvSpPr>
            <p:spPr bwMode="auto">
              <a:xfrm>
                <a:off x="2293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23583" name="Line 33"/>
              <p:cNvSpPr/>
              <p:nvPr/>
            </p:nvSpPr>
            <p:spPr>
              <a:xfrm flipH="1">
                <a:off x="3380" y="2794"/>
                <a:ext cx="499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4" name="Line 34"/>
              <p:cNvSpPr/>
              <p:nvPr/>
            </p:nvSpPr>
            <p:spPr>
              <a:xfrm>
                <a:off x="3970" y="2840"/>
                <a:ext cx="0" cy="22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5" name="Line 35"/>
              <p:cNvSpPr/>
              <p:nvPr/>
            </p:nvSpPr>
            <p:spPr>
              <a:xfrm>
                <a:off x="4015" y="2794"/>
                <a:ext cx="59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6" name="Line 36"/>
              <p:cNvSpPr/>
              <p:nvPr/>
            </p:nvSpPr>
            <p:spPr>
              <a:xfrm flipH="1">
                <a:off x="3063" y="3112"/>
                <a:ext cx="27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t" anchorCtr="0"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Oval 45"/>
              <p:cNvSpPr>
                <a:spLocks noChangeArrowheads="1"/>
              </p:cNvSpPr>
              <p:nvPr/>
            </p:nvSpPr>
            <p:spPr bwMode="auto">
              <a:xfrm>
                <a:off x="3879" y="270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50" name="Oval 46"/>
              <p:cNvSpPr>
                <a:spLocks noChangeArrowheads="1"/>
              </p:cNvSpPr>
              <p:nvPr/>
            </p:nvSpPr>
            <p:spPr bwMode="auto">
              <a:xfrm>
                <a:off x="3244" y="3022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51" name="Oval 47"/>
              <p:cNvSpPr>
                <a:spLocks noChangeArrowheads="1"/>
              </p:cNvSpPr>
              <p:nvPr/>
            </p:nvSpPr>
            <p:spPr bwMode="auto">
              <a:xfrm>
                <a:off x="3880" y="3022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52" name="Oval 48"/>
              <p:cNvSpPr>
                <a:spLocks noChangeArrowheads="1"/>
              </p:cNvSpPr>
              <p:nvPr/>
            </p:nvSpPr>
            <p:spPr bwMode="auto">
              <a:xfrm>
                <a:off x="4514" y="3022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  <p:sp>
            <p:nvSpPr>
              <p:cNvPr id="53" name="Oval 49"/>
              <p:cNvSpPr>
                <a:spLocks noChangeArrowheads="1"/>
              </p:cNvSpPr>
              <p:nvPr/>
            </p:nvSpPr>
            <p:spPr bwMode="auto">
              <a:xfrm>
                <a:off x="2971" y="3384"/>
                <a:ext cx="182" cy="181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fontAlgn="base"/>
                <a:endParaRPr lang="zh-CN" altLang="en-US" sz="2400" strike="noStrike" noProof="1">
                  <a:latin typeface="+mn-ea"/>
                </a:endParaRPr>
              </a:p>
            </p:txBody>
          </p:sp>
        </p:grpSp>
        <p:sp>
          <p:nvSpPr>
            <p:cNvPr id="23592" name="Text Box 58"/>
            <p:cNvSpPr txBox="1"/>
            <p:nvPr/>
          </p:nvSpPr>
          <p:spPr>
            <a:xfrm>
              <a:off x="4904131" y="3285811"/>
              <a:ext cx="3763010" cy="4603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m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=3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=3</a:t>
              </a: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：最少结点情况</a:t>
              </a:r>
              <a:endPara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extBox 16"/>
          <p:cNvSpPr txBox="1"/>
          <p:nvPr/>
        </p:nvSpPr>
        <p:spPr>
          <a:xfrm>
            <a:off x="2309813" y="3929063"/>
            <a:ext cx="7786687" cy="2416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则有：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1+3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+3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+3</a:t>
            </a:r>
            <a:r>
              <a:rPr lang="en-US" altLang="zh-CN" sz="2400" i="1" baseline="30000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-2     </a:t>
            </a: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＜    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n 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≤  1+3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+3</a:t>
            </a:r>
            <a:r>
              <a:rPr lang="en-US" altLang="zh-CN" sz="2400" baseline="30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400" i="1" baseline="30000" dirty="0" err="1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(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400" i="1" baseline="30000" dirty="0" err="1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-1)/2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＜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≤ (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400" i="1" baseline="30000" dirty="0" err="1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-1)/2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400" i="1" baseline="30000" dirty="0" err="1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＜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i="1" dirty="0" err="1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+1≤3</a:t>
            </a:r>
            <a:r>
              <a:rPr lang="en-US" altLang="zh-CN" sz="2400" i="1" baseline="30000" dirty="0" err="1"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endParaRPr lang="en-US" altLang="zh-CN" sz="2400" i="1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即：</a:t>
            </a:r>
            <a:r>
              <a:rPr lang="en-US" altLang="zh-CN" sz="2400" i="1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lang="en-US" altLang="zh-CN" sz="24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400" baseline="300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</a:t>
            </a:r>
            <a:r>
              <a:rPr lang="en-US" altLang="zh-CN" sz="24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log</a:t>
            </a:r>
            <a:r>
              <a:rPr lang="en-US" altLang="zh-CN" sz="2400" baseline="-30000" dirty="0" err="1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i="1" dirty="0" err="1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dirty="0" err="1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r>
              <a:rPr lang="en-US" altLang="zh-CN" sz="24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aseline="300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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6453188" y="500063"/>
            <a:ext cx="3956050" cy="2960687"/>
            <a:chOff x="428596" y="785794"/>
            <a:chExt cx="3956054" cy="2960708"/>
          </a:xfrm>
        </p:grpSpPr>
        <p:sp>
          <p:nvSpPr>
            <p:cNvPr id="24579" name="Text Box 32"/>
            <p:cNvSpPr txBox="1"/>
            <p:nvPr/>
          </p:nvSpPr>
          <p:spPr>
            <a:xfrm>
              <a:off x="1001687" y="2895897"/>
              <a:ext cx="3382963" cy="8299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最多结点情况，结点个数：</a:t>
              </a:r>
              <a:endPara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580" name="Line 20"/>
            <p:cNvSpPr/>
            <p:nvPr/>
          </p:nvSpPr>
          <p:spPr>
            <a:xfrm flipH="1">
              <a:off x="1736748" y="990592"/>
              <a:ext cx="792163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1" name="Line 21"/>
            <p:cNvSpPr/>
            <p:nvPr/>
          </p:nvSpPr>
          <p:spPr>
            <a:xfrm>
              <a:off x="2673373" y="1063617"/>
              <a:ext cx="0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2" name="Line 22"/>
            <p:cNvSpPr/>
            <p:nvPr/>
          </p:nvSpPr>
          <p:spPr>
            <a:xfrm>
              <a:off x="2744810" y="990592"/>
              <a:ext cx="93662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3" name="Line 23"/>
            <p:cNvSpPr/>
            <p:nvPr/>
          </p:nvSpPr>
          <p:spPr>
            <a:xfrm flipH="1">
              <a:off x="1233510" y="1495417"/>
              <a:ext cx="4318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4" name="Line 24"/>
            <p:cNvSpPr/>
            <p:nvPr/>
          </p:nvSpPr>
          <p:spPr>
            <a:xfrm flipH="1">
              <a:off x="1593873" y="1566854"/>
              <a:ext cx="71438" cy="5048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5" name="Line 25"/>
            <p:cNvSpPr/>
            <p:nvPr/>
          </p:nvSpPr>
          <p:spPr>
            <a:xfrm>
              <a:off x="1736748" y="1495417"/>
              <a:ext cx="2159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6" name="Line 26"/>
            <p:cNvSpPr/>
            <p:nvPr/>
          </p:nvSpPr>
          <p:spPr>
            <a:xfrm flipH="1">
              <a:off x="2313010" y="1495417"/>
              <a:ext cx="360363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7" name="Line 27"/>
            <p:cNvSpPr/>
            <p:nvPr/>
          </p:nvSpPr>
          <p:spPr>
            <a:xfrm>
              <a:off x="2673373" y="1566854"/>
              <a:ext cx="0" cy="360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8" name="Line 28"/>
            <p:cNvSpPr/>
            <p:nvPr/>
          </p:nvSpPr>
          <p:spPr>
            <a:xfrm>
              <a:off x="2744810" y="1495417"/>
              <a:ext cx="288925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9" name="Line 29"/>
            <p:cNvSpPr/>
            <p:nvPr/>
          </p:nvSpPr>
          <p:spPr>
            <a:xfrm flipH="1">
              <a:off x="3394098" y="1495417"/>
              <a:ext cx="2159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0" name="Line 30"/>
            <p:cNvSpPr/>
            <p:nvPr/>
          </p:nvSpPr>
          <p:spPr>
            <a:xfrm>
              <a:off x="3681435" y="1566854"/>
              <a:ext cx="71438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1" name="Line 31"/>
            <p:cNvSpPr/>
            <p:nvPr/>
          </p:nvSpPr>
          <p:spPr>
            <a:xfrm>
              <a:off x="3752873" y="1495417"/>
              <a:ext cx="360363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Oval 7"/>
            <p:cNvSpPr>
              <a:spLocks noChangeArrowheads="1"/>
            </p:cNvSpPr>
            <p:nvPr/>
          </p:nvSpPr>
          <p:spPr bwMode="auto">
            <a:xfrm>
              <a:off x="2528910" y="8477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33" name="Oval 8"/>
            <p:cNvSpPr>
              <a:spLocks noChangeArrowheads="1"/>
            </p:cNvSpPr>
            <p:nvPr/>
          </p:nvSpPr>
          <p:spPr bwMode="auto">
            <a:xfrm>
              <a:off x="1520848" y="1352542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34" name="Oval 9"/>
            <p:cNvSpPr>
              <a:spLocks noChangeArrowheads="1"/>
            </p:cNvSpPr>
            <p:nvPr/>
          </p:nvSpPr>
          <p:spPr bwMode="auto">
            <a:xfrm>
              <a:off x="2530498" y="1352542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35" name="Oval 10"/>
            <p:cNvSpPr>
              <a:spLocks noChangeArrowheads="1"/>
            </p:cNvSpPr>
            <p:nvPr/>
          </p:nvSpPr>
          <p:spPr bwMode="auto">
            <a:xfrm>
              <a:off x="3536973" y="1352542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36" name="Oval 11"/>
            <p:cNvSpPr>
              <a:spLocks noChangeArrowheads="1"/>
            </p:cNvSpPr>
            <p:nvPr/>
          </p:nvSpPr>
          <p:spPr bwMode="auto">
            <a:xfrm>
              <a:off x="1087460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37" name="Oval 12"/>
            <p:cNvSpPr>
              <a:spLocks noChangeArrowheads="1"/>
            </p:cNvSpPr>
            <p:nvPr/>
          </p:nvSpPr>
          <p:spPr bwMode="auto">
            <a:xfrm>
              <a:off x="1449410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38" name="Oval 13"/>
            <p:cNvSpPr>
              <a:spLocks noChangeArrowheads="1"/>
            </p:cNvSpPr>
            <p:nvPr/>
          </p:nvSpPr>
          <p:spPr bwMode="auto">
            <a:xfrm>
              <a:off x="1809773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39" name="Oval 14"/>
            <p:cNvSpPr>
              <a:spLocks noChangeArrowheads="1"/>
            </p:cNvSpPr>
            <p:nvPr/>
          </p:nvSpPr>
          <p:spPr bwMode="auto">
            <a:xfrm>
              <a:off x="2168548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2530498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41" name="Oval 16"/>
            <p:cNvSpPr>
              <a:spLocks noChangeArrowheads="1"/>
            </p:cNvSpPr>
            <p:nvPr/>
          </p:nvSpPr>
          <p:spPr bwMode="auto">
            <a:xfrm>
              <a:off x="2890860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42" name="Oval 17"/>
            <p:cNvSpPr>
              <a:spLocks noChangeArrowheads="1"/>
            </p:cNvSpPr>
            <p:nvPr/>
          </p:nvSpPr>
          <p:spPr bwMode="auto">
            <a:xfrm>
              <a:off x="3249635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43" name="Oval 18"/>
            <p:cNvSpPr>
              <a:spLocks noChangeArrowheads="1"/>
            </p:cNvSpPr>
            <p:nvPr/>
          </p:nvSpPr>
          <p:spPr bwMode="auto">
            <a:xfrm>
              <a:off x="3611585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3971948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55" name="左大括号 54"/>
            <p:cNvSpPr/>
            <p:nvPr/>
          </p:nvSpPr>
          <p:spPr>
            <a:xfrm>
              <a:off x="857224" y="785794"/>
              <a:ext cx="142876" cy="1357322"/>
            </a:xfrm>
            <a:prstGeom prst="leftBrace">
              <a:avLst/>
            </a:prstGeom>
            <a:ln w="28575"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24606" name="TextBox 55"/>
            <p:cNvSpPr txBox="1"/>
            <p:nvPr/>
          </p:nvSpPr>
          <p:spPr>
            <a:xfrm>
              <a:off x="1142976" y="3286124"/>
              <a:ext cx="3071834" cy="460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1+3</a:t>
              </a:r>
              <a:r>
                <a:rPr lang="en-US" altLang="zh-CN" sz="2400" baseline="300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+3</a:t>
              </a:r>
              <a:r>
                <a:rPr lang="en-US" altLang="zh-CN" sz="2400" baseline="300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+…+3</a:t>
              </a:r>
              <a:r>
                <a:rPr lang="en-US" altLang="zh-CN" sz="2400" i="1" baseline="30000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  <a:r>
                <a:rPr lang="en-US" altLang="zh-CN" sz="2400" baseline="30000">
                  <a:latin typeface="宋体" panose="02010600030101010101" pitchFamily="2" charset="-122"/>
                  <a:ea typeface="宋体" panose="02010600030101010101" pitchFamily="2" charset="-122"/>
                </a:rPr>
                <a:t>-1</a:t>
              </a:r>
              <a:endParaRPr lang="zh-CN" altLang="en-US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07" name="TextBox 56"/>
            <p:cNvSpPr txBox="1"/>
            <p:nvPr/>
          </p:nvSpPr>
          <p:spPr>
            <a:xfrm>
              <a:off x="428596" y="1285860"/>
              <a:ext cx="428628" cy="460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  <a:endParaRPr lang="en-US" altLang="zh-CN" sz="2400" i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下箭头 58"/>
            <p:cNvSpPr/>
            <p:nvPr/>
          </p:nvSpPr>
          <p:spPr>
            <a:xfrm>
              <a:off x="2428860" y="2428868"/>
              <a:ext cx="214314" cy="357190"/>
            </a:xfrm>
            <a:prstGeom prst="down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2400" strike="noStrike" noProof="1">
                <a:latin typeface="+mn-ea"/>
              </a:endParaRPr>
            </a:p>
          </p:txBody>
        </p:sp>
      </p:grpSp>
      <p:grpSp>
        <p:nvGrpSpPr>
          <p:cNvPr id="24609" name="组合 63"/>
          <p:cNvGrpSpPr/>
          <p:nvPr/>
        </p:nvGrpSpPr>
        <p:grpSpPr>
          <a:xfrm>
            <a:off x="2784475" y="466725"/>
            <a:ext cx="3954463" cy="2994025"/>
            <a:chOff x="4429124" y="785794"/>
            <a:chExt cx="3954466" cy="2993698"/>
          </a:xfrm>
        </p:grpSpPr>
        <p:sp>
          <p:nvSpPr>
            <p:cNvPr id="24610" name="Line 33"/>
            <p:cNvSpPr/>
            <p:nvPr/>
          </p:nvSpPr>
          <p:spPr>
            <a:xfrm flipH="1">
              <a:off x="5735688" y="990592"/>
              <a:ext cx="792163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1" name="Line 34"/>
            <p:cNvSpPr/>
            <p:nvPr/>
          </p:nvSpPr>
          <p:spPr>
            <a:xfrm>
              <a:off x="6672313" y="1063617"/>
              <a:ext cx="0" cy="3587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2" name="Line 35"/>
            <p:cNvSpPr/>
            <p:nvPr/>
          </p:nvSpPr>
          <p:spPr>
            <a:xfrm>
              <a:off x="6743751" y="990592"/>
              <a:ext cx="936625" cy="4318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3" name="Line 36"/>
            <p:cNvSpPr/>
            <p:nvPr/>
          </p:nvSpPr>
          <p:spPr>
            <a:xfrm flipH="1">
              <a:off x="5232451" y="1495417"/>
              <a:ext cx="431800" cy="50323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Oval 45"/>
            <p:cNvSpPr>
              <a:spLocks noChangeArrowheads="1"/>
            </p:cNvSpPr>
            <p:nvPr/>
          </p:nvSpPr>
          <p:spPr bwMode="auto">
            <a:xfrm>
              <a:off x="6527851" y="847717"/>
              <a:ext cx="288925" cy="287337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50" name="Oval 46"/>
            <p:cNvSpPr>
              <a:spLocks noChangeArrowheads="1"/>
            </p:cNvSpPr>
            <p:nvPr/>
          </p:nvSpPr>
          <p:spPr bwMode="auto">
            <a:xfrm>
              <a:off x="5519788" y="1352542"/>
              <a:ext cx="288925" cy="287337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51" name="Oval 47"/>
            <p:cNvSpPr>
              <a:spLocks noChangeArrowheads="1"/>
            </p:cNvSpPr>
            <p:nvPr/>
          </p:nvSpPr>
          <p:spPr bwMode="auto">
            <a:xfrm>
              <a:off x="6529438" y="1352542"/>
              <a:ext cx="288925" cy="287337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52" name="Oval 48"/>
            <p:cNvSpPr>
              <a:spLocks noChangeArrowheads="1"/>
            </p:cNvSpPr>
            <p:nvPr/>
          </p:nvSpPr>
          <p:spPr bwMode="auto">
            <a:xfrm>
              <a:off x="7535913" y="1352542"/>
              <a:ext cx="288925" cy="287337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53" name="Oval 49"/>
            <p:cNvSpPr>
              <a:spLocks noChangeArrowheads="1"/>
            </p:cNvSpPr>
            <p:nvPr/>
          </p:nvSpPr>
          <p:spPr bwMode="auto">
            <a:xfrm>
              <a:off x="5086401" y="1927217"/>
              <a:ext cx="288925" cy="287337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24619" name="Text Box 58"/>
            <p:cNvSpPr txBox="1"/>
            <p:nvPr/>
          </p:nvSpPr>
          <p:spPr>
            <a:xfrm>
              <a:off x="5000628" y="2928934"/>
              <a:ext cx="3382962" cy="82986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宋体" panose="02010600030101010101" pitchFamily="2" charset="-122"/>
                  <a:ea typeface="宋体" panose="02010600030101010101" pitchFamily="2" charset="-122"/>
                </a:rPr>
                <a:t>最少结点情况，结点个数：</a:t>
              </a:r>
              <a:endPara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0" name="下箭头 59"/>
            <p:cNvSpPr/>
            <p:nvPr/>
          </p:nvSpPr>
          <p:spPr>
            <a:xfrm>
              <a:off x="6715140" y="2428868"/>
              <a:ext cx="214314" cy="357190"/>
            </a:xfrm>
            <a:prstGeom prst="downArrow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61" name="左大括号 60"/>
            <p:cNvSpPr/>
            <p:nvPr/>
          </p:nvSpPr>
          <p:spPr>
            <a:xfrm>
              <a:off x="4857752" y="785794"/>
              <a:ext cx="142876" cy="1357322"/>
            </a:xfrm>
            <a:prstGeom prst="leftBrace">
              <a:avLst/>
            </a:prstGeom>
            <a:ln w="28575"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fontAlgn="base"/>
              <a:endParaRPr lang="zh-CN" altLang="en-US" sz="2400" strike="noStrike" noProof="1">
                <a:latin typeface="+mn-ea"/>
              </a:endParaRPr>
            </a:p>
          </p:txBody>
        </p:sp>
        <p:sp>
          <p:nvSpPr>
            <p:cNvPr id="24622" name="TextBox 61"/>
            <p:cNvSpPr txBox="1"/>
            <p:nvPr/>
          </p:nvSpPr>
          <p:spPr>
            <a:xfrm>
              <a:off x="4429124" y="1285860"/>
              <a:ext cx="428628" cy="460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  <a:endParaRPr lang="en-US" altLang="zh-CN" sz="2400" i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23" name="TextBox 62"/>
            <p:cNvSpPr txBox="1"/>
            <p:nvPr/>
          </p:nvSpPr>
          <p:spPr>
            <a:xfrm>
              <a:off x="5143504" y="3319161"/>
              <a:ext cx="3071834" cy="460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/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1+3</a:t>
              </a:r>
              <a:r>
                <a:rPr lang="en-US" altLang="zh-CN" sz="2400" baseline="300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+3</a:t>
              </a:r>
              <a:r>
                <a:rPr lang="en-US" altLang="zh-CN" sz="2400" baseline="300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+…+3</a:t>
              </a:r>
              <a:r>
                <a:rPr lang="en-US" altLang="zh-CN" sz="2400" i="1" baseline="30000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  <a:r>
                <a:rPr lang="en-US" altLang="zh-CN" sz="2400" baseline="30000">
                  <a:latin typeface="宋体" panose="02010600030101010101" pitchFamily="2" charset="-122"/>
                  <a:ea typeface="宋体" panose="02010600030101010101" pitchFamily="2" charset="-122"/>
                </a:rPr>
                <a:t>-2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+1</a:t>
              </a:r>
              <a:endParaRPr lang="zh-CN" altLang="en-US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67" name="直接箭头连接符 66"/>
          <p:cNvCxnSpPr/>
          <p:nvPr/>
        </p:nvCxnSpPr>
        <p:spPr>
          <a:xfrm flipH="1" flipV="1">
            <a:off x="7680325" y="3429000"/>
            <a:ext cx="576263" cy="11525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V="1">
            <a:off x="4403725" y="3309938"/>
            <a:ext cx="1285875" cy="10001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5141913" y="4500563"/>
            <a:ext cx="500063" cy="35718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2400" strike="noStrike" noProof="1">
              <a:latin typeface="+mn-ea"/>
            </a:endParaRPr>
          </a:p>
        </p:txBody>
      </p:sp>
      <p:sp>
        <p:nvSpPr>
          <p:cNvPr id="24627" name="TextBox 65"/>
          <p:cNvSpPr txBox="1"/>
          <p:nvPr/>
        </p:nvSpPr>
        <p:spPr>
          <a:xfrm>
            <a:off x="1971675" y="857250"/>
            <a:ext cx="552450" cy="85725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 anchorCtr="0">
            <a:spAutoFit/>
          </a:bodyPr>
          <a:p>
            <a:pPr algn="ctr"/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推广</a:t>
            </a:r>
            <a:endParaRPr lang="zh-CN" altLang="en-US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4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55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86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106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8" grpId="1" bldLvl="0" animBg="1"/>
      <p:bldP spid="58" grpId="2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Text Box 2"/>
          <p:cNvSpPr txBox="1"/>
          <p:nvPr/>
        </p:nvSpPr>
        <p:spPr>
          <a:xfrm>
            <a:off x="2238375" y="571500"/>
            <a:ext cx="2462213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最大高度？</a:t>
            </a:r>
            <a:endParaRPr lang="zh-CN" altLang="en-US" sz="2800" dirty="0">
              <a:solidFill>
                <a:srgbClr val="CC00FF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5602" name="组合 19"/>
          <p:cNvGrpSpPr/>
          <p:nvPr/>
        </p:nvGrpSpPr>
        <p:grpSpPr>
          <a:xfrm>
            <a:off x="4452938" y="1339850"/>
            <a:ext cx="1079500" cy="2373313"/>
            <a:chOff x="2928926" y="1339850"/>
            <a:chExt cx="1079500" cy="2373314"/>
          </a:xfrm>
        </p:grpSpPr>
        <p:sp>
          <p:nvSpPr>
            <p:cNvPr id="25603" name="Line 7"/>
            <p:cNvSpPr/>
            <p:nvPr/>
          </p:nvSpPr>
          <p:spPr>
            <a:xfrm>
              <a:off x="3428992" y="2022467"/>
              <a:ext cx="0" cy="2889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4" name="Line 7"/>
            <p:cNvSpPr/>
            <p:nvPr/>
          </p:nvSpPr>
          <p:spPr>
            <a:xfrm>
              <a:off x="3428992" y="2711447"/>
              <a:ext cx="0" cy="2889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5" name="Text Box 12"/>
            <p:cNvSpPr txBox="1"/>
            <p:nvPr/>
          </p:nvSpPr>
          <p:spPr>
            <a:xfrm>
              <a:off x="3214678" y="2155819"/>
              <a:ext cx="576263" cy="4305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latin typeface="宋体" panose="02010600030101010101" pitchFamily="2" charset="-122"/>
                  <a:ea typeface="宋体" panose="02010600030101010101" pitchFamily="2" charset="-122"/>
                </a:rPr>
                <a:t>…</a:t>
              </a:r>
              <a:endParaRPr lang="en-US" altLang="zh-CN" sz="2800" b="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606" name="Freeform 9"/>
            <p:cNvSpPr/>
            <p:nvPr/>
          </p:nvSpPr>
          <p:spPr>
            <a:xfrm>
              <a:off x="3503601" y="3067051"/>
              <a:ext cx="336550" cy="4397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277"/>
                </a:cxn>
              </a:cxnLst>
              <a:pathLst>
                <a:path w="212" h="277">
                  <a:moveTo>
                    <a:pt x="0" y="0"/>
                  </a:moveTo>
                  <a:lnTo>
                    <a:pt x="212" y="277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07" name="Freeform 8"/>
            <p:cNvSpPr/>
            <p:nvPr/>
          </p:nvSpPr>
          <p:spPr>
            <a:xfrm>
              <a:off x="3068626" y="3033714"/>
              <a:ext cx="319088" cy="428625"/>
            </a:xfrm>
            <a:custGeom>
              <a:avLst/>
              <a:gdLst/>
              <a:ahLst/>
              <a:cxnLst>
                <a:cxn ang="0">
                  <a:pos x="201" y="0"/>
                </a:cxn>
                <a:cxn ang="0">
                  <a:pos x="0" y="270"/>
                </a:cxn>
              </a:cxnLst>
              <a:pathLst>
                <a:path w="201" h="270">
                  <a:moveTo>
                    <a:pt x="201" y="0"/>
                  </a:moveTo>
                  <a:lnTo>
                    <a:pt x="0" y="27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08" name="Line 11"/>
            <p:cNvSpPr/>
            <p:nvPr/>
          </p:nvSpPr>
          <p:spPr>
            <a:xfrm>
              <a:off x="3432164" y="3138489"/>
              <a:ext cx="0" cy="360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9" name="Line 7"/>
            <p:cNvSpPr/>
            <p:nvPr/>
          </p:nvSpPr>
          <p:spPr>
            <a:xfrm>
              <a:off x="3432164" y="1555750"/>
              <a:ext cx="0" cy="2889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3058" name="Oval 2"/>
            <p:cNvSpPr>
              <a:spLocks noChangeArrowheads="1"/>
            </p:cNvSpPr>
            <p:nvPr/>
          </p:nvSpPr>
          <p:spPr bwMode="auto">
            <a:xfrm>
              <a:off x="3287701" y="1339850"/>
              <a:ext cx="288925" cy="287338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800" strike="noStrike" noProof="1">
                <a:latin typeface="+mn-ea"/>
              </a:endParaRPr>
            </a:p>
          </p:txBody>
        </p:sp>
        <p:sp>
          <p:nvSpPr>
            <p:cNvPr id="173059" name="Oval 3"/>
            <p:cNvSpPr>
              <a:spLocks noChangeArrowheads="1"/>
            </p:cNvSpPr>
            <p:nvPr/>
          </p:nvSpPr>
          <p:spPr bwMode="auto">
            <a:xfrm>
              <a:off x="3287701" y="1771650"/>
              <a:ext cx="288925" cy="287338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800" strike="noStrike" noProof="1">
                <a:latin typeface="+mn-ea"/>
              </a:endParaRPr>
            </a:p>
          </p:txBody>
        </p:sp>
        <p:sp>
          <p:nvSpPr>
            <p:cNvPr id="173060" name="Oval 4"/>
            <p:cNvSpPr>
              <a:spLocks noChangeArrowheads="1"/>
            </p:cNvSpPr>
            <p:nvPr/>
          </p:nvSpPr>
          <p:spPr bwMode="auto">
            <a:xfrm>
              <a:off x="3287701" y="2922589"/>
              <a:ext cx="288925" cy="287338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800" strike="noStrike" noProof="1">
                <a:latin typeface="+mn-ea"/>
              </a:endParaRPr>
            </a:p>
          </p:txBody>
        </p:sp>
        <p:sp>
          <p:nvSpPr>
            <p:cNvPr id="173061" name="Oval 5"/>
            <p:cNvSpPr>
              <a:spLocks noChangeArrowheads="1"/>
            </p:cNvSpPr>
            <p:nvPr/>
          </p:nvSpPr>
          <p:spPr bwMode="auto">
            <a:xfrm>
              <a:off x="2928926" y="3425826"/>
              <a:ext cx="288925" cy="287338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800" strike="noStrike" noProof="1">
                <a:latin typeface="+mn-ea"/>
              </a:endParaRPr>
            </a:p>
          </p:txBody>
        </p:sp>
        <p:sp>
          <p:nvSpPr>
            <p:cNvPr id="173062" name="Oval 6"/>
            <p:cNvSpPr>
              <a:spLocks noChangeArrowheads="1"/>
            </p:cNvSpPr>
            <p:nvPr/>
          </p:nvSpPr>
          <p:spPr bwMode="auto">
            <a:xfrm>
              <a:off x="3719501" y="3425826"/>
              <a:ext cx="288925" cy="287338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800" strike="noStrike" noProof="1">
                <a:latin typeface="+mn-ea"/>
              </a:endParaRPr>
            </a:p>
          </p:txBody>
        </p:sp>
        <p:sp>
          <p:nvSpPr>
            <p:cNvPr id="173066" name="Oval 10"/>
            <p:cNvSpPr>
              <a:spLocks noChangeArrowheads="1"/>
            </p:cNvSpPr>
            <p:nvPr/>
          </p:nvSpPr>
          <p:spPr bwMode="auto">
            <a:xfrm>
              <a:off x="3287701" y="3425826"/>
              <a:ext cx="288925" cy="287338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z="2800" strike="noStrike" noProof="1">
                <a:latin typeface="+mn-ea"/>
              </a:endParaRPr>
            </a:p>
          </p:txBody>
        </p:sp>
      </p:grpSp>
      <p:sp>
        <p:nvSpPr>
          <p:cNvPr id="25616" name="Text Box 2"/>
          <p:cNvSpPr txBox="1"/>
          <p:nvPr/>
        </p:nvSpPr>
        <p:spPr>
          <a:xfrm>
            <a:off x="982663" y="4143375"/>
            <a:ext cx="10299700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最大高度为</a:t>
            </a:r>
            <a:r>
              <a:rPr lang="en-US" altLang="zh-CN" sz="2800" i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-2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（某一层有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个结点，其他每层只有一个结点）。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1" name="右大括号 20"/>
          <p:cNvSpPr/>
          <p:nvPr/>
        </p:nvSpPr>
        <p:spPr>
          <a:xfrm>
            <a:off x="6024563" y="1357313"/>
            <a:ext cx="214313" cy="22860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/>
            <a:endParaRPr lang="zh-CN" altLang="en-US" sz="2800" strike="noStrike" noProof="1">
              <a:latin typeface="+mn-ea"/>
            </a:endParaRPr>
          </a:p>
        </p:txBody>
      </p:sp>
      <p:sp>
        <p:nvSpPr>
          <p:cNvPr id="25618" name="TextBox 21"/>
          <p:cNvSpPr txBox="1"/>
          <p:nvPr/>
        </p:nvSpPr>
        <p:spPr>
          <a:xfrm>
            <a:off x="6310313" y="2289175"/>
            <a:ext cx="136366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 i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-2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ext Box 2" descr="粉色面巾纸"/>
          <p:cNvSpPr txBox="1">
            <a:spLocks noChangeArrowheads="1"/>
          </p:cNvSpPr>
          <p:nvPr/>
        </p:nvSpPr>
        <p:spPr bwMode="auto">
          <a:xfrm>
            <a:off x="1407794" y="549275"/>
            <a:ext cx="5247641" cy="82994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kumimoji="1" lang="en-US" altLang="zh-CN" sz="4000" b="1" i="0" u="none" strike="noStrike" kern="1200" cap="none" spc="50" normalizeH="0" baseline="0" noProof="1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kumimoji="1" lang="zh-CN" altLang="en-US" sz="4800" b="1" i="0" u="none" strike="noStrike" kern="0" cap="none" normalizeH="0" baseline="0" noProof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rPr>
              <a:t>树的基本运算</a:t>
            </a:r>
            <a:endParaRPr kumimoji="1" lang="zh-CN" altLang="en-US" sz="4800" b="1" i="0" u="none" strike="noStrike" kern="0" cap="none" spc="50" normalizeH="0" baseline="0" noProof="0" dirty="0" smtClean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隶书" panose="02010509060101010101" pitchFamily="49" charset="-122"/>
              <a:cs typeface="+mj-cs"/>
              <a:sym typeface="+mn-ea"/>
            </a:endParaRP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714375" y="1412875"/>
            <a:ext cx="10788650" cy="6826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kumimoji="1" lang="en-US" altLang="zh-CN" sz="3200" b="1" i="0" u="none" strike="noStrike" kern="1200" cap="none" spc="0" normalizeH="0" baseline="0" noProof="1" smtClean="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kumimoji="1" lang="zh-CN" altLang="en-US" sz="3200" b="1" i="0" u="none" strike="noStrike" kern="1200" cap="none" spc="0" normalizeH="0" baseline="0" noProof="1" dirty="0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树的运算主要分为三大</a:t>
            </a:r>
            <a:r>
              <a:rPr kumimoji="1" lang="zh-CN" altLang="en-US" sz="3200" b="1" i="0" u="none" strike="noStrike" kern="1200" cap="none" spc="0" normalizeH="0" baseline="0" noProof="1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类</a:t>
            </a:r>
            <a:r>
              <a:rPr kumimoji="1" lang="zh-CN" altLang="en-US" sz="3200" b="1" i="0" u="none" strike="noStrike" kern="1200" cap="none" spc="0" normalizeH="0" baseline="0" noProof="1" smtClean="0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：  </a:t>
            </a:r>
            <a:endParaRPr kumimoji="1" lang="zh-CN" altLang="en-US" sz="3200" b="1" i="0" u="none" strike="noStrike" kern="1200" cap="none" spc="0" normalizeH="0" baseline="0" noProof="1" dirty="0" smtClean="0">
              <a:solidFill>
                <a:schemeClr val="dk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1700" y="2343150"/>
            <a:ext cx="10312400" cy="353695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Blip>
                <a:blip r:embed="rId1"/>
              </a:buBlip>
            </a:pPr>
            <a:r>
              <a:rPr kumimoji="1" lang="zh-CN" altLang="en-US" sz="3200" b="1" i="0" u="none" strike="noStrike" kern="1200" cap="none" spc="0" normalizeH="0" baseline="0" noProof="1" smtClean="0">
                <a:solidFill>
                  <a:srgbClr val="CC00FF"/>
                </a:solidFill>
                <a:latin typeface="+mn-ea"/>
                <a:ea typeface="+mn-ea"/>
                <a:cs typeface="+mn-ea"/>
                <a:sym typeface="+mn-ea"/>
              </a:rPr>
              <a:t>查找</a:t>
            </a:r>
            <a:r>
              <a:rPr kumimoji="1" lang="zh-CN" altLang="en-US" sz="3200" b="1" i="0" u="none" strike="noStrike" kern="1200" cap="none" spc="0" normalizeH="0" baseline="0" noProof="1" smtClean="0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满足某种特定关系的结点，如查找当前结点的双亲结点等；</a:t>
            </a:r>
            <a:endParaRPr kumimoji="1" lang="zh-CN" altLang="en-US" sz="3200" b="1" i="0" u="none" strike="noStrike" kern="1200" cap="none" spc="0" normalizeH="0" baseline="0" noProof="1" smtClean="0">
              <a:solidFill>
                <a:schemeClr val="dk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Blip>
                <a:blip r:embed="rId1"/>
              </a:buBlip>
            </a:pPr>
            <a:r>
              <a:rPr kumimoji="1" lang="zh-CN" altLang="en-US" sz="3200" b="1" i="0" u="none" strike="noStrike" kern="1200" cap="none" spc="0" normalizeH="0" baseline="0" noProof="1" smtClean="0">
                <a:solidFill>
                  <a:srgbClr val="CC00FF"/>
                </a:solidFill>
                <a:latin typeface="+mn-ea"/>
                <a:ea typeface="+mn-ea"/>
                <a:cs typeface="+mn-ea"/>
                <a:sym typeface="+mn-ea"/>
              </a:rPr>
              <a:t>插入或删除</a:t>
            </a:r>
            <a:r>
              <a:rPr kumimoji="1" lang="zh-CN" altLang="en-US" sz="3200" b="1" i="0" u="none" strike="noStrike" kern="1200" cap="none" spc="0" normalizeH="0" baseline="0" noProof="1" smtClean="0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某个结点，如在树的当前结点上插入一个新结点或删除当前结点的第</a:t>
            </a:r>
            <a:r>
              <a:rPr kumimoji="1" lang="en-US" altLang="zh-CN" sz="3200" b="1" i="1" u="none" strike="noStrike" kern="1200" cap="none" spc="0" normalizeH="0" baseline="0" noProof="1" smtClean="0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i</a:t>
            </a:r>
            <a:r>
              <a:rPr kumimoji="1" lang="zh-CN" altLang="en-US" sz="3200" b="1" i="0" u="none" strike="noStrike" kern="1200" cap="none" spc="0" normalizeH="0" baseline="0" noProof="1" smtClean="0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个孩子结点等；</a:t>
            </a:r>
            <a:endParaRPr kumimoji="1" lang="zh-CN" altLang="en-US" sz="3200" b="1" i="0" u="none" strike="noStrike" kern="1200" cap="none" spc="0" normalizeH="0" baseline="0" noProof="1" smtClean="0">
              <a:solidFill>
                <a:schemeClr val="dk1"/>
              </a:solidFill>
              <a:latin typeface="+mn-ea"/>
              <a:ea typeface="+mn-ea"/>
              <a:cs typeface="+mn-ea"/>
              <a:sym typeface="+mn-ea"/>
            </a:endParaRPr>
          </a:p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Blip>
                <a:blip r:embed="rId1"/>
              </a:buBlip>
            </a:pPr>
            <a:r>
              <a:rPr kumimoji="1" lang="zh-CN" altLang="en-US" sz="3200" b="1" i="0" u="none" strike="noStrike" kern="1200" cap="none" spc="0" normalizeH="0" baseline="0" noProof="1" smtClean="0">
                <a:solidFill>
                  <a:srgbClr val="CC00FF"/>
                </a:solidFill>
                <a:latin typeface="+mn-ea"/>
                <a:ea typeface="+mn-ea"/>
                <a:cs typeface="+mn-ea"/>
                <a:sym typeface="+mn-ea"/>
              </a:rPr>
              <a:t>遍历</a:t>
            </a:r>
            <a:r>
              <a:rPr kumimoji="1" lang="zh-CN" altLang="en-US" sz="3200" b="1" i="0" u="none" strike="noStrike" kern="1200" cap="none" spc="0" normalizeH="0" baseline="0" noProof="1" smtClean="0">
                <a:solidFill>
                  <a:schemeClr val="dk1"/>
                </a:solidFill>
                <a:latin typeface="+mn-ea"/>
                <a:ea typeface="+mn-ea"/>
                <a:cs typeface="+mn-ea"/>
                <a:sym typeface="+mn-ea"/>
              </a:rPr>
              <a:t>树中每个结点。</a:t>
            </a:r>
            <a:endParaRPr kumimoji="1" lang="zh-CN" altLang="en-US" sz="3200" b="1" i="0" u="none" strike="noStrike" kern="1200" cap="none" spc="0" normalizeH="0" baseline="0" noProof="1" smtClean="0">
              <a:solidFill>
                <a:schemeClr val="dk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228600"/>
            <a:ext cx="45720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</a:rPr>
              <a:t>树和森林的遍历</a:t>
            </a:r>
            <a:endParaRPr kumimoji="1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仿宋_GB2312" pitchFamily="49" charset="-122"/>
              <a:cs typeface="+mj-cs"/>
            </a:endParaRPr>
          </a:p>
        </p:txBody>
      </p:sp>
      <p:sp>
        <p:nvSpPr>
          <p:cNvPr id="461827" name="Rectangle 3"/>
          <p:cNvSpPr>
            <a:spLocks noGrp="1" noChangeArrowheads="1"/>
          </p:cNvSpPr>
          <p:nvPr>
            <p:ph idx="1"/>
          </p:nvPr>
        </p:nvSpPr>
        <p:spPr>
          <a:xfrm>
            <a:off x="5791200" y="1143000"/>
            <a:ext cx="3505200" cy="2743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深度优先遍历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先根次序遍历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99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后根次序遍历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广度优先遍历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 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按层次序遍历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  <p:sp>
        <p:nvSpPr>
          <p:cNvPr id="461828" name="Text Box 4"/>
          <p:cNvSpPr txBox="1">
            <a:spLocks noChangeArrowheads="1"/>
          </p:cNvSpPr>
          <p:nvPr/>
        </p:nvSpPr>
        <p:spPr bwMode="auto">
          <a:xfrm>
            <a:off x="5715000" y="1052513"/>
            <a:ext cx="4495800" cy="2998788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先根次序遍历</a:t>
            </a:r>
            <a:endParaRPr kumimoji="1" lang="zh-CN" altLang="en-US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当树非空</a:t>
            </a:r>
            <a:endParaRPr kumimoji="1" lang="zh-CN" altLang="en-US" sz="28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*访问根结点</a:t>
            </a:r>
            <a:endParaRPr kumimoji="1" lang="zh-CN" altLang="en-US" sz="2800" kern="1200" cap="none" spc="0" normalizeH="0" baseline="0" noProof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*依次先根遍历根的各子树</a:t>
            </a:r>
            <a:endParaRPr kumimoji="1" lang="zh-CN" altLang="en-US" sz="2800" kern="1200" cap="none" spc="0" normalizeH="0" baseline="0" noProof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D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3</a:t>
            </a:r>
            <a:endParaRPr kumimoji="1" lang="en-US" altLang="zh-CN" sz="2800" kern="1200" cap="none" spc="0" normalizeH="0" baseline="-2500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</a:t>
            </a:r>
            <a:r>
              <a:rPr kumimoji="1" lang="en-US" altLang="zh-CN" sz="32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3200" u="sng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A</a:t>
            </a:r>
            <a:endParaRPr kumimoji="1" lang="en-US" altLang="zh-CN" sz="3200" kern="1200" cap="none" spc="0" normalizeH="0" baseline="0" noProof="0"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61829" name="Text Box 5"/>
          <p:cNvSpPr txBox="1"/>
          <p:nvPr/>
        </p:nvSpPr>
        <p:spPr>
          <a:xfrm>
            <a:off x="6705600" y="3427413"/>
            <a:ext cx="9747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EF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1830" name="Text Box 6"/>
          <p:cNvSpPr txBox="1"/>
          <p:nvPr/>
        </p:nvSpPr>
        <p:spPr>
          <a:xfrm>
            <a:off x="7543800" y="3427413"/>
            <a:ext cx="7937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1831" name="Text Box 7"/>
          <p:cNvSpPr txBox="1"/>
          <p:nvPr/>
        </p:nvSpPr>
        <p:spPr>
          <a:xfrm>
            <a:off x="8231188" y="3427413"/>
            <a:ext cx="12541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IJ</a:t>
            </a:r>
            <a:endParaRPr lang="en-US" altLang="zh-CN" sz="3200" u="sng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1832" name="Text Box 8"/>
          <p:cNvSpPr txBox="1">
            <a:spLocks noChangeArrowheads="1"/>
          </p:cNvSpPr>
          <p:nvPr/>
        </p:nvSpPr>
        <p:spPr bwMode="auto">
          <a:xfrm>
            <a:off x="5943600" y="4260850"/>
            <a:ext cx="3856038" cy="15287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先根次序遍历森林</a:t>
            </a:r>
            <a:endParaRPr kumimoji="1" lang="zh-CN" altLang="en-US" sz="280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  <a:p>
            <a:pPr marR="0" defTabSz="914400">
              <a:buClrTx/>
              <a:buSzTx/>
              <a:defRPr/>
            </a:pPr>
            <a:r>
              <a:rPr kumimoji="1" lang="zh-CN" altLang="en-US" sz="2800" kern="1200" cap="none" spc="0" normalizeH="0" baseline="0" noProof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依次先根遍历各子树</a:t>
            </a:r>
            <a:endParaRPr kumimoji="1" lang="zh-CN" altLang="en-US" sz="2800" kern="1200" cap="none" spc="0" normalizeH="0" baseline="0" noProof="0">
              <a:solidFill>
                <a:srgbClr val="008000"/>
              </a:solidFill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3</a:t>
            </a:r>
            <a:endParaRPr kumimoji="1" lang="en-US" altLang="zh-CN" sz="280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61833" name="Text Box 9"/>
          <p:cNvSpPr txBox="1"/>
          <p:nvPr/>
        </p:nvSpPr>
        <p:spPr>
          <a:xfrm>
            <a:off x="5945188" y="5637213"/>
            <a:ext cx="1604962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ABCDE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1834" name="Text Box 10"/>
          <p:cNvSpPr txBox="1"/>
          <p:nvPr/>
        </p:nvSpPr>
        <p:spPr>
          <a:xfrm>
            <a:off x="7467600" y="5637213"/>
            <a:ext cx="747713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FG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1835" name="Text Box 11"/>
          <p:cNvSpPr txBox="1"/>
          <p:nvPr/>
        </p:nvSpPr>
        <p:spPr>
          <a:xfrm>
            <a:off x="8077200" y="5637213"/>
            <a:ext cx="11779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HIKJ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1752600" y="1370013"/>
            <a:ext cx="4114800" cy="2212975"/>
            <a:chOff x="2832" y="863"/>
            <a:chExt cx="2592" cy="1394"/>
          </a:xfrm>
        </p:grpSpPr>
        <p:sp>
          <p:nvSpPr>
            <p:cNvPr id="27660" name="Line 13"/>
            <p:cNvSpPr/>
            <p:nvPr/>
          </p:nvSpPr>
          <p:spPr>
            <a:xfrm>
              <a:off x="4944" y="1680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1" name="Line 14"/>
            <p:cNvSpPr/>
            <p:nvPr/>
          </p:nvSpPr>
          <p:spPr>
            <a:xfrm flipH="1">
              <a:off x="4416" y="1680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2" name="Line 15"/>
            <p:cNvSpPr/>
            <p:nvPr/>
          </p:nvSpPr>
          <p:spPr>
            <a:xfrm>
              <a:off x="4800" y="1728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3" name="Line 16"/>
            <p:cNvSpPr/>
            <p:nvPr/>
          </p:nvSpPr>
          <p:spPr>
            <a:xfrm>
              <a:off x="4080" y="1104"/>
              <a:ext cx="67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4" name="Line 17"/>
            <p:cNvSpPr/>
            <p:nvPr/>
          </p:nvSpPr>
          <p:spPr>
            <a:xfrm flipH="1">
              <a:off x="3264" y="1104"/>
              <a:ext cx="576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5" name="Line 18"/>
            <p:cNvSpPr/>
            <p:nvPr/>
          </p:nvSpPr>
          <p:spPr>
            <a:xfrm>
              <a:off x="3984" y="1152"/>
              <a:ext cx="0" cy="110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6" name="Line 19"/>
            <p:cNvSpPr/>
            <p:nvPr/>
          </p:nvSpPr>
          <p:spPr>
            <a:xfrm>
              <a:off x="3312" y="168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7" name="Line 20"/>
            <p:cNvSpPr/>
            <p:nvPr/>
          </p:nvSpPr>
          <p:spPr>
            <a:xfrm flipH="1">
              <a:off x="3024" y="1680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8" name="Oval 21"/>
            <p:cNvSpPr/>
            <p:nvPr/>
          </p:nvSpPr>
          <p:spPr>
            <a:xfrm>
              <a:off x="3792" y="86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69" name="Oval 22"/>
            <p:cNvSpPr/>
            <p:nvPr/>
          </p:nvSpPr>
          <p:spPr>
            <a:xfrm>
              <a:off x="3072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0" name="Oval 23"/>
            <p:cNvSpPr/>
            <p:nvPr/>
          </p:nvSpPr>
          <p:spPr>
            <a:xfrm>
              <a:off x="3792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1" name="Oval 24"/>
            <p:cNvSpPr/>
            <p:nvPr/>
          </p:nvSpPr>
          <p:spPr>
            <a:xfrm>
              <a:off x="4656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2" name="Oval 25"/>
            <p:cNvSpPr/>
            <p:nvPr/>
          </p:nvSpPr>
          <p:spPr>
            <a:xfrm>
              <a:off x="2832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3" name="Oval 26"/>
            <p:cNvSpPr/>
            <p:nvPr/>
          </p:nvSpPr>
          <p:spPr>
            <a:xfrm>
              <a:off x="3264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4" name="Oval 27"/>
            <p:cNvSpPr/>
            <p:nvPr/>
          </p:nvSpPr>
          <p:spPr>
            <a:xfrm>
              <a:off x="3792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5" name="Oval 28"/>
            <p:cNvSpPr/>
            <p:nvPr/>
          </p:nvSpPr>
          <p:spPr>
            <a:xfrm>
              <a:off x="4224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6" name="Oval 29"/>
            <p:cNvSpPr/>
            <p:nvPr/>
          </p:nvSpPr>
          <p:spPr>
            <a:xfrm>
              <a:off x="4656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7" name="Oval 30"/>
            <p:cNvSpPr/>
            <p:nvPr/>
          </p:nvSpPr>
          <p:spPr>
            <a:xfrm>
              <a:off x="5088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8" name="Text Box 31"/>
            <p:cNvSpPr txBox="1"/>
            <p:nvPr/>
          </p:nvSpPr>
          <p:spPr>
            <a:xfrm>
              <a:off x="3841" y="86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Text Box 32"/>
            <p:cNvSpPr txBox="1"/>
            <p:nvPr/>
          </p:nvSpPr>
          <p:spPr>
            <a:xfrm>
              <a:off x="3841" y="139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0" name="Text Box 33"/>
            <p:cNvSpPr txBox="1"/>
            <p:nvPr/>
          </p:nvSpPr>
          <p:spPr>
            <a:xfrm>
              <a:off x="3834" y="1928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1" name="Text Box 34"/>
            <p:cNvSpPr txBox="1"/>
            <p:nvPr/>
          </p:nvSpPr>
          <p:spPr>
            <a:xfrm>
              <a:off x="3121" y="139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2" name="Text Box 35"/>
            <p:cNvSpPr txBox="1"/>
            <p:nvPr/>
          </p:nvSpPr>
          <p:spPr>
            <a:xfrm>
              <a:off x="4705" y="1400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3" name="Text Box 36"/>
            <p:cNvSpPr txBox="1"/>
            <p:nvPr/>
          </p:nvSpPr>
          <p:spPr>
            <a:xfrm>
              <a:off x="2886" y="1928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4" name="Text Box 37"/>
            <p:cNvSpPr txBox="1"/>
            <p:nvPr/>
          </p:nvSpPr>
          <p:spPr>
            <a:xfrm>
              <a:off x="3319" y="1928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5" name="Text Box 38"/>
            <p:cNvSpPr txBox="1"/>
            <p:nvPr/>
          </p:nvSpPr>
          <p:spPr>
            <a:xfrm>
              <a:off x="4267" y="1928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6" name="Text Box 39"/>
            <p:cNvSpPr txBox="1"/>
            <p:nvPr/>
          </p:nvSpPr>
          <p:spPr>
            <a:xfrm>
              <a:off x="4722" y="1928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7" name="Text Box 40"/>
            <p:cNvSpPr txBox="1"/>
            <p:nvPr/>
          </p:nvSpPr>
          <p:spPr>
            <a:xfrm>
              <a:off x="5149" y="1928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41"/>
          <p:cNvGrpSpPr/>
          <p:nvPr/>
        </p:nvGrpSpPr>
        <p:grpSpPr>
          <a:xfrm>
            <a:off x="1676400" y="4038600"/>
            <a:ext cx="4171950" cy="2363788"/>
            <a:chOff x="2592" y="759"/>
            <a:chExt cx="2628" cy="1489"/>
          </a:xfrm>
        </p:grpSpPr>
        <p:sp>
          <p:nvSpPr>
            <p:cNvPr id="27689" name="Line 42"/>
            <p:cNvSpPr/>
            <p:nvPr/>
          </p:nvSpPr>
          <p:spPr>
            <a:xfrm>
              <a:off x="4848" y="1056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0" name="Line 43"/>
            <p:cNvSpPr/>
            <p:nvPr/>
          </p:nvSpPr>
          <p:spPr>
            <a:xfrm flipH="1">
              <a:off x="4608" y="1056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1" name="Line 44"/>
            <p:cNvSpPr/>
            <p:nvPr/>
          </p:nvSpPr>
          <p:spPr>
            <a:xfrm>
              <a:off x="4608" y="1680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2" name="Line 45"/>
            <p:cNvSpPr/>
            <p:nvPr/>
          </p:nvSpPr>
          <p:spPr>
            <a:xfrm>
              <a:off x="3360" y="1056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3" name="Line 46"/>
            <p:cNvSpPr/>
            <p:nvPr/>
          </p:nvSpPr>
          <p:spPr>
            <a:xfrm flipH="1">
              <a:off x="2832" y="1056"/>
              <a:ext cx="33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4" name="Line 47"/>
            <p:cNvSpPr/>
            <p:nvPr/>
          </p:nvSpPr>
          <p:spPr>
            <a:xfrm>
              <a:off x="3216" y="110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5" name="Line 48"/>
            <p:cNvSpPr/>
            <p:nvPr/>
          </p:nvSpPr>
          <p:spPr>
            <a:xfrm>
              <a:off x="4128" y="1104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6" name="Line 49"/>
            <p:cNvSpPr/>
            <p:nvPr/>
          </p:nvSpPr>
          <p:spPr>
            <a:xfrm flipH="1">
              <a:off x="3696" y="1632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97" name="Oval 50"/>
            <p:cNvSpPr/>
            <p:nvPr/>
          </p:nvSpPr>
          <p:spPr>
            <a:xfrm>
              <a:off x="3072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8" name="Oval 51"/>
            <p:cNvSpPr/>
            <p:nvPr/>
          </p:nvSpPr>
          <p:spPr>
            <a:xfrm>
              <a:off x="259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9" name="Oval 52"/>
            <p:cNvSpPr/>
            <p:nvPr/>
          </p:nvSpPr>
          <p:spPr>
            <a:xfrm>
              <a:off x="307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0" name="Oval 53"/>
            <p:cNvSpPr/>
            <p:nvPr/>
          </p:nvSpPr>
          <p:spPr>
            <a:xfrm>
              <a:off x="3552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1" name="Oval 54"/>
            <p:cNvSpPr/>
            <p:nvPr/>
          </p:nvSpPr>
          <p:spPr>
            <a:xfrm>
              <a:off x="3546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2" name="Oval 55"/>
            <p:cNvSpPr/>
            <p:nvPr/>
          </p:nvSpPr>
          <p:spPr>
            <a:xfrm>
              <a:off x="3984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3" name="Oval 56"/>
            <p:cNvSpPr/>
            <p:nvPr/>
          </p:nvSpPr>
          <p:spPr>
            <a:xfrm>
              <a:off x="3984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4" name="Oval 57"/>
            <p:cNvSpPr/>
            <p:nvPr/>
          </p:nvSpPr>
          <p:spPr>
            <a:xfrm>
              <a:off x="4614" y="759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5" name="Oval 58"/>
            <p:cNvSpPr/>
            <p:nvPr/>
          </p:nvSpPr>
          <p:spPr>
            <a:xfrm>
              <a:off x="4452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6" name="Oval 59"/>
            <p:cNvSpPr/>
            <p:nvPr/>
          </p:nvSpPr>
          <p:spPr>
            <a:xfrm>
              <a:off x="4884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7" name="Text Box 60"/>
            <p:cNvSpPr txBox="1"/>
            <p:nvPr/>
          </p:nvSpPr>
          <p:spPr>
            <a:xfrm>
              <a:off x="3121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8" name="Text Box 61"/>
            <p:cNvSpPr txBox="1"/>
            <p:nvPr/>
          </p:nvSpPr>
          <p:spPr>
            <a:xfrm>
              <a:off x="312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09" name="Text Box 62"/>
            <p:cNvSpPr txBox="1"/>
            <p:nvPr/>
          </p:nvSpPr>
          <p:spPr>
            <a:xfrm>
              <a:off x="4026" y="1352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0" name="Text Box 63"/>
            <p:cNvSpPr txBox="1"/>
            <p:nvPr/>
          </p:nvSpPr>
          <p:spPr>
            <a:xfrm>
              <a:off x="264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1" name="Text Box 64"/>
            <p:cNvSpPr txBox="1"/>
            <p:nvPr/>
          </p:nvSpPr>
          <p:spPr>
            <a:xfrm>
              <a:off x="360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2" name="Text Box 65"/>
            <p:cNvSpPr txBox="1"/>
            <p:nvPr/>
          </p:nvSpPr>
          <p:spPr>
            <a:xfrm>
              <a:off x="3600" y="1919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3" name="Text Box 66"/>
            <p:cNvSpPr txBox="1"/>
            <p:nvPr/>
          </p:nvSpPr>
          <p:spPr>
            <a:xfrm>
              <a:off x="4033" y="767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4" name="Text Box 67"/>
            <p:cNvSpPr txBox="1"/>
            <p:nvPr/>
          </p:nvSpPr>
          <p:spPr>
            <a:xfrm>
              <a:off x="4657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5" name="Text Box 68"/>
            <p:cNvSpPr txBox="1"/>
            <p:nvPr/>
          </p:nvSpPr>
          <p:spPr>
            <a:xfrm>
              <a:off x="4518" y="1343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6" name="Text Box 69"/>
            <p:cNvSpPr txBox="1"/>
            <p:nvPr/>
          </p:nvSpPr>
          <p:spPr>
            <a:xfrm>
              <a:off x="4945" y="1343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7" name="Oval 70"/>
            <p:cNvSpPr/>
            <p:nvPr/>
          </p:nvSpPr>
          <p:spPr>
            <a:xfrm>
              <a:off x="4458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18" name="Text Box 71"/>
            <p:cNvSpPr txBox="1"/>
            <p:nvPr/>
          </p:nvSpPr>
          <p:spPr>
            <a:xfrm>
              <a:off x="4506" y="191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61827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charRg st="7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61827">
                                            <p:txEl>
                                              <p:charRg st="7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charRg st="15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461827">
                                            <p:txEl>
                                              <p:charRg st="15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charRg st="23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461827">
                                            <p:txEl>
                                              <p:charRg st="23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charRg st="3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461827">
                                            <p:txEl>
                                              <p:charRg st="3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46182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charRg st="7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461828">
                                            <p:txEl>
                                              <p:charRg st="7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charRg st="12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461828">
                                            <p:txEl>
                                              <p:charRg st="12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charRg st="1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461828">
                                            <p:txEl>
                                              <p:charRg st="19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charRg st="3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461828">
                                            <p:txEl>
                                              <p:charRg st="32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>
                                            <p:txEl>
                                              <p:charRg st="61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461828">
                                            <p:txEl>
                                              <p:charRg st="61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46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46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46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46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5" dur="500"/>
                                        <p:tgtEl>
                                          <p:spTgt spid="46183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>
                                            <p:txEl>
                                              <p:charRg st="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461832">
                                            <p:txEl>
                                              <p:charRg st="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>
                                            <p:txEl>
                                              <p:charRg st="19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5" dur="500"/>
                                        <p:tgtEl>
                                          <p:spTgt spid="461832">
                                            <p:txEl>
                                              <p:charRg st="19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7" grpId="0" build="p"/>
      <p:bldP spid="461828" grpId="0" animBg="1" build="p"/>
      <p:bldP spid="461829" grpId="0"/>
      <p:bldP spid="461830" grpId="0"/>
      <p:bldP spid="461831" grpId="0"/>
      <p:bldP spid="461832" grpId="0" build="p"/>
      <p:bldP spid="461833" grpId="0"/>
      <p:bldP spid="461834" grpId="0"/>
      <p:bldP spid="4618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228600"/>
            <a:ext cx="45720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</a:rPr>
              <a:t>树和森林的遍历</a:t>
            </a:r>
            <a:endParaRPr kumimoji="1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仿宋_GB2312" pitchFamily="49" charset="-122"/>
              <a:cs typeface="+mj-cs"/>
            </a:endParaRPr>
          </a:p>
        </p:txBody>
      </p:sp>
      <p:sp>
        <p:nvSpPr>
          <p:cNvPr id="462851" name="Text Box 3"/>
          <p:cNvSpPr txBox="1">
            <a:spLocks noChangeArrowheads="1"/>
          </p:cNvSpPr>
          <p:nvPr/>
        </p:nvSpPr>
        <p:spPr bwMode="auto">
          <a:xfrm>
            <a:off x="5791200" y="1052513"/>
            <a:ext cx="4495800" cy="299878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后根次序遍历</a:t>
            </a:r>
            <a:endParaRPr kumimoji="1" lang="zh-CN" altLang="en-US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当树非空</a:t>
            </a:r>
            <a:endParaRPr kumimoji="1" lang="zh-CN" altLang="en-US" sz="2800" kern="1200" cap="none" spc="0" normalizeH="0" baseline="0" noProof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*依次后根遍历根的各子树</a:t>
            </a:r>
            <a:endParaRPr kumimoji="1" lang="zh-CN" altLang="en-US" sz="2800" kern="1200" cap="none" spc="0" normalizeH="0" baseline="0" noProof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*访问根结点</a:t>
            </a:r>
            <a:endParaRPr kumimoji="1" lang="zh-CN" altLang="en-US" sz="2800" kern="1200" cap="none" spc="0" normalizeH="0" baseline="0" noProof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3       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D</a:t>
            </a:r>
            <a:endParaRPr kumimoji="1" lang="en-US" altLang="zh-CN" sz="2800" kern="1200" cap="none" spc="0" normalizeH="0" baseline="-2500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</a:t>
            </a:r>
            <a:r>
              <a:rPr kumimoji="1" lang="en-US" altLang="zh-CN" sz="32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                            </a:t>
            </a:r>
            <a:r>
              <a:rPr kumimoji="1" lang="en-US" altLang="zh-CN" sz="32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A</a:t>
            </a:r>
            <a:endParaRPr kumimoji="1" lang="en-US" altLang="zh-CN" sz="3200" kern="1200" cap="none" spc="0" normalizeH="0" baseline="0" noProof="0"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62852" name="Text Box 4"/>
          <p:cNvSpPr txBox="1"/>
          <p:nvPr/>
        </p:nvSpPr>
        <p:spPr>
          <a:xfrm>
            <a:off x="6172200" y="3427413"/>
            <a:ext cx="9747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EF</a:t>
            </a:r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2853" name="Text Box 5"/>
          <p:cNvSpPr txBox="1"/>
          <p:nvPr/>
        </p:nvSpPr>
        <p:spPr>
          <a:xfrm>
            <a:off x="7010400" y="3427413"/>
            <a:ext cx="7937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2854" name="Text Box 6"/>
          <p:cNvSpPr txBox="1"/>
          <p:nvPr/>
        </p:nvSpPr>
        <p:spPr>
          <a:xfrm>
            <a:off x="7697788" y="3427413"/>
            <a:ext cx="12541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IJ</a:t>
            </a:r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2855" name="Text Box 7"/>
          <p:cNvSpPr txBox="1">
            <a:spLocks noChangeArrowheads="1"/>
          </p:cNvSpPr>
          <p:nvPr/>
        </p:nvSpPr>
        <p:spPr bwMode="auto">
          <a:xfrm>
            <a:off x="5943600" y="4260850"/>
            <a:ext cx="3856038" cy="15287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后根次序遍历森林</a:t>
            </a:r>
            <a:endParaRPr kumimoji="1" lang="zh-CN" altLang="en-US" sz="360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  <a:sym typeface="+mn-ea"/>
            </a:endParaRPr>
          </a:p>
          <a:p>
            <a:pPr marR="0" defTabSz="914400">
              <a:buClrTx/>
              <a:buSzTx/>
              <a:defRPr/>
            </a:pPr>
            <a:r>
              <a:rPr kumimoji="1" lang="zh-CN" altLang="en-US" sz="2800" kern="1200" cap="none" spc="0" normalizeH="0" baseline="0" noProof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依次后根遍历各子树</a:t>
            </a:r>
            <a:endParaRPr kumimoji="1" lang="zh-CN" altLang="en-US" sz="2800" kern="1200" cap="none" spc="0" normalizeH="0" baseline="0" noProof="0">
              <a:solidFill>
                <a:srgbClr val="008000"/>
              </a:solidFill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>
                <a:srgbClr val="FF7C80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T</a:t>
            </a:r>
            <a:r>
              <a:rPr kumimoji="1" lang="en-US" altLang="zh-CN" sz="2800" kern="1200" cap="none" spc="0" normalizeH="0" baseline="-2500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3</a:t>
            </a:r>
            <a:endParaRPr kumimoji="1" lang="en-US" altLang="zh-CN" sz="280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62856" name="Text Box 8"/>
          <p:cNvSpPr txBox="1"/>
          <p:nvPr/>
        </p:nvSpPr>
        <p:spPr>
          <a:xfrm>
            <a:off x="5945188" y="5637213"/>
            <a:ext cx="1604962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BCEDA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2857" name="Text Box 9"/>
          <p:cNvSpPr txBox="1"/>
          <p:nvPr/>
        </p:nvSpPr>
        <p:spPr>
          <a:xfrm>
            <a:off x="7467600" y="5637213"/>
            <a:ext cx="747713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GF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2858" name="Text Box 10"/>
          <p:cNvSpPr txBox="1"/>
          <p:nvPr/>
        </p:nvSpPr>
        <p:spPr>
          <a:xfrm>
            <a:off x="8077200" y="5637213"/>
            <a:ext cx="11779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u="sng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KIJH</a:t>
            </a:r>
            <a:endParaRPr lang="en-US" altLang="zh-CN" sz="32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1828800" y="1217613"/>
            <a:ext cx="4114800" cy="2212975"/>
            <a:chOff x="2832" y="863"/>
            <a:chExt cx="2592" cy="1394"/>
          </a:xfrm>
        </p:grpSpPr>
        <p:sp>
          <p:nvSpPr>
            <p:cNvPr id="28683" name="Line 12"/>
            <p:cNvSpPr/>
            <p:nvPr/>
          </p:nvSpPr>
          <p:spPr>
            <a:xfrm>
              <a:off x="4944" y="1680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4" name="Line 13"/>
            <p:cNvSpPr/>
            <p:nvPr/>
          </p:nvSpPr>
          <p:spPr>
            <a:xfrm flipH="1">
              <a:off x="4416" y="1680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5" name="Line 14"/>
            <p:cNvSpPr/>
            <p:nvPr/>
          </p:nvSpPr>
          <p:spPr>
            <a:xfrm>
              <a:off x="4800" y="1728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6" name="Line 15"/>
            <p:cNvSpPr/>
            <p:nvPr/>
          </p:nvSpPr>
          <p:spPr>
            <a:xfrm>
              <a:off x="4080" y="1104"/>
              <a:ext cx="67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7" name="Line 16"/>
            <p:cNvSpPr/>
            <p:nvPr/>
          </p:nvSpPr>
          <p:spPr>
            <a:xfrm flipH="1">
              <a:off x="3264" y="1104"/>
              <a:ext cx="576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8" name="Line 17"/>
            <p:cNvSpPr/>
            <p:nvPr/>
          </p:nvSpPr>
          <p:spPr>
            <a:xfrm>
              <a:off x="3984" y="1152"/>
              <a:ext cx="0" cy="110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9" name="Line 18"/>
            <p:cNvSpPr/>
            <p:nvPr/>
          </p:nvSpPr>
          <p:spPr>
            <a:xfrm>
              <a:off x="3312" y="168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0" name="Line 19"/>
            <p:cNvSpPr/>
            <p:nvPr/>
          </p:nvSpPr>
          <p:spPr>
            <a:xfrm flipH="1">
              <a:off x="3024" y="1680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1" name="Oval 20"/>
            <p:cNvSpPr/>
            <p:nvPr/>
          </p:nvSpPr>
          <p:spPr>
            <a:xfrm>
              <a:off x="3792" y="86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2" name="Oval 21"/>
            <p:cNvSpPr/>
            <p:nvPr/>
          </p:nvSpPr>
          <p:spPr>
            <a:xfrm>
              <a:off x="3072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Oval 22"/>
            <p:cNvSpPr/>
            <p:nvPr/>
          </p:nvSpPr>
          <p:spPr>
            <a:xfrm>
              <a:off x="3792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Oval 23"/>
            <p:cNvSpPr/>
            <p:nvPr/>
          </p:nvSpPr>
          <p:spPr>
            <a:xfrm>
              <a:off x="4656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Oval 24"/>
            <p:cNvSpPr/>
            <p:nvPr/>
          </p:nvSpPr>
          <p:spPr>
            <a:xfrm>
              <a:off x="2832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Oval 25"/>
            <p:cNvSpPr/>
            <p:nvPr/>
          </p:nvSpPr>
          <p:spPr>
            <a:xfrm>
              <a:off x="3264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Oval 26"/>
            <p:cNvSpPr/>
            <p:nvPr/>
          </p:nvSpPr>
          <p:spPr>
            <a:xfrm>
              <a:off x="3792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Oval 27"/>
            <p:cNvSpPr/>
            <p:nvPr/>
          </p:nvSpPr>
          <p:spPr>
            <a:xfrm>
              <a:off x="4224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Oval 28"/>
            <p:cNvSpPr/>
            <p:nvPr/>
          </p:nvSpPr>
          <p:spPr>
            <a:xfrm>
              <a:off x="4656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Oval 29"/>
            <p:cNvSpPr/>
            <p:nvPr/>
          </p:nvSpPr>
          <p:spPr>
            <a:xfrm>
              <a:off x="5088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1" name="Text Box 30"/>
            <p:cNvSpPr txBox="1"/>
            <p:nvPr/>
          </p:nvSpPr>
          <p:spPr>
            <a:xfrm>
              <a:off x="3841" y="86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Text Box 31"/>
            <p:cNvSpPr txBox="1"/>
            <p:nvPr/>
          </p:nvSpPr>
          <p:spPr>
            <a:xfrm>
              <a:off x="3841" y="139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3" name="Text Box 32"/>
            <p:cNvSpPr txBox="1"/>
            <p:nvPr/>
          </p:nvSpPr>
          <p:spPr>
            <a:xfrm>
              <a:off x="3834" y="1928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4" name="Text Box 33"/>
            <p:cNvSpPr txBox="1"/>
            <p:nvPr/>
          </p:nvSpPr>
          <p:spPr>
            <a:xfrm>
              <a:off x="3121" y="139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5" name="Text Box 34"/>
            <p:cNvSpPr txBox="1"/>
            <p:nvPr/>
          </p:nvSpPr>
          <p:spPr>
            <a:xfrm>
              <a:off x="4705" y="1400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6" name="Text Box 35"/>
            <p:cNvSpPr txBox="1"/>
            <p:nvPr/>
          </p:nvSpPr>
          <p:spPr>
            <a:xfrm>
              <a:off x="2886" y="1928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7" name="Text Box 36"/>
            <p:cNvSpPr txBox="1"/>
            <p:nvPr/>
          </p:nvSpPr>
          <p:spPr>
            <a:xfrm>
              <a:off x="3319" y="1928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8" name="Text Box 37"/>
            <p:cNvSpPr txBox="1"/>
            <p:nvPr/>
          </p:nvSpPr>
          <p:spPr>
            <a:xfrm>
              <a:off x="4267" y="1928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9" name="Text Box 38"/>
            <p:cNvSpPr txBox="1"/>
            <p:nvPr/>
          </p:nvSpPr>
          <p:spPr>
            <a:xfrm>
              <a:off x="4722" y="1928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0" name="Text Box 39"/>
            <p:cNvSpPr txBox="1"/>
            <p:nvPr/>
          </p:nvSpPr>
          <p:spPr>
            <a:xfrm>
              <a:off x="5149" y="1928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40"/>
          <p:cNvGrpSpPr/>
          <p:nvPr/>
        </p:nvGrpSpPr>
        <p:grpSpPr>
          <a:xfrm>
            <a:off x="1676400" y="4038600"/>
            <a:ext cx="4171950" cy="2363788"/>
            <a:chOff x="2592" y="759"/>
            <a:chExt cx="2628" cy="1489"/>
          </a:xfrm>
        </p:grpSpPr>
        <p:sp>
          <p:nvSpPr>
            <p:cNvPr id="28712" name="Line 41"/>
            <p:cNvSpPr/>
            <p:nvPr/>
          </p:nvSpPr>
          <p:spPr>
            <a:xfrm>
              <a:off x="4848" y="1056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3" name="Line 42"/>
            <p:cNvSpPr/>
            <p:nvPr/>
          </p:nvSpPr>
          <p:spPr>
            <a:xfrm flipH="1">
              <a:off x="4608" y="1056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4" name="Line 43"/>
            <p:cNvSpPr/>
            <p:nvPr/>
          </p:nvSpPr>
          <p:spPr>
            <a:xfrm>
              <a:off x="4608" y="1680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5" name="Line 44"/>
            <p:cNvSpPr/>
            <p:nvPr/>
          </p:nvSpPr>
          <p:spPr>
            <a:xfrm>
              <a:off x="3360" y="1056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6" name="Line 45"/>
            <p:cNvSpPr/>
            <p:nvPr/>
          </p:nvSpPr>
          <p:spPr>
            <a:xfrm flipH="1">
              <a:off x="2832" y="1056"/>
              <a:ext cx="33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7" name="Line 46"/>
            <p:cNvSpPr/>
            <p:nvPr/>
          </p:nvSpPr>
          <p:spPr>
            <a:xfrm>
              <a:off x="3216" y="110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8" name="Line 47"/>
            <p:cNvSpPr/>
            <p:nvPr/>
          </p:nvSpPr>
          <p:spPr>
            <a:xfrm>
              <a:off x="4128" y="1104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9" name="Line 48"/>
            <p:cNvSpPr/>
            <p:nvPr/>
          </p:nvSpPr>
          <p:spPr>
            <a:xfrm flipH="1">
              <a:off x="3696" y="1632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20" name="Oval 49"/>
            <p:cNvSpPr/>
            <p:nvPr/>
          </p:nvSpPr>
          <p:spPr>
            <a:xfrm>
              <a:off x="3072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1" name="Oval 50"/>
            <p:cNvSpPr/>
            <p:nvPr/>
          </p:nvSpPr>
          <p:spPr>
            <a:xfrm>
              <a:off x="259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2" name="Oval 51"/>
            <p:cNvSpPr/>
            <p:nvPr/>
          </p:nvSpPr>
          <p:spPr>
            <a:xfrm>
              <a:off x="307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Oval 52"/>
            <p:cNvSpPr/>
            <p:nvPr/>
          </p:nvSpPr>
          <p:spPr>
            <a:xfrm>
              <a:off x="3552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Oval 53"/>
            <p:cNvSpPr/>
            <p:nvPr/>
          </p:nvSpPr>
          <p:spPr>
            <a:xfrm>
              <a:off x="3546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Oval 54"/>
            <p:cNvSpPr/>
            <p:nvPr/>
          </p:nvSpPr>
          <p:spPr>
            <a:xfrm>
              <a:off x="3984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6" name="Oval 55"/>
            <p:cNvSpPr/>
            <p:nvPr/>
          </p:nvSpPr>
          <p:spPr>
            <a:xfrm>
              <a:off x="3984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7" name="Oval 56"/>
            <p:cNvSpPr/>
            <p:nvPr/>
          </p:nvSpPr>
          <p:spPr>
            <a:xfrm>
              <a:off x="4614" y="759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8" name="Oval 57"/>
            <p:cNvSpPr/>
            <p:nvPr/>
          </p:nvSpPr>
          <p:spPr>
            <a:xfrm>
              <a:off x="4452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9" name="Oval 58"/>
            <p:cNvSpPr/>
            <p:nvPr/>
          </p:nvSpPr>
          <p:spPr>
            <a:xfrm>
              <a:off x="4884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0" name="Text Box 59"/>
            <p:cNvSpPr txBox="1"/>
            <p:nvPr/>
          </p:nvSpPr>
          <p:spPr>
            <a:xfrm>
              <a:off x="3121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1" name="Text Box 60"/>
            <p:cNvSpPr txBox="1"/>
            <p:nvPr/>
          </p:nvSpPr>
          <p:spPr>
            <a:xfrm>
              <a:off x="312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2" name="Text Box 61"/>
            <p:cNvSpPr txBox="1"/>
            <p:nvPr/>
          </p:nvSpPr>
          <p:spPr>
            <a:xfrm>
              <a:off x="4026" y="1352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3" name="Text Box 62"/>
            <p:cNvSpPr txBox="1"/>
            <p:nvPr/>
          </p:nvSpPr>
          <p:spPr>
            <a:xfrm>
              <a:off x="264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4" name="Text Box 63"/>
            <p:cNvSpPr txBox="1"/>
            <p:nvPr/>
          </p:nvSpPr>
          <p:spPr>
            <a:xfrm>
              <a:off x="360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5" name="Text Box 64"/>
            <p:cNvSpPr txBox="1"/>
            <p:nvPr/>
          </p:nvSpPr>
          <p:spPr>
            <a:xfrm>
              <a:off x="3600" y="1919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6" name="Text Box 65"/>
            <p:cNvSpPr txBox="1"/>
            <p:nvPr/>
          </p:nvSpPr>
          <p:spPr>
            <a:xfrm>
              <a:off x="4033" y="767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7" name="Text Box 66"/>
            <p:cNvSpPr txBox="1"/>
            <p:nvPr/>
          </p:nvSpPr>
          <p:spPr>
            <a:xfrm>
              <a:off x="4657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8" name="Text Box 67"/>
            <p:cNvSpPr txBox="1"/>
            <p:nvPr/>
          </p:nvSpPr>
          <p:spPr>
            <a:xfrm>
              <a:off x="4518" y="1343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9" name="Text Box 68"/>
            <p:cNvSpPr txBox="1"/>
            <p:nvPr/>
          </p:nvSpPr>
          <p:spPr>
            <a:xfrm>
              <a:off x="4945" y="1343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0" name="Oval 69"/>
            <p:cNvSpPr/>
            <p:nvPr/>
          </p:nvSpPr>
          <p:spPr>
            <a:xfrm>
              <a:off x="4458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1" name="Text Box 70"/>
            <p:cNvSpPr txBox="1"/>
            <p:nvPr/>
          </p:nvSpPr>
          <p:spPr>
            <a:xfrm>
              <a:off x="4506" y="191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6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62851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charRg st="7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62851">
                                            <p:txEl>
                                              <p:charRg st="7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62851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charRg st="25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62851">
                                            <p:txEl>
                                              <p:charRg st="25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charRg st="3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62851">
                                            <p:txEl>
                                              <p:charRg st="32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charRg st="64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62851">
                                            <p:txEl>
                                              <p:charRg st="64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6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4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46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462855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charRg st="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462855">
                                            <p:txEl>
                                              <p:charRg st="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5">
                                            <p:txEl>
                                              <p:charRg st="19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462855">
                                            <p:txEl>
                                              <p:charRg st="19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2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1" grpId="0" build="p"/>
      <p:bldP spid="462852" grpId="0"/>
      <p:bldP spid="462853" grpId="0"/>
      <p:bldP spid="462854" grpId="0"/>
      <p:bldP spid="462855" grpId="0" build="p"/>
      <p:bldP spid="462856" grpId="0"/>
      <p:bldP spid="462857" grpId="0"/>
      <p:bldP spid="46285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729163" y="3503613"/>
            <a:ext cx="4948237" cy="1555750"/>
            <a:chOff x="2067" y="1919"/>
            <a:chExt cx="3117" cy="980"/>
          </a:xfrm>
        </p:grpSpPr>
        <p:sp>
          <p:nvSpPr>
            <p:cNvPr id="13346" name="Rectangle 3"/>
            <p:cNvSpPr>
              <a:spLocks noChangeArrowheads="1"/>
            </p:cNvSpPr>
            <p:nvPr/>
          </p:nvSpPr>
          <p:spPr bwMode="auto">
            <a:xfrm>
              <a:off x="2784" y="2227"/>
              <a:ext cx="2400" cy="67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699" name="Line 4"/>
            <p:cNvSpPr/>
            <p:nvPr/>
          </p:nvSpPr>
          <p:spPr>
            <a:xfrm>
              <a:off x="2784" y="2563"/>
              <a:ext cx="2400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0" name="Text Box 5"/>
            <p:cNvSpPr txBox="1"/>
            <p:nvPr/>
          </p:nvSpPr>
          <p:spPr>
            <a:xfrm>
              <a:off x="2245" y="2226"/>
              <a:ext cx="53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1" name="Text Box 6"/>
            <p:cNvSpPr txBox="1"/>
            <p:nvPr/>
          </p:nvSpPr>
          <p:spPr>
            <a:xfrm>
              <a:off x="2067" y="2562"/>
              <a:ext cx="74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parent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02" name="Line 7"/>
            <p:cNvSpPr/>
            <p:nvPr/>
          </p:nvSpPr>
          <p:spPr>
            <a:xfrm>
              <a:off x="4848" y="2227"/>
              <a:ext cx="0" cy="672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3" name="Line 8"/>
            <p:cNvSpPr/>
            <p:nvPr/>
          </p:nvSpPr>
          <p:spPr>
            <a:xfrm>
              <a:off x="4512" y="2227"/>
              <a:ext cx="0" cy="672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4" name="Line 9"/>
            <p:cNvSpPr/>
            <p:nvPr/>
          </p:nvSpPr>
          <p:spPr>
            <a:xfrm>
              <a:off x="4176" y="2227"/>
              <a:ext cx="0" cy="672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5" name="Line 10"/>
            <p:cNvSpPr/>
            <p:nvPr/>
          </p:nvSpPr>
          <p:spPr>
            <a:xfrm>
              <a:off x="3840" y="2227"/>
              <a:ext cx="0" cy="672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6" name="Line 11"/>
            <p:cNvSpPr/>
            <p:nvPr/>
          </p:nvSpPr>
          <p:spPr>
            <a:xfrm>
              <a:off x="3504" y="2227"/>
              <a:ext cx="0" cy="672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7" name="Line 12"/>
            <p:cNvSpPr/>
            <p:nvPr/>
          </p:nvSpPr>
          <p:spPr>
            <a:xfrm>
              <a:off x="3168" y="2227"/>
              <a:ext cx="0" cy="672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08" name="Text Box 13"/>
            <p:cNvSpPr txBox="1"/>
            <p:nvPr/>
          </p:nvSpPr>
          <p:spPr>
            <a:xfrm>
              <a:off x="2828" y="1919"/>
              <a:ext cx="2299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0    1    2    3    4    5    6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1118" name="Text Box 14"/>
          <p:cNvSpPr txBox="1">
            <a:spLocks noChangeArrowheads="1"/>
          </p:cNvSpPr>
          <p:nvPr/>
        </p:nvSpPr>
        <p:spPr bwMode="auto">
          <a:xfrm>
            <a:off x="1905000" y="1600200"/>
            <a:ext cx="2235835" cy="583565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R="0" algn="ctr" defTabSz="914400">
              <a:buClrTx/>
              <a:buSzTx/>
              <a:buFontTx/>
            </a:pPr>
            <a:r>
              <a:rPr lang="zh-CN" altLang="en-US" sz="3200" kern="1200" cap="none" spc="0" normalizeH="0" baseline="0" dirty="0">
                <a:solidFill>
                  <a:schemeClr val="tx2"/>
                </a:solidFill>
                <a:cs typeface="+mn-cs"/>
                <a:sym typeface="+mn-ea"/>
              </a:rPr>
              <a:t>双亲表示</a:t>
            </a:r>
            <a:endParaRPr lang="zh-CN" altLang="en-US" sz="3200" kern="1200" cap="none" spc="0" normalizeH="0" baseline="0" dirty="0">
              <a:solidFill>
                <a:schemeClr val="tx2"/>
              </a:solidFill>
              <a:latin typeface="Times New Roman" panose="02020603050405020304" pitchFamily="18" charset="0"/>
              <a:cs typeface="+mn-cs"/>
              <a:sym typeface="+mn-ea"/>
            </a:endParaRPr>
          </a:p>
        </p:txBody>
      </p:sp>
      <p:sp>
        <p:nvSpPr>
          <p:cNvPr id="431119" name="Rectangle 1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树的存储结构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431120" name="Text Box 16"/>
          <p:cNvSpPr txBox="1"/>
          <p:nvPr/>
        </p:nvSpPr>
        <p:spPr>
          <a:xfrm>
            <a:off x="5840413" y="4037013"/>
            <a:ext cx="3665537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   B    C   D   E   F   G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1121" name="Text Box 17"/>
          <p:cNvSpPr txBox="1"/>
          <p:nvPr/>
        </p:nvSpPr>
        <p:spPr>
          <a:xfrm>
            <a:off x="5943600" y="4494213"/>
            <a:ext cx="3654425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800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-1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0    0     0   1    1    3</a:t>
            </a:r>
            <a:endParaRPr lang="en-US" altLang="zh-CN" sz="2400" b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1122" name="Text Box 18"/>
          <p:cNvSpPr txBox="1">
            <a:spLocks noChangeArrowheads="1"/>
          </p:cNvSpPr>
          <p:nvPr/>
        </p:nvSpPr>
        <p:spPr bwMode="auto">
          <a:xfrm>
            <a:off x="6713538" y="2208213"/>
            <a:ext cx="2632075" cy="46037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zh-CN" altLang="en-US" sz="2400" kern="1200" cap="none" spc="0" normalizeH="0" baseline="0" noProof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指向其双亲的位置</a:t>
            </a:r>
            <a:endParaRPr kumimoji="1" lang="zh-CN" altLang="en-US" sz="2400" kern="1200" cap="none" spc="0" normalizeH="0" baseline="0" noProof="0">
              <a:solidFill>
                <a:srgbClr val="80008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3" name="Group 19"/>
          <p:cNvGrpSpPr/>
          <p:nvPr/>
        </p:nvGrpSpPr>
        <p:grpSpPr>
          <a:xfrm>
            <a:off x="5562600" y="1600200"/>
            <a:ext cx="2362200" cy="609600"/>
            <a:chOff x="2544" y="1008"/>
            <a:chExt cx="1488" cy="384"/>
          </a:xfrm>
        </p:grpSpPr>
        <p:sp>
          <p:nvSpPr>
            <p:cNvPr id="29715" name="Rectangle 20"/>
            <p:cNvSpPr/>
            <p:nvPr/>
          </p:nvSpPr>
          <p:spPr>
            <a:xfrm>
              <a:off x="2544" y="1008"/>
              <a:ext cx="1488" cy="384"/>
            </a:xfrm>
            <a:prstGeom prst="rect">
              <a:avLst/>
            </a:prstGeom>
            <a:solidFill>
              <a:srgbClr val="CCFF33"/>
            </a:solidFill>
            <a:ln w="38100" cap="flat" cmpd="sng">
              <a:solidFill>
                <a:srgbClr val="8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6" name="Text Box 21"/>
            <p:cNvSpPr txBox="1"/>
            <p:nvPr/>
          </p:nvSpPr>
          <p:spPr>
            <a:xfrm>
              <a:off x="2572" y="1017"/>
              <a:ext cx="1447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  parent</a:t>
              </a:r>
              <a:endPara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17" name="Line 22"/>
            <p:cNvSpPr/>
            <p:nvPr/>
          </p:nvSpPr>
          <p:spPr>
            <a:xfrm>
              <a:off x="3168" y="1008"/>
              <a:ext cx="0" cy="384"/>
            </a:xfrm>
            <a:prstGeom prst="line">
              <a:avLst/>
            </a:prstGeom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31127" name="Text Box 23"/>
          <p:cNvSpPr txBox="1"/>
          <p:nvPr/>
        </p:nvSpPr>
        <p:spPr>
          <a:xfrm>
            <a:off x="3132138" y="5865813"/>
            <a:ext cx="4114800" cy="522287"/>
          </a:xfrm>
          <a:prstGeom prst="rect">
            <a:avLst/>
          </a:prstGeom>
          <a:solidFill>
            <a:srgbClr val="CCFF33"/>
          </a:solidFill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特点：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很快确定双亲结点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24"/>
          <p:cNvGrpSpPr/>
          <p:nvPr/>
        </p:nvGrpSpPr>
        <p:grpSpPr>
          <a:xfrm>
            <a:off x="1752600" y="2741613"/>
            <a:ext cx="2914650" cy="2351087"/>
            <a:chOff x="2154" y="767"/>
            <a:chExt cx="1836" cy="1481"/>
          </a:xfrm>
        </p:grpSpPr>
        <p:sp>
          <p:nvSpPr>
            <p:cNvPr id="29720" name="Line 25"/>
            <p:cNvSpPr/>
            <p:nvPr/>
          </p:nvSpPr>
          <p:spPr>
            <a:xfrm>
              <a:off x="2688" y="1584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1" name="Line 26"/>
            <p:cNvSpPr/>
            <p:nvPr/>
          </p:nvSpPr>
          <p:spPr>
            <a:xfrm>
              <a:off x="3360" y="1008"/>
              <a:ext cx="384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2" name="Line 27"/>
            <p:cNvSpPr/>
            <p:nvPr/>
          </p:nvSpPr>
          <p:spPr>
            <a:xfrm flipH="1">
              <a:off x="2736" y="1008"/>
              <a:ext cx="38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3" name="Line 28"/>
            <p:cNvSpPr/>
            <p:nvPr/>
          </p:nvSpPr>
          <p:spPr>
            <a:xfrm>
              <a:off x="3216" y="110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4" name="Line 29"/>
            <p:cNvSpPr/>
            <p:nvPr/>
          </p:nvSpPr>
          <p:spPr>
            <a:xfrm>
              <a:off x="3798" y="1671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5" name="Line 30"/>
            <p:cNvSpPr/>
            <p:nvPr/>
          </p:nvSpPr>
          <p:spPr>
            <a:xfrm flipH="1">
              <a:off x="2400" y="1584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26" name="Oval 31"/>
            <p:cNvSpPr/>
            <p:nvPr/>
          </p:nvSpPr>
          <p:spPr>
            <a:xfrm>
              <a:off x="3072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Oval 32"/>
            <p:cNvSpPr/>
            <p:nvPr/>
          </p:nvSpPr>
          <p:spPr>
            <a:xfrm>
              <a:off x="2496" y="129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8" name="Oval 33"/>
            <p:cNvSpPr/>
            <p:nvPr/>
          </p:nvSpPr>
          <p:spPr>
            <a:xfrm>
              <a:off x="307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9" name="Oval 34"/>
            <p:cNvSpPr/>
            <p:nvPr/>
          </p:nvSpPr>
          <p:spPr>
            <a:xfrm>
              <a:off x="3648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0" name="Oval 35"/>
            <p:cNvSpPr/>
            <p:nvPr/>
          </p:nvSpPr>
          <p:spPr>
            <a:xfrm>
              <a:off x="2154" y="186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1" name="Oval 36"/>
            <p:cNvSpPr/>
            <p:nvPr/>
          </p:nvSpPr>
          <p:spPr>
            <a:xfrm>
              <a:off x="2688" y="18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2" name="Oval 37"/>
            <p:cNvSpPr/>
            <p:nvPr/>
          </p:nvSpPr>
          <p:spPr>
            <a:xfrm>
              <a:off x="3654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3" name="Text Box 38"/>
            <p:cNvSpPr txBox="1"/>
            <p:nvPr/>
          </p:nvSpPr>
          <p:spPr>
            <a:xfrm>
              <a:off x="3121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4" name="Text Box 39"/>
            <p:cNvSpPr txBox="1"/>
            <p:nvPr/>
          </p:nvSpPr>
          <p:spPr>
            <a:xfrm>
              <a:off x="312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5" name="Text Box 40"/>
            <p:cNvSpPr txBox="1"/>
            <p:nvPr/>
          </p:nvSpPr>
          <p:spPr>
            <a:xfrm>
              <a:off x="3696" y="1919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6" name="Text Box 41"/>
            <p:cNvSpPr txBox="1"/>
            <p:nvPr/>
          </p:nvSpPr>
          <p:spPr>
            <a:xfrm>
              <a:off x="2545" y="129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7" name="Text Box 42"/>
            <p:cNvSpPr txBox="1"/>
            <p:nvPr/>
          </p:nvSpPr>
          <p:spPr>
            <a:xfrm>
              <a:off x="3697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8" name="Text Box 43"/>
            <p:cNvSpPr txBox="1"/>
            <p:nvPr/>
          </p:nvSpPr>
          <p:spPr>
            <a:xfrm>
              <a:off x="2208" y="187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9" name="Text Box 44"/>
            <p:cNvSpPr txBox="1"/>
            <p:nvPr/>
          </p:nvSpPr>
          <p:spPr>
            <a:xfrm>
              <a:off x="2737" y="1871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3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3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3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3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18" grpId="0" bldLvl="0" animBg="1"/>
      <p:bldP spid="431120" grpId="0"/>
      <p:bldP spid="431121" grpId="0"/>
      <p:bldP spid="431122" grpId="0" bldLvl="0" animBg="1"/>
      <p:bldP spid="43112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804545" y="428625"/>
            <a:ext cx="3525520" cy="598805"/>
          </a:xfrm>
          <a:prstGeom prst="rect">
            <a:avLst/>
          </a:prstGeom>
          <a:solidFill>
            <a:srgbClr val="66FFFF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0" tIns="0" rIns="0" bIns="0">
            <a:no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None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 </a:t>
            </a:r>
            <a:r>
              <a:rPr kumimoji="0" lang="zh-CN" altLang="en-US" sz="3200" b="1" i="0" strike="noStrike" kern="1200" cap="none" spc="0" normalizeH="0" baseline="0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孩子链存储结构 </a:t>
            </a: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1" lang="zh-CN" altLang="en-US" sz="4000" b="1" i="0" u="none" strike="noStrike" kern="1200" cap="none" spc="0" normalizeH="0" baseline="0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  </a:t>
            </a:r>
            <a:endParaRPr kumimoji="1" lang="zh-CN" altLang="en-US" sz="4000" b="1" i="0" u="none" strike="noStrike" kern="1200" cap="none" spc="0" normalizeH="0" baseline="0" noProof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746" name="Rectangle 144"/>
          <p:cNvSpPr/>
          <p:nvPr/>
        </p:nvSpPr>
        <p:spPr>
          <a:xfrm>
            <a:off x="5940425" y="2867025"/>
            <a:ext cx="311150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146"/>
          <p:cNvSpPr/>
          <p:nvPr/>
        </p:nvSpPr>
        <p:spPr>
          <a:xfrm>
            <a:off x="5940425" y="2981325"/>
            <a:ext cx="311150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8" name="Rectangle 249"/>
          <p:cNvSpPr/>
          <p:nvPr/>
        </p:nvSpPr>
        <p:spPr>
          <a:xfrm>
            <a:off x="5940425" y="2981325"/>
            <a:ext cx="311150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9" name="Rectangle 252"/>
          <p:cNvSpPr/>
          <p:nvPr/>
        </p:nvSpPr>
        <p:spPr>
          <a:xfrm>
            <a:off x="5940425" y="2981325"/>
            <a:ext cx="311150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Oval 8"/>
          <p:cNvSpPr>
            <a:spLocks noChangeAspect="1" noChangeArrowheads="1"/>
          </p:cNvSpPr>
          <p:nvPr/>
        </p:nvSpPr>
        <p:spPr bwMode="auto">
          <a:xfrm>
            <a:off x="2819400" y="1500188"/>
            <a:ext cx="471526" cy="471526"/>
          </a:xfrm>
          <a:prstGeom prst="ellips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path path="circle">
              <a:fillToRect l="50000" t="50000" r="50000" b="50000"/>
            </a:path>
            <a:tileRect/>
          </a:gradFill>
          <a:ln>
            <a:tailEnd type="none" w="med" len="lg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CN" sz="2800" b="1" i="1" u="none" strike="noStrike" kern="1200" cap="none" spc="0" normalizeH="0" baseline="0" noProof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800" b="1" i="1" u="none" strike="noStrike" kern="1200" cap="none" spc="0" normalizeH="0" baseline="0" noProof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2314575" y="3729038"/>
            <a:ext cx="431800" cy="431800"/>
          </a:xfrm>
          <a:prstGeom prst="ellipse">
            <a:avLst/>
          </a:prstGeom>
          <a:solidFill>
            <a:schemeClr val="accent2"/>
          </a:solidFill>
          <a:ln>
            <a:tailEnd type="none" w="med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CN" sz="2800" b="1" i="1" u="none" strike="noStrike" kern="1200" cap="none" spc="0" normalizeH="0" baseline="0" noProof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800" b="1" i="1" u="none" strike="noStrike" kern="1200" cap="none" spc="0" normalizeH="0" baseline="0" noProof="1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Oval 10"/>
          <p:cNvSpPr>
            <a:spLocks noChangeAspect="1" noChangeArrowheads="1"/>
          </p:cNvSpPr>
          <p:nvPr/>
        </p:nvSpPr>
        <p:spPr bwMode="auto">
          <a:xfrm>
            <a:off x="2314575" y="2216150"/>
            <a:ext cx="466344" cy="466344"/>
          </a:xfrm>
          <a:prstGeom prst="ellipse">
            <a:avLst/>
          </a:prstGeom>
          <a:solidFill>
            <a:schemeClr val="accent2"/>
          </a:solidFill>
          <a:ln>
            <a:tailEnd type="none" w="med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CN" sz="2800" b="1" i="1" u="none" strike="noStrike" kern="1200" cap="none" spc="0" normalizeH="0" baseline="0" noProof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800" b="1" i="1" u="none" strike="noStrike" kern="1200" cap="none" spc="0" normalizeH="0" baseline="0" noProof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3322638" y="2216150"/>
            <a:ext cx="431800" cy="479298"/>
          </a:xfrm>
          <a:prstGeom prst="ellipse">
            <a:avLst/>
          </a:prstGeom>
          <a:solidFill>
            <a:schemeClr val="accent2"/>
          </a:solidFill>
          <a:ln>
            <a:tailEnd type="none" w="med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zh-CN" sz="2800" b="1" i="1" u="none" strike="noStrike" kern="1200" cap="none" spc="0" normalizeH="0" baseline="0" noProof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800" b="1" i="1" u="none" strike="noStrike" kern="1200" cap="none" spc="0" normalizeH="0" baseline="0" noProof="1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Oval 12"/>
          <p:cNvSpPr>
            <a:spLocks noChangeArrowheads="1"/>
          </p:cNvSpPr>
          <p:nvPr/>
        </p:nvSpPr>
        <p:spPr bwMode="auto">
          <a:xfrm>
            <a:off x="1666875" y="3008313"/>
            <a:ext cx="431800" cy="479298"/>
          </a:xfrm>
          <a:prstGeom prst="ellipse">
            <a:avLst/>
          </a:prstGeom>
          <a:solidFill>
            <a:schemeClr val="accent2"/>
          </a:solidFill>
          <a:ln>
            <a:tailEnd type="none" w="med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800" b="1" i="1" u="none" strike="noStrike" kern="1200" cap="none" spc="0" normalizeH="0" baseline="0" noProof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800" b="1" i="1" u="none" strike="noStrike" kern="1200" cap="none" spc="0" normalizeH="0" baseline="0" noProof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2314575" y="3008313"/>
            <a:ext cx="431800" cy="474980"/>
          </a:xfrm>
          <a:prstGeom prst="ellipse">
            <a:avLst/>
          </a:prstGeom>
          <a:solidFill>
            <a:schemeClr val="accent2"/>
          </a:solidFill>
          <a:ln>
            <a:tailEnd type="none" w="med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800" b="1" i="1" u="none" strike="noStrike" kern="1200" cap="none" spc="0" normalizeH="0" baseline="0" noProof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800" b="1" i="1" u="none" strike="noStrike" kern="1200" cap="none" spc="0" normalizeH="0" baseline="0" noProof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Oval 14"/>
          <p:cNvSpPr>
            <a:spLocks noChangeArrowheads="1"/>
          </p:cNvSpPr>
          <p:nvPr/>
        </p:nvSpPr>
        <p:spPr bwMode="auto">
          <a:xfrm>
            <a:off x="3035300" y="3008313"/>
            <a:ext cx="462026" cy="492252"/>
          </a:xfrm>
          <a:prstGeom prst="ellipse">
            <a:avLst/>
          </a:prstGeom>
          <a:solidFill>
            <a:schemeClr val="accent2"/>
          </a:solidFill>
          <a:ln>
            <a:tailEnd type="none" w="med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algn="ctr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en-US" altLang="zh-CN" sz="2800" b="1" i="1" u="none" strike="noStrike" kern="1200" cap="none" spc="0" normalizeH="0" baseline="0" noProof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800" b="1" i="1" u="none" strike="noStrike" kern="1200" cap="none" spc="0" normalizeH="0" baseline="0" noProof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757" name="Freeform 15"/>
          <p:cNvSpPr/>
          <p:nvPr/>
        </p:nvSpPr>
        <p:spPr>
          <a:xfrm>
            <a:off x="2538413" y="3438525"/>
            <a:ext cx="1587" cy="285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5" y="180"/>
              </a:cxn>
            </a:cxnLst>
            <a:pathLst>
              <a:path w="25" h="180">
                <a:moveTo>
                  <a:pt x="0" y="0"/>
                </a:moveTo>
                <a:lnTo>
                  <a:pt x="25" y="180"/>
                </a:ln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 sz="5400"/>
          </a:p>
        </p:txBody>
      </p:sp>
      <p:sp>
        <p:nvSpPr>
          <p:cNvPr id="31758" name="Freeform 16"/>
          <p:cNvSpPr/>
          <p:nvPr/>
        </p:nvSpPr>
        <p:spPr>
          <a:xfrm>
            <a:off x="2595563" y="1857375"/>
            <a:ext cx="273050" cy="374650"/>
          </a:xfrm>
          <a:custGeom>
            <a:avLst/>
            <a:gdLst/>
            <a:ahLst/>
            <a:cxnLst>
              <a:cxn ang="0">
                <a:pos x="172" y="0"/>
              </a:cxn>
              <a:cxn ang="0">
                <a:pos x="0" y="236"/>
              </a:cxn>
            </a:cxnLst>
            <a:pathLst>
              <a:path w="172" h="236">
                <a:moveTo>
                  <a:pt x="172" y="0"/>
                </a:moveTo>
                <a:lnTo>
                  <a:pt x="0" y="236"/>
                </a:ln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 sz="5400"/>
          </a:p>
        </p:txBody>
      </p:sp>
      <p:sp>
        <p:nvSpPr>
          <p:cNvPr id="31759" name="Freeform 17"/>
          <p:cNvSpPr/>
          <p:nvPr/>
        </p:nvSpPr>
        <p:spPr>
          <a:xfrm>
            <a:off x="3198813" y="1851025"/>
            <a:ext cx="266700" cy="381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68" y="240"/>
              </a:cxn>
            </a:cxnLst>
            <a:pathLst>
              <a:path w="168" h="240">
                <a:moveTo>
                  <a:pt x="0" y="0"/>
                </a:moveTo>
                <a:lnTo>
                  <a:pt x="168" y="240"/>
                </a:ln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 sz="5400"/>
          </a:p>
        </p:txBody>
      </p:sp>
      <p:sp>
        <p:nvSpPr>
          <p:cNvPr id="31760" name="Line 18"/>
          <p:cNvSpPr/>
          <p:nvPr/>
        </p:nvSpPr>
        <p:spPr>
          <a:xfrm>
            <a:off x="2530475" y="2647950"/>
            <a:ext cx="0" cy="360363"/>
          </a:xfrm>
          <a:prstGeom prst="line">
            <a:avLst/>
          </a:prstGeom>
          <a:ln w="28575" cap="flat" cmpd="sng">
            <a:solidFill>
              <a:srgbClr val="663300"/>
            </a:solidFill>
            <a:prstDash val="solid"/>
            <a:round/>
            <a:headEnd type="none" w="med" len="med"/>
            <a:tailEnd type="none" w="med" len="lg"/>
          </a:ln>
        </p:spPr>
        <p:txBody>
          <a:bodyPr wrap="none"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1" name="Freeform 19"/>
          <p:cNvSpPr/>
          <p:nvPr/>
        </p:nvSpPr>
        <p:spPr>
          <a:xfrm>
            <a:off x="1943100" y="2547938"/>
            <a:ext cx="400050" cy="469900"/>
          </a:xfrm>
          <a:custGeom>
            <a:avLst/>
            <a:gdLst/>
            <a:ahLst/>
            <a:cxnLst>
              <a:cxn ang="0">
                <a:pos x="252" y="0"/>
              </a:cxn>
              <a:cxn ang="0">
                <a:pos x="0" y="296"/>
              </a:cxn>
            </a:cxnLst>
            <a:pathLst>
              <a:path w="252" h="296">
                <a:moveTo>
                  <a:pt x="252" y="0"/>
                </a:moveTo>
                <a:lnTo>
                  <a:pt x="0" y="296"/>
                </a:ln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 sz="5400"/>
          </a:p>
        </p:txBody>
      </p:sp>
      <p:sp>
        <p:nvSpPr>
          <p:cNvPr id="31762" name="Freeform 20"/>
          <p:cNvSpPr/>
          <p:nvPr/>
        </p:nvSpPr>
        <p:spPr>
          <a:xfrm>
            <a:off x="2724150" y="2522538"/>
            <a:ext cx="438150" cy="501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6" y="316"/>
              </a:cxn>
            </a:cxnLst>
            <a:pathLst>
              <a:path w="276" h="316">
                <a:moveTo>
                  <a:pt x="0" y="0"/>
                </a:moveTo>
                <a:lnTo>
                  <a:pt x="276" y="316"/>
                </a:lnTo>
              </a:path>
            </a:pathLst>
          </a:custGeom>
          <a:noFill/>
          <a:ln w="28575" cap="flat" cmpd="sng">
            <a:solidFill>
              <a:srgbClr val="6633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 sz="5400"/>
          </a:p>
        </p:txBody>
      </p:sp>
      <p:grpSp>
        <p:nvGrpSpPr>
          <p:cNvPr id="60" name="组合 59"/>
          <p:cNvGrpSpPr/>
          <p:nvPr/>
        </p:nvGrpSpPr>
        <p:grpSpPr>
          <a:xfrm>
            <a:off x="4310063" y="1787525"/>
            <a:ext cx="6140450" cy="2952750"/>
            <a:chOff x="2786050" y="1787512"/>
            <a:chExt cx="6140431" cy="2952751"/>
          </a:xfrm>
        </p:grpSpPr>
        <p:sp>
          <p:nvSpPr>
            <p:cNvPr id="21" name="AutoShape 21"/>
            <p:cNvSpPr>
              <a:spLocks noChangeArrowheads="1"/>
            </p:cNvSpPr>
            <p:nvPr/>
          </p:nvSpPr>
          <p:spPr bwMode="auto">
            <a:xfrm>
              <a:off x="2786050" y="2643183"/>
              <a:ext cx="684000" cy="360000"/>
            </a:xfrm>
            <a:prstGeom prst="rightArrow">
              <a:avLst>
                <a:gd name="adj1" fmla="val 50000"/>
                <a:gd name="adj2" fmla="val 25000"/>
              </a:avLst>
            </a:prstGeom>
            <a:ln>
              <a:tailEnd type="none" w="med" len="lg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4895819" y="1787512"/>
              <a:ext cx="6477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975319" y="1787512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2000" strike="noStrike" noProof="1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5543519" y="1787512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2000" strike="noStrike" noProof="1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407119" y="1787512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4103656" y="2724137"/>
              <a:ext cx="6477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5183156" y="27241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2000" strike="noStrike" noProof="1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4751356" y="27241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2000" strike="noStrike" noProof="1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5614956" y="27241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2000" strike="noStrike" noProof="1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6480144" y="2724137"/>
              <a:ext cx="6477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7559644" y="27241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7127844" y="27241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 dirty="0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7991444" y="27241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806669" y="3587737"/>
              <a:ext cx="6477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3886169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3454369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 dirty="0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4317969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4895819" y="3587737"/>
              <a:ext cx="6477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5975319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5543519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trike="noStrike" noProof="1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6407119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6983381" y="3587737"/>
              <a:ext cx="6477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8062881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7631081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 dirty="0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8494681" y="3587737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1789" name="Line 46"/>
            <p:cNvSpPr/>
            <p:nvPr/>
          </p:nvSpPr>
          <p:spPr>
            <a:xfrm flipH="1">
              <a:off x="5110131" y="1931975"/>
              <a:ext cx="649287" cy="79216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0" name="Line 47"/>
            <p:cNvSpPr/>
            <p:nvPr/>
          </p:nvSpPr>
          <p:spPr>
            <a:xfrm>
              <a:off x="6191219" y="1931975"/>
              <a:ext cx="647700" cy="79216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1" name="Line 48"/>
            <p:cNvSpPr/>
            <p:nvPr/>
          </p:nvSpPr>
          <p:spPr>
            <a:xfrm flipH="1">
              <a:off x="4246531" y="2940037"/>
              <a:ext cx="720725" cy="6477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2" name="Line 49"/>
            <p:cNvSpPr/>
            <p:nvPr/>
          </p:nvSpPr>
          <p:spPr>
            <a:xfrm>
              <a:off x="5399056" y="2868600"/>
              <a:ext cx="215900" cy="71913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93" name="Line 50"/>
            <p:cNvSpPr/>
            <p:nvPr/>
          </p:nvSpPr>
          <p:spPr>
            <a:xfrm>
              <a:off x="5830856" y="2940037"/>
              <a:ext cx="1439862" cy="64770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4894231" y="4379900"/>
              <a:ext cx="6477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1" u="none" strike="noStrike" kern="1200" cap="none" spc="0" normalizeH="0" baseline="0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en-US" altLang="zh-CN" sz="2000" b="1" i="1" u="none" strike="noStrike" kern="1200" cap="none" spc="0" normalizeH="0" baseline="0" noProof="1" dirty="0">
                <a:solidFill>
                  <a:srgbClr val="3333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5973731" y="4379900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5541931" y="4379900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 dirty="0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 dirty="0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6405531" y="4379900"/>
              <a:ext cx="431800" cy="360363"/>
            </a:xfrm>
            <a:prstGeom prst="rect">
              <a:avLst/>
            </a:prstGeom>
            <a:ln>
              <a:tailEnd type="none" w="med" len="lg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en-US" altLang="zh-CN" sz="2000" b="1" i="0" u="none" strike="noStrike" kern="1200" cap="none" spc="0" normalizeH="0" baseline="0" noProof="1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+mn-ea"/>
                </a:rPr>
                <a:t>∧</a:t>
              </a:r>
              <a:endParaRPr kumimoji="0" lang="en-US" altLang="zh-CN" sz="2000" b="1" i="0" u="none" strike="noStrike" kern="1200" cap="none" spc="0" normalizeH="0" baseline="0" noProof="1">
                <a:solidFill>
                  <a:schemeClr val="dk1"/>
                </a:solidFill>
                <a:latin typeface="+mn-lt"/>
                <a:ea typeface="+mn-ea"/>
                <a:cs typeface="+mn-cs"/>
                <a:sym typeface="+mn-ea"/>
              </a:endParaRPr>
            </a:p>
          </p:txBody>
        </p:sp>
        <p:sp>
          <p:nvSpPr>
            <p:cNvPr id="31798" name="Line 55"/>
            <p:cNvSpPr/>
            <p:nvPr/>
          </p:nvSpPr>
          <p:spPr>
            <a:xfrm>
              <a:off x="5686394" y="3803637"/>
              <a:ext cx="0" cy="57626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7" name="Group 58"/>
          <p:cNvGrpSpPr/>
          <p:nvPr/>
        </p:nvGrpSpPr>
        <p:grpSpPr>
          <a:xfrm>
            <a:off x="4403725" y="4860925"/>
            <a:ext cx="5111750" cy="1219200"/>
            <a:chOff x="1837" y="2614"/>
            <a:chExt cx="1859" cy="768"/>
          </a:xfrm>
        </p:grpSpPr>
        <p:sp>
          <p:nvSpPr>
            <p:cNvPr id="31800" name="Line 59"/>
            <p:cNvSpPr/>
            <p:nvPr/>
          </p:nvSpPr>
          <p:spPr>
            <a:xfrm flipV="1">
              <a:off x="2787" y="2614"/>
              <a:ext cx="227" cy="272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wrap="none" anchor="t" anchorCtr="0"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01" name="Text Box 60"/>
            <p:cNvSpPr txBox="1"/>
            <p:nvPr/>
          </p:nvSpPr>
          <p:spPr>
            <a:xfrm>
              <a:off x="1837" y="2976"/>
              <a:ext cx="1859" cy="40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600" dirty="0">
                  <a:latin typeface="楷体" panose="02010609060101010101" pitchFamily="49" charset="-122"/>
                  <a:ea typeface="楷体" panose="02010609060101010101" pitchFamily="49" charset="-122"/>
                </a:rPr>
                <a:t>树的孩子链存储结构</a:t>
              </a:r>
              <a:endPara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024563" y="1143000"/>
            <a:ext cx="4951412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每个指针指向一颗子树</a:t>
            </a:r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5715000" y="3275013"/>
            <a:ext cx="1143000" cy="584200"/>
            <a:chOff x="3312" y="1439"/>
            <a:chExt cx="720" cy="368"/>
          </a:xfrm>
        </p:grpSpPr>
        <p:sp>
          <p:nvSpPr>
            <p:cNvPr id="15440" name="Rectangle 3"/>
            <p:cNvSpPr>
              <a:spLocks noChangeArrowheads="1"/>
            </p:cNvSpPr>
            <p:nvPr/>
          </p:nvSpPr>
          <p:spPr bwMode="auto">
            <a:xfrm>
              <a:off x="3312" y="1488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71" name="Line 4"/>
            <p:cNvSpPr/>
            <p:nvPr/>
          </p:nvSpPr>
          <p:spPr>
            <a:xfrm>
              <a:off x="3552" y="1488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2" name="Line 5"/>
            <p:cNvSpPr/>
            <p:nvPr/>
          </p:nvSpPr>
          <p:spPr>
            <a:xfrm>
              <a:off x="3792" y="1488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3" name="Text Box 6"/>
            <p:cNvSpPr txBox="1"/>
            <p:nvPr/>
          </p:nvSpPr>
          <p:spPr>
            <a:xfrm>
              <a:off x="3540" y="1439"/>
              <a:ext cx="30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5334000" y="1066800"/>
            <a:ext cx="5181600" cy="533400"/>
            <a:chOff x="1200" y="768"/>
            <a:chExt cx="3264" cy="336"/>
          </a:xfrm>
        </p:grpSpPr>
        <p:sp>
          <p:nvSpPr>
            <p:cNvPr id="15435" name="Rectangle 8"/>
            <p:cNvSpPr>
              <a:spLocks noChangeArrowheads="1"/>
            </p:cNvSpPr>
            <p:nvPr/>
          </p:nvSpPr>
          <p:spPr bwMode="auto">
            <a:xfrm>
              <a:off x="1200" y="768"/>
              <a:ext cx="3264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  <a:sym typeface="+mn-ea"/>
                </a:rPr>
                <a:t>                       data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  <a:cs typeface="+mn-cs"/>
                <a:sym typeface="+mn-ea"/>
              </a:endParaRPr>
            </a:p>
          </p:txBody>
        </p:sp>
        <p:sp>
          <p:nvSpPr>
            <p:cNvPr id="15436" name="Line 9"/>
            <p:cNvSpPr>
              <a:spLocks noChangeShapeType="1"/>
            </p:cNvSpPr>
            <p:nvPr/>
          </p:nvSpPr>
          <p:spPr bwMode="auto">
            <a:xfrm>
              <a:off x="2400" y="768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77" name="Text Box 10"/>
            <p:cNvSpPr txBox="1"/>
            <p:nvPr/>
          </p:nvSpPr>
          <p:spPr>
            <a:xfrm>
              <a:off x="1296" y="768"/>
              <a:ext cx="104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firstChild</a:t>
              </a:r>
              <a:endParaRPr lang="en-US" altLang="zh-CN" sz="2400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5438" name="Line 11"/>
            <p:cNvSpPr>
              <a:spLocks noChangeShapeType="1"/>
            </p:cNvSpPr>
            <p:nvPr/>
          </p:nvSpPr>
          <p:spPr bwMode="auto">
            <a:xfrm>
              <a:off x="3120" y="768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79" name="Text Box 12"/>
            <p:cNvSpPr txBox="1"/>
            <p:nvPr/>
          </p:nvSpPr>
          <p:spPr>
            <a:xfrm>
              <a:off x="3206" y="768"/>
              <a:ext cx="119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nextSibling</a:t>
              </a:r>
              <a:endParaRPr lang="en-US" altLang="zh-CN" sz="2400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</p:grpSp>
      <p:sp>
        <p:nvSpPr>
          <p:cNvPr id="433165" name="Line 13"/>
          <p:cNvSpPr/>
          <p:nvPr/>
        </p:nvSpPr>
        <p:spPr>
          <a:xfrm flipH="1">
            <a:off x="5943600" y="3657600"/>
            <a:ext cx="0" cy="685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sm" len="lg"/>
          </a:ln>
        </p:spPr>
      </p:sp>
      <p:grpSp>
        <p:nvGrpSpPr>
          <p:cNvPr id="4" name="Group 14"/>
          <p:cNvGrpSpPr/>
          <p:nvPr/>
        </p:nvGrpSpPr>
        <p:grpSpPr>
          <a:xfrm>
            <a:off x="5715000" y="4265613"/>
            <a:ext cx="1143000" cy="584200"/>
            <a:chOff x="2688" y="1919"/>
            <a:chExt cx="720" cy="368"/>
          </a:xfrm>
        </p:grpSpPr>
        <p:sp>
          <p:nvSpPr>
            <p:cNvPr id="15431" name="Rectangle 15"/>
            <p:cNvSpPr>
              <a:spLocks noChangeArrowheads="1"/>
            </p:cNvSpPr>
            <p:nvPr/>
          </p:nvSpPr>
          <p:spPr bwMode="auto">
            <a:xfrm>
              <a:off x="2688" y="1968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3" name="Line 16"/>
            <p:cNvSpPr/>
            <p:nvPr/>
          </p:nvSpPr>
          <p:spPr>
            <a:xfrm>
              <a:off x="2928" y="1968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4" name="Line 17"/>
            <p:cNvSpPr/>
            <p:nvPr/>
          </p:nvSpPr>
          <p:spPr>
            <a:xfrm>
              <a:off x="3168" y="1968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5" name="Text Box 18"/>
            <p:cNvSpPr txBox="1"/>
            <p:nvPr/>
          </p:nvSpPr>
          <p:spPr>
            <a:xfrm>
              <a:off x="2881" y="1919"/>
              <a:ext cx="28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9"/>
          <p:cNvGrpSpPr/>
          <p:nvPr/>
        </p:nvGrpSpPr>
        <p:grpSpPr>
          <a:xfrm>
            <a:off x="7391400" y="4341813"/>
            <a:ext cx="1143000" cy="584200"/>
            <a:chOff x="3552" y="2466"/>
            <a:chExt cx="720" cy="368"/>
          </a:xfrm>
        </p:grpSpPr>
        <p:sp>
          <p:nvSpPr>
            <p:cNvPr id="15427" name="Rectangle 20"/>
            <p:cNvSpPr>
              <a:spLocks noChangeArrowheads="1"/>
            </p:cNvSpPr>
            <p:nvPr/>
          </p:nvSpPr>
          <p:spPr bwMode="auto">
            <a:xfrm>
              <a:off x="3552" y="2496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8" name="Line 21"/>
            <p:cNvSpPr/>
            <p:nvPr/>
          </p:nvSpPr>
          <p:spPr>
            <a:xfrm>
              <a:off x="3792" y="249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89" name="Line 22"/>
            <p:cNvSpPr/>
            <p:nvPr/>
          </p:nvSpPr>
          <p:spPr>
            <a:xfrm>
              <a:off x="4032" y="249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0" name="Text Box 23"/>
            <p:cNvSpPr txBox="1"/>
            <p:nvPr/>
          </p:nvSpPr>
          <p:spPr>
            <a:xfrm>
              <a:off x="3780" y="2466"/>
              <a:ext cx="30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24"/>
          <p:cNvGrpSpPr/>
          <p:nvPr/>
        </p:nvGrpSpPr>
        <p:grpSpPr>
          <a:xfrm>
            <a:off x="9067800" y="4341813"/>
            <a:ext cx="1143000" cy="584200"/>
            <a:chOff x="4560" y="2946"/>
            <a:chExt cx="720" cy="368"/>
          </a:xfrm>
        </p:grpSpPr>
        <p:sp>
          <p:nvSpPr>
            <p:cNvPr id="15423" name="Rectangle 25"/>
            <p:cNvSpPr>
              <a:spLocks noChangeArrowheads="1"/>
            </p:cNvSpPr>
            <p:nvPr/>
          </p:nvSpPr>
          <p:spPr bwMode="auto">
            <a:xfrm>
              <a:off x="4560" y="2976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3" name="Line 26"/>
            <p:cNvSpPr/>
            <p:nvPr/>
          </p:nvSpPr>
          <p:spPr>
            <a:xfrm>
              <a:off x="4800" y="297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4" name="Line 27"/>
            <p:cNvSpPr/>
            <p:nvPr/>
          </p:nvSpPr>
          <p:spPr>
            <a:xfrm>
              <a:off x="5040" y="297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5" name="Text Box 28"/>
            <p:cNvSpPr txBox="1"/>
            <p:nvPr/>
          </p:nvSpPr>
          <p:spPr>
            <a:xfrm>
              <a:off x="4753" y="2946"/>
              <a:ext cx="30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29"/>
          <p:cNvGrpSpPr/>
          <p:nvPr/>
        </p:nvGrpSpPr>
        <p:grpSpPr>
          <a:xfrm>
            <a:off x="9067800" y="5256213"/>
            <a:ext cx="1143000" cy="584200"/>
            <a:chOff x="3792" y="3426"/>
            <a:chExt cx="720" cy="368"/>
          </a:xfrm>
        </p:grpSpPr>
        <p:sp>
          <p:nvSpPr>
            <p:cNvPr id="15419" name="Rectangle 30"/>
            <p:cNvSpPr>
              <a:spLocks noChangeArrowheads="1"/>
            </p:cNvSpPr>
            <p:nvPr/>
          </p:nvSpPr>
          <p:spPr bwMode="auto">
            <a:xfrm>
              <a:off x="3792" y="3456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8" name="Line 31"/>
            <p:cNvSpPr/>
            <p:nvPr/>
          </p:nvSpPr>
          <p:spPr>
            <a:xfrm>
              <a:off x="4032" y="345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99" name="Line 32"/>
            <p:cNvSpPr/>
            <p:nvPr/>
          </p:nvSpPr>
          <p:spPr>
            <a:xfrm>
              <a:off x="4272" y="345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00" name="Text Box 33"/>
            <p:cNvSpPr txBox="1"/>
            <p:nvPr/>
          </p:nvSpPr>
          <p:spPr>
            <a:xfrm>
              <a:off x="3984" y="3426"/>
              <a:ext cx="31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34"/>
          <p:cNvGrpSpPr/>
          <p:nvPr/>
        </p:nvGrpSpPr>
        <p:grpSpPr>
          <a:xfrm>
            <a:off x="7391400" y="5256213"/>
            <a:ext cx="1143000" cy="584200"/>
            <a:chOff x="2688" y="2975"/>
            <a:chExt cx="720" cy="368"/>
          </a:xfrm>
        </p:grpSpPr>
        <p:sp>
          <p:nvSpPr>
            <p:cNvPr id="15415" name="Rectangle 35"/>
            <p:cNvSpPr>
              <a:spLocks noChangeArrowheads="1"/>
            </p:cNvSpPr>
            <p:nvPr/>
          </p:nvSpPr>
          <p:spPr bwMode="auto">
            <a:xfrm>
              <a:off x="2688" y="3024"/>
              <a:ext cx="720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3" name="Line 36"/>
            <p:cNvSpPr/>
            <p:nvPr/>
          </p:nvSpPr>
          <p:spPr>
            <a:xfrm>
              <a:off x="2928" y="3024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04" name="Line 37"/>
            <p:cNvSpPr/>
            <p:nvPr/>
          </p:nvSpPr>
          <p:spPr>
            <a:xfrm>
              <a:off x="3168" y="3024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05" name="Text Box 38"/>
            <p:cNvSpPr txBox="1"/>
            <p:nvPr/>
          </p:nvSpPr>
          <p:spPr>
            <a:xfrm>
              <a:off x="2896" y="2975"/>
              <a:ext cx="272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39"/>
          <p:cNvGrpSpPr/>
          <p:nvPr/>
        </p:nvGrpSpPr>
        <p:grpSpPr>
          <a:xfrm>
            <a:off x="5715000" y="5256213"/>
            <a:ext cx="1219200" cy="584200"/>
            <a:chOff x="2016" y="2466"/>
            <a:chExt cx="768" cy="368"/>
          </a:xfrm>
        </p:grpSpPr>
        <p:sp>
          <p:nvSpPr>
            <p:cNvPr id="15411" name="Rectangle 40"/>
            <p:cNvSpPr>
              <a:spLocks noChangeArrowheads="1"/>
            </p:cNvSpPr>
            <p:nvPr/>
          </p:nvSpPr>
          <p:spPr bwMode="auto">
            <a:xfrm>
              <a:off x="2016" y="2496"/>
              <a:ext cx="768" cy="28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8" name="Line 41"/>
            <p:cNvSpPr/>
            <p:nvPr/>
          </p:nvSpPr>
          <p:spPr>
            <a:xfrm>
              <a:off x="2256" y="249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09" name="Line 42"/>
            <p:cNvSpPr/>
            <p:nvPr/>
          </p:nvSpPr>
          <p:spPr>
            <a:xfrm>
              <a:off x="2544" y="2496"/>
              <a:ext cx="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10" name="Text Box 43"/>
            <p:cNvSpPr txBox="1"/>
            <p:nvPr/>
          </p:nvSpPr>
          <p:spPr>
            <a:xfrm>
              <a:off x="2257" y="2466"/>
              <a:ext cx="28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3196" name="Text Box 44"/>
          <p:cNvSpPr txBox="1"/>
          <p:nvPr/>
        </p:nvSpPr>
        <p:spPr>
          <a:xfrm>
            <a:off x="6477000" y="31988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197" name="Text Box 45"/>
          <p:cNvSpPr txBox="1"/>
          <p:nvPr/>
        </p:nvSpPr>
        <p:spPr>
          <a:xfrm>
            <a:off x="5638800" y="51800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198" name="Text Box 46"/>
          <p:cNvSpPr txBox="1"/>
          <p:nvPr/>
        </p:nvSpPr>
        <p:spPr>
          <a:xfrm>
            <a:off x="7391400" y="42656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199" name="Text Box 47"/>
          <p:cNvSpPr txBox="1"/>
          <p:nvPr/>
        </p:nvSpPr>
        <p:spPr>
          <a:xfrm>
            <a:off x="7315200" y="51800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200" name="Text Box 48"/>
          <p:cNvSpPr txBox="1"/>
          <p:nvPr/>
        </p:nvSpPr>
        <p:spPr>
          <a:xfrm>
            <a:off x="8077200" y="51800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201" name="Text Box 49"/>
          <p:cNvSpPr txBox="1"/>
          <p:nvPr/>
        </p:nvSpPr>
        <p:spPr>
          <a:xfrm>
            <a:off x="8991600" y="51800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202" name="Text Box 50"/>
          <p:cNvSpPr txBox="1"/>
          <p:nvPr/>
        </p:nvSpPr>
        <p:spPr>
          <a:xfrm>
            <a:off x="9829800" y="51800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203" name="Text Box 51"/>
          <p:cNvSpPr txBox="1"/>
          <p:nvPr/>
        </p:nvSpPr>
        <p:spPr>
          <a:xfrm>
            <a:off x="9829800" y="4265613"/>
            <a:ext cx="460375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3204" name="Text Box 52"/>
          <p:cNvSpPr txBox="1">
            <a:spLocks noChangeArrowheads="1"/>
          </p:cNvSpPr>
          <p:nvPr/>
        </p:nvSpPr>
        <p:spPr bwMode="auto">
          <a:xfrm>
            <a:off x="983615" y="548481"/>
            <a:ext cx="2632710" cy="583565"/>
          </a:xfrm>
          <a:prstGeom prst="rect">
            <a:avLst/>
          </a:prstGeom>
          <a:solidFill>
            <a:srgbClr val="66FFFF"/>
          </a:solidFill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lang="zh-CN" altLang="en-US" sz="3200" kern="1200" cap="none" spc="0" normalizeH="0" baseline="0" dirty="0">
                <a:solidFill>
                  <a:schemeClr val="tx2"/>
                </a:solidFill>
                <a:cs typeface="+mn-cs"/>
                <a:sym typeface="+mn-ea"/>
              </a:rPr>
              <a:t>孩子兄弟表示</a:t>
            </a:r>
            <a:endParaRPr kumimoji="1" lang="zh-CN" altLang="en-US" sz="3200" kern="1200" cap="none" spc="0" normalizeH="0" baseline="0" noProof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仿宋_GB2312" pitchFamily="49" charset="-122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33205" name="AutoShape 53"/>
          <p:cNvSpPr/>
          <p:nvPr/>
        </p:nvSpPr>
        <p:spPr>
          <a:xfrm>
            <a:off x="4724400" y="1828800"/>
            <a:ext cx="2819400" cy="609600"/>
          </a:xfrm>
          <a:prstGeom prst="wedgeRoundRectCallout">
            <a:avLst>
              <a:gd name="adj1" fmla="val 17792"/>
              <a:gd name="adj2" fmla="val -98440"/>
              <a:gd name="adj3" fmla="val 16667"/>
            </a:avLst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指向第一个孩子结点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3206" name="AutoShape 54"/>
          <p:cNvSpPr/>
          <p:nvPr/>
        </p:nvSpPr>
        <p:spPr>
          <a:xfrm>
            <a:off x="8001000" y="1828800"/>
            <a:ext cx="2514600" cy="609600"/>
          </a:xfrm>
          <a:prstGeom prst="wedgeRoundRectCallout">
            <a:avLst>
              <a:gd name="adj1" fmla="val 28852"/>
              <a:gd name="adj2" fmla="val -98958"/>
              <a:gd name="adj3" fmla="val 16667"/>
            </a:avLst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指向右兄弟结点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3207" name="Line 55"/>
          <p:cNvSpPr/>
          <p:nvPr/>
        </p:nvSpPr>
        <p:spPr>
          <a:xfrm>
            <a:off x="6705600" y="4572000"/>
            <a:ext cx="6858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33208" name="Line 56"/>
          <p:cNvSpPr/>
          <p:nvPr/>
        </p:nvSpPr>
        <p:spPr>
          <a:xfrm>
            <a:off x="8382000" y="4572000"/>
            <a:ext cx="6858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33209" name="Line 57"/>
          <p:cNvSpPr/>
          <p:nvPr/>
        </p:nvSpPr>
        <p:spPr>
          <a:xfrm flipH="1">
            <a:off x="5943600" y="4572000"/>
            <a:ext cx="0" cy="7620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33210" name="Line 58"/>
          <p:cNvSpPr/>
          <p:nvPr/>
        </p:nvSpPr>
        <p:spPr>
          <a:xfrm>
            <a:off x="6781800" y="5486400"/>
            <a:ext cx="6096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33211" name="Line 59"/>
          <p:cNvSpPr/>
          <p:nvPr/>
        </p:nvSpPr>
        <p:spPr>
          <a:xfrm flipH="1">
            <a:off x="9296400" y="4648200"/>
            <a:ext cx="0" cy="685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sm" len="lg"/>
          </a:ln>
        </p:spPr>
      </p:sp>
      <p:grpSp>
        <p:nvGrpSpPr>
          <p:cNvPr id="10" name="Group 60"/>
          <p:cNvGrpSpPr/>
          <p:nvPr/>
        </p:nvGrpSpPr>
        <p:grpSpPr>
          <a:xfrm>
            <a:off x="5276850" y="2559050"/>
            <a:ext cx="819150" cy="793750"/>
            <a:chOff x="2364" y="1612"/>
            <a:chExt cx="516" cy="500"/>
          </a:xfrm>
        </p:grpSpPr>
        <p:sp>
          <p:nvSpPr>
            <p:cNvPr id="32828" name="Text Box 61"/>
            <p:cNvSpPr txBox="1"/>
            <p:nvPr/>
          </p:nvSpPr>
          <p:spPr>
            <a:xfrm>
              <a:off x="2364" y="1612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29" name="Line 62"/>
            <p:cNvSpPr/>
            <p:nvPr/>
          </p:nvSpPr>
          <p:spPr>
            <a:xfrm>
              <a:off x="2592" y="1824"/>
              <a:ext cx="288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1" name="Group 63"/>
          <p:cNvGrpSpPr/>
          <p:nvPr/>
        </p:nvGrpSpPr>
        <p:grpSpPr>
          <a:xfrm>
            <a:off x="1828800" y="1674813"/>
            <a:ext cx="2914650" cy="2351087"/>
            <a:chOff x="2154" y="767"/>
            <a:chExt cx="1836" cy="1481"/>
          </a:xfrm>
        </p:grpSpPr>
        <p:sp>
          <p:nvSpPr>
            <p:cNvPr id="32831" name="Line 64"/>
            <p:cNvSpPr/>
            <p:nvPr/>
          </p:nvSpPr>
          <p:spPr>
            <a:xfrm>
              <a:off x="2688" y="1584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32" name="Line 65"/>
            <p:cNvSpPr/>
            <p:nvPr/>
          </p:nvSpPr>
          <p:spPr>
            <a:xfrm>
              <a:off x="3360" y="1008"/>
              <a:ext cx="384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33" name="Line 66"/>
            <p:cNvSpPr/>
            <p:nvPr/>
          </p:nvSpPr>
          <p:spPr>
            <a:xfrm flipH="1">
              <a:off x="2736" y="1008"/>
              <a:ext cx="38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34" name="Line 67"/>
            <p:cNvSpPr/>
            <p:nvPr/>
          </p:nvSpPr>
          <p:spPr>
            <a:xfrm>
              <a:off x="3216" y="110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35" name="Line 68"/>
            <p:cNvSpPr/>
            <p:nvPr/>
          </p:nvSpPr>
          <p:spPr>
            <a:xfrm>
              <a:off x="3798" y="1671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36" name="Line 69"/>
            <p:cNvSpPr/>
            <p:nvPr/>
          </p:nvSpPr>
          <p:spPr>
            <a:xfrm flipH="1">
              <a:off x="2400" y="1584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37" name="Oval 70"/>
            <p:cNvSpPr/>
            <p:nvPr/>
          </p:nvSpPr>
          <p:spPr>
            <a:xfrm>
              <a:off x="3072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8" name="Oval 71"/>
            <p:cNvSpPr/>
            <p:nvPr/>
          </p:nvSpPr>
          <p:spPr>
            <a:xfrm>
              <a:off x="2496" y="129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9" name="Oval 72"/>
            <p:cNvSpPr/>
            <p:nvPr/>
          </p:nvSpPr>
          <p:spPr>
            <a:xfrm>
              <a:off x="307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0" name="Oval 73"/>
            <p:cNvSpPr/>
            <p:nvPr/>
          </p:nvSpPr>
          <p:spPr>
            <a:xfrm>
              <a:off x="3648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1" name="Oval 74"/>
            <p:cNvSpPr/>
            <p:nvPr/>
          </p:nvSpPr>
          <p:spPr>
            <a:xfrm>
              <a:off x="2154" y="186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2" name="Oval 75"/>
            <p:cNvSpPr/>
            <p:nvPr/>
          </p:nvSpPr>
          <p:spPr>
            <a:xfrm>
              <a:off x="2688" y="18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3" name="Oval 76"/>
            <p:cNvSpPr/>
            <p:nvPr/>
          </p:nvSpPr>
          <p:spPr>
            <a:xfrm>
              <a:off x="3654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4" name="Text Box 77"/>
            <p:cNvSpPr txBox="1"/>
            <p:nvPr/>
          </p:nvSpPr>
          <p:spPr>
            <a:xfrm>
              <a:off x="3121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5" name="Text Box 78"/>
            <p:cNvSpPr txBox="1"/>
            <p:nvPr/>
          </p:nvSpPr>
          <p:spPr>
            <a:xfrm>
              <a:off x="312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6" name="Text Box 79"/>
            <p:cNvSpPr txBox="1"/>
            <p:nvPr/>
          </p:nvSpPr>
          <p:spPr>
            <a:xfrm>
              <a:off x="3696" y="1919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7" name="Text Box 80"/>
            <p:cNvSpPr txBox="1"/>
            <p:nvPr/>
          </p:nvSpPr>
          <p:spPr>
            <a:xfrm>
              <a:off x="2545" y="129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8" name="Text Box 81"/>
            <p:cNvSpPr txBox="1"/>
            <p:nvPr/>
          </p:nvSpPr>
          <p:spPr>
            <a:xfrm>
              <a:off x="3697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49" name="Text Box 82"/>
            <p:cNvSpPr txBox="1"/>
            <p:nvPr/>
          </p:nvSpPr>
          <p:spPr>
            <a:xfrm>
              <a:off x="2208" y="187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50" name="Text Box 83"/>
            <p:cNvSpPr txBox="1"/>
            <p:nvPr/>
          </p:nvSpPr>
          <p:spPr>
            <a:xfrm>
              <a:off x="2737" y="1871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332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33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3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3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3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3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3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33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33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3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3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33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33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3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43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43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3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33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33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33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33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33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33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33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43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7" dur="500"/>
                                        <p:tgtEl>
                                          <p:spTgt spid="43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33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33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33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33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5" dur="500"/>
                                        <p:tgtEl>
                                          <p:spTgt spid="43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0" dur="500"/>
                                        <p:tgtEl>
                                          <p:spTgt spid="43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5" dur="500"/>
                                        <p:tgtEl>
                                          <p:spTgt spid="43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0" dur="500"/>
                                        <p:tgtEl>
                                          <p:spTgt spid="43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96" grpId="0"/>
      <p:bldP spid="433197" grpId="0"/>
      <p:bldP spid="433198" grpId="0"/>
      <p:bldP spid="433199" grpId="0"/>
      <p:bldP spid="433200" grpId="0"/>
      <p:bldP spid="433201" grpId="0"/>
      <p:bldP spid="433202" grpId="0"/>
      <p:bldP spid="433203" grpId="0"/>
      <p:bldP spid="433204" grpId="0" bldLvl="0" animBg="1"/>
      <p:bldP spid="433205" grpId="0" bldLvl="0" animBg="1"/>
      <p:bldP spid="43320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2130" name="Text Box 2"/>
          <p:cNvSpPr txBox="1">
            <a:spLocks noChangeArrowheads="1"/>
          </p:cNvSpPr>
          <p:nvPr/>
        </p:nvSpPr>
        <p:spPr bwMode="auto">
          <a:xfrm>
            <a:off x="2247900" y="487363"/>
            <a:ext cx="27813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</a:t>
            </a:r>
            <a:r>
              <a: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r>
              <a:rPr kumimoji="1" lang="zh-CN" altLang="en-US" sz="32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孩子表示法</a:t>
            </a:r>
            <a:endParaRPr kumimoji="1" lang="zh-CN" altLang="en-US" sz="24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32131" name="Text Box 3"/>
          <p:cNvSpPr txBox="1"/>
          <p:nvPr/>
        </p:nvSpPr>
        <p:spPr>
          <a:xfrm>
            <a:off x="1905000" y="6032500"/>
            <a:ext cx="4467225" cy="8286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每个结点拥有孩子的个数不同，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所以采用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单链表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链接孩子结点。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912938" y="3581400"/>
            <a:ext cx="3725862" cy="609600"/>
            <a:chOff x="245" y="2256"/>
            <a:chExt cx="2347" cy="384"/>
          </a:xfrm>
        </p:grpSpPr>
        <p:sp>
          <p:nvSpPr>
            <p:cNvPr id="30724" name="Rectangle 5"/>
            <p:cNvSpPr/>
            <p:nvPr/>
          </p:nvSpPr>
          <p:spPr>
            <a:xfrm>
              <a:off x="1584" y="2256"/>
              <a:ext cx="1008" cy="384"/>
            </a:xfrm>
            <a:prstGeom prst="rect">
              <a:avLst/>
            </a:prstGeom>
            <a:solidFill>
              <a:srgbClr val="CCFF33"/>
            </a:solidFill>
            <a:ln w="38100" cap="flat" cmpd="sng">
              <a:solidFill>
                <a:srgbClr val="8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5" name="Text Box 6"/>
            <p:cNvSpPr txBox="1"/>
            <p:nvPr/>
          </p:nvSpPr>
          <p:spPr>
            <a:xfrm>
              <a:off x="245" y="2303"/>
              <a:ext cx="231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孩子结点结构：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child  next</a:t>
              </a:r>
              <a:endPara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26" name="Line 7"/>
            <p:cNvSpPr/>
            <p:nvPr/>
          </p:nvSpPr>
          <p:spPr>
            <a:xfrm>
              <a:off x="2112" y="2256"/>
              <a:ext cx="0" cy="384"/>
            </a:xfrm>
            <a:prstGeom prst="line">
              <a:avLst/>
            </a:prstGeom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32136" name="AutoShape 8"/>
          <p:cNvSpPr/>
          <p:nvPr/>
        </p:nvSpPr>
        <p:spPr>
          <a:xfrm>
            <a:off x="2133600" y="4495800"/>
            <a:ext cx="2438400" cy="609600"/>
          </a:xfrm>
          <a:prstGeom prst="wedgeRoundRectCallout">
            <a:avLst>
              <a:gd name="adj1" fmla="val 34375"/>
              <a:gd name="adj2" fmla="val -112241"/>
              <a:gd name="adj3" fmla="val 16667"/>
            </a:avLst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孩子结点的序号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37" name="AutoShape 9"/>
          <p:cNvSpPr/>
          <p:nvPr/>
        </p:nvSpPr>
        <p:spPr>
          <a:xfrm>
            <a:off x="4876800" y="4495800"/>
            <a:ext cx="3048000" cy="685800"/>
          </a:xfrm>
          <a:prstGeom prst="wedgeRoundRectCallout">
            <a:avLst>
              <a:gd name="adj1" fmla="val -34894"/>
              <a:gd name="adj2" fmla="val -95370"/>
              <a:gd name="adj3" fmla="val 16667"/>
            </a:avLst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指向下一个孩子结点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1987550" y="4343400"/>
            <a:ext cx="3879850" cy="609600"/>
            <a:chOff x="292" y="2736"/>
            <a:chExt cx="2444" cy="384"/>
          </a:xfrm>
        </p:grpSpPr>
        <p:sp>
          <p:nvSpPr>
            <p:cNvPr id="30730" name="Rectangle 11"/>
            <p:cNvSpPr/>
            <p:nvPr/>
          </p:nvSpPr>
          <p:spPr>
            <a:xfrm>
              <a:off x="1440" y="2736"/>
              <a:ext cx="1296" cy="384"/>
            </a:xfrm>
            <a:prstGeom prst="rect">
              <a:avLst/>
            </a:prstGeom>
            <a:solidFill>
              <a:srgbClr val="CCFF33"/>
            </a:solidFill>
            <a:ln w="38100" cap="flat" cmpd="sng">
              <a:solidFill>
                <a:srgbClr val="800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1" name="Text Box 12"/>
            <p:cNvSpPr txBox="1"/>
            <p:nvPr/>
          </p:nvSpPr>
          <p:spPr>
            <a:xfrm>
              <a:off x="292" y="2783"/>
              <a:ext cx="243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树结点结构：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   headptr</a:t>
              </a:r>
              <a:endPara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2" name="Rectangle 13"/>
            <p:cNvSpPr/>
            <p:nvPr/>
          </p:nvSpPr>
          <p:spPr>
            <a:xfrm>
              <a:off x="1440" y="2880"/>
              <a:ext cx="48" cy="48"/>
            </a:xfrm>
            <a:prstGeom prst="rect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3" name="Line 14"/>
            <p:cNvSpPr/>
            <p:nvPr/>
          </p:nvSpPr>
          <p:spPr>
            <a:xfrm>
              <a:off x="1968" y="2736"/>
              <a:ext cx="0" cy="384"/>
            </a:xfrm>
            <a:prstGeom prst="line">
              <a:avLst/>
            </a:prstGeom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32143" name="AutoShape 15"/>
          <p:cNvSpPr/>
          <p:nvPr/>
        </p:nvSpPr>
        <p:spPr>
          <a:xfrm>
            <a:off x="5029200" y="5181600"/>
            <a:ext cx="3048000" cy="685800"/>
          </a:xfrm>
          <a:prstGeom prst="wedgeRoundRectCallout">
            <a:avLst>
              <a:gd name="adj1" fmla="val -41616"/>
              <a:gd name="adj2" fmla="val -88426"/>
              <a:gd name="adj3" fmla="val 16667"/>
            </a:avLst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指向第一个孩子结点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16"/>
          <p:cNvGrpSpPr/>
          <p:nvPr/>
        </p:nvGrpSpPr>
        <p:grpSpPr>
          <a:xfrm>
            <a:off x="5715000" y="227013"/>
            <a:ext cx="2022475" cy="3827462"/>
            <a:chOff x="2640" y="143"/>
            <a:chExt cx="1274" cy="2411"/>
          </a:xfrm>
        </p:grpSpPr>
        <p:sp>
          <p:nvSpPr>
            <p:cNvPr id="30736" name="Rectangle 17"/>
            <p:cNvSpPr/>
            <p:nvPr/>
          </p:nvSpPr>
          <p:spPr>
            <a:xfrm>
              <a:off x="2880" y="432"/>
              <a:ext cx="672" cy="2064"/>
            </a:xfrm>
            <a:prstGeom prst="rect">
              <a:avLst/>
            </a:prstGeom>
            <a:solidFill>
              <a:srgbClr val="99FF99"/>
            </a:solidFill>
            <a:ln w="381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7" name="Line 18"/>
            <p:cNvSpPr/>
            <p:nvPr/>
          </p:nvSpPr>
          <p:spPr>
            <a:xfrm>
              <a:off x="2880" y="720"/>
              <a:ext cx="672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38" name="Line 19"/>
            <p:cNvSpPr/>
            <p:nvPr/>
          </p:nvSpPr>
          <p:spPr>
            <a:xfrm>
              <a:off x="2880" y="1008"/>
              <a:ext cx="672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39" name="Line 20"/>
            <p:cNvSpPr/>
            <p:nvPr/>
          </p:nvSpPr>
          <p:spPr>
            <a:xfrm>
              <a:off x="2880" y="1296"/>
              <a:ext cx="672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40" name="Text Box 21"/>
            <p:cNvSpPr txBox="1"/>
            <p:nvPr/>
          </p:nvSpPr>
          <p:spPr>
            <a:xfrm>
              <a:off x="2640" y="325"/>
              <a:ext cx="243" cy="22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1" name="Line 22"/>
            <p:cNvSpPr/>
            <p:nvPr/>
          </p:nvSpPr>
          <p:spPr>
            <a:xfrm>
              <a:off x="2880" y="1584"/>
              <a:ext cx="672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42" name="Line 23"/>
            <p:cNvSpPr/>
            <p:nvPr/>
          </p:nvSpPr>
          <p:spPr>
            <a:xfrm>
              <a:off x="2880" y="1872"/>
              <a:ext cx="672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43" name="Line 24"/>
            <p:cNvSpPr/>
            <p:nvPr/>
          </p:nvSpPr>
          <p:spPr>
            <a:xfrm>
              <a:off x="2880" y="2208"/>
              <a:ext cx="672" cy="0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44" name="Line 25"/>
            <p:cNvSpPr/>
            <p:nvPr/>
          </p:nvSpPr>
          <p:spPr>
            <a:xfrm>
              <a:off x="3168" y="432"/>
              <a:ext cx="0" cy="2064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45" name="Text Box 26"/>
            <p:cNvSpPr txBox="1"/>
            <p:nvPr/>
          </p:nvSpPr>
          <p:spPr>
            <a:xfrm>
              <a:off x="2737" y="143"/>
              <a:ext cx="117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data headptr</a:t>
              </a:r>
              <a:endPara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2155" name="Text Box 27"/>
          <p:cNvSpPr txBox="1"/>
          <p:nvPr/>
        </p:nvSpPr>
        <p:spPr>
          <a:xfrm>
            <a:off x="6115050" y="508000"/>
            <a:ext cx="460375" cy="35560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Group 28"/>
          <p:cNvGrpSpPr/>
          <p:nvPr/>
        </p:nvGrpSpPr>
        <p:grpSpPr>
          <a:xfrm>
            <a:off x="7086600" y="608013"/>
            <a:ext cx="3262313" cy="460375"/>
            <a:chOff x="3504" y="383"/>
            <a:chExt cx="2055" cy="290"/>
          </a:xfrm>
        </p:grpSpPr>
        <p:grpSp>
          <p:nvGrpSpPr>
            <p:cNvPr id="30748" name="Group 29"/>
            <p:cNvGrpSpPr/>
            <p:nvPr/>
          </p:nvGrpSpPr>
          <p:grpSpPr>
            <a:xfrm>
              <a:off x="3504" y="480"/>
              <a:ext cx="720" cy="192"/>
              <a:chOff x="3504" y="2256"/>
              <a:chExt cx="720" cy="192"/>
            </a:xfrm>
          </p:grpSpPr>
          <p:sp>
            <p:nvSpPr>
              <p:cNvPr id="30749" name="Rectangle 30"/>
              <p:cNvSpPr/>
              <p:nvPr/>
            </p:nvSpPr>
            <p:spPr>
              <a:xfrm>
                <a:off x="3744" y="2256"/>
                <a:ext cx="480" cy="192"/>
              </a:xfrm>
              <a:prstGeom prst="rect">
                <a:avLst/>
              </a:prstGeom>
              <a:solidFill>
                <a:srgbClr val="CCFF33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50" name="Line 31"/>
              <p:cNvSpPr/>
              <p:nvPr/>
            </p:nvSpPr>
            <p:spPr>
              <a:xfrm>
                <a:off x="4032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51" name="Line 32"/>
              <p:cNvSpPr/>
              <p:nvPr/>
            </p:nvSpPr>
            <p:spPr>
              <a:xfrm>
                <a:off x="3504" y="235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30752" name="Group 33"/>
            <p:cNvGrpSpPr/>
            <p:nvPr/>
          </p:nvGrpSpPr>
          <p:grpSpPr>
            <a:xfrm>
              <a:off x="4176" y="480"/>
              <a:ext cx="720" cy="192"/>
              <a:chOff x="3504" y="2256"/>
              <a:chExt cx="720" cy="192"/>
            </a:xfrm>
          </p:grpSpPr>
          <p:sp>
            <p:nvSpPr>
              <p:cNvPr id="30753" name="Rectangle 34"/>
              <p:cNvSpPr/>
              <p:nvPr/>
            </p:nvSpPr>
            <p:spPr>
              <a:xfrm>
                <a:off x="3744" y="2256"/>
                <a:ext cx="480" cy="192"/>
              </a:xfrm>
              <a:prstGeom prst="rect">
                <a:avLst/>
              </a:prstGeom>
              <a:solidFill>
                <a:srgbClr val="CCFF33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54" name="Line 35"/>
              <p:cNvSpPr/>
              <p:nvPr/>
            </p:nvSpPr>
            <p:spPr>
              <a:xfrm>
                <a:off x="4032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55" name="Line 36"/>
              <p:cNvSpPr/>
              <p:nvPr/>
            </p:nvSpPr>
            <p:spPr>
              <a:xfrm>
                <a:off x="3504" y="235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30756" name="Group 37"/>
            <p:cNvGrpSpPr/>
            <p:nvPr/>
          </p:nvGrpSpPr>
          <p:grpSpPr>
            <a:xfrm>
              <a:off x="4800" y="480"/>
              <a:ext cx="720" cy="192"/>
              <a:chOff x="3504" y="2256"/>
              <a:chExt cx="720" cy="192"/>
            </a:xfrm>
          </p:grpSpPr>
          <p:sp>
            <p:nvSpPr>
              <p:cNvPr id="30757" name="Rectangle 38"/>
              <p:cNvSpPr/>
              <p:nvPr/>
            </p:nvSpPr>
            <p:spPr>
              <a:xfrm>
                <a:off x="3744" y="2256"/>
                <a:ext cx="480" cy="192"/>
              </a:xfrm>
              <a:prstGeom prst="rect">
                <a:avLst/>
              </a:prstGeom>
              <a:solidFill>
                <a:srgbClr val="CCFF33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58" name="Line 39"/>
              <p:cNvSpPr/>
              <p:nvPr/>
            </p:nvSpPr>
            <p:spPr>
              <a:xfrm>
                <a:off x="4032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59" name="Line 40"/>
              <p:cNvSpPr/>
              <p:nvPr/>
            </p:nvSpPr>
            <p:spPr>
              <a:xfrm>
                <a:off x="3504" y="235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30760" name="Text Box 41"/>
            <p:cNvSpPr txBox="1"/>
            <p:nvPr/>
          </p:nvSpPr>
          <p:spPr>
            <a:xfrm>
              <a:off x="5328" y="383"/>
              <a:ext cx="23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9" name="Group 42"/>
          <p:cNvGrpSpPr/>
          <p:nvPr/>
        </p:nvGrpSpPr>
        <p:grpSpPr>
          <a:xfrm>
            <a:off x="7086600" y="1065213"/>
            <a:ext cx="2271713" cy="460375"/>
            <a:chOff x="3504" y="671"/>
            <a:chExt cx="1431" cy="290"/>
          </a:xfrm>
        </p:grpSpPr>
        <p:grpSp>
          <p:nvGrpSpPr>
            <p:cNvPr id="30762" name="Group 43"/>
            <p:cNvGrpSpPr/>
            <p:nvPr/>
          </p:nvGrpSpPr>
          <p:grpSpPr>
            <a:xfrm>
              <a:off x="3504" y="768"/>
              <a:ext cx="720" cy="192"/>
              <a:chOff x="3504" y="2256"/>
              <a:chExt cx="720" cy="192"/>
            </a:xfrm>
          </p:grpSpPr>
          <p:sp>
            <p:nvSpPr>
              <p:cNvPr id="30763" name="Rectangle 44"/>
              <p:cNvSpPr/>
              <p:nvPr/>
            </p:nvSpPr>
            <p:spPr>
              <a:xfrm>
                <a:off x="3744" y="2256"/>
                <a:ext cx="480" cy="192"/>
              </a:xfrm>
              <a:prstGeom prst="rect">
                <a:avLst/>
              </a:prstGeom>
              <a:solidFill>
                <a:srgbClr val="CCFF33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64" name="Line 45"/>
              <p:cNvSpPr/>
              <p:nvPr/>
            </p:nvSpPr>
            <p:spPr>
              <a:xfrm>
                <a:off x="4032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5" name="Line 46"/>
              <p:cNvSpPr/>
              <p:nvPr/>
            </p:nvSpPr>
            <p:spPr>
              <a:xfrm>
                <a:off x="3504" y="235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30766" name="Group 47"/>
            <p:cNvGrpSpPr/>
            <p:nvPr/>
          </p:nvGrpSpPr>
          <p:grpSpPr>
            <a:xfrm>
              <a:off x="4176" y="768"/>
              <a:ext cx="720" cy="192"/>
              <a:chOff x="3504" y="2256"/>
              <a:chExt cx="720" cy="192"/>
            </a:xfrm>
          </p:grpSpPr>
          <p:sp>
            <p:nvSpPr>
              <p:cNvPr id="30767" name="Rectangle 48"/>
              <p:cNvSpPr/>
              <p:nvPr/>
            </p:nvSpPr>
            <p:spPr>
              <a:xfrm>
                <a:off x="3744" y="2256"/>
                <a:ext cx="480" cy="192"/>
              </a:xfrm>
              <a:prstGeom prst="rect">
                <a:avLst/>
              </a:prstGeom>
              <a:solidFill>
                <a:srgbClr val="CCFF33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68" name="Line 49"/>
              <p:cNvSpPr/>
              <p:nvPr/>
            </p:nvSpPr>
            <p:spPr>
              <a:xfrm>
                <a:off x="4032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69" name="Line 50"/>
              <p:cNvSpPr/>
              <p:nvPr/>
            </p:nvSpPr>
            <p:spPr>
              <a:xfrm>
                <a:off x="3504" y="235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30770" name="Text Box 51"/>
            <p:cNvSpPr txBox="1"/>
            <p:nvPr/>
          </p:nvSpPr>
          <p:spPr>
            <a:xfrm>
              <a:off x="4704" y="671"/>
              <a:ext cx="23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32180" name="Text Box 52"/>
          <p:cNvSpPr txBox="1"/>
          <p:nvPr/>
        </p:nvSpPr>
        <p:spPr>
          <a:xfrm>
            <a:off x="6858000" y="1598613"/>
            <a:ext cx="36830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2" name="Group 53"/>
          <p:cNvGrpSpPr/>
          <p:nvPr/>
        </p:nvGrpSpPr>
        <p:grpSpPr>
          <a:xfrm>
            <a:off x="7086600" y="1979613"/>
            <a:ext cx="1204913" cy="460375"/>
            <a:chOff x="3504" y="1247"/>
            <a:chExt cx="759" cy="290"/>
          </a:xfrm>
        </p:grpSpPr>
        <p:grpSp>
          <p:nvGrpSpPr>
            <p:cNvPr id="30773" name="Group 54"/>
            <p:cNvGrpSpPr/>
            <p:nvPr/>
          </p:nvGrpSpPr>
          <p:grpSpPr>
            <a:xfrm>
              <a:off x="3504" y="1344"/>
              <a:ext cx="720" cy="192"/>
              <a:chOff x="3504" y="2256"/>
              <a:chExt cx="720" cy="192"/>
            </a:xfrm>
          </p:grpSpPr>
          <p:sp>
            <p:nvSpPr>
              <p:cNvPr id="30774" name="Rectangle 55"/>
              <p:cNvSpPr/>
              <p:nvPr/>
            </p:nvSpPr>
            <p:spPr>
              <a:xfrm>
                <a:off x="3744" y="2256"/>
                <a:ext cx="480" cy="192"/>
              </a:xfrm>
              <a:prstGeom prst="rect">
                <a:avLst/>
              </a:prstGeom>
              <a:solidFill>
                <a:srgbClr val="CCFF33"/>
              </a:solidFill>
              <a:ln w="38100" cap="flat" cmpd="sng">
                <a:solidFill>
                  <a:srgbClr val="008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5" name="Line 56"/>
              <p:cNvSpPr/>
              <p:nvPr/>
            </p:nvSpPr>
            <p:spPr>
              <a:xfrm>
                <a:off x="4032" y="2256"/>
                <a:ext cx="0" cy="192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76" name="Line 57"/>
              <p:cNvSpPr/>
              <p:nvPr/>
            </p:nvSpPr>
            <p:spPr>
              <a:xfrm>
                <a:off x="3504" y="235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30777" name="Text Box 58"/>
            <p:cNvSpPr txBox="1"/>
            <p:nvPr/>
          </p:nvSpPr>
          <p:spPr>
            <a:xfrm>
              <a:off x="4032" y="1247"/>
              <a:ext cx="231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432187" name="Text Box 59"/>
          <p:cNvSpPr txBox="1"/>
          <p:nvPr/>
        </p:nvSpPr>
        <p:spPr>
          <a:xfrm>
            <a:off x="6858000" y="2513013"/>
            <a:ext cx="36830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2188" name="Text Box 60"/>
          <p:cNvSpPr txBox="1"/>
          <p:nvPr/>
        </p:nvSpPr>
        <p:spPr>
          <a:xfrm>
            <a:off x="6858000" y="3046413"/>
            <a:ext cx="36830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2189" name="Text Box 61"/>
          <p:cNvSpPr txBox="1"/>
          <p:nvPr/>
        </p:nvSpPr>
        <p:spPr>
          <a:xfrm>
            <a:off x="6858000" y="3503613"/>
            <a:ext cx="36830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2190" name="Text Box 62"/>
          <p:cNvSpPr txBox="1"/>
          <p:nvPr/>
        </p:nvSpPr>
        <p:spPr>
          <a:xfrm>
            <a:off x="7543800" y="6842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1" name="Text Box 63"/>
          <p:cNvSpPr txBox="1"/>
          <p:nvPr/>
        </p:nvSpPr>
        <p:spPr>
          <a:xfrm>
            <a:off x="8610600" y="6842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2" name="Text Box 64"/>
          <p:cNvSpPr txBox="1"/>
          <p:nvPr/>
        </p:nvSpPr>
        <p:spPr>
          <a:xfrm>
            <a:off x="9601200" y="6842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3" name="Text Box 65"/>
          <p:cNvSpPr txBox="1"/>
          <p:nvPr/>
        </p:nvSpPr>
        <p:spPr>
          <a:xfrm>
            <a:off x="7543800" y="1141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4" name="Text Box 66"/>
          <p:cNvSpPr txBox="1"/>
          <p:nvPr/>
        </p:nvSpPr>
        <p:spPr>
          <a:xfrm>
            <a:off x="8610600" y="1141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5" name="Text Box 67"/>
          <p:cNvSpPr txBox="1"/>
          <p:nvPr/>
        </p:nvSpPr>
        <p:spPr>
          <a:xfrm>
            <a:off x="7543800" y="20558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6" name="Text Box 68"/>
          <p:cNvSpPr txBox="1"/>
          <p:nvPr/>
        </p:nvSpPr>
        <p:spPr>
          <a:xfrm>
            <a:off x="7467600" y="3116263"/>
            <a:ext cx="2900363" cy="15684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typedef struct cnode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int  child;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struct cnode *next;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}link;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7" name="Text Box 69"/>
          <p:cNvSpPr txBox="1"/>
          <p:nvPr/>
        </p:nvSpPr>
        <p:spPr>
          <a:xfrm>
            <a:off x="7543800" y="4714875"/>
            <a:ext cx="2660650" cy="19367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typedef struct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datatype  data;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link  *headptr;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}ctree;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ctree  T[maxnode];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8" name="Text Box 70"/>
          <p:cNvSpPr txBox="1"/>
          <p:nvPr/>
        </p:nvSpPr>
        <p:spPr>
          <a:xfrm>
            <a:off x="2057400" y="5483225"/>
            <a:ext cx="4114800" cy="952500"/>
          </a:xfrm>
          <a:prstGeom prst="rect">
            <a:avLst/>
          </a:prstGeom>
          <a:solidFill>
            <a:srgbClr val="CCFF33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特点：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很快确定孩子结点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但确定双亲效率低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199" name="Line 71"/>
          <p:cNvSpPr/>
          <p:nvPr/>
        </p:nvSpPr>
        <p:spPr>
          <a:xfrm>
            <a:off x="6934200" y="685800"/>
            <a:ext cx="0" cy="327660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32200" name="Text Box 72"/>
          <p:cNvSpPr txBox="1"/>
          <p:nvPr/>
        </p:nvSpPr>
        <p:spPr>
          <a:xfrm>
            <a:off x="5794375" y="304800"/>
            <a:ext cx="2146300" cy="3683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1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parent headprt</a:t>
            </a:r>
            <a:endParaRPr lang="en-US" altLang="zh-CN" sz="1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201" name="Text Box 73"/>
          <p:cNvSpPr txBox="1"/>
          <p:nvPr/>
        </p:nvSpPr>
        <p:spPr>
          <a:xfrm>
            <a:off x="6496050" y="519113"/>
            <a:ext cx="477838" cy="35560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15000"/>
              </a:lnSpc>
            </a:pP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2202" name="Text Box 74"/>
          <p:cNvSpPr txBox="1"/>
          <p:nvPr/>
        </p:nvSpPr>
        <p:spPr>
          <a:xfrm>
            <a:off x="1833563" y="455613"/>
            <a:ext cx="3041650" cy="582612"/>
          </a:xfrm>
          <a:prstGeom prst="rect">
            <a:avLst/>
          </a:prstGeom>
          <a:solidFill>
            <a:srgbClr val="00FFFF"/>
          </a:solidFill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孩子双亲表示法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" name="Group 75"/>
          <p:cNvGrpSpPr/>
          <p:nvPr/>
        </p:nvGrpSpPr>
        <p:grpSpPr>
          <a:xfrm>
            <a:off x="1828800" y="1141413"/>
            <a:ext cx="2914650" cy="2351087"/>
            <a:chOff x="2154" y="767"/>
            <a:chExt cx="1836" cy="1481"/>
          </a:xfrm>
        </p:grpSpPr>
        <p:sp>
          <p:nvSpPr>
            <p:cNvPr id="30795" name="Line 76"/>
            <p:cNvSpPr/>
            <p:nvPr/>
          </p:nvSpPr>
          <p:spPr>
            <a:xfrm>
              <a:off x="2688" y="1584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96" name="Line 77"/>
            <p:cNvSpPr/>
            <p:nvPr/>
          </p:nvSpPr>
          <p:spPr>
            <a:xfrm>
              <a:off x="3360" y="1008"/>
              <a:ext cx="384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97" name="Line 78"/>
            <p:cNvSpPr/>
            <p:nvPr/>
          </p:nvSpPr>
          <p:spPr>
            <a:xfrm flipH="1">
              <a:off x="2736" y="1008"/>
              <a:ext cx="38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98" name="Line 79"/>
            <p:cNvSpPr/>
            <p:nvPr/>
          </p:nvSpPr>
          <p:spPr>
            <a:xfrm>
              <a:off x="3216" y="110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99" name="Line 80"/>
            <p:cNvSpPr/>
            <p:nvPr/>
          </p:nvSpPr>
          <p:spPr>
            <a:xfrm>
              <a:off x="3798" y="1671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800" name="Line 81"/>
            <p:cNvSpPr/>
            <p:nvPr/>
          </p:nvSpPr>
          <p:spPr>
            <a:xfrm flipH="1">
              <a:off x="2400" y="1584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801" name="Oval 82"/>
            <p:cNvSpPr/>
            <p:nvPr/>
          </p:nvSpPr>
          <p:spPr>
            <a:xfrm>
              <a:off x="3072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2" name="Oval 83"/>
            <p:cNvSpPr/>
            <p:nvPr/>
          </p:nvSpPr>
          <p:spPr>
            <a:xfrm>
              <a:off x="2496" y="129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3" name="Oval 84"/>
            <p:cNvSpPr/>
            <p:nvPr/>
          </p:nvSpPr>
          <p:spPr>
            <a:xfrm>
              <a:off x="307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4" name="Oval 85"/>
            <p:cNvSpPr/>
            <p:nvPr/>
          </p:nvSpPr>
          <p:spPr>
            <a:xfrm>
              <a:off x="3648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5" name="Oval 86"/>
            <p:cNvSpPr/>
            <p:nvPr/>
          </p:nvSpPr>
          <p:spPr>
            <a:xfrm>
              <a:off x="2154" y="186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6" name="Oval 87"/>
            <p:cNvSpPr/>
            <p:nvPr/>
          </p:nvSpPr>
          <p:spPr>
            <a:xfrm>
              <a:off x="2688" y="18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7" name="Oval 88"/>
            <p:cNvSpPr/>
            <p:nvPr/>
          </p:nvSpPr>
          <p:spPr>
            <a:xfrm>
              <a:off x="3654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8" name="Text Box 89"/>
            <p:cNvSpPr txBox="1"/>
            <p:nvPr/>
          </p:nvSpPr>
          <p:spPr>
            <a:xfrm>
              <a:off x="3121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9" name="Text Box 90"/>
            <p:cNvSpPr txBox="1"/>
            <p:nvPr/>
          </p:nvSpPr>
          <p:spPr>
            <a:xfrm>
              <a:off x="312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0" name="Text Box 91"/>
            <p:cNvSpPr txBox="1"/>
            <p:nvPr/>
          </p:nvSpPr>
          <p:spPr>
            <a:xfrm>
              <a:off x="3696" y="1919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1" name="Text Box 92"/>
            <p:cNvSpPr txBox="1"/>
            <p:nvPr/>
          </p:nvSpPr>
          <p:spPr>
            <a:xfrm>
              <a:off x="2545" y="129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2" name="Text Box 93"/>
            <p:cNvSpPr txBox="1"/>
            <p:nvPr/>
          </p:nvSpPr>
          <p:spPr>
            <a:xfrm>
              <a:off x="3697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3" name="Text Box 94"/>
            <p:cNvSpPr txBox="1"/>
            <p:nvPr/>
          </p:nvSpPr>
          <p:spPr>
            <a:xfrm>
              <a:off x="2208" y="187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4" name="Text Box 95"/>
            <p:cNvSpPr txBox="1"/>
            <p:nvPr/>
          </p:nvSpPr>
          <p:spPr>
            <a:xfrm>
              <a:off x="2737" y="1871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3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32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32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3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32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3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2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2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32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32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43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43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43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1" dur="500"/>
                                        <p:tgtEl>
                                          <p:spTgt spid="43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43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1" dur="500"/>
                                        <p:tgtEl>
                                          <p:spTgt spid="43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4" dur="500"/>
                                        <p:tgtEl>
                                          <p:spTgt spid="43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9" dur="500"/>
                                        <p:tgtEl>
                                          <p:spTgt spid="43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4" dur="500"/>
                                        <p:tgtEl>
                                          <p:spTgt spid="43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9" dur="500"/>
                                        <p:tgtEl>
                                          <p:spTgt spid="43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4" dur="500"/>
                                        <p:tgtEl>
                                          <p:spTgt spid="43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9" dur="500"/>
                                        <p:tgtEl>
                                          <p:spTgt spid="43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7" dur="500"/>
                                        <p:tgtEl>
                                          <p:spTgt spid="432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3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3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32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32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0" grpId="0" bldLvl="0" animBg="1"/>
      <p:bldP spid="432131" grpId="0"/>
      <p:bldP spid="432136" grpId="0" bldLvl="0" animBg="1"/>
      <p:bldP spid="432137" grpId="0" bldLvl="0" animBg="1"/>
      <p:bldP spid="432143" grpId="0" bldLvl="0" animBg="1"/>
      <p:bldP spid="432155" grpId="0"/>
      <p:bldP spid="432180" grpId="0"/>
      <p:bldP spid="432187" grpId="0"/>
      <p:bldP spid="432188" grpId="0"/>
      <p:bldP spid="432189" grpId="0"/>
      <p:bldP spid="432190" grpId="0"/>
      <p:bldP spid="432191" grpId="0"/>
      <p:bldP spid="432192" grpId="0"/>
      <p:bldP spid="432193" grpId="0"/>
      <p:bldP spid="432194" grpId="0"/>
      <p:bldP spid="432195" grpId="0"/>
      <p:bldP spid="432196" grpId="0"/>
      <p:bldP spid="432197" grpId="0"/>
      <p:bldP spid="432198" grpId="0" bldLvl="0" animBg="1"/>
      <p:bldP spid="432200" grpId="0" bldLvl="0" animBg="1"/>
      <p:bldP spid="432201" grpId="0"/>
      <p:bldP spid="43220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62" name="Rectangle 6"/>
          <p:cNvSpPr>
            <a:spLocks noChangeArrowheads="1"/>
          </p:cNvSpPr>
          <p:nvPr/>
        </p:nvSpPr>
        <p:spPr bwMode="auto">
          <a:xfrm>
            <a:off x="788988" y="1066800"/>
            <a:ext cx="10783888" cy="169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sng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仿宋_GB2312" pitchFamily="49" charset="-122"/>
                <a:cs typeface="+mn-cs"/>
                <a:sym typeface="+mn-ea"/>
              </a:rPr>
              <a:t>定义：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一棵二叉树是结点的一个有限集合，该集合或者为空，或者是由一个根结点加上两棵分别称为左子树和右子树的、互不相交的二叉树组成。</a:t>
            </a: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2971800" y="228600"/>
            <a:ext cx="6934200" cy="706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二叉树 </a:t>
            </a:r>
            <a:r>
              <a:rPr kumimoji="1" lang="en-US" altLang="zh-CN" sz="40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(Binary Tree)</a:t>
            </a:r>
            <a:endParaRPr kumimoji="1" lang="en-US" altLang="zh-CN" sz="4000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  <a:sym typeface="+mn-ea"/>
            </a:endParaRP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3200400" y="3810000"/>
            <a:ext cx="6400800" cy="644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zh-CN" altLang="en-US" sz="36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二叉树的五种不同形态</a:t>
            </a:r>
            <a:endParaRPr kumimoji="1" lang="zh-CN" altLang="en-US" sz="24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2" name="Group 67"/>
          <p:cNvGrpSpPr/>
          <p:nvPr/>
        </p:nvGrpSpPr>
        <p:grpSpPr>
          <a:xfrm>
            <a:off x="2514600" y="2819400"/>
            <a:ext cx="228600" cy="304800"/>
            <a:chOff x="624" y="1776"/>
            <a:chExt cx="144" cy="192"/>
          </a:xfrm>
        </p:grpSpPr>
        <p:sp>
          <p:nvSpPr>
            <p:cNvPr id="33797" name="Oval 7"/>
            <p:cNvSpPr/>
            <p:nvPr/>
          </p:nvSpPr>
          <p:spPr>
            <a:xfrm>
              <a:off x="624" y="1776"/>
              <a:ext cx="144" cy="192"/>
            </a:xfrm>
            <a:prstGeom prst="ellipse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798" name="Line 8"/>
            <p:cNvSpPr/>
            <p:nvPr/>
          </p:nvSpPr>
          <p:spPr>
            <a:xfrm flipH="1">
              <a:off x="624" y="1776"/>
              <a:ext cx="144" cy="192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21865" name="Oval 9"/>
          <p:cNvSpPr/>
          <p:nvPr/>
        </p:nvSpPr>
        <p:spPr>
          <a:xfrm>
            <a:off x="3657600" y="2743200"/>
            <a:ext cx="381000" cy="381000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76393B"/>
              </a:gs>
            </a:gsLst>
            <a:path path="rect">
              <a:fillToRect r="100000" b="100000"/>
            </a:path>
            <a:tileRect/>
          </a:gra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22"/>
          <p:cNvGrpSpPr/>
          <p:nvPr/>
        </p:nvGrpSpPr>
        <p:grpSpPr>
          <a:xfrm>
            <a:off x="4724400" y="2743200"/>
            <a:ext cx="838200" cy="1143000"/>
            <a:chOff x="2112" y="2688"/>
            <a:chExt cx="528" cy="720"/>
          </a:xfrm>
        </p:grpSpPr>
        <p:sp>
          <p:nvSpPr>
            <p:cNvPr id="33801" name="AutoShape 14"/>
            <p:cNvSpPr/>
            <p:nvPr/>
          </p:nvSpPr>
          <p:spPr>
            <a:xfrm>
              <a:off x="2112" y="3072"/>
              <a:ext cx="288" cy="336"/>
            </a:xfrm>
            <a:prstGeom prst="wedgeRoundRectCallout">
              <a:avLst>
                <a:gd name="adj1" fmla="val 81944"/>
                <a:gd name="adj2" fmla="val -131847"/>
                <a:gd name="adj3" fmla="val 16667"/>
              </a:avLst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2" name="Oval 10"/>
            <p:cNvSpPr/>
            <p:nvPr/>
          </p:nvSpPr>
          <p:spPr>
            <a:xfrm>
              <a:off x="2400" y="268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rect">
                <a:fillToRect r="100000" b="10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3" name="Text Box 18"/>
            <p:cNvSpPr txBox="1"/>
            <p:nvPr/>
          </p:nvSpPr>
          <p:spPr>
            <a:xfrm>
              <a:off x="2112" y="307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3"/>
          <p:cNvGrpSpPr/>
          <p:nvPr/>
        </p:nvGrpSpPr>
        <p:grpSpPr>
          <a:xfrm>
            <a:off x="6477000" y="2743200"/>
            <a:ext cx="838200" cy="1143000"/>
            <a:chOff x="3216" y="2688"/>
            <a:chExt cx="528" cy="720"/>
          </a:xfrm>
        </p:grpSpPr>
        <p:sp>
          <p:nvSpPr>
            <p:cNvPr id="33805" name="AutoShape 16"/>
            <p:cNvSpPr/>
            <p:nvPr/>
          </p:nvSpPr>
          <p:spPr>
            <a:xfrm>
              <a:off x="3456" y="3072"/>
              <a:ext cx="288" cy="336"/>
            </a:xfrm>
            <a:prstGeom prst="wedgeRoundRectCallout">
              <a:avLst>
                <a:gd name="adj1" fmla="val -82986"/>
                <a:gd name="adj2" fmla="val -118750"/>
                <a:gd name="adj3" fmla="val 16667"/>
              </a:avLst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6" name="Oval 11"/>
            <p:cNvSpPr/>
            <p:nvPr/>
          </p:nvSpPr>
          <p:spPr>
            <a:xfrm>
              <a:off x="3216" y="268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rect">
                <a:fillToRect r="100000" b="10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07" name="Text Box 20"/>
            <p:cNvSpPr txBox="1"/>
            <p:nvPr/>
          </p:nvSpPr>
          <p:spPr>
            <a:xfrm>
              <a:off x="3451" y="307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24"/>
          <p:cNvGrpSpPr/>
          <p:nvPr/>
        </p:nvGrpSpPr>
        <p:grpSpPr>
          <a:xfrm>
            <a:off x="8077200" y="2743200"/>
            <a:ext cx="1295400" cy="1143000"/>
            <a:chOff x="4224" y="2688"/>
            <a:chExt cx="816" cy="720"/>
          </a:xfrm>
        </p:grpSpPr>
        <p:sp>
          <p:nvSpPr>
            <p:cNvPr id="33809" name="AutoShape 17"/>
            <p:cNvSpPr/>
            <p:nvPr/>
          </p:nvSpPr>
          <p:spPr>
            <a:xfrm>
              <a:off x="4752" y="3072"/>
              <a:ext cx="288" cy="336"/>
            </a:xfrm>
            <a:prstGeom prst="wedgeRoundRectCallout">
              <a:avLst>
                <a:gd name="adj1" fmla="val -82986"/>
                <a:gd name="adj2" fmla="val -118750"/>
                <a:gd name="adj3" fmla="val 16667"/>
              </a:avLst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0" name="AutoShape 15"/>
            <p:cNvSpPr/>
            <p:nvPr/>
          </p:nvSpPr>
          <p:spPr>
            <a:xfrm>
              <a:off x="4224" y="3072"/>
              <a:ext cx="288" cy="336"/>
            </a:xfrm>
            <a:prstGeom prst="wedgeRoundRectCallout">
              <a:avLst>
                <a:gd name="adj1" fmla="val 81944"/>
                <a:gd name="adj2" fmla="val -131847"/>
                <a:gd name="adj3" fmla="val 16667"/>
              </a:avLst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1" name="Oval 12"/>
            <p:cNvSpPr/>
            <p:nvPr/>
          </p:nvSpPr>
          <p:spPr>
            <a:xfrm>
              <a:off x="4512" y="268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rect">
                <a:fillToRect r="100000" b="10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2" name="Text Box 19"/>
            <p:cNvSpPr txBox="1"/>
            <p:nvPr/>
          </p:nvSpPr>
          <p:spPr>
            <a:xfrm>
              <a:off x="4224" y="307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3" name="Text Box 21"/>
            <p:cNvSpPr txBox="1"/>
            <p:nvPr/>
          </p:nvSpPr>
          <p:spPr>
            <a:xfrm>
              <a:off x="4753" y="307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1881" name="Text Box 25"/>
          <p:cNvSpPr txBox="1"/>
          <p:nvPr/>
        </p:nvSpPr>
        <p:spPr>
          <a:xfrm>
            <a:off x="4343400" y="1674337"/>
            <a:ext cx="2449830" cy="583565"/>
          </a:xfrm>
          <a:prstGeom prst="rect">
            <a:avLst/>
          </a:prstGeom>
          <a:solidFill>
            <a:srgbClr val="FFCC66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度</a:t>
            </a:r>
            <a:r>
              <a:rPr lang="zh-CN" altLang="en-US" sz="32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 </a:t>
            </a:r>
            <a:r>
              <a:rPr lang="zh-CN" altLang="en-US" sz="32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</a:rPr>
              <a:t>有序树</a:t>
            </a:r>
            <a:endParaRPr lang="zh-CN" altLang="en-US" sz="3200" dirty="0">
              <a:solidFill>
                <a:srgbClr val="99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1882" name="Text Box 26"/>
          <p:cNvSpPr txBox="1"/>
          <p:nvPr/>
        </p:nvSpPr>
        <p:spPr>
          <a:xfrm>
            <a:off x="3971925" y="4416425"/>
            <a:ext cx="4803775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二叉树与度为</a:t>
            </a:r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的树的区别</a:t>
            </a:r>
            <a:endParaRPr lang="zh-CN" altLang="en-US" sz="28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83" name="Text Box 27"/>
          <p:cNvSpPr txBox="1"/>
          <p:nvPr/>
        </p:nvSpPr>
        <p:spPr>
          <a:xfrm>
            <a:off x="3810000" y="5329238"/>
            <a:ext cx="2755900" cy="10763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度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3200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3200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序</a:t>
            </a:r>
            <a:r>
              <a:rPr lang="zh-CN" altLang="en-US" sz="3200" dirty="0">
                <a:solidFill>
                  <a:srgbClr val="990099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800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有序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无序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49"/>
          <p:cNvGrpSpPr/>
          <p:nvPr/>
        </p:nvGrpSpPr>
        <p:grpSpPr>
          <a:xfrm>
            <a:off x="8763000" y="4418013"/>
            <a:ext cx="1685925" cy="2046287"/>
            <a:chOff x="144" y="2591"/>
            <a:chExt cx="1062" cy="1289"/>
          </a:xfrm>
        </p:grpSpPr>
        <p:sp>
          <p:nvSpPr>
            <p:cNvPr id="33818" name="Line 29"/>
            <p:cNvSpPr/>
            <p:nvPr/>
          </p:nvSpPr>
          <p:spPr>
            <a:xfrm>
              <a:off x="1036" y="3351"/>
              <a:ext cx="0" cy="336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9" name="Line 30"/>
            <p:cNvSpPr/>
            <p:nvPr/>
          </p:nvSpPr>
          <p:spPr>
            <a:xfrm>
              <a:off x="793" y="2823"/>
              <a:ext cx="243" cy="432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0" name="Line 31"/>
            <p:cNvSpPr/>
            <p:nvPr/>
          </p:nvSpPr>
          <p:spPr>
            <a:xfrm>
              <a:off x="447" y="3351"/>
              <a:ext cx="103" cy="28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1" name="Line 32"/>
            <p:cNvSpPr/>
            <p:nvPr/>
          </p:nvSpPr>
          <p:spPr>
            <a:xfrm flipH="1">
              <a:off x="288" y="3351"/>
              <a:ext cx="89" cy="28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2" name="Line 33"/>
            <p:cNvSpPr/>
            <p:nvPr/>
          </p:nvSpPr>
          <p:spPr>
            <a:xfrm flipH="1">
              <a:off x="447" y="2871"/>
              <a:ext cx="207" cy="288"/>
            </a:xfrm>
            <a:prstGeom prst="line">
              <a:avLst/>
            </a:prstGeom>
            <a:ln w="19050" cap="flat" cmpd="sng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23" name="Oval 35"/>
            <p:cNvSpPr>
              <a:spLocks noChangeArrowheads="1"/>
            </p:cNvSpPr>
            <p:nvPr/>
          </p:nvSpPr>
          <p:spPr bwMode="auto">
            <a:xfrm>
              <a:off x="620" y="2631"/>
              <a:ext cx="20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24" name="Oval 37"/>
            <p:cNvSpPr>
              <a:spLocks noChangeArrowheads="1"/>
            </p:cNvSpPr>
            <p:nvPr/>
          </p:nvSpPr>
          <p:spPr bwMode="auto">
            <a:xfrm>
              <a:off x="447" y="3591"/>
              <a:ext cx="207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25" name="Oval 38"/>
            <p:cNvSpPr>
              <a:spLocks noChangeArrowheads="1"/>
            </p:cNvSpPr>
            <p:nvPr/>
          </p:nvSpPr>
          <p:spPr bwMode="auto">
            <a:xfrm>
              <a:off x="169" y="3591"/>
              <a:ext cx="20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26" name="Oval 39"/>
            <p:cNvSpPr>
              <a:spLocks noChangeArrowheads="1"/>
            </p:cNvSpPr>
            <p:nvPr/>
          </p:nvSpPr>
          <p:spPr bwMode="auto">
            <a:xfrm>
              <a:off x="308" y="3111"/>
              <a:ext cx="20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27" name="Oval 40"/>
            <p:cNvSpPr>
              <a:spLocks noChangeArrowheads="1"/>
            </p:cNvSpPr>
            <p:nvPr/>
          </p:nvSpPr>
          <p:spPr bwMode="auto">
            <a:xfrm>
              <a:off x="932" y="3111"/>
              <a:ext cx="20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28" name="Oval 41"/>
            <p:cNvSpPr>
              <a:spLocks noChangeArrowheads="1"/>
            </p:cNvSpPr>
            <p:nvPr/>
          </p:nvSpPr>
          <p:spPr bwMode="auto">
            <a:xfrm>
              <a:off x="932" y="3591"/>
              <a:ext cx="20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9" name="Text Box 42"/>
            <p:cNvSpPr txBox="1"/>
            <p:nvPr/>
          </p:nvSpPr>
          <p:spPr>
            <a:xfrm>
              <a:off x="590" y="259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0" name="Text Box 43"/>
            <p:cNvSpPr txBox="1"/>
            <p:nvPr/>
          </p:nvSpPr>
          <p:spPr>
            <a:xfrm>
              <a:off x="283" y="307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1" name="Text Box 45"/>
            <p:cNvSpPr txBox="1"/>
            <p:nvPr/>
          </p:nvSpPr>
          <p:spPr>
            <a:xfrm>
              <a:off x="929" y="307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2" name="Text Box 46"/>
            <p:cNvSpPr txBox="1"/>
            <p:nvPr/>
          </p:nvSpPr>
          <p:spPr>
            <a:xfrm>
              <a:off x="144" y="355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3" name="Text Box 47"/>
            <p:cNvSpPr txBox="1"/>
            <p:nvPr/>
          </p:nvSpPr>
          <p:spPr>
            <a:xfrm>
              <a:off x="428" y="3551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34" name="Text Box 48"/>
            <p:cNvSpPr txBox="1"/>
            <p:nvPr/>
          </p:nvSpPr>
          <p:spPr>
            <a:xfrm>
              <a:off x="894" y="3551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50"/>
          <p:cNvGrpSpPr/>
          <p:nvPr/>
        </p:nvGrpSpPr>
        <p:grpSpPr>
          <a:xfrm>
            <a:off x="1677988" y="4037013"/>
            <a:ext cx="2085975" cy="2151062"/>
            <a:chOff x="267" y="712"/>
            <a:chExt cx="1509" cy="1410"/>
          </a:xfrm>
        </p:grpSpPr>
        <p:sp>
          <p:nvSpPr>
            <p:cNvPr id="33836" name="Line 51"/>
            <p:cNvSpPr/>
            <p:nvPr/>
          </p:nvSpPr>
          <p:spPr>
            <a:xfrm flipH="1">
              <a:off x="1392" y="1536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37" name="Line 52"/>
            <p:cNvSpPr/>
            <p:nvPr/>
          </p:nvSpPr>
          <p:spPr>
            <a:xfrm>
              <a:off x="912" y="1536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38" name="Line 53"/>
            <p:cNvSpPr/>
            <p:nvPr/>
          </p:nvSpPr>
          <p:spPr>
            <a:xfrm flipH="1">
              <a:off x="528" y="1008"/>
              <a:ext cx="672" cy="76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39" name="Oval 54" descr="羊皮纸"/>
            <p:cNvSpPr/>
            <p:nvPr/>
          </p:nvSpPr>
          <p:spPr>
            <a:xfrm>
              <a:off x="1153" y="778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0" name="Oval 55" descr="羊皮纸"/>
            <p:cNvSpPr/>
            <p:nvPr/>
          </p:nvSpPr>
          <p:spPr>
            <a:xfrm>
              <a:off x="726" y="1248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1" name="Oval 56" descr="羊皮纸"/>
            <p:cNvSpPr/>
            <p:nvPr/>
          </p:nvSpPr>
          <p:spPr>
            <a:xfrm>
              <a:off x="288" y="1757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2" name="Oval 57" descr="羊皮纸"/>
            <p:cNvSpPr/>
            <p:nvPr/>
          </p:nvSpPr>
          <p:spPr>
            <a:xfrm>
              <a:off x="864" y="1776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3" name="Oval 58" descr="羊皮纸"/>
            <p:cNvSpPr/>
            <p:nvPr/>
          </p:nvSpPr>
          <p:spPr>
            <a:xfrm>
              <a:off x="1248" y="1776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4" name="Oval 59" descr="羊皮纸"/>
            <p:cNvSpPr/>
            <p:nvPr/>
          </p:nvSpPr>
          <p:spPr>
            <a:xfrm>
              <a:off x="1431" y="1277"/>
              <a:ext cx="345" cy="259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5" name="Text Box 60"/>
            <p:cNvSpPr txBox="1"/>
            <p:nvPr/>
          </p:nvSpPr>
          <p:spPr>
            <a:xfrm>
              <a:off x="1131" y="712"/>
              <a:ext cx="344" cy="3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6" name="Text Box 61"/>
            <p:cNvSpPr txBox="1"/>
            <p:nvPr/>
          </p:nvSpPr>
          <p:spPr>
            <a:xfrm>
              <a:off x="698" y="1191"/>
              <a:ext cx="328" cy="3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7" name="Text Box 62"/>
            <p:cNvSpPr txBox="1"/>
            <p:nvPr/>
          </p:nvSpPr>
          <p:spPr>
            <a:xfrm>
              <a:off x="267" y="1719"/>
              <a:ext cx="344" cy="3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8" name="Text Box 63"/>
            <p:cNvSpPr txBox="1"/>
            <p:nvPr/>
          </p:nvSpPr>
          <p:spPr>
            <a:xfrm>
              <a:off x="829" y="1739"/>
              <a:ext cx="344" cy="3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49" name="Text Box 64"/>
            <p:cNvSpPr txBox="1"/>
            <p:nvPr/>
          </p:nvSpPr>
          <p:spPr>
            <a:xfrm>
              <a:off x="1245" y="1739"/>
              <a:ext cx="312" cy="38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50" name="Text Box 65"/>
            <p:cNvSpPr txBox="1"/>
            <p:nvPr/>
          </p:nvSpPr>
          <p:spPr>
            <a:xfrm>
              <a:off x="1468" y="1207"/>
              <a:ext cx="287" cy="383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51" name="Line 66"/>
            <p:cNvSpPr/>
            <p:nvPr/>
          </p:nvSpPr>
          <p:spPr>
            <a:xfrm>
              <a:off x="1392" y="1008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" name="Group 72"/>
          <p:cNvGrpSpPr/>
          <p:nvPr/>
        </p:nvGrpSpPr>
        <p:grpSpPr>
          <a:xfrm>
            <a:off x="5029200" y="5029200"/>
            <a:ext cx="1524000" cy="381000"/>
            <a:chOff x="2208" y="3168"/>
            <a:chExt cx="960" cy="240"/>
          </a:xfrm>
        </p:grpSpPr>
        <p:sp>
          <p:nvSpPr>
            <p:cNvPr id="33853" name="AutoShape 69"/>
            <p:cNvSpPr/>
            <p:nvPr/>
          </p:nvSpPr>
          <p:spPr>
            <a:xfrm>
              <a:off x="2208" y="3168"/>
              <a:ext cx="240" cy="24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9900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54" name="AutoShape 71"/>
            <p:cNvSpPr/>
            <p:nvPr/>
          </p:nvSpPr>
          <p:spPr>
            <a:xfrm>
              <a:off x="2928" y="3168"/>
              <a:ext cx="240" cy="24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9900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2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12188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>
                                            <p:txEl>
                                              <p:charRg st="37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121883">
                                            <p:txEl>
                                              <p:charRg st="37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2" grpId="0" bldLvl="0" animBg="1"/>
      <p:bldP spid="121861" grpId="0" bldLvl="0" animBg="1"/>
      <p:bldP spid="121865" grpId="0" bldLvl="0" animBg="1"/>
      <p:bldP spid="121881" grpId="0" bldLvl="0" animBg="1"/>
      <p:bldP spid="121882" grpId="0"/>
      <p:bldP spid="12188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0399" name="Text Box 15"/>
          <p:cNvSpPr txBox="1">
            <a:spLocks noChangeArrowheads="1"/>
          </p:cNvSpPr>
          <p:nvPr/>
        </p:nvSpPr>
        <p:spPr bwMode="auto">
          <a:xfrm>
            <a:off x="1524000" y="381000"/>
            <a:ext cx="89154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分别</a:t>
            </a:r>
            <a:r>
              <a:rPr kumimoji="1" lang="zh-CN" altLang="en-US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有</a:t>
            </a:r>
            <a:r>
              <a:rPr kumimoji="1" lang="en-US" altLang="zh-CN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0</a:t>
            </a:r>
            <a:r>
              <a:rPr kumimoji="1" lang="zh-CN" altLang="en-US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 </a:t>
            </a:r>
            <a:r>
              <a:rPr kumimoji="1" lang="en-US" altLang="zh-CN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zh-CN" altLang="en-US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 </a:t>
            </a:r>
            <a:r>
              <a:rPr kumimoji="1" lang="en-US" altLang="zh-CN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zh-CN" altLang="en-US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 </a:t>
            </a:r>
            <a:r>
              <a:rPr kumimoji="1" lang="en-US" altLang="zh-CN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3</a:t>
            </a:r>
            <a:r>
              <a:rPr kumimoji="1" lang="zh-CN" altLang="en-US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</a:t>
            </a:r>
            <a:r>
              <a:rPr kumimoji="1" lang="en-US" altLang="zh-CN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4</a:t>
            </a:r>
            <a:r>
              <a:rPr kumimoji="1" lang="zh-CN" altLang="en-US" sz="32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个结点的不同二叉树如下</a:t>
            </a:r>
            <a:endParaRPr kumimoji="1" lang="zh-CN" altLang="en-US" sz="20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2" name="Group 142"/>
          <p:cNvGrpSpPr/>
          <p:nvPr/>
        </p:nvGrpSpPr>
        <p:grpSpPr>
          <a:xfrm>
            <a:off x="9372600" y="1295400"/>
            <a:ext cx="609600" cy="1524000"/>
            <a:chOff x="4944" y="816"/>
            <a:chExt cx="384" cy="960"/>
          </a:xfrm>
        </p:grpSpPr>
        <p:sp>
          <p:nvSpPr>
            <p:cNvPr id="34819" name="Line 14"/>
            <p:cNvSpPr/>
            <p:nvPr/>
          </p:nvSpPr>
          <p:spPr>
            <a:xfrm>
              <a:off x="5040" y="960"/>
              <a:ext cx="192" cy="67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400" name="Oval 16"/>
            <p:cNvSpPr>
              <a:spLocks noChangeArrowheads="1"/>
            </p:cNvSpPr>
            <p:nvPr/>
          </p:nvSpPr>
          <p:spPr bwMode="auto">
            <a:xfrm>
              <a:off x="4944" y="816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01" name="Oval 17"/>
            <p:cNvSpPr>
              <a:spLocks noChangeArrowheads="1"/>
            </p:cNvSpPr>
            <p:nvPr/>
          </p:nvSpPr>
          <p:spPr bwMode="auto">
            <a:xfrm>
              <a:off x="5040" y="1200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02" name="Oval 18"/>
            <p:cNvSpPr>
              <a:spLocks noChangeArrowheads="1"/>
            </p:cNvSpPr>
            <p:nvPr/>
          </p:nvSpPr>
          <p:spPr bwMode="auto">
            <a:xfrm>
              <a:off x="5136" y="1584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41"/>
          <p:cNvGrpSpPr/>
          <p:nvPr/>
        </p:nvGrpSpPr>
        <p:grpSpPr>
          <a:xfrm>
            <a:off x="8839200" y="1295400"/>
            <a:ext cx="457200" cy="1524000"/>
            <a:chOff x="4608" y="816"/>
            <a:chExt cx="288" cy="960"/>
          </a:xfrm>
        </p:grpSpPr>
        <p:sp>
          <p:nvSpPr>
            <p:cNvPr id="34824" name="Line 12"/>
            <p:cNvSpPr/>
            <p:nvPr/>
          </p:nvSpPr>
          <p:spPr>
            <a:xfrm flipH="1">
              <a:off x="4704" y="1344"/>
              <a:ext cx="9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25" name="Line 13"/>
            <p:cNvSpPr/>
            <p:nvPr/>
          </p:nvSpPr>
          <p:spPr>
            <a:xfrm>
              <a:off x="4704" y="960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403" name="Oval 19"/>
            <p:cNvSpPr>
              <a:spLocks noChangeArrowheads="1"/>
            </p:cNvSpPr>
            <p:nvPr/>
          </p:nvSpPr>
          <p:spPr bwMode="auto">
            <a:xfrm>
              <a:off x="4608" y="816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04" name="Oval 20"/>
            <p:cNvSpPr>
              <a:spLocks noChangeArrowheads="1"/>
            </p:cNvSpPr>
            <p:nvPr/>
          </p:nvSpPr>
          <p:spPr bwMode="auto">
            <a:xfrm>
              <a:off x="4704" y="1200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05" name="Oval 21"/>
            <p:cNvSpPr>
              <a:spLocks noChangeArrowheads="1"/>
            </p:cNvSpPr>
            <p:nvPr/>
          </p:nvSpPr>
          <p:spPr bwMode="auto">
            <a:xfrm>
              <a:off x="4608" y="1584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40"/>
          <p:cNvGrpSpPr/>
          <p:nvPr/>
        </p:nvGrpSpPr>
        <p:grpSpPr>
          <a:xfrm>
            <a:off x="8001000" y="1295400"/>
            <a:ext cx="762000" cy="914400"/>
            <a:chOff x="4080" y="816"/>
            <a:chExt cx="480" cy="576"/>
          </a:xfrm>
        </p:grpSpPr>
        <p:sp>
          <p:nvSpPr>
            <p:cNvPr id="34830" name="Line 22"/>
            <p:cNvSpPr/>
            <p:nvPr/>
          </p:nvSpPr>
          <p:spPr>
            <a:xfrm>
              <a:off x="4368" y="960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407" name="Oval 23"/>
            <p:cNvSpPr>
              <a:spLocks noChangeArrowheads="1"/>
            </p:cNvSpPr>
            <p:nvPr/>
          </p:nvSpPr>
          <p:spPr bwMode="auto">
            <a:xfrm>
              <a:off x="4224" y="816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08" name="Oval 24"/>
            <p:cNvSpPr>
              <a:spLocks noChangeArrowheads="1"/>
            </p:cNvSpPr>
            <p:nvPr/>
          </p:nvSpPr>
          <p:spPr bwMode="auto">
            <a:xfrm>
              <a:off x="4368" y="1200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09" name="Oval 25"/>
            <p:cNvSpPr>
              <a:spLocks noChangeArrowheads="1"/>
            </p:cNvSpPr>
            <p:nvPr/>
          </p:nvSpPr>
          <p:spPr bwMode="auto">
            <a:xfrm>
              <a:off x="4080" y="1200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4" name="Line 26"/>
            <p:cNvSpPr/>
            <p:nvPr/>
          </p:nvSpPr>
          <p:spPr>
            <a:xfrm flipH="1">
              <a:off x="4176" y="960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" name="Group 138"/>
          <p:cNvGrpSpPr/>
          <p:nvPr/>
        </p:nvGrpSpPr>
        <p:grpSpPr>
          <a:xfrm>
            <a:off x="6629400" y="1295400"/>
            <a:ext cx="609600" cy="1524000"/>
            <a:chOff x="3216" y="816"/>
            <a:chExt cx="384" cy="960"/>
          </a:xfrm>
        </p:grpSpPr>
        <p:sp>
          <p:nvSpPr>
            <p:cNvPr id="34836" name="Line 29"/>
            <p:cNvSpPr/>
            <p:nvPr/>
          </p:nvSpPr>
          <p:spPr>
            <a:xfrm flipH="1">
              <a:off x="3312" y="960"/>
              <a:ext cx="192" cy="67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414" name="Oval 30"/>
            <p:cNvSpPr>
              <a:spLocks noChangeArrowheads="1"/>
            </p:cNvSpPr>
            <p:nvPr/>
          </p:nvSpPr>
          <p:spPr bwMode="auto">
            <a:xfrm flipH="1">
              <a:off x="3408" y="816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15" name="Oval 31"/>
            <p:cNvSpPr>
              <a:spLocks noChangeArrowheads="1"/>
            </p:cNvSpPr>
            <p:nvPr/>
          </p:nvSpPr>
          <p:spPr bwMode="auto">
            <a:xfrm flipH="1">
              <a:off x="3312" y="1200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16" name="Oval 32"/>
            <p:cNvSpPr>
              <a:spLocks noChangeArrowheads="1"/>
            </p:cNvSpPr>
            <p:nvPr/>
          </p:nvSpPr>
          <p:spPr bwMode="auto">
            <a:xfrm flipH="1">
              <a:off x="3216" y="1584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Group 139"/>
          <p:cNvGrpSpPr/>
          <p:nvPr/>
        </p:nvGrpSpPr>
        <p:grpSpPr>
          <a:xfrm>
            <a:off x="7391400" y="1295400"/>
            <a:ext cx="457200" cy="1524000"/>
            <a:chOff x="3696" y="816"/>
            <a:chExt cx="288" cy="960"/>
          </a:xfrm>
        </p:grpSpPr>
        <p:sp>
          <p:nvSpPr>
            <p:cNvPr id="34841" name="Line 27"/>
            <p:cNvSpPr/>
            <p:nvPr/>
          </p:nvSpPr>
          <p:spPr>
            <a:xfrm>
              <a:off x="3792" y="1344"/>
              <a:ext cx="9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2" name="Line 28"/>
            <p:cNvSpPr/>
            <p:nvPr/>
          </p:nvSpPr>
          <p:spPr>
            <a:xfrm flipH="1">
              <a:off x="3792" y="960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417" name="Oval 33"/>
            <p:cNvSpPr>
              <a:spLocks noChangeArrowheads="1"/>
            </p:cNvSpPr>
            <p:nvPr/>
          </p:nvSpPr>
          <p:spPr bwMode="auto">
            <a:xfrm flipH="1">
              <a:off x="3792" y="816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18" name="Oval 34"/>
            <p:cNvSpPr>
              <a:spLocks noChangeArrowheads="1"/>
            </p:cNvSpPr>
            <p:nvPr/>
          </p:nvSpPr>
          <p:spPr bwMode="auto">
            <a:xfrm flipH="1">
              <a:off x="3696" y="1200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0419" name="Oval 35"/>
            <p:cNvSpPr>
              <a:spLocks noChangeArrowheads="1"/>
            </p:cNvSpPr>
            <p:nvPr/>
          </p:nvSpPr>
          <p:spPr bwMode="auto">
            <a:xfrm flipH="1">
              <a:off x="3792" y="1584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136"/>
          <p:cNvGrpSpPr/>
          <p:nvPr/>
        </p:nvGrpSpPr>
        <p:grpSpPr>
          <a:xfrm>
            <a:off x="5638800" y="1447800"/>
            <a:ext cx="457200" cy="914400"/>
            <a:chOff x="2592" y="912"/>
            <a:chExt cx="288" cy="576"/>
          </a:xfrm>
        </p:grpSpPr>
        <p:sp>
          <p:nvSpPr>
            <p:cNvPr id="34847" name="Line 36"/>
            <p:cNvSpPr/>
            <p:nvPr/>
          </p:nvSpPr>
          <p:spPr>
            <a:xfrm>
              <a:off x="2688" y="1056"/>
              <a:ext cx="80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8" name="Oval 37"/>
            <p:cNvSpPr/>
            <p:nvPr/>
          </p:nvSpPr>
          <p:spPr>
            <a:xfrm>
              <a:off x="2592" y="91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49" name="Oval 38"/>
            <p:cNvSpPr/>
            <p:nvPr/>
          </p:nvSpPr>
          <p:spPr>
            <a:xfrm>
              <a:off x="2688" y="129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135"/>
          <p:cNvGrpSpPr/>
          <p:nvPr/>
        </p:nvGrpSpPr>
        <p:grpSpPr>
          <a:xfrm>
            <a:off x="4724400" y="1447800"/>
            <a:ext cx="533400" cy="914400"/>
            <a:chOff x="2016" y="912"/>
            <a:chExt cx="336" cy="576"/>
          </a:xfrm>
        </p:grpSpPr>
        <p:sp>
          <p:nvSpPr>
            <p:cNvPr id="34851" name="Line 39"/>
            <p:cNvSpPr/>
            <p:nvPr/>
          </p:nvSpPr>
          <p:spPr>
            <a:xfrm flipH="1">
              <a:off x="2160" y="1056"/>
              <a:ext cx="80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52" name="Oval 40"/>
            <p:cNvSpPr/>
            <p:nvPr/>
          </p:nvSpPr>
          <p:spPr>
            <a:xfrm flipH="1">
              <a:off x="2160" y="91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53" name="Oval 41"/>
            <p:cNvSpPr/>
            <p:nvPr/>
          </p:nvSpPr>
          <p:spPr>
            <a:xfrm flipH="1">
              <a:off x="2016" y="129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0426" name="Oval 42"/>
          <p:cNvSpPr/>
          <p:nvPr/>
        </p:nvSpPr>
        <p:spPr>
          <a:xfrm flipH="1">
            <a:off x="3810000" y="1752600"/>
            <a:ext cx="304800" cy="3048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76765E"/>
              </a:gs>
            </a:gsLst>
            <a:path path="shape">
              <a:fillToRect l="50000" t="50000" r="50000" b="50000"/>
            </a:path>
            <a:tileRect/>
          </a:gra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" name="Group 131"/>
          <p:cNvGrpSpPr/>
          <p:nvPr/>
        </p:nvGrpSpPr>
        <p:grpSpPr>
          <a:xfrm>
            <a:off x="2514600" y="1676400"/>
            <a:ext cx="304800" cy="381000"/>
            <a:chOff x="624" y="1056"/>
            <a:chExt cx="192" cy="240"/>
          </a:xfrm>
        </p:grpSpPr>
        <p:sp>
          <p:nvSpPr>
            <p:cNvPr id="34856" name="Oval 43"/>
            <p:cNvSpPr/>
            <p:nvPr/>
          </p:nvSpPr>
          <p:spPr>
            <a:xfrm>
              <a:off x="624" y="1104"/>
              <a:ext cx="192" cy="144"/>
            </a:xfrm>
            <a:prstGeom prst="ellipse">
              <a:avLst/>
            </a:prstGeom>
            <a:noFill/>
            <a:ln w="38100" cap="flat" cmpd="sng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57" name="Line 44"/>
            <p:cNvSpPr/>
            <p:nvPr/>
          </p:nvSpPr>
          <p:spPr>
            <a:xfrm flipH="1">
              <a:off x="720" y="1056"/>
              <a:ext cx="0" cy="240"/>
            </a:xfrm>
            <a:prstGeom prst="line">
              <a:avLst/>
            </a:prstGeom>
            <a:ln w="38100" cap="flat" cmpd="sng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00429" name="Text Box 45"/>
          <p:cNvSpPr txBox="1"/>
          <p:nvPr/>
        </p:nvSpPr>
        <p:spPr>
          <a:xfrm>
            <a:off x="2205038" y="2436813"/>
            <a:ext cx="935037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i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0430" name="Text Box 46"/>
          <p:cNvSpPr txBox="1"/>
          <p:nvPr/>
        </p:nvSpPr>
        <p:spPr>
          <a:xfrm>
            <a:off x="3414713" y="2436813"/>
            <a:ext cx="935037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i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0431" name="Text Box 47"/>
          <p:cNvSpPr txBox="1"/>
          <p:nvPr/>
        </p:nvSpPr>
        <p:spPr>
          <a:xfrm>
            <a:off x="5014913" y="2436813"/>
            <a:ext cx="935037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i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0432" name="Text Box 48"/>
          <p:cNvSpPr txBox="1"/>
          <p:nvPr/>
        </p:nvSpPr>
        <p:spPr>
          <a:xfrm>
            <a:off x="7910513" y="2817813"/>
            <a:ext cx="935037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i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" name="Group 145"/>
          <p:cNvGrpSpPr/>
          <p:nvPr/>
        </p:nvGrpSpPr>
        <p:grpSpPr>
          <a:xfrm>
            <a:off x="1905000" y="3657600"/>
            <a:ext cx="8305800" cy="2209800"/>
            <a:chOff x="240" y="2304"/>
            <a:chExt cx="5232" cy="1392"/>
          </a:xfrm>
        </p:grpSpPr>
        <p:sp>
          <p:nvSpPr>
            <p:cNvPr id="34863" name="Line 2"/>
            <p:cNvSpPr/>
            <p:nvPr/>
          </p:nvSpPr>
          <p:spPr>
            <a:xfrm flipH="1">
              <a:off x="4320" y="2832"/>
              <a:ext cx="4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64" name="Line 3"/>
            <p:cNvSpPr/>
            <p:nvPr/>
          </p:nvSpPr>
          <p:spPr>
            <a:xfrm flipH="1">
              <a:off x="960" y="2832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65" name="Line 4"/>
            <p:cNvSpPr/>
            <p:nvPr/>
          </p:nvSpPr>
          <p:spPr>
            <a:xfrm flipH="1">
              <a:off x="720" y="2448"/>
              <a:ext cx="192" cy="67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66" name="Line 5"/>
            <p:cNvSpPr/>
            <p:nvPr/>
          </p:nvSpPr>
          <p:spPr>
            <a:xfrm>
              <a:off x="2688" y="2448"/>
              <a:ext cx="48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67" name="Line 6"/>
            <p:cNvSpPr/>
            <p:nvPr/>
          </p:nvSpPr>
          <p:spPr>
            <a:xfrm>
              <a:off x="2544" y="2832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68" name="Line 7"/>
            <p:cNvSpPr/>
            <p:nvPr/>
          </p:nvSpPr>
          <p:spPr>
            <a:xfrm flipH="1">
              <a:off x="2496" y="244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69" name="Line 8"/>
            <p:cNvSpPr/>
            <p:nvPr/>
          </p:nvSpPr>
          <p:spPr>
            <a:xfrm flipH="1">
              <a:off x="3456" y="244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70" name="Line 9"/>
            <p:cNvSpPr/>
            <p:nvPr/>
          </p:nvSpPr>
          <p:spPr>
            <a:xfrm flipH="1">
              <a:off x="1392" y="3216"/>
              <a:ext cx="4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71" name="Line 10"/>
            <p:cNvSpPr/>
            <p:nvPr/>
          </p:nvSpPr>
          <p:spPr>
            <a:xfrm flipH="1">
              <a:off x="1584" y="2400"/>
              <a:ext cx="4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72" name="Line 11"/>
            <p:cNvSpPr/>
            <p:nvPr/>
          </p:nvSpPr>
          <p:spPr>
            <a:xfrm flipH="1">
              <a:off x="4944" y="3216"/>
              <a:ext cx="9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73" name="Line 49"/>
            <p:cNvSpPr/>
            <p:nvPr/>
          </p:nvSpPr>
          <p:spPr>
            <a:xfrm>
              <a:off x="5088" y="2448"/>
              <a:ext cx="288" cy="105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74" name="Oval 50"/>
            <p:cNvSpPr/>
            <p:nvPr/>
          </p:nvSpPr>
          <p:spPr>
            <a:xfrm>
              <a:off x="4992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5" name="Oval 51"/>
            <p:cNvSpPr/>
            <p:nvPr/>
          </p:nvSpPr>
          <p:spPr>
            <a:xfrm>
              <a:off x="5088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6" name="Oval 52"/>
            <p:cNvSpPr/>
            <p:nvPr/>
          </p:nvSpPr>
          <p:spPr>
            <a:xfrm>
              <a:off x="518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7" name="Oval 53"/>
            <p:cNvSpPr/>
            <p:nvPr/>
          </p:nvSpPr>
          <p:spPr>
            <a:xfrm>
              <a:off x="5280" y="35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8" name="Oval 54"/>
            <p:cNvSpPr/>
            <p:nvPr/>
          </p:nvSpPr>
          <p:spPr>
            <a:xfrm>
              <a:off x="4848" y="35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79" name="Line 55"/>
            <p:cNvSpPr/>
            <p:nvPr/>
          </p:nvSpPr>
          <p:spPr>
            <a:xfrm>
              <a:off x="4848" y="2448"/>
              <a:ext cx="192" cy="67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80" name="Oval 56"/>
            <p:cNvSpPr/>
            <p:nvPr/>
          </p:nvSpPr>
          <p:spPr>
            <a:xfrm>
              <a:off x="4752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1" name="Oval 57"/>
            <p:cNvSpPr/>
            <p:nvPr/>
          </p:nvSpPr>
          <p:spPr>
            <a:xfrm>
              <a:off x="4848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2" name="Oval 58"/>
            <p:cNvSpPr/>
            <p:nvPr/>
          </p:nvSpPr>
          <p:spPr>
            <a:xfrm>
              <a:off x="494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3" name="Line 60"/>
            <p:cNvSpPr/>
            <p:nvPr/>
          </p:nvSpPr>
          <p:spPr>
            <a:xfrm>
              <a:off x="4560" y="2448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84" name="Oval 61"/>
            <p:cNvSpPr/>
            <p:nvPr/>
          </p:nvSpPr>
          <p:spPr>
            <a:xfrm>
              <a:off x="4464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5" name="Oval 62"/>
            <p:cNvSpPr/>
            <p:nvPr/>
          </p:nvSpPr>
          <p:spPr>
            <a:xfrm>
              <a:off x="456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6" name="Line 63"/>
            <p:cNvSpPr/>
            <p:nvPr/>
          </p:nvSpPr>
          <p:spPr>
            <a:xfrm>
              <a:off x="4704" y="2832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87" name="Oval 64"/>
            <p:cNvSpPr/>
            <p:nvPr/>
          </p:nvSpPr>
          <p:spPr>
            <a:xfrm>
              <a:off x="470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8" name="Oval 65"/>
            <p:cNvSpPr/>
            <p:nvPr/>
          </p:nvSpPr>
          <p:spPr>
            <a:xfrm>
              <a:off x="446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89" name="Line 66"/>
            <p:cNvSpPr/>
            <p:nvPr/>
          </p:nvSpPr>
          <p:spPr>
            <a:xfrm flipH="1">
              <a:off x="4560" y="2832"/>
              <a:ext cx="4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90" name="Line 67"/>
            <p:cNvSpPr/>
            <p:nvPr/>
          </p:nvSpPr>
          <p:spPr>
            <a:xfrm>
              <a:off x="1584" y="2832"/>
              <a:ext cx="192" cy="76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91" name="Oval 68"/>
            <p:cNvSpPr/>
            <p:nvPr/>
          </p:nvSpPr>
          <p:spPr>
            <a:xfrm>
              <a:off x="1488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2" name="Oval 69"/>
            <p:cNvSpPr/>
            <p:nvPr/>
          </p:nvSpPr>
          <p:spPr>
            <a:xfrm>
              <a:off x="158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3" name="Oval 70"/>
            <p:cNvSpPr/>
            <p:nvPr/>
          </p:nvSpPr>
          <p:spPr>
            <a:xfrm>
              <a:off x="1680" y="345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4" name="Oval 71"/>
            <p:cNvSpPr/>
            <p:nvPr/>
          </p:nvSpPr>
          <p:spPr>
            <a:xfrm>
              <a:off x="1536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5" name="Line 72"/>
            <p:cNvSpPr/>
            <p:nvPr/>
          </p:nvSpPr>
          <p:spPr>
            <a:xfrm flipH="1">
              <a:off x="1344" y="2400"/>
              <a:ext cx="4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96" name="Line 73"/>
            <p:cNvSpPr/>
            <p:nvPr/>
          </p:nvSpPr>
          <p:spPr>
            <a:xfrm>
              <a:off x="1344" y="2832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97" name="Oval 74"/>
            <p:cNvSpPr/>
            <p:nvPr/>
          </p:nvSpPr>
          <p:spPr>
            <a:xfrm>
              <a:off x="1248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8" name="Oval 75"/>
            <p:cNvSpPr/>
            <p:nvPr/>
          </p:nvSpPr>
          <p:spPr>
            <a:xfrm>
              <a:off x="134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99" name="Oval 76"/>
            <p:cNvSpPr/>
            <p:nvPr/>
          </p:nvSpPr>
          <p:spPr>
            <a:xfrm>
              <a:off x="1296" y="345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00" name="Oval 77"/>
            <p:cNvSpPr/>
            <p:nvPr/>
          </p:nvSpPr>
          <p:spPr>
            <a:xfrm>
              <a:off x="1296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01" name="Oval 78"/>
            <p:cNvSpPr/>
            <p:nvPr/>
          </p:nvSpPr>
          <p:spPr>
            <a:xfrm>
              <a:off x="3456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02" name="Line 79"/>
            <p:cNvSpPr/>
            <p:nvPr/>
          </p:nvSpPr>
          <p:spPr>
            <a:xfrm>
              <a:off x="3600" y="2448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03" name="Oval 80"/>
            <p:cNvSpPr/>
            <p:nvPr/>
          </p:nvSpPr>
          <p:spPr>
            <a:xfrm>
              <a:off x="360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04" name="Oval 81"/>
            <p:cNvSpPr/>
            <p:nvPr/>
          </p:nvSpPr>
          <p:spPr>
            <a:xfrm>
              <a:off x="336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05" name="Line 82"/>
            <p:cNvSpPr/>
            <p:nvPr/>
          </p:nvSpPr>
          <p:spPr>
            <a:xfrm>
              <a:off x="3744" y="2832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06" name="Oval 83"/>
            <p:cNvSpPr/>
            <p:nvPr/>
          </p:nvSpPr>
          <p:spPr>
            <a:xfrm>
              <a:off x="374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07" name="Line 84"/>
            <p:cNvSpPr/>
            <p:nvPr/>
          </p:nvSpPr>
          <p:spPr>
            <a:xfrm flipH="1">
              <a:off x="2976" y="244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08" name="Oval 85"/>
            <p:cNvSpPr/>
            <p:nvPr/>
          </p:nvSpPr>
          <p:spPr>
            <a:xfrm>
              <a:off x="2976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09" name="Line 86"/>
            <p:cNvSpPr/>
            <p:nvPr/>
          </p:nvSpPr>
          <p:spPr>
            <a:xfrm>
              <a:off x="3120" y="2448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10" name="Oval 87"/>
            <p:cNvSpPr/>
            <p:nvPr/>
          </p:nvSpPr>
          <p:spPr>
            <a:xfrm>
              <a:off x="312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11" name="Oval 88"/>
            <p:cNvSpPr/>
            <p:nvPr/>
          </p:nvSpPr>
          <p:spPr>
            <a:xfrm>
              <a:off x="288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12" name="Line 89"/>
            <p:cNvSpPr/>
            <p:nvPr/>
          </p:nvSpPr>
          <p:spPr>
            <a:xfrm flipH="1">
              <a:off x="3120" y="2832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13" name="Oval 90"/>
            <p:cNvSpPr/>
            <p:nvPr/>
          </p:nvSpPr>
          <p:spPr>
            <a:xfrm>
              <a:off x="302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14" name="Oval 91"/>
            <p:cNvSpPr/>
            <p:nvPr/>
          </p:nvSpPr>
          <p:spPr>
            <a:xfrm>
              <a:off x="2544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15" name="Oval 92"/>
            <p:cNvSpPr/>
            <p:nvPr/>
          </p:nvSpPr>
          <p:spPr>
            <a:xfrm>
              <a:off x="264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16" name="Oval 93"/>
            <p:cNvSpPr/>
            <p:nvPr/>
          </p:nvSpPr>
          <p:spPr>
            <a:xfrm>
              <a:off x="240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17" name="Oval 94"/>
            <p:cNvSpPr/>
            <p:nvPr/>
          </p:nvSpPr>
          <p:spPr>
            <a:xfrm>
              <a:off x="254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18" name="Line 95"/>
            <p:cNvSpPr/>
            <p:nvPr/>
          </p:nvSpPr>
          <p:spPr>
            <a:xfrm>
              <a:off x="2208" y="2448"/>
              <a:ext cx="48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19" name="Line 96"/>
            <p:cNvSpPr/>
            <p:nvPr/>
          </p:nvSpPr>
          <p:spPr>
            <a:xfrm flipH="1">
              <a:off x="1920" y="2832"/>
              <a:ext cx="4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20" name="Line 97"/>
            <p:cNvSpPr/>
            <p:nvPr/>
          </p:nvSpPr>
          <p:spPr>
            <a:xfrm flipH="1">
              <a:off x="2016" y="244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21" name="Oval 98"/>
            <p:cNvSpPr/>
            <p:nvPr/>
          </p:nvSpPr>
          <p:spPr>
            <a:xfrm>
              <a:off x="2064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22" name="Oval 99"/>
            <p:cNvSpPr/>
            <p:nvPr/>
          </p:nvSpPr>
          <p:spPr>
            <a:xfrm>
              <a:off x="216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23" name="Oval 100"/>
            <p:cNvSpPr/>
            <p:nvPr/>
          </p:nvSpPr>
          <p:spPr>
            <a:xfrm>
              <a:off x="192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24" name="Oval 101"/>
            <p:cNvSpPr/>
            <p:nvPr/>
          </p:nvSpPr>
          <p:spPr>
            <a:xfrm>
              <a:off x="182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25" name="Line 102"/>
            <p:cNvSpPr/>
            <p:nvPr/>
          </p:nvSpPr>
          <p:spPr>
            <a:xfrm>
              <a:off x="4320" y="3216"/>
              <a:ext cx="4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26" name="Line 103"/>
            <p:cNvSpPr/>
            <p:nvPr/>
          </p:nvSpPr>
          <p:spPr>
            <a:xfrm>
              <a:off x="4320" y="2400"/>
              <a:ext cx="4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27" name="Line 104"/>
            <p:cNvSpPr/>
            <p:nvPr/>
          </p:nvSpPr>
          <p:spPr>
            <a:xfrm flipH="1">
              <a:off x="4032" y="2832"/>
              <a:ext cx="96" cy="72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28" name="Oval 105"/>
            <p:cNvSpPr/>
            <p:nvPr/>
          </p:nvSpPr>
          <p:spPr>
            <a:xfrm>
              <a:off x="4272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29" name="Oval 106"/>
            <p:cNvSpPr/>
            <p:nvPr/>
          </p:nvSpPr>
          <p:spPr>
            <a:xfrm>
              <a:off x="422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r>
                <a: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0" name="Oval 107"/>
            <p:cNvSpPr/>
            <p:nvPr/>
          </p:nvSpPr>
          <p:spPr>
            <a:xfrm>
              <a:off x="4272" y="345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1" name="Oval 108"/>
            <p:cNvSpPr/>
            <p:nvPr/>
          </p:nvSpPr>
          <p:spPr>
            <a:xfrm>
              <a:off x="4224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2" name="Line 109"/>
            <p:cNvSpPr/>
            <p:nvPr/>
          </p:nvSpPr>
          <p:spPr>
            <a:xfrm>
              <a:off x="4080" y="2400"/>
              <a:ext cx="4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33" name="Oval 110"/>
            <p:cNvSpPr/>
            <p:nvPr/>
          </p:nvSpPr>
          <p:spPr>
            <a:xfrm>
              <a:off x="4032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4" name="Oval 111"/>
            <p:cNvSpPr/>
            <p:nvPr/>
          </p:nvSpPr>
          <p:spPr>
            <a:xfrm>
              <a:off x="398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5" name="Oval 112"/>
            <p:cNvSpPr/>
            <p:nvPr/>
          </p:nvSpPr>
          <p:spPr>
            <a:xfrm>
              <a:off x="3936" y="345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6" name="Oval 113"/>
            <p:cNvSpPr/>
            <p:nvPr/>
          </p:nvSpPr>
          <p:spPr>
            <a:xfrm>
              <a:off x="3984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7" name="Line 114"/>
            <p:cNvSpPr/>
            <p:nvPr/>
          </p:nvSpPr>
          <p:spPr>
            <a:xfrm flipH="1">
              <a:off x="1088" y="2448"/>
              <a:ext cx="64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38" name="Oval 115"/>
            <p:cNvSpPr/>
            <p:nvPr/>
          </p:nvSpPr>
          <p:spPr>
            <a:xfrm>
              <a:off x="1056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39" name="Oval 116"/>
            <p:cNvSpPr/>
            <p:nvPr/>
          </p:nvSpPr>
          <p:spPr>
            <a:xfrm>
              <a:off x="1008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40" name="Line 117"/>
            <p:cNvSpPr/>
            <p:nvPr/>
          </p:nvSpPr>
          <p:spPr>
            <a:xfrm>
              <a:off x="1104" y="2832"/>
              <a:ext cx="8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41" name="Oval 118"/>
            <p:cNvSpPr/>
            <p:nvPr/>
          </p:nvSpPr>
          <p:spPr>
            <a:xfrm>
              <a:off x="110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42" name="Oval 119"/>
            <p:cNvSpPr/>
            <p:nvPr/>
          </p:nvSpPr>
          <p:spPr>
            <a:xfrm>
              <a:off x="86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43" name="Line 120"/>
            <p:cNvSpPr/>
            <p:nvPr/>
          </p:nvSpPr>
          <p:spPr>
            <a:xfrm>
              <a:off x="720" y="3216"/>
              <a:ext cx="9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44" name="Oval 122"/>
            <p:cNvSpPr/>
            <p:nvPr/>
          </p:nvSpPr>
          <p:spPr>
            <a:xfrm flipH="1">
              <a:off x="816" y="2304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45" name="Oval 123"/>
            <p:cNvSpPr/>
            <p:nvPr/>
          </p:nvSpPr>
          <p:spPr>
            <a:xfrm flipH="1">
              <a:off x="720" y="26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946" name="Oval 126"/>
            <p:cNvSpPr/>
            <p:nvPr/>
          </p:nvSpPr>
          <p:spPr>
            <a:xfrm flipH="1">
              <a:off x="720" y="3456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4947" name="Group 144"/>
            <p:cNvGrpSpPr/>
            <p:nvPr/>
          </p:nvGrpSpPr>
          <p:grpSpPr>
            <a:xfrm>
              <a:off x="240" y="2304"/>
              <a:ext cx="528" cy="1344"/>
              <a:chOff x="240" y="2304"/>
              <a:chExt cx="528" cy="1344"/>
            </a:xfrm>
          </p:grpSpPr>
          <p:sp>
            <p:nvSpPr>
              <p:cNvPr id="34948" name="Line 121"/>
              <p:cNvSpPr/>
              <p:nvPr/>
            </p:nvSpPr>
            <p:spPr>
              <a:xfrm flipH="1">
                <a:off x="384" y="2448"/>
                <a:ext cx="288" cy="1056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949" name="Oval 124"/>
              <p:cNvSpPr/>
              <p:nvPr/>
            </p:nvSpPr>
            <p:spPr>
              <a:xfrm flipH="1">
                <a:off x="384" y="3072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00FFFF"/>
                  </a:gs>
                  <a:gs pos="100000">
                    <a:srgbClr val="008E8E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950" name="Oval 125"/>
              <p:cNvSpPr/>
              <p:nvPr/>
            </p:nvSpPr>
            <p:spPr>
              <a:xfrm flipH="1">
                <a:off x="240" y="3456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00FFFF"/>
                  </a:gs>
                  <a:gs pos="100000">
                    <a:srgbClr val="008E8E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951" name="Oval 127"/>
              <p:cNvSpPr/>
              <p:nvPr/>
            </p:nvSpPr>
            <p:spPr>
              <a:xfrm flipH="1">
                <a:off x="576" y="2304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00FFFF"/>
                  </a:gs>
                  <a:gs pos="100000">
                    <a:srgbClr val="008E8E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952" name="Oval 128"/>
              <p:cNvSpPr/>
              <p:nvPr/>
            </p:nvSpPr>
            <p:spPr>
              <a:xfrm flipH="1">
                <a:off x="480" y="2688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rgbClr val="00FFFF"/>
                  </a:gs>
                  <a:gs pos="100000">
                    <a:srgbClr val="008E8E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953" name="Oval 129"/>
            <p:cNvSpPr/>
            <p:nvPr/>
          </p:nvSpPr>
          <p:spPr>
            <a:xfrm flipH="1">
              <a:off x="624" y="3072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8E8E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0514" name="Text Box 130"/>
          <p:cNvSpPr txBox="1"/>
          <p:nvPr/>
        </p:nvSpPr>
        <p:spPr>
          <a:xfrm>
            <a:off x="5414963" y="5561013"/>
            <a:ext cx="1112837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i="1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</a:t>
            </a:r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=14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0516" name="Text Box 132"/>
          <p:cNvSpPr txBox="1">
            <a:spLocks noChangeArrowheads="1"/>
          </p:cNvSpPr>
          <p:nvPr/>
        </p:nvSpPr>
        <p:spPr bwMode="auto">
          <a:xfrm>
            <a:off x="2743200" y="379413"/>
            <a:ext cx="793750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en-US" altLang="zh-CN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0</a:t>
            </a: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</a:t>
            </a:r>
            <a:endParaRPr kumimoji="1" lang="zh-CN" altLang="en-US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00517" name="Text Box 133"/>
          <p:cNvSpPr txBox="1">
            <a:spLocks noChangeArrowheads="1"/>
          </p:cNvSpPr>
          <p:nvPr/>
        </p:nvSpPr>
        <p:spPr bwMode="auto">
          <a:xfrm>
            <a:off x="3429000" y="379413"/>
            <a:ext cx="793750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en-US" altLang="zh-CN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</a:t>
            </a:r>
            <a:endParaRPr kumimoji="1" lang="zh-CN" altLang="en-US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00518" name="Text Box 134"/>
          <p:cNvSpPr txBox="1">
            <a:spLocks noChangeArrowheads="1"/>
          </p:cNvSpPr>
          <p:nvPr/>
        </p:nvSpPr>
        <p:spPr bwMode="auto">
          <a:xfrm>
            <a:off x="4191000" y="379413"/>
            <a:ext cx="793750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en-US" altLang="zh-CN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</a:t>
            </a:r>
            <a:endParaRPr kumimoji="1" lang="zh-CN" altLang="en-US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00521" name="Text Box 137"/>
          <p:cNvSpPr txBox="1">
            <a:spLocks noChangeArrowheads="1"/>
          </p:cNvSpPr>
          <p:nvPr/>
        </p:nvSpPr>
        <p:spPr bwMode="auto">
          <a:xfrm>
            <a:off x="4876800" y="379413"/>
            <a:ext cx="793750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en-US" altLang="zh-CN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3</a:t>
            </a: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</a:t>
            </a:r>
            <a:endParaRPr kumimoji="1" lang="zh-CN" altLang="en-US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00527" name="Text Box 143"/>
          <p:cNvSpPr txBox="1">
            <a:spLocks noChangeArrowheads="1"/>
          </p:cNvSpPr>
          <p:nvPr/>
        </p:nvSpPr>
        <p:spPr bwMode="auto">
          <a:xfrm>
            <a:off x="5486400" y="379413"/>
            <a:ext cx="793750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en-US" altLang="zh-CN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4</a:t>
            </a: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</a:t>
            </a:r>
            <a:endParaRPr kumimoji="1" lang="zh-CN" altLang="en-US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0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0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0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0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0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40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0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40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0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0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40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00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0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7" dur="500"/>
                                        <p:tgtEl>
                                          <p:spTgt spid="40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99" grpId="0" bldLvl="0" animBg="1"/>
      <p:bldP spid="400426" grpId="0" bldLvl="0" animBg="1"/>
      <p:bldP spid="400429" grpId="0"/>
      <p:bldP spid="400430" grpId="0"/>
      <p:bldP spid="400431" grpId="0"/>
      <p:bldP spid="400432" grpId="0"/>
      <p:bldP spid="400514" grpId="0"/>
      <p:bldP spid="400516" grpId="0" bldLvl="0" animBg="1"/>
      <p:bldP spid="400517" grpId="0" bldLvl="0" animBg="1"/>
      <p:bldP spid="400518" grpId="0" bldLvl="0" animBg="1"/>
      <p:bldP spid="400521" grpId="0" bldLvl="0" animBg="1"/>
      <p:bldP spid="40052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6324600" y="3276600"/>
            <a:ext cx="3886200" cy="10810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lnSpc>
                <a:spcPct val="115000"/>
              </a:lnSpc>
              <a:buClrTx/>
              <a:buSzTx/>
              <a:defRPr/>
            </a:pP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完全二叉树 </a:t>
            </a:r>
            <a:endParaRPr kumimoji="1" lang="zh-CN" altLang="en-US" sz="2800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algn="ctr" defTabSz="914400">
              <a:lnSpc>
                <a:spcPct val="115000"/>
              </a:lnSpc>
              <a:buClrTx/>
              <a:buSzTx/>
              <a:defRPr/>
            </a:pP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(Complete Binary Tree)</a:t>
            </a:r>
            <a:endParaRPr kumimoji="1" lang="en-US" altLang="zh-CN" sz="2800" b="0" kern="1200" cap="none" spc="0" normalizeH="0" baseline="0" noProof="0"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2" name="Group 56"/>
          <p:cNvGrpSpPr/>
          <p:nvPr/>
        </p:nvGrpSpPr>
        <p:grpSpPr>
          <a:xfrm>
            <a:off x="6324600" y="1219200"/>
            <a:ext cx="3352800" cy="2133600"/>
            <a:chOff x="3072" y="2496"/>
            <a:chExt cx="2112" cy="1344"/>
          </a:xfrm>
        </p:grpSpPr>
        <p:sp>
          <p:nvSpPr>
            <p:cNvPr id="35843" name="Line 42"/>
            <p:cNvSpPr/>
            <p:nvPr/>
          </p:nvSpPr>
          <p:spPr>
            <a:xfrm>
              <a:off x="4848" y="3024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4" name="Line 43"/>
            <p:cNvSpPr/>
            <p:nvPr/>
          </p:nvSpPr>
          <p:spPr>
            <a:xfrm flipH="1">
              <a:off x="4560" y="2976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5" name="Line 44"/>
            <p:cNvSpPr/>
            <p:nvPr/>
          </p:nvSpPr>
          <p:spPr>
            <a:xfrm>
              <a:off x="3696" y="2976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6" name="Line 45"/>
            <p:cNvSpPr/>
            <p:nvPr/>
          </p:nvSpPr>
          <p:spPr>
            <a:xfrm flipH="1">
              <a:off x="3360" y="3024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7" name="Line 51"/>
            <p:cNvSpPr/>
            <p:nvPr/>
          </p:nvSpPr>
          <p:spPr>
            <a:xfrm>
              <a:off x="4320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8" name="Line 52"/>
            <p:cNvSpPr/>
            <p:nvPr/>
          </p:nvSpPr>
          <p:spPr>
            <a:xfrm flipH="1">
              <a:off x="3696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9" name="Oval 53"/>
            <p:cNvSpPr/>
            <p:nvPr/>
          </p:nvSpPr>
          <p:spPr>
            <a:xfrm>
              <a:off x="4128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0" name="Line 33"/>
            <p:cNvSpPr/>
            <p:nvPr/>
          </p:nvSpPr>
          <p:spPr>
            <a:xfrm flipH="1">
              <a:off x="3744" y="336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1" name="Line 34"/>
            <p:cNvSpPr/>
            <p:nvPr/>
          </p:nvSpPr>
          <p:spPr>
            <a:xfrm>
              <a:off x="3408" y="340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2" name="Line 35"/>
            <p:cNvSpPr/>
            <p:nvPr/>
          </p:nvSpPr>
          <p:spPr>
            <a:xfrm flipH="1">
              <a:off x="3168" y="3360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3" name="Oval 14"/>
            <p:cNvSpPr/>
            <p:nvPr/>
          </p:nvSpPr>
          <p:spPr>
            <a:xfrm>
              <a:off x="3072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4" name="Oval 15"/>
            <p:cNvSpPr/>
            <p:nvPr/>
          </p:nvSpPr>
          <p:spPr>
            <a:xfrm>
              <a:off x="3360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5" name="Oval 16"/>
            <p:cNvSpPr/>
            <p:nvPr/>
          </p:nvSpPr>
          <p:spPr>
            <a:xfrm>
              <a:off x="3648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6" name="Oval 21"/>
            <p:cNvSpPr/>
            <p:nvPr/>
          </p:nvSpPr>
          <p:spPr>
            <a:xfrm>
              <a:off x="3264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7" name="Oval 22"/>
            <p:cNvSpPr/>
            <p:nvPr/>
          </p:nvSpPr>
          <p:spPr>
            <a:xfrm>
              <a:off x="3792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8" name="Oval 23"/>
            <p:cNvSpPr/>
            <p:nvPr/>
          </p:nvSpPr>
          <p:spPr>
            <a:xfrm>
              <a:off x="4416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9" name="Oval 24"/>
            <p:cNvSpPr/>
            <p:nvPr/>
          </p:nvSpPr>
          <p:spPr>
            <a:xfrm>
              <a:off x="4944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0" name="Oval 46"/>
            <p:cNvSpPr/>
            <p:nvPr/>
          </p:nvSpPr>
          <p:spPr>
            <a:xfrm>
              <a:off x="3552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1" name="Oval 47"/>
            <p:cNvSpPr/>
            <p:nvPr/>
          </p:nvSpPr>
          <p:spPr>
            <a:xfrm>
              <a:off x="4704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54"/>
          <p:cNvGrpSpPr/>
          <p:nvPr/>
        </p:nvGrpSpPr>
        <p:grpSpPr>
          <a:xfrm>
            <a:off x="1905000" y="1219200"/>
            <a:ext cx="3581400" cy="2133600"/>
            <a:chOff x="528" y="2496"/>
            <a:chExt cx="2256" cy="1344"/>
          </a:xfrm>
        </p:grpSpPr>
        <p:sp>
          <p:nvSpPr>
            <p:cNvPr id="35863" name="Line 50"/>
            <p:cNvSpPr/>
            <p:nvPr/>
          </p:nvSpPr>
          <p:spPr>
            <a:xfrm>
              <a:off x="1776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4" name="Line 49"/>
            <p:cNvSpPr/>
            <p:nvPr/>
          </p:nvSpPr>
          <p:spPr>
            <a:xfrm flipH="1">
              <a:off x="1152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5" name="Line 40"/>
            <p:cNvSpPr/>
            <p:nvPr/>
          </p:nvSpPr>
          <p:spPr>
            <a:xfrm>
              <a:off x="2304" y="3024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6" name="Line 41"/>
            <p:cNvSpPr/>
            <p:nvPr/>
          </p:nvSpPr>
          <p:spPr>
            <a:xfrm flipH="1">
              <a:off x="2016" y="2976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7" name="Line 39"/>
            <p:cNvSpPr/>
            <p:nvPr/>
          </p:nvSpPr>
          <p:spPr>
            <a:xfrm>
              <a:off x="1152" y="2976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8" name="Line 38"/>
            <p:cNvSpPr/>
            <p:nvPr/>
          </p:nvSpPr>
          <p:spPr>
            <a:xfrm flipH="1">
              <a:off x="816" y="3024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9" name="Line 29"/>
            <p:cNvSpPr/>
            <p:nvPr/>
          </p:nvSpPr>
          <p:spPr>
            <a:xfrm>
              <a:off x="2544" y="3360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0" name="Line 30"/>
            <p:cNvSpPr/>
            <p:nvPr/>
          </p:nvSpPr>
          <p:spPr>
            <a:xfrm flipH="1">
              <a:off x="2352" y="336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1" name="Line 31"/>
            <p:cNvSpPr/>
            <p:nvPr/>
          </p:nvSpPr>
          <p:spPr>
            <a:xfrm>
              <a:off x="2016" y="340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2" name="Line 32"/>
            <p:cNvSpPr/>
            <p:nvPr/>
          </p:nvSpPr>
          <p:spPr>
            <a:xfrm flipH="1">
              <a:off x="1776" y="3360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3" name="Line 28"/>
            <p:cNvSpPr/>
            <p:nvPr/>
          </p:nvSpPr>
          <p:spPr>
            <a:xfrm>
              <a:off x="1392" y="3360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4" name="Line 27"/>
            <p:cNvSpPr/>
            <p:nvPr/>
          </p:nvSpPr>
          <p:spPr>
            <a:xfrm flipH="1">
              <a:off x="1200" y="336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5" name="Line 26"/>
            <p:cNvSpPr/>
            <p:nvPr/>
          </p:nvSpPr>
          <p:spPr>
            <a:xfrm>
              <a:off x="864" y="340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6" name="Line 25"/>
            <p:cNvSpPr/>
            <p:nvPr/>
          </p:nvSpPr>
          <p:spPr>
            <a:xfrm flipH="1">
              <a:off x="624" y="3360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7" name="Oval 5"/>
            <p:cNvSpPr/>
            <p:nvPr/>
          </p:nvSpPr>
          <p:spPr>
            <a:xfrm>
              <a:off x="528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8" name="Oval 7"/>
            <p:cNvSpPr/>
            <p:nvPr/>
          </p:nvSpPr>
          <p:spPr>
            <a:xfrm>
              <a:off x="816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9" name="Oval 8"/>
            <p:cNvSpPr/>
            <p:nvPr/>
          </p:nvSpPr>
          <p:spPr>
            <a:xfrm>
              <a:off x="1104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0" name="Oval 9"/>
            <p:cNvSpPr/>
            <p:nvPr/>
          </p:nvSpPr>
          <p:spPr>
            <a:xfrm>
              <a:off x="1392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1" name="Oval 10"/>
            <p:cNvSpPr/>
            <p:nvPr/>
          </p:nvSpPr>
          <p:spPr>
            <a:xfrm>
              <a:off x="1680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2" name="Oval 11"/>
            <p:cNvSpPr/>
            <p:nvPr/>
          </p:nvSpPr>
          <p:spPr>
            <a:xfrm>
              <a:off x="1968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3" name="Oval 12"/>
            <p:cNvSpPr/>
            <p:nvPr/>
          </p:nvSpPr>
          <p:spPr>
            <a:xfrm>
              <a:off x="2256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4" name="Oval 13"/>
            <p:cNvSpPr/>
            <p:nvPr/>
          </p:nvSpPr>
          <p:spPr>
            <a:xfrm>
              <a:off x="2544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5" name="Oval 17"/>
            <p:cNvSpPr/>
            <p:nvPr/>
          </p:nvSpPr>
          <p:spPr>
            <a:xfrm>
              <a:off x="720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6" name="Oval 18"/>
            <p:cNvSpPr/>
            <p:nvPr/>
          </p:nvSpPr>
          <p:spPr>
            <a:xfrm>
              <a:off x="1248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7" name="Oval 19"/>
            <p:cNvSpPr/>
            <p:nvPr/>
          </p:nvSpPr>
          <p:spPr>
            <a:xfrm>
              <a:off x="1872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8" name="Oval 20"/>
            <p:cNvSpPr/>
            <p:nvPr/>
          </p:nvSpPr>
          <p:spPr>
            <a:xfrm>
              <a:off x="2400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9" name="Oval 36"/>
            <p:cNvSpPr/>
            <p:nvPr/>
          </p:nvSpPr>
          <p:spPr>
            <a:xfrm>
              <a:off x="1008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90" name="Oval 37"/>
            <p:cNvSpPr/>
            <p:nvPr/>
          </p:nvSpPr>
          <p:spPr>
            <a:xfrm>
              <a:off x="2160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91" name="Oval 48"/>
            <p:cNvSpPr/>
            <p:nvPr/>
          </p:nvSpPr>
          <p:spPr>
            <a:xfrm>
              <a:off x="1584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959" name="Text Box 55"/>
          <p:cNvSpPr txBox="1">
            <a:spLocks noChangeArrowheads="1"/>
          </p:cNvSpPr>
          <p:nvPr/>
        </p:nvSpPr>
        <p:spPr bwMode="auto">
          <a:xfrm>
            <a:off x="2152650" y="3349625"/>
            <a:ext cx="3017838" cy="9525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满二叉树</a:t>
            </a:r>
            <a:endParaRPr kumimoji="1" lang="zh-CN" altLang="en-US" sz="2800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algn="ctr" defTabSz="914400">
              <a:buClrTx/>
              <a:buSzTx/>
              <a:defRPr/>
            </a:pP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(Full Binary Tree)</a:t>
            </a:r>
            <a:endParaRPr kumimoji="1" lang="en-US" altLang="zh-CN" sz="2800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35893" name="Text Box 57"/>
          <p:cNvSpPr txBox="1"/>
          <p:nvPr/>
        </p:nvSpPr>
        <p:spPr>
          <a:xfrm>
            <a:off x="3740150" y="227013"/>
            <a:ext cx="4775200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满二叉树和完全二叉树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62" name="Text Box 58"/>
          <p:cNvSpPr txBox="1"/>
          <p:nvPr/>
        </p:nvSpPr>
        <p:spPr>
          <a:xfrm>
            <a:off x="1423988" y="4213225"/>
            <a:ext cx="4502150" cy="1814513"/>
          </a:xfrm>
          <a:prstGeom prst="rect">
            <a:avLst/>
          </a:prstGeom>
          <a:noFill/>
          <a:ln w="38100">
            <a:noFill/>
          </a:ln>
        </p:spPr>
        <p:txBody>
          <a:bodyPr wrap="square" anchor="ctr" anchorCtr="0">
            <a:spAutoFit/>
          </a:bodyPr>
          <a:p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深度为</a:t>
            </a:r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且有</a:t>
            </a:r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aseline="300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个结点，</a:t>
            </a:r>
            <a:endParaRPr lang="zh-CN" altLang="en-US" sz="28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所有分支结点的度为 </a:t>
            </a:r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sz="28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800" baseline="-250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endParaRPr lang="en-US" altLang="zh-CN" sz="28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叶子结点都在最下一层。</a:t>
            </a:r>
            <a:endParaRPr lang="zh-CN" altLang="en-US" sz="28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63" name="Text Box 59"/>
          <p:cNvSpPr txBox="1"/>
          <p:nvPr/>
        </p:nvSpPr>
        <p:spPr>
          <a:xfrm>
            <a:off x="6400800" y="4354513"/>
            <a:ext cx="4473575" cy="9525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叶子结点都在最下两层，</a:t>
            </a:r>
            <a:endParaRPr lang="zh-CN" altLang="en-US" sz="28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且最下一层集中在最左边。</a:t>
            </a:r>
            <a:endParaRPr lang="zh-CN" altLang="en-US" sz="28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64" name="Text Box 60"/>
          <p:cNvSpPr txBox="1"/>
          <p:nvPr/>
        </p:nvSpPr>
        <p:spPr>
          <a:xfrm>
            <a:off x="1782128" y="982663"/>
            <a:ext cx="3896995" cy="25019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2                  3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4        5        6        7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8   9   10 11 12 13 14 15  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65" name="Text Box 61"/>
          <p:cNvSpPr txBox="1"/>
          <p:nvPr/>
        </p:nvSpPr>
        <p:spPr>
          <a:xfrm>
            <a:off x="6324600" y="982663"/>
            <a:ext cx="3352800" cy="2501900"/>
          </a:xfrm>
          <a:prstGeom prst="rect">
            <a:avLst/>
          </a:prstGeom>
          <a:noFill/>
          <a:ln w="38100">
            <a:noFill/>
          </a:ln>
        </p:spPr>
        <p:txBody>
          <a:bodyPr wrap="square" anchor="ctr" anchorCtr="0">
            <a:spAutoFit/>
          </a:bodyPr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1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2                  3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4        5        6        7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8   9   10                          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66" name="Text Box 62"/>
          <p:cNvSpPr txBox="1"/>
          <p:nvPr/>
        </p:nvSpPr>
        <p:spPr>
          <a:xfrm>
            <a:off x="2681288" y="6170613"/>
            <a:ext cx="70167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若按层次编号，则各结点的编号与其位置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1-1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对应。</a:t>
            </a:r>
            <a:endParaRPr lang="zh-CN" altLang="en-US" sz="24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396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2">
                                            <p:txEl>
                                              <p:charRg st="15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3962">
                                            <p:txEl>
                                              <p:charRg st="15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2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3962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2">
                                            <p:txEl>
                                              <p:charRg st="45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3962">
                                            <p:txEl>
                                              <p:charRg st="45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2396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3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23963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2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2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2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 bldLvl="0" animBg="1"/>
      <p:bldP spid="123959" grpId="0" bldLvl="0" animBg="1"/>
      <p:bldP spid="123962" grpId="0" build="p"/>
      <p:bldP spid="123963" grpId="0" build="p"/>
      <p:bldP spid="123964" grpId="0"/>
      <p:bldP spid="123965" grpId="0"/>
      <p:bldP spid="12396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1828800" y="1676400"/>
            <a:ext cx="8839200" cy="65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15000"/>
              </a:lnSpc>
              <a:buClrTx/>
              <a:buSzTx/>
              <a:defRPr/>
            </a:pPr>
            <a:r>
              <a:rPr kumimoji="1" lang="zh-CN" altLang="en-US" sz="3200" u="sng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性质</a:t>
            </a:r>
            <a:r>
              <a:rPr kumimoji="1" lang="en-US" altLang="zh-CN" sz="3200" u="sng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32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深度为 </a:t>
            </a:r>
            <a:r>
              <a:rPr kumimoji="1" lang="en-US" altLang="zh-CN" sz="28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k</a:t>
            </a:r>
            <a:r>
              <a:rPr kumimoji="1" lang="en-US" altLang="zh-CN" sz="2800" i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的二叉树至多有 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i="1" kern="1200" cap="none" spc="0" normalizeH="0" baseline="30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k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-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个结点。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</a:t>
            </a:r>
            <a:r>
              <a:rPr kumimoji="1" lang="en-US" altLang="zh-CN" sz="2800" i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k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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1)</a:t>
            </a:r>
            <a:endParaRPr kumimoji="1" lang="en-US" altLang="zh-CN" sz="3200" kern="1200" cap="none" spc="0" normalizeH="0" baseline="0" noProof="0">
              <a:solidFill>
                <a:srgbClr val="D6009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4343400" y="152400"/>
            <a:ext cx="3246438" cy="706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sng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rPr>
              <a:t>二叉树的性质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2" charset="-122"/>
              <a:cs typeface="+mn-cs"/>
              <a:sym typeface="+mn-ea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752600" y="3429000"/>
            <a:ext cx="3200400" cy="2590800"/>
            <a:chOff x="528" y="2496"/>
            <a:chExt cx="2256" cy="1344"/>
          </a:xfrm>
        </p:grpSpPr>
        <p:sp>
          <p:nvSpPr>
            <p:cNvPr id="36868" name="Line 5"/>
            <p:cNvSpPr/>
            <p:nvPr/>
          </p:nvSpPr>
          <p:spPr>
            <a:xfrm>
              <a:off x="1776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9" name="Line 6"/>
            <p:cNvSpPr/>
            <p:nvPr/>
          </p:nvSpPr>
          <p:spPr>
            <a:xfrm flipH="1">
              <a:off x="1152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0" name="Line 7"/>
            <p:cNvSpPr/>
            <p:nvPr/>
          </p:nvSpPr>
          <p:spPr>
            <a:xfrm>
              <a:off x="2304" y="3024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1" name="Line 8"/>
            <p:cNvSpPr/>
            <p:nvPr/>
          </p:nvSpPr>
          <p:spPr>
            <a:xfrm flipH="1">
              <a:off x="2016" y="2976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2" name="Line 9"/>
            <p:cNvSpPr/>
            <p:nvPr/>
          </p:nvSpPr>
          <p:spPr>
            <a:xfrm>
              <a:off x="1152" y="2976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3" name="Line 10"/>
            <p:cNvSpPr/>
            <p:nvPr/>
          </p:nvSpPr>
          <p:spPr>
            <a:xfrm flipH="1">
              <a:off x="816" y="3024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4" name="Line 11"/>
            <p:cNvSpPr/>
            <p:nvPr/>
          </p:nvSpPr>
          <p:spPr>
            <a:xfrm>
              <a:off x="2544" y="3360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5" name="Line 12"/>
            <p:cNvSpPr/>
            <p:nvPr/>
          </p:nvSpPr>
          <p:spPr>
            <a:xfrm flipH="1">
              <a:off x="2352" y="336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6" name="Line 13"/>
            <p:cNvSpPr/>
            <p:nvPr/>
          </p:nvSpPr>
          <p:spPr>
            <a:xfrm>
              <a:off x="2016" y="340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7" name="Line 14"/>
            <p:cNvSpPr/>
            <p:nvPr/>
          </p:nvSpPr>
          <p:spPr>
            <a:xfrm flipH="1">
              <a:off x="1776" y="3360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8" name="Line 15"/>
            <p:cNvSpPr/>
            <p:nvPr/>
          </p:nvSpPr>
          <p:spPr>
            <a:xfrm>
              <a:off x="1392" y="3360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9" name="Line 16"/>
            <p:cNvSpPr/>
            <p:nvPr/>
          </p:nvSpPr>
          <p:spPr>
            <a:xfrm flipH="1">
              <a:off x="1200" y="336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0" name="Line 17"/>
            <p:cNvSpPr/>
            <p:nvPr/>
          </p:nvSpPr>
          <p:spPr>
            <a:xfrm>
              <a:off x="864" y="340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1" name="Line 18"/>
            <p:cNvSpPr/>
            <p:nvPr/>
          </p:nvSpPr>
          <p:spPr>
            <a:xfrm flipH="1">
              <a:off x="624" y="3360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82" name="Oval 19"/>
            <p:cNvSpPr/>
            <p:nvPr/>
          </p:nvSpPr>
          <p:spPr>
            <a:xfrm>
              <a:off x="528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3" name="Oval 20"/>
            <p:cNvSpPr/>
            <p:nvPr/>
          </p:nvSpPr>
          <p:spPr>
            <a:xfrm>
              <a:off x="816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4" name="Oval 21"/>
            <p:cNvSpPr/>
            <p:nvPr/>
          </p:nvSpPr>
          <p:spPr>
            <a:xfrm>
              <a:off x="1104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5" name="Oval 22"/>
            <p:cNvSpPr/>
            <p:nvPr/>
          </p:nvSpPr>
          <p:spPr>
            <a:xfrm>
              <a:off x="1392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6" name="Oval 23"/>
            <p:cNvSpPr/>
            <p:nvPr/>
          </p:nvSpPr>
          <p:spPr>
            <a:xfrm>
              <a:off x="1680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7" name="Oval 24"/>
            <p:cNvSpPr/>
            <p:nvPr/>
          </p:nvSpPr>
          <p:spPr>
            <a:xfrm>
              <a:off x="1968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8" name="Oval 25"/>
            <p:cNvSpPr/>
            <p:nvPr/>
          </p:nvSpPr>
          <p:spPr>
            <a:xfrm>
              <a:off x="2256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9" name="Oval 26"/>
            <p:cNvSpPr/>
            <p:nvPr/>
          </p:nvSpPr>
          <p:spPr>
            <a:xfrm>
              <a:off x="2544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0" name="Oval 27"/>
            <p:cNvSpPr/>
            <p:nvPr/>
          </p:nvSpPr>
          <p:spPr>
            <a:xfrm>
              <a:off x="720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1" name="Oval 28"/>
            <p:cNvSpPr/>
            <p:nvPr/>
          </p:nvSpPr>
          <p:spPr>
            <a:xfrm>
              <a:off x="1248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2" name="Oval 29"/>
            <p:cNvSpPr/>
            <p:nvPr/>
          </p:nvSpPr>
          <p:spPr>
            <a:xfrm>
              <a:off x="1872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3" name="Oval 30"/>
            <p:cNvSpPr/>
            <p:nvPr/>
          </p:nvSpPr>
          <p:spPr>
            <a:xfrm>
              <a:off x="2400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4" name="Oval 31"/>
            <p:cNvSpPr/>
            <p:nvPr/>
          </p:nvSpPr>
          <p:spPr>
            <a:xfrm>
              <a:off x="1008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5" name="Oval 32"/>
            <p:cNvSpPr/>
            <p:nvPr/>
          </p:nvSpPr>
          <p:spPr>
            <a:xfrm>
              <a:off x="2160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6" name="Oval 33"/>
            <p:cNvSpPr/>
            <p:nvPr/>
          </p:nvSpPr>
          <p:spPr>
            <a:xfrm>
              <a:off x="1584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2914" name="Text Box 34"/>
          <p:cNvSpPr txBox="1">
            <a:spLocks noChangeArrowheads="1"/>
          </p:cNvSpPr>
          <p:nvPr/>
        </p:nvSpPr>
        <p:spPr bwMode="auto">
          <a:xfrm>
            <a:off x="1846263" y="1065213"/>
            <a:ext cx="8156575" cy="65722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lnSpc>
                <a:spcPct val="115000"/>
              </a:lnSpc>
              <a:buClrTx/>
              <a:buSzTx/>
              <a:defRPr/>
            </a:pPr>
            <a:r>
              <a:rPr kumimoji="1" lang="zh-CN" altLang="en-US" sz="3200" u="sng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性质</a:t>
            </a:r>
            <a:r>
              <a:rPr kumimoji="1" lang="en-US" altLang="zh-CN" sz="3200" u="sng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en-US" altLang="zh-CN" sz="32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在二叉树的第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 </a:t>
            </a: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层最多有 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i="1" kern="1200" cap="none" spc="0" normalizeH="0" baseline="30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i-1</a:t>
            </a:r>
            <a:r>
              <a:rPr kumimoji="1" lang="en-US" altLang="zh-CN" sz="2800" i="1" kern="1200" cap="none" spc="0" normalizeH="0" baseline="30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个结点。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</a:t>
            </a:r>
            <a:r>
              <a:rPr kumimoji="1" lang="en-US" altLang="zh-CN" sz="2800" i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</a:t>
            </a:r>
            <a:r>
              <a:rPr kumimoji="1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1)</a:t>
            </a:r>
            <a:endParaRPr kumimoji="1" lang="en-US" altLang="zh-CN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22915" name="Text Box 35"/>
          <p:cNvSpPr txBox="1"/>
          <p:nvPr/>
        </p:nvSpPr>
        <p:spPr>
          <a:xfrm>
            <a:off x="5257800" y="3952875"/>
            <a:ext cx="5010150" cy="1936750"/>
          </a:xfrm>
          <a:prstGeom prst="rect">
            <a:avLst/>
          </a:prstGeom>
          <a:solidFill>
            <a:srgbClr val="FFCC66"/>
          </a:solidFill>
          <a:ln w="38100">
            <a:noFill/>
          </a:ln>
        </p:spPr>
        <p:txBody>
          <a:bodyPr anchor="ctr" anchorCtr="0">
            <a:spAutoFit/>
          </a:bodyPr>
          <a:p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证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（数学归纳法）</a:t>
            </a:r>
            <a:endParaRPr lang="zh-CN" altLang="en-US" sz="24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sz="2400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 ,  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i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i-1 </a:t>
            </a:r>
            <a:r>
              <a:rPr lang="en-US" altLang="zh-CN" sz="2400" i="1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=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i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0</a:t>
            </a:r>
            <a:r>
              <a:rPr lang="en-US" altLang="zh-CN" sz="2400" i="1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=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i=j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成立，即第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层至多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i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j-1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个结点。     </a:t>
            </a:r>
            <a:endParaRPr lang="zh-CN" altLang="en-US" sz="2400" dirty="0">
              <a:solidFill>
                <a:srgbClr val="008000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   则</a:t>
            </a:r>
            <a:r>
              <a:rPr lang="en-US" altLang="zh-CN" sz="2400" i="1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j+1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层，最多有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2*2</a:t>
            </a:r>
            <a:r>
              <a:rPr lang="en-US" altLang="zh-CN" sz="2400" i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j-1</a:t>
            </a:r>
            <a:r>
              <a:rPr lang="en-US" altLang="zh-CN" sz="2400" i="1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=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i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(j+1)-1 </a:t>
            </a:r>
            <a:endParaRPr lang="en-US" altLang="zh-CN" sz="2400" i="1" baseline="30000" dirty="0">
              <a:solidFill>
                <a:srgbClr val="008000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r>
              <a:rPr lang="en-US" altLang="zh-CN" sz="2400" i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（由于每个最多有两个后继）</a:t>
            </a:r>
            <a:endParaRPr lang="zh-CN" altLang="en-US" sz="2400" dirty="0">
              <a:solidFill>
                <a:srgbClr val="008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2916" name="Text Box 36"/>
          <p:cNvSpPr txBox="1"/>
          <p:nvPr/>
        </p:nvSpPr>
        <p:spPr>
          <a:xfrm>
            <a:off x="5378450" y="3962400"/>
            <a:ext cx="5060950" cy="1962150"/>
          </a:xfrm>
          <a:prstGeom prst="rect">
            <a:avLst/>
          </a:prstGeom>
          <a:solidFill>
            <a:srgbClr val="FFCC66"/>
          </a:solidFill>
          <a:ln w="38100">
            <a:noFill/>
          </a:ln>
        </p:spPr>
        <p:txBody>
          <a:bodyPr anchor="ctr" anchorCtr="0">
            <a:spAutoFit/>
          </a:bodyPr>
          <a:p>
            <a:pPr>
              <a:lnSpc>
                <a:spcPct val="115000"/>
              </a:lnSpc>
            </a:pP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[</a:t>
            </a:r>
            <a:r>
              <a:rPr lang="zh-CN" altLang="en-US" sz="32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证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]  </a:t>
            </a:r>
            <a:endParaRPr lang="en-US" altLang="zh-CN" sz="3200" dirty="0">
              <a:solidFill>
                <a:srgbClr val="009900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3200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0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 + 2</a:t>
            </a:r>
            <a:r>
              <a:rPr lang="en-US" altLang="zh-CN" sz="3200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 +  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 + 2</a:t>
            </a:r>
            <a:r>
              <a:rPr lang="en-US" altLang="zh-CN" sz="3200" b="0" i="1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k-1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2</a:t>
            </a:r>
            <a:r>
              <a:rPr lang="en-US" altLang="zh-CN" sz="3200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320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dirty="0">
              <a:solidFill>
                <a:srgbClr val="D60093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pPr algn="ctr"/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7" name="Text Box 37"/>
          <p:cNvSpPr txBox="1">
            <a:spLocks noChangeArrowheads="1"/>
          </p:cNvSpPr>
          <p:nvPr/>
        </p:nvSpPr>
        <p:spPr bwMode="auto">
          <a:xfrm>
            <a:off x="1846263" y="2281238"/>
            <a:ext cx="7993063" cy="10604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lnSpc>
                <a:spcPct val="105000"/>
              </a:lnSpc>
              <a:buClrTx/>
              <a:buSzTx/>
              <a:defRPr/>
            </a:pPr>
            <a:r>
              <a:rPr kumimoji="1" lang="zh-CN" altLang="en-US" sz="3200" u="sng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性质</a:t>
            </a:r>
            <a:r>
              <a:rPr kumimoji="1" lang="en-US" altLang="zh-CN" sz="3200" u="sng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3</a:t>
            </a:r>
            <a:r>
              <a:rPr kumimoji="1" lang="en-US" altLang="zh-CN" sz="32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对任何一棵二叉树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若其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叶结点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个数为 </a:t>
            </a:r>
            <a:r>
              <a:rPr kumimoji="1" lang="en-US" altLang="zh-CN" sz="28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0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</a:t>
            </a:r>
            <a:endParaRPr kumimoji="1" lang="en-US" altLang="zh-CN" sz="28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algn="ctr" defTabSz="914400">
              <a:lnSpc>
                <a:spcPct val="105000"/>
              </a:lnSpc>
              <a:buClrTx/>
              <a:buSzTx/>
              <a:defRPr/>
            </a:pP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   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度为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的结点个数为 </a:t>
            </a:r>
            <a:r>
              <a:rPr kumimoji="1" lang="en-US" altLang="zh-CN" sz="28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  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则有  </a:t>
            </a:r>
            <a:r>
              <a:rPr kumimoji="1" lang="en-US" altLang="zh-CN" sz="28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0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＝</a:t>
            </a:r>
            <a:r>
              <a:rPr kumimoji="1" lang="en-US" altLang="zh-CN" sz="28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＋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。</a:t>
            </a:r>
            <a:endParaRPr kumimoji="1" lang="zh-CN" altLang="en-US" sz="28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3" name="Group 38"/>
          <p:cNvGrpSpPr/>
          <p:nvPr/>
        </p:nvGrpSpPr>
        <p:grpSpPr>
          <a:xfrm>
            <a:off x="5181600" y="3808413"/>
            <a:ext cx="5181600" cy="2108200"/>
            <a:chOff x="240" y="2015"/>
            <a:chExt cx="2544" cy="1328"/>
          </a:xfrm>
        </p:grpSpPr>
        <p:sp>
          <p:nvSpPr>
            <p:cNvPr id="122919" name="Text Box 39"/>
            <p:cNvSpPr txBox="1">
              <a:spLocks noChangeArrowheads="1"/>
            </p:cNvSpPr>
            <p:nvPr/>
          </p:nvSpPr>
          <p:spPr bwMode="auto">
            <a:xfrm>
              <a:off x="240" y="2975"/>
              <a:ext cx="2544" cy="368"/>
            </a:xfrm>
            <a:prstGeom prst="rect">
              <a:avLst/>
            </a:prstGeom>
            <a:solidFill>
              <a:srgbClr val="FFCC66"/>
            </a:solidFill>
            <a:ln w="38100">
              <a:noFill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         n</a:t>
              </a:r>
              <a:r>
                <a:rPr kumimoji="1" lang="en-US" altLang="zh-CN" sz="3200" kern="1200" cap="none" spc="0" normalizeH="0" baseline="-2500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0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= </a:t>
              </a: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n</a:t>
              </a:r>
              <a:r>
                <a:rPr kumimoji="1" lang="en-US" altLang="zh-CN" sz="3200" kern="1200" cap="none" spc="0" normalizeH="0" baseline="-2500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2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+ 1</a:t>
              </a:r>
              <a:endParaRPr kumimoji="1" lang="en-US" altLang="zh-CN" sz="32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122920" name="Text Box 40"/>
            <p:cNvSpPr txBox="1">
              <a:spLocks noChangeArrowheads="1"/>
            </p:cNvSpPr>
            <p:nvPr/>
          </p:nvSpPr>
          <p:spPr bwMode="auto">
            <a:xfrm>
              <a:off x="240" y="2286"/>
              <a:ext cx="2544" cy="708"/>
            </a:xfrm>
            <a:prstGeom prst="rect">
              <a:avLst/>
            </a:prstGeom>
            <a:solidFill>
              <a:srgbClr val="FFCC66"/>
            </a:solidFill>
            <a:ln w="38100">
              <a:noFill/>
              <a:miter lim="800000"/>
            </a:ln>
            <a:effectLst/>
          </p:spPr>
          <p:txBody>
            <a:bodyPr anchor="ctr">
              <a:spAutoFit/>
            </a:bodyPr>
            <a:lstStyle/>
            <a:p>
              <a:pPr marR="0" defTabSz="914400">
                <a:lnSpc>
                  <a:spcPct val="105000"/>
                </a:lnSpc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   n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= </a:t>
              </a: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n</a:t>
              </a:r>
              <a:r>
                <a:rPr kumimoji="1" lang="en-US" altLang="zh-CN" sz="3200" kern="1200" cap="none" spc="0" normalizeH="0" baseline="-2500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0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+ </a:t>
              </a: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n</a:t>
              </a:r>
              <a:r>
                <a:rPr kumimoji="1" lang="en-US" altLang="zh-CN" sz="3200" kern="1200" cap="none" spc="0" normalizeH="0" baseline="-2500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1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+ </a:t>
              </a: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n</a:t>
              </a:r>
              <a:r>
                <a:rPr kumimoji="1" lang="en-US" altLang="zh-CN" sz="3200" kern="1200" cap="none" spc="0" normalizeH="0" baseline="-2500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2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   </a:t>
              </a:r>
              <a:endParaRPr kumimoji="1" lang="en-US" altLang="zh-CN" sz="32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endParaRPr>
            </a:p>
            <a:p>
              <a:pPr marR="0" defTabSz="914400">
                <a:lnSpc>
                  <a:spcPct val="105000"/>
                </a:lnSpc>
                <a:buClrTx/>
                <a:buSzTx/>
                <a:defRPr/>
              </a:pP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   2</a:t>
              </a: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n</a:t>
              </a:r>
              <a:r>
                <a:rPr kumimoji="1" lang="en-US" altLang="zh-CN" sz="3200" kern="1200" cap="none" spc="0" normalizeH="0" baseline="-2500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2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+ </a:t>
              </a: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n</a:t>
              </a:r>
              <a:r>
                <a:rPr kumimoji="1" lang="en-US" altLang="zh-CN" sz="3200" kern="1200" cap="none" spc="0" normalizeH="0" baseline="-2500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1 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= </a:t>
              </a:r>
              <a:r>
                <a:rPr kumimoji="1" lang="en-US" altLang="zh-CN" sz="3200" i="1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n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  <a:sym typeface="+mn-ea"/>
                </a:rPr>
                <a:t>-</a:t>
              </a:r>
              <a:r>
                <a:rPr kumimoji="1" lang="en-US" altLang="zh-CN" sz="3200" kern="1200" cap="none" spc="0" normalizeH="0" baseline="0" noProof="0">
                  <a:solidFill>
                    <a:srgbClr val="008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 1</a:t>
              </a:r>
              <a:endParaRPr kumimoji="1" lang="en-US" altLang="zh-CN" sz="2400" kern="1200" cap="none" spc="0" normalizeH="0" baseline="0" noProof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6904" name="AutoShape 41"/>
            <p:cNvSpPr/>
            <p:nvPr/>
          </p:nvSpPr>
          <p:spPr>
            <a:xfrm>
              <a:off x="432" y="3024"/>
              <a:ext cx="288" cy="240"/>
            </a:xfrm>
            <a:prstGeom prst="rightArrow">
              <a:avLst>
                <a:gd name="adj1" fmla="val 50000"/>
                <a:gd name="adj2" fmla="val 30000"/>
              </a:avLst>
            </a:prstGeom>
            <a:solidFill>
              <a:srgbClr val="CC3300"/>
            </a:soli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05" name="AutoShape 42"/>
            <p:cNvSpPr/>
            <p:nvPr/>
          </p:nvSpPr>
          <p:spPr>
            <a:xfrm>
              <a:off x="373" y="2496"/>
              <a:ext cx="107" cy="384"/>
            </a:xfrm>
            <a:prstGeom prst="leftBrace">
              <a:avLst>
                <a:gd name="adj1" fmla="val 29557"/>
                <a:gd name="adj2" fmla="val 50000"/>
              </a:avLst>
            </a:prstGeom>
            <a:solidFill>
              <a:srgbClr val="FFCC66"/>
            </a:solidFill>
            <a:ln w="38100" cap="flat" cmpd="sng">
              <a:solidFill>
                <a:srgbClr val="CC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36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06" name="Text Box 43"/>
            <p:cNvSpPr txBox="1"/>
            <p:nvPr/>
          </p:nvSpPr>
          <p:spPr>
            <a:xfrm>
              <a:off x="252" y="2015"/>
              <a:ext cx="2532" cy="368"/>
            </a:xfrm>
            <a:prstGeom prst="rect">
              <a:avLst/>
            </a:prstGeom>
            <a:solidFill>
              <a:srgbClr val="FFCC66"/>
            </a:solidFill>
            <a:ln w="38100">
              <a:noFill/>
            </a:ln>
          </p:spPr>
          <p:txBody>
            <a:bodyPr anchor="ctr" anchorCtr="0">
              <a:spAutoFit/>
            </a:bodyPr>
            <a:p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[</a:t>
              </a:r>
              <a:r>
                <a:rPr lang="zh-CN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证</a:t>
              </a:r>
              <a:r>
                <a:rPr lang="en-US" altLang="zh-CN" sz="3200" dirty="0">
                  <a:solidFill>
                    <a:srgbClr val="008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]</a:t>
              </a:r>
              <a:endPara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 bldLvl="0" animBg="1"/>
      <p:bldP spid="122914" grpId="0" bldLvl="0" animBg="1"/>
      <p:bldP spid="122915" grpId="0" bldLvl="0" animBg="1"/>
      <p:bldP spid="122916" grpId="0" bldLvl="0" animBg="1"/>
      <p:bldP spid="122917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1752600" y="152400"/>
            <a:ext cx="8382000" cy="1149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05000"/>
              </a:lnSpc>
              <a:spcBef>
                <a:spcPct val="5000"/>
              </a:spcBef>
              <a:buClrTx/>
              <a:buSzTx/>
              <a:defRPr/>
            </a:pPr>
            <a:r>
              <a:rPr kumimoji="1" lang="zh-CN" altLang="en-US" sz="3200" u="sng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性质</a:t>
            </a:r>
            <a:r>
              <a:rPr kumimoji="1" lang="en-US" altLang="zh-CN" sz="3200" u="sng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4</a:t>
            </a:r>
            <a:r>
              <a:rPr kumimoji="1" lang="en-US" altLang="zh-CN" sz="3200" b="0" kern="1200" cap="none" spc="0" normalizeH="0" baseline="0" noProof="0" dirty="0"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具有 </a:t>
            </a:r>
            <a:r>
              <a:rPr kumimoji="1" lang="en-US" altLang="zh-CN" sz="2800" i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 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</a:t>
            </a:r>
            <a:r>
              <a:rPr kumimoji="1" lang="en-US" altLang="zh-CN" sz="2800" i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 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 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0)</a:t>
            </a:r>
            <a:r>
              <a:rPr kumimoji="1" lang="en-US" altLang="zh-CN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个结点的完全二叉树的深度为</a:t>
            </a:r>
            <a:endParaRPr kumimoji="1" lang="zh-CN" altLang="en-US" sz="2800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spcBef>
                <a:spcPct val="5000"/>
              </a:spcBef>
              <a:buClrTx/>
              <a:buSzTx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       </a:t>
            </a:r>
            <a:r>
              <a:rPr kumimoji="1" lang="zh-CN" altLang="en-US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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log</a:t>
            </a:r>
            <a:r>
              <a:rPr kumimoji="1" lang="en-US" altLang="zh-CN" sz="2800" kern="1200" cap="none" spc="0" normalizeH="0" baseline="-2500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</a:t>
            </a:r>
            <a:r>
              <a:rPr kumimoji="1" lang="en-US" altLang="zh-CN" sz="2800" i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+1)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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1" lang="zh-CN" altLang="en-US" sz="3200" kern="1200" cap="none" spc="0" normalizeH="0" baseline="0" noProof="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或者</a:t>
            </a:r>
            <a:r>
              <a:rPr kumimoji="1" lang="en-US" altLang="zh-CN" sz="3200" kern="1200" cap="none" spc="0" normalizeH="0" baseline="0" noProof="0" dirty="0" smtClean="0">
                <a:solidFill>
                  <a:srgbClr val="FF3300"/>
                </a:solidFill>
                <a:latin typeface="Times New Roman" panose="02020603050405020304" pitchFamily="18" charset="0"/>
                <a:ea typeface="MS UI Gothic" panose="020B0600070205080204" pitchFamily="34" charset="-128"/>
                <a:cs typeface="+mn-cs"/>
                <a:sym typeface="Symbol" panose="05050102010706020507" pitchFamily="18" charset="2"/>
              </a:rPr>
              <a:t>⌊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log</a:t>
            </a:r>
            <a:r>
              <a:rPr kumimoji="1" lang="en-US" altLang="zh-CN" sz="3200" kern="1200" cap="none" spc="0" normalizeH="0" baseline="-25000" noProof="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</a:t>
            </a:r>
            <a:r>
              <a:rPr kumimoji="1" lang="en-US" altLang="zh-CN" sz="3200" i="1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) 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MS UI Gothic" panose="020B0600070205080204" pitchFamily="34" charset="-128"/>
                <a:cs typeface="+mn-cs"/>
                <a:sym typeface="Symbol" panose="05050102010706020507" pitchFamily="18" charset="2"/>
              </a:rPr>
              <a:t>⌋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+</a:t>
            </a:r>
            <a:r>
              <a:rPr kumimoji="1" lang="en-US" altLang="zh-CN" sz="3200" kern="1200" cap="none" spc="0" normalizeH="0" baseline="0" noProof="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 </a:t>
            </a:r>
            <a:endParaRPr kumimoji="1" lang="en-US" altLang="zh-CN" sz="32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124938" name="Text Box 10"/>
          <p:cNvSpPr txBox="1"/>
          <p:nvPr/>
        </p:nvSpPr>
        <p:spPr>
          <a:xfrm>
            <a:off x="5257800" y="4185921"/>
            <a:ext cx="4287520" cy="2099310"/>
          </a:xfrm>
          <a:prstGeom prst="rect">
            <a:avLst/>
          </a:prstGeom>
          <a:solidFill>
            <a:srgbClr val="FFCC66"/>
          </a:solidFill>
          <a:ln w="38100">
            <a:noFill/>
          </a:ln>
        </p:spPr>
        <p:txBody>
          <a:bodyPr wrap="none" anchor="ctr" anchorCtr="0">
            <a:spAutoFit/>
          </a:bodyPr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[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证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仿宋_GB2312" pitchFamily="49" charset="-122"/>
              </a:rPr>
              <a:t>]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设完全二叉树的高度为 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k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则有：      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i="1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k-1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 1 &lt; </a:t>
            </a:r>
            <a:r>
              <a:rPr lang="en-US" altLang="zh-CN" sz="2400" i="1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 2</a:t>
            </a:r>
            <a:r>
              <a:rPr lang="en-US" altLang="zh-CN" sz="2400" i="1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1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变形       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i="1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k-1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i="1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&lt;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2</a:t>
            </a:r>
            <a:r>
              <a:rPr lang="en-US" altLang="zh-CN" sz="2400" i="1" baseline="300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 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取对数       </a:t>
            </a:r>
            <a:r>
              <a:rPr lang="en-US" altLang="zh-CN" sz="2400" i="1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k-1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 log</a:t>
            </a:r>
            <a:r>
              <a:rPr lang="en-US" altLang="zh-CN" sz="2400" baseline="-250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&lt;</a:t>
            </a:r>
            <a:r>
              <a:rPr lang="en-US" altLang="zh-CN" sz="2400" dirty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k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因此有        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k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 =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MS UI Gothic" panose="020B0600070205080204" pitchFamily="34" charset="-128"/>
                <a:sym typeface="Symbol" panose="05050102010706020507" pitchFamily="18" charset="2"/>
              </a:rPr>
              <a:t>⌊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log</a:t>
            </a:r>
            <a:r>
              <a:rPr lang="en-US" altLang="zh-CN" sz="2400" baseline="-2500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n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)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MS UI Gothic" panose="020B0600070205080204" pitchFamily="34" charset="-128"/>
                <a:sym typeface="Symbol" panose="05050102010706020507" pitchFamily="18" charset="2"/>
              </a:rPr>
              <a:t>⌋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仿宋_GB2312" pitchFamily="49" charset="-122"/>
              </a:rPr>
              <a:t>1 </a:t>
            </a:r>
            <a:endParaRPr lang="en-US" altLang="zh-CN" sz="2400" dirty="0">
              <a:solidFill>
                <a:srgbClr val="FF33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24939" name="Text Box 11"/>
          <p:cNvSpPr txBox="1">
            <a:spLocks noChangeArrowheads="1"/>
          </p:cNvSpPr>
          <p:nvPr/>
        </p:nvSpPr>
        <p:spPr bwMode="auto">
          <a:xfrm>
            <a:off x="1752600" y="1219200"/>
            <a:ext cx="7810500" cy="2922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3200" u="sng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性质</a:t>
            </a:r>
            <a:r>
              <a:rPr kumimoji="1" lang="en-US" altLang="zh-CN" sz="3200" u="sng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5</a:t>
            </a:r>
            <a:r>
              <a:rPr kumimoji="1" lang="en-US" altLang="zh-CN" sz="32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一棵有</a:t>
            </a:r>
            <a:r>
              <a:rPr kumimoji="1" lang="en-US" altLang="zh-CN" sz="2800" i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个结点的完全二叉树，若按层次结点编号，对于任一编号为</a:t>
            </a:r>
            <a:r>
              <a:rPr kumimoji="1" lang="en-US" altLang="zh-CN" sz="2800" kern="1200" cap="none" spc="0" normalizeH="0" baseline="0" noProof="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zh-CN" altLang="en-US" sz="2800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结点，则有：</a:t>
            </a:r>
            <a:r>
              <a:rPr kumimoji="1" lang="zh-CN" altLang="en-US" sz="32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endParaRPr kumimoji="1" lang="zh-CN" altLang="en-US" sz="3200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buClr>
                <a:srgbClr val="FF66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若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= 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1,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则结点 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无双亲</a:t>
            </a:r>
            <a:endParaRPr kumimoji="1" lang="zh-CN" altLang="en-US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buClr>
                <a:srgbClr val="FF6600"/>
              </a:buClr>
              <a:buSzPct val="65000"/>
              <a:buFont typeface="Wingdings" panose="05000000000000000000" pitchFamily="2" charset="2"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若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&gt; 1,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则结点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的双亲编号为</a:t>
            </a:r>
            <a:r>
              <a:rPr kumimoji="1" lang="zh-CN" altLang="en-US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</a:t>
            </a:r>
            <a:r>
              <a:rPr kumimoji="1" lang="en-US" altLang="zh-CN" sz="2800" i="1" kern="1200" cap="none" spc="0" normalizeH="0" baseline="0" noProof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i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/2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</a:t>
            </a:r>
            <a:endParaRPr kumimoji="1" lang="en-US" altLang="zh-CN" sz="2800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buClr>
                <a:srgbClr val="FF66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若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2*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&lt;=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n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则结点 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的左孩子编号为 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2*</a:t>
            </a:r>
            <a:r>
              <a:rPr kumimoji="1" lang="en-US" altLang="zh-CN" sz="2800" i="1" kern="1200" cap="none" spc="0" normalizeH="0" baseline="0" noProof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endParaRPr kumimoji="1" lang="en-US" altLang="zh-CN" sz="2800" kern="1200" cap="none" spc="0" normalizeH="0" baseline="0" noProof="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buClr>
                <a:srgbClr val="FF6600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若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2*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&lt;= 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则结点 </a:t>
            </a:r>
            <a:r>
              <a:rPr kumimoji="1" lang="en-US" altLang="zh-CN" sz="2800" i="1" kern="1200" cap="none" spc="0" normalizeH="0" baseline="0" noProof="0" dirty="0" err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2800" i="1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的右孩子编号为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2*</a:t>
            </a:r>
            <a:r>
              <a:rPr kumimoji="1" lang="en-US" altLang="zh-CN" sz="2800" i="1" kern="1200" cap="none" spc="0" normalizeH="0" baseline="0" noProof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</a:t>
            </a:r>
            <a:r>
              <a:rPr kumimoji="1" lang="en-US" altLang="zh-CN" sz="3200" kern="1200" cap="none" spc="0" normalizeH="0" baseline="0" noProof="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+1</a:t>
            </a:r>
            <a:endParaRPr kumimoji="1" lang="en-US" altLang="zh-CN" sz="2800" b="0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2" name="Group 65"/>
          <p:cNvGrpSpPr/>
          <p:nvPr/>
        </p:nvGrpSpPr>
        <p:grpSpPr>
          <a:xfrm>
            <a:off x="1784350" y="4267200"/>
            <a:ext cx="3352800" cy="2133600"/>
            <a:chOff x="3072" y="2496"/>
            <a:chExt cx="2112" cy="1344"/>
          </a:xfrm>
        </p:grpSpPr>
        <p:sp>
          <p:nvSpPr>
            <p:cNvPr id="37893" name="Line 66"/>
            <p:cNvSpPr/>
            <p:nvPr/>
          </p:nvSpPr>
          <p:spPr>
            <a:xfrm>
              <a:off x="4848" y="3024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4" name="Line 67"/>
            <p:cNvSpPr/>
            <p:nvPr/>
          </p:nvSpPr>
          <p:spPr>
            <a:xfrm flipH="1">
              <a:off x="4560" y="2976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5" name="Line 68"/>
            <p:cNvSpPr/>
            <p:nvPr/>
          </p:nvSpPr>
          <p:spPr>
            <a:xfrm>
              <a:off x="3696" y="2976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6" name="Line 69"/>
            <p:cNvSpPr/>
            <p:nvPr/>
          </p:nvSpPr>
          <p:spPr>
            <a:xfrm flipH="1">
              <a:off x="3360" y="3024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7" name="Line 70"/>
            <p:cNvSpPr/>
            <p:nvPr/>
          </p:nvSpPr>
          <p:spPr>
            <a:xfrm>
              <a:off x="4320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8" name="Line 71"/>
            <p:cNvSpPr/>
            <p:nvPr/>
          </p:nvSpPr>
          <p:spPr>
            <a:xfrm flipH="1">
              <a:off x="3696" y="2640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9" name="Oval 72"/>
            <p:cNvSpPr/>
            <p:nvPr/>
          </p:nvSpPr>
          <p:spPr>
            <a:xfrm>
              <a:off x="4128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0" name="Line 73"/>
            <p:cNvSpPr/>
            <p:nvPr/>
          </p:nvSpPr>
          <p:spPr>
            <a:xfrm flipH="1">
              <a:off x="3744" y="336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1" name="Line 74"/>
            <p:cNvSpPr/>
            <p:nvPr/>
          </p:nvSpPr>
          <p:spPr>
            <a:xfrm>
              <a:off x="3408" y="3408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2" name="Line 75"/>
            <p:cNvSpPr/>
            <p:nvPr/>
          </p:nvSpPr>
          <p:spPr>
            <a:xfrm flipH="1">
              <a:off x="3168" y="3360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03" name="Oval 76"/>
            <p:cNvSpPr/>
            <p:nvPr/>
          </p:nvSpPr>
          <p:spPr>
            <a:xfrm>
              <a:off x="3072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4" name="Oval 77"/>
            <p:cNvSpPr/>
            <p:nvPr/>
          </p:nvSpPr>
          <p:spPr>
            <a:xfrm>
              <a:off x="3360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5" name="Oval 78"/>
            <p:cNvSpPr/>
            <p:nvPr/>
          </p:nvSpPr>
          <p:spPr>
            <a:xfrm>
              <a:off x="3648" y="360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6" name="Oval 79"/>
            <p:cNvSpPr/>
            <p:nvPr/>
          </p:nvSpPr>
          <p:spPr>
            <a:xfrm>
              <a:off x="3264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7" name="Oval 80"/>
            <p:cNvSpPr/>
            <p:nvPr/>
          </p:nvSpPr>
          <p:spPr>
            <a:xfrm>
              <a:off x="3792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8" name="Oval 81"/>
            <p:cNvSpPr/>
            <p:nvPr/>
          </p:nvSpPr>
          <p:spPr>
            <a:xfrm>
              <a:off x="4416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9" name="Oval 82"/>
            <p:cNvSpPr/>
            <p:nvPr/>
          </p:nvSpPr>
          <p:spPr>
            <a:xfrm>
              <a:off x="4944" y="321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10" name="Oval 83"/>
            <p:cNvSpPr/>
            <p:nvPr/>
          </p:nvSpPr>
          <p:spPr>
            <a:xfrm>
              <a:off x="3552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11" name="Oval 84"/>
            <p:cNvSpPr/>
            <p:nvPr/>
          </p:nvSpPr>
          <p:spPr>
            <a:xfrm>
              <a:off x="4704" y="283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5013" name="Text Box 85"/>
          <p:cNvSpPr txBox="1"/>
          <p:nvPr/>
        </p:nvSpPr>
        <p:spPr>
          <a:xfrm>
            <a:off x="1698625" y="4030663"/>
            <a:ext cx="3438525" cy="2501900"/>
          </a:xfrm>
          <a:prstGeom prst="rect">
            <a:avLst/>
          </a:prstGeom>
          <a:noFill/>
          <a:ln w="38100">
            <a:noFill/>
          </a:ln>
        </p:spPr>
        <p:txBody>
          <a:bodyPr wrap="square" anchor="ctr" anchorCtr="0">
            <a:spAutoFit/>
          </a:bodyPr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1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2                  3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4        5        6        7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8   9   10                          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014" name="Text Box 86"/>
          <p:cNvSpPr txBox="1"/>
          <p:nvPr/>
        </p:nvSpPr>
        <p:spPr>
          <a:xfrm>
            <a:off x="5303520" y="4148773"/>
            <a:ext cx="4648200" cy="2246312"/>
          </a:xfrm>
          <a:prstGeom prst="rect">
            <a:avLst/>
          </a:prstGeom>
          <a:solidFill>
            <a:srgbClr val="FFCC66"/>
          </a:solidFill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结点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的双亲编号为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结点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的左孩子编号为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结点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的右孩子编号为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5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5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5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5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ldLvl="0" animBg="1"/>
      <p:bldP spid="124938" grpId="0" bldLvl="0" animBg="1"/>
      <p:bldP spid="124939" grpId="0" bldLvl="0" animBg="1"/>
      <p:bldP spid="125013" grpId="0"/>
      <p:bldP spid="12501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94"/>
          <p:cNvGrpSpPr/>
          <p:nvPr/>
        </p:nvGrpSpPr>
        <p:grpSpPr>
          <a:xfrm>
            <a:off x="6705600" y="3656013"/>
            <a:ext cx="2914650" cy="2351087"/>
            <a:chOff x="2154" y="767"/>
            <a:chExt cx="1836" cy="1481"/>
          </a:xfrm>
        </p:grpSpPr>
        <p:sp>
          <p:nvSpPr>
            <p:cNvPr id="38914" name="Line 195"/>
            <p:cNvSpPr/>
            <p:nvPr/>
          </p:nvSpPr>
          <p:spPr>
            <a:xfrm>
              <a:off x="2688" y="1584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5" name="Line 196"/>
            <p:cNvSpPr/>
            <p:nvPr/>
          </p:nvSpPr>
          <p:spPr>
            <a:xfrm>
              <a:off x="3360" y="1008"/>
              <a:ext cx="384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" name="Line 197"/>
            <p:cNvSpPr/>
            <p:nvPr/>
          </p:nvSpPr>
          <p:spPr>
            <a:xfrm flipH="1">
              <a:off x="2736" y="1008"/>
              <a:ext cx="38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7" name="Line 198"/>
            <p:cNvSpPr/>
            <p:nvPr/>
          </p:nvSpPr>
          <p:spPr>
            <a:xfrm>
              <a:off x="3216" y="110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8" name="Line 199"/>
            <p:cNvSpPr/>
            <p:nvPr/>
          </p:nvSpPr>
          <p:spPr>
            <a:xfrm>
              <a:off x="3798" y="1671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9" name="Line 200"/>
            <p:cNvSpPr/>
            <p:nvPr/>
          </p:nvSpPr>
          <p:spPr>
            <a:xfrm flipH="1">
              <a:off x="2400" y="1584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0" name="Oval 201"/>
            <p:cNvSpPr/>
            <p:nvPr/>
          </p:nvSpPr>
          <p:spPr>
            <a:xfrm>
              <a:off x="3072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1" name="Oval 202"/>
            <p:cNvSpPr/>
            <p:nvPr/>
          </p:nvSpPr>
          <p:spPr>
            <a:xfrm>
              <a:off x="2496" y="129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2" name="Oval 203"/>
            <p:cNvSpPr/>
            <p:nvPr/>
          </p:nvSpPr>
          <p:spPr>
            <a:xfrm>
              <a:off x="307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3" name="Oval 204"/>
            <p:cNvSpPr/>
            <p:nvPr/>
          </p:nvSpPr>
          <p:spPr>
            <a:xfrm>
              <a:off x="3648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4" name="Oval 205"/>
            <p:cNvSpPr/>
            <p:nvPr/>
          </p:nvSpPr>
          <p:spPr>
            <a:xfrm>
              <a:off x="2154" y="186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5" name="Oval 206"/>
            <p:cNvSpPr/>
            <p:nvPr/>
          </p:nvSpPr>
          <p:spPr>
            <a:xfrm>
              <a:off x="2688" y="18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6" name="Oval 207"/>
            <p:cNvSpPr/>
            <p:nvPr/>
          </p:nvSpPr>
          <p:spPr>
            <a:xfrm>
              <a:off x="3654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7" name="Text Box 208"/>
            <p:cNvSpPr txBox="1"/>
            <p:nvPr/>
          </p:nvSpPr>
          <p:spPr>
            <a:xfrm>
              <a:off x="3121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8" name="Text Box 209"/>
            <p:cNvSpPr txBox="1"/>
            <p:nvPr/>
          </p:nvSpPr>
          <p:spPr>
            <a:xfrm>
              <a:off x="312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9" name="Text Box 210"/>
            <p:cNvSpPr txBox="1"/>
            <p:nvPr/>
          </p:nvSpPr>
          <p:spPr>
            <a:xfrm>
              <a:off x="3696" y="1919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0" name="Text Box 211"/>
            <p:cNvSpPr txBox="1"/>
            <p:nvPr/>
          </p:nvSpPr>
          <p:spPr>
            <a:xfrm>
              <a:off x="2545" y="129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1" name="Text Box 212"/>
            <p:cNvSpPr txBox="1"/>
            <p:nvPr/>
          </p:nvSpPr>
          <p:spPr>
            <a:xfrm>
              <a:off x="3697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2" name="Text Box 213"/>
            <p:cNvSpPr txBox="1"/>
            <p:nvPr/>
          </p:nvSpPr>
          <p:spPr>
            <a:xfrm>
              <a:off x="2208" y="187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3" name="Text Box 214"/>
            <p:cNvSpPr txBox="1"/>
            <p:nvPr/>
          </p:nvSpPr>
          <p:spPr>
            <a:xfrm>
              <a:off x="2737" y="1871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93"/>
          <p:cNvGrpSpPr/>
          <p:nvPr/>
        </p:nvGrpSpPr>
        <p:grpSpPr>
          <a:xfrm>
            <a:off x="1524000" y="2436813"/>
            <a:ext cx="4138613" cy="4043362"/>
            <a:chOff x="0" y="1535"/>
            <a:chExt cx="2607" cy="2546"/>
          </a:xfrm>
        </p:grpSpPr>
        <p:grpSp>
          <p:nvGrpSpPr>
            <p:cNvPr id="38935" name="Group 84"/>
            <p:cNvGrpSpPr/>
            <p:nvPr/>
          </p:nvGrpSpPr>
          <p:grpSpPr>
            <a:xfrm>
              <a:off x="144" y="2255"/>
              <a:ext cx="2153" cy="1826"/>
              <a:chOff x="2314" y="1614"/>
              <a:chExt cx="3238" cy="2046"/>
            </a:xfrm>
          </p:grpSpPr>
          <p:grpSp>
            <p:nvGrpSpPr>
              <p:cNvPr id="38936" name="Group 2"/>
              <p:cNvGrpSpPr/>
              <p:nvPr/>
            </p:nvGrpSpPr>
            <p:grpSpPr>
              <a:xfrm>
                <a:off x="2638" y="2084"/>
                <a:ext cx="720" cy="325"/>
                <a:chOff x="3310" y="1460"/>
                <a:chExt cx="720" cy="325"/>
              </a:xfrm>
            </p:grpSpPr>
            <p:sp>
              <p:nvSpPr>
                <p:cNvPr id="21637" name="Rectangle 3"/>
                <p:cNvSpPr>
                  <a:spLocks noChangeArrowheads="1"/>
                </p:cNvSpPr>
                <p:nvPr/>
              </p:nvSpPr>
              <p:spPr bwMode="auto">
                <a:xfrm>
                  <a:off x="3310" y="1488"/>
                  <a:ext cx="720" cy="288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38" name="Line 4"/>
                <p:cNvSpPr/>
                <p:nvPr/>
              </p:nvSpPr>
              <p:spPr>
                <a:xfrm>
                  <a:off x="3552" y="1488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39" name="Line 5"/>
                <p:cNvSpPr/>
                <p:nvPr/>
              </p:nvSpPr>
              <p:spPr>
                <a:xfrm>
                  <a:off x="3792" y="1488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40" name="Text Box 6"/>
                <p:cNvSpPr txBox="1"/>
                <p:nvPr/>
              </p:nvSpPr>
              <p:spPr>
                <a:xfrm>
                  <a:off x="3499" y="1460"/>
                  <a:ext cx="382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  <a:endParaRPr lang="en-US" altLang="zh-CN" sz="2400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8941" name="Line 34"/>
              <p:cNvSpPr/>
              <p:nvPr/>
            </p:nvSpPr>
            <p:spPr>
              <a:xfrm flipH="1">
                <a:off x="2784" y="2304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38942" name="Group 35"/>
              <p:cNvGrpSpPr/>
              <p:nvPr/>
            </p:nvGrpSpPr>
            <p:grpSpPr>
              <a:xfrm>
                <a:off x="2638" y="2709"/>
                <a:ext cx="720" cy="325"/>
                <a:chOff x="2686" y="1941"/>
                <a:chExt cx="720" cy="325"/>
              </a:xfrm>
            </p:grpSpPr>
            <p:sp>
              <p:nvSpPr>
                <p:cNvPr id="21633" name="Rectangle 36"/>
                <p:cNvSpPr>
                  <a:spLocks noChangeArrowheads="1"/>
                </p:cNvSpPr>
                <p:nvPr/>
              </p:nvSpPr>
              <p:spPr bwMode="auto">
                <a:xfrm>
                  <a:off x="2686" y="1968"/>
                  <a:ext cx="720" cy="288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44" name="Line 37"/>
                <p:cNvSpPr/>
                <p:nvPr/>
              </p:nvSpPr>
              <p:spPr>
                <a:xfrm>
                  <a:off x="2928" y="1968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45" name="Line 38"/>
                <p:cNvSpPr/>
                <p:nvPr/>
              </p:nvSpPr>
              <p:spPr>
                <a:xfrm>
                  <a:off x="3168" y="1968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46" name="Text Box 39"/>
                <p:cNvSpPr txBox="1"/>
                <p:nvPr/>
              </p:nvSpPr>
              <p:spPr>
                <a:xfrm>
                  <a:off x="2839" y="1941"/>
                  <a:ext cx="366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B</a:t>
                  </a:r>
                  <a:endParaRPr lang="en-US" altLang="zh-CN" sz="2400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8947" name="Group 40"/>
              <p:cNvGrpSpPr/>
              <p:nvPr/>
            </p:nvGrpSpPr>
            <p:grpSpPr>
              <a:xfrm>
                <a:off x="3696" y="2757"/>
                <a:ext cx="720" cy="325"/>
                <a:chOff x="3552" y="2488"/>
                <a:chExt cx="720" cy="325"/>
              </a:xfrm>
            </p:grpSpPr>
            <p:sp>
              <p:nvSpPr>
                <p:cNvPr id="21629" name="Rectangle 41"/>
                <p:cNvSpPr>
                  <a:spLocks noChangeArrowheads="1"/>
                </p:cNvSpPr>
                <p:nvPr/>
              </p:nvSpPr>
              <p:spPr bwMode="auto">
                <a:xfrm>
                  <a:off x="3552" y="2493"/>
                  <a:ext cx="720" cy="291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49" name="Line 42"/>
                <p:cNvSpPr/>
                <p:nvPr/>
              </p:nvSpPr>
              <p:spPr>
                <a:xfrm>
                  <a:off x="3792" y="249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50" name="Line 43"/>
                <p:cNvSpPr/>
                <p:nvPr/>
              </p:nvSpPr>
              <p:spPr>
                <a:xfrm>
                  <a:off x="4032" y="249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51" name="Text Box 44"/>
                <p:cNvSpPr txBox="1"/>
                <p:nvPr/>
              </p:nvSpPr>
              <p:spPr>
                <a:xfrm>
                  <a:off x="3740" y="2488"/>
                  <a:ext cx="382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</a:t>
                  </a:r>
                  <a:endParaRPr lang="en-US" altLang="zh-CN" sz="2400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8952" name="Group 45"/>
              <p:cNvGrpSpPr/>
              <p:nvPr/>
            </p:nvGrpSpPr>
            <p:grpSpPr>
              <a:xfrm>
                <a:off x="4752" y="2757"/>
                <a:ext cx="720" cy="325"/>
                <a:chOff x="4560" y="2968"/>
                <a:chExt cx="720" cy="325"/>
              </a:xfrm>
            </p:grpSpPr>
            <p:sp>
              <p:nvSpPr>
                <p:cNvPr id="21625" name="Rectangle 46"/>
                <p:cNvSpPr>
                  <a:spLocks noChangeArrowheads="1"/>
                </p:cNvSpPr>
                <p:nvPr/>
              </p:nvSpPr>
              <p:spPr bwMode="auto">
                <a:xfrm>
                  <a:off x="4560" y="2973"/>
                  <a:ext cx="720" cy="291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54" name="Line 47"/>
                <p:cNvSpPr/>
                <p:nvPr/>
              </p:nvSpPr>
              <p:spPr>
                <a:xfrm>
                  <a:off x="4800" y="297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55" name="Line 48"/>
                <p:cNvSpPr/>
                <p:nvPr/>
              </p:nvSpPr>
              <p:spPr>
                <a:xfrm>
                  <a:off x="5040" y="297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56" name="Text Box 49"/>
                <p:cNvSpPr txBox="1"/>
                <p:nvPr/>
              </p:nvSpPr>
              <p:spPr>
                <a:xfrm>
                  <a:off x="4713" y="2968"/>
                  <a:ext cx="382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</a:t>
                  </a:r>
                  <a:endParaRPr lang="en-US" altLang="zh-CN" sz="2400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8957" name="Group 50"/>
              <p:cNvGrpSpPr/>
              <p:nvPr/>
            </p:nvGrpSpPr>
            <p:grpSpPr>
              <a:xfrm>
                <a:off x="4752" y="3333"/>
                <a:ext cx="720" cy="325"/>
                <a:chOff x="3792" y="3448"/>
                <a:chExt cx="720" cy="325"/>
              </a:xfrm>
            </p:grpSpPr>
            <p:sp>
              <p:nvSpPr>
                <p:cNvPr id="21621" name="Rectangle 51"/>
                <p:cNvSpPr>
                  <a:spLocks noChangeArrowheads="1"/>
                </p:cNvSpPr>
                <p:nvPr/>
              </p:nvSpPr>
              <p:spPr bwMode="auto">
                <a:xfrm>
                  <a:off x="3792" y="3456"/>
                  <a:ext cx="720" cy="288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59" name="Line 52"/>
                <p:cNvSpPr/>
                <p:nvPr/>
              </p:nvSpPr>
              <p:spPr>
                <a:xfrm>
                  <a:off x="4032" y="345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60" name="Line 53"/>
                <p:cNvSpPr/>
                <p:nvPr/>
              </p:nvSpPr>
              <p:spPr>
                <a:xfrm>
                  <a:off x="4272" y="345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61" name="Text Box 54"/>
                <p:cNvSpPr txBox="1"/>
                <p:nvPr/>
              </p:nvSpPr>
              <p:spPr>
                <a:xfrm>
                  <a:off x="3943" y="3448"/>
                  <a:ext cx="398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G</a:t>
                  </a:r>
                  <a:endParaRPr lang="en-US" altLang="zh-CN" sz="2400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8962" name="Group 55"/>
              <p:cNvGrpSpPr/>
              <p:nvPr/>
            </p:nvGrpSpPr>
            <p:grpSpPr>
              <a:xfrm>
                <a:off x="3696" y="3333"/>
                <a:ext cx="720" cy="325"/>
                <a:chOff x="2688" y="2997"/>
                <a:chExt cx="720" cy="325"/>
              </a:xfrm>
            </p:grpSpPr>
            <p:sp>
              <p:nvSpPr>
                <p:cNvPr id="21617" name="Rectangle 56"/>
                <p:cNvSpPr>
                  <a:spLocks noChangeArrowheads="1"/>
                </p:cNvSpPr>
                <p:nvPr/>
              </p:nvSpPr>
              <p:spPr bwMode="auto">
                <a:xfrm>
                  <a:off x="2688" y="3024"/>
                  <a:ext cx="720" cy="288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64" name="Line 57"/>
                <p:cNvSpPr/>
                <p:nvPr/>
              </p:nvSpPr>
              <p:spPr>
                <a:xfrm>
                  <a:off x="2928" y="3024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65" name="Line 58"/>
                <p:cNvSpPr/>
                <p:nvPr/>
              </p:nvSpPr>
              <p:spPr>
                <a:xfrm>
                  <a:off x="3168" y="3024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66" name="Text Box 59"/>
                <p:cNvSpPr txBox="1"/>
                <p:nvPr/>
              </p:nvSpPr>
              <p:spPr>
                <a:xfrm>
                  <a:off x="2857" y="2997"/>
                  <a:ext cx="349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endParaRPr lang="en-US" altLang="zh-CN" sz="2400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8967" name="Group 60"/>
              <p:cNvGrpSpPr/>
              <p:nvPr/>
            </p:nvGrpSpPr>
            <p:grpSpPr>
              <a:xfrm>
                <a:off x="2638" y="3335"/>
                <a:ext cx="768" cy="325"/>
                <a:chOff x="2014" y="2490"/>
                <a:chExt cx="768" cy="325"/>
              </a:xfrm>
            </p:grpSpPr>
            <p:sp>
              <p:nvSpPr>
                <p:cNvPr id="21613" name="Rectangle 61"/>
                <p:cNvSpPr>
                  <a:spLocks noChangeArrowheads="1"/>
                </p:cNvSpPr>
                <p:nvPr/>
              </p:nvSpPr>
              <p:spPr bwMode="auto">
                <a:xfrm>
                  <a:off x="2014" y="2496"/>
                  <a:ext cx="768" cy="288"/>
                </a:xfrm>
                <a:prstGeom prst="rect">
                  <a:avLst/>
                </a:prstGeom>
                <a:solidFill>
                  <a:srgbClr val="FFFFCC"/>
                </a:solidFill>
                <a:ln w="19050">
                  <a:solidFill>
                    <a:srgbClr val="009900"/>
                  </a:solidFill>
                  <a:miter lim="800000"/>
                </a:ln>
                <a:effectLst>
                  <a:outerShdw dist="107763" dir="2700000" algn="ctr" rotWithShape="0">
                    <a:schemeClr val="bg2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4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69" name="Line 62"/>
                <p:cNvSpPr/>
                <p:nvPr/>
              </p:nvSpPr>
              <p:spPr>
                <a:xfrm>
                  <a:off x="2256" y="249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70" name="Line 63"/>
                <p:cNvSpPr/>
                <p:nvPr/>
              </p:nvSpPr>
              <p:spPr>
                <a:xfrm>
                  <a:off x="2544" y="2496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8971" name="Text Box 64"/>
                <p:cNvSpPr txBox="1"/>
                <p:nvPr/>
              </p:nvSpPr>
              <p:spPr>
                <a:xfrm>
                  <a:off x="2215" y="2490"/>
                  <a:ext cx="366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E</a:t>
                  </a:r>
                  <a:endParaRPr lang="en-US" altLang="zh-CN" sz="2400" b="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8972" name="Text Box 65"/>
              <p:cNvSpPr txBox="1"/>
              <p:nvPr/>
            </p:nvSpPr>
            <p:spPr>
              <a:xfrm>
                <a:off x="3093" y="2057"/>
                <a:ext cx="348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73" name="Text Box 66"/>
              <p:cNvSpPr txBox="1"/>
              <p:nvPr/>
            </p:nvSpPr>
            <p:spPr>
              <a:xfrm>
                <a:off x="2564" y="3304"/>
                <a:ext cx="348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74" name="Text Box 67"/>
              <p:cNvSpPr txBox="1"/>
              <p:nvPr/>
            </p:nvSpPr>
            <p:spPr>
              <a:xfrm>
                <a:off x="3697" y="2729"/>
                <a:ext cx="290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75" name="Text Box 68"/>
              <p:cNvSpPr txBox="1"/>
              <p:nvPr/>
            </p:nvSpPr>
            <p:spPr>
              <a:xfrm>
                <a:off x="3621" y="3304"/>
                <a:ext cx="348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76" name="Text Box 69"/>
              <p:cNvSpPr txBox="1"/>
              <p:nvPr/>
            </p:nvSpPr>
            <p:spPr>
              <a:xfrm>
                <a:off x="4101" y="3304"/>
                <a:ext cx="348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77" name="Text Box 70"/>
              <p:cNvSpPr txBox="1"/>
              <p:nvPr/>
            </p:nvSpPr>
            <p:spPr>
              <a:xfrm>
                <a:off x="4676" y="3304"/>
                <a:ext cx="348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78" name="Text Box 71"/>
              <p:cNvSpPr txBox="1"/>
              <p:nvPr/>
            </p:nvSpPr>
            <p:spPr>
              <a:xfrm>
                <a:off x="5204" y="3304"/>
                <a:ext cx="348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79" name="Text Box 72"/>
              <p:cNvSpPr txBox="1"/>
              <p:nvPr/>
            </p:nvSpPr>
            <p:spPr>
              <a:xfrm>
                <a:off x="5204" y="2729"/>
                <a:ext cx="348" cy="32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</a:t>
                </a:r>
                <a:endPara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8980" name="Line 76"/>
              <p:cNvSpPr/>
              <p:nvPr/>
            </p:nvSpPr>
            <p:spPr>
              <a:xfrm>
                <a:off x="3264" y="2880"/>
                <a:ext cx="432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81" name="Line 77"/>
              <p:cNvSpPr/>
              <p:nvPr/>
            </p:nvSpPr>
            <p:spPr>
              <a:xfrm>
                <a:off x="4320" y="2880"/>
                <a:ext cx="432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82" name="Line 78"/>
              <p:cNvSpPr/>
              <p:nvPr/>
            </p:nvSpPr>
            <p:spPr>
              <a:xfrm flipH="1">
                <a:off x="2784" y="2880"/>
                <a:ext cx="0" cy="48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83" name="Line 79"/>
              <p:cNvSpPr/>
              <p:nvPr/>
            </p:nvSpPr>
            <p:spPr>
              <a:xfrm>
                <a:off x="3312" y="3456"/>
                <a:ext cx="384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8984" name="Line 80"/>
              <p:cNvSpPr/>
              <p:nvPr/>
            </p:nvSpPr>
            <p:spPr>
              <a:xfrm flipH="1">
                <a:off x="4896" y="2928"/>
                <a:ext cx="0" cy="432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pSp>
            <p:nvGrpSpPr>
              <p:cNvPr id="38985" name="Group 81"/>
              <p:cNvGrpSpPr/>
              <p:nvPr/>
            </p:nvGrpSpPr>
            <p:grpSpPr>
              <a:xfrm>
                <a:off x="2314" y="1614"/>
                <a:ext cx="566" cy="498"/>
                <a:chOff x="2314" y="1614"/>
                <a:chExt cx="566" cy="498"/>
              </a:xfrm>
            </p:grpSpPr>
            <p:sp>
              <p:nvSpPr>
                <p:cNvPr id="38986" name="Text Box 82"/>
                <p:cNvSpPr txBox="1"/>
                <p:nvPr/>
              </p:nvSpPr>
              <p:spPr>
                <a:xfrm>
                  <a:off x="2314" y="1614"/>
                  <a:ext cx="366" cy="325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T</a:t>
                  </a:r>
                  <a:endParaRPr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987" name="Line 83"/>
                <p:cNvSpPr/>
                <p:nvPr/>
              </p:nvSpPr>
              <p:spPr>
                <a:xfrm>
                  <a:off x="2592" y="1824"/>
                  <a:ext cx="288" cy="288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420937" name="Text Box 73"/>
            <p:cNvSpPr txBox="1">
              <a:spLocks noChangeArrowheads="1"/>
            </p:cNvSpPr>
            <p:nvPr/>
          </p:nvSpPr>
          <p:spPr bwMode="auto">
            <a:xfrm>
              <a:off x="338" y="1535"/>
              <a:ext cx="1780" cy="32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  <a:cs typeface="+mn-cs"/>
                  <a:sym typeface="Wingdings" panose="05000000000000000000" pitchFamily="2" charset="2"/>
                </a:rPr>
                <a:t></a:t>
              </a:r>
              <a:r>
                <a:rPr kumimoji="1" lang="en-US" altLang="zh-CN" sz="2800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  <a:cs typeface="+mn-cs"/>
                  <a:sym typeface="+mn-ea"/>
                </a:rPr>
                <a:t> </a:t>
              </a:r>
              <a:r>
                <a:rPr kumimoji="1" lang="zh-CN" altLang="en-US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  <a:cs typeface="+mn-cs"/>
                  <a:sym typeface="+mn-ea"/>
                </a:rPr>
                <a:t>孩子兄弟表示</a:t>
              </a:r>
              <a:endParaRPr kumimoji="1" lang="zh-CN" altLang="en-US" sz="28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grpSp>
          <p:nvGrpSpPr>
            <p:cNvPr id="38989" name="Group 7"/>
            <p:cNvGrpSpPr/>
            <p:nvPr/>
          </p:nvGrpSpPr>
          <p:grpSpPr>
            <a:xfrm>
              <a:off x="0" y="1872"/>
              <a:ext cx="2607" cy="320"/>
              <a:chOff x="1200" y="768"/>
              <a:chExt cx="3345" cy="351"/>
            </a:xfrm>
          </p:grpSpPr>
          <p:sp>
            <p:nvSpPr>
              <p:cNvPr id="21584" name="Rectangle 8"/>
              <p:cNvSpPr>
                <a:spLocks noChangeArrowheads="1"/>
              </p:cNvSpPr>
              <p:nvPr/>
            </p:nvSpPr>
            <p:spPr bwMode="auto">
              <a:xfrm>
                <a:off x="1200" y="768"/>
                <a:ext cx="3264" cy="336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rgbClr val="FF0000"/>
                </a:solidFill>
                <a:miter lim="800000"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2" charset="-122"/>
                    <a:cs typeface="+mn-cs"/>
                    <a:sym typeface="+mn-ea"/>
                  </a:rPr>
                  <a:t>                    data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2" charset="-122"/>
                  <a:cs typeface="+mn-cs"/>
                  <a:sym typeface="+mn-ea"/>
                </a:endParaRPr>
              </a:p>
            </p:txBody>
          </p:sp>
          <p:sp>
            <p:nvSpPr>
              <p:cNvPr id="21585" name="Line 9"/>
              <p:cNvSpPr>
                <a:spLocks noChangeShapeType="1"/>
              </p:cNvSpPr>
              <p:nvPr/>
            </p:nvSpPr>
            <p:spPr bwMode="auto">
              <a:xfrm>
                <a:off x="2400" y="76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92" name="Text Box 10"/>
              <p:cNvSpPr txBox="1"/>
              <p:nvPr/>
            </p:nvSpPr>
            <p:spPr>
              <a:xfrm>
                <a:off x="1295" y="800"/>
                <a:ext cx="1174" cy="3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firstChild</a:t>
                </a:r>
                <a:endParaRPr lang="en-US" altLang="zh-CN" sz="2400" b="0" dirty="0"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21587" name="Line 11"/>
              <p:cNvSpPr>
                <a:spLocks noChangeShapeType="1"/>
              </p:cNvSpPr>
              <p:nvPr/>
            </p:nvSpPr>
            <p:spPr bwMode="auto">
              <a:xfrm>
                <a:off x="3121" y="76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94" name="Text Box 12"/>
              <p:cNvSpPr txBox="1"/>
              <p:nvPr/>
            </p:nvSpPr>
            <p:spPr>
              <a:xfrm>
                <a:off x="3207" y="800"/>
                <a:ext cx="1338" cy="3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nextSibling</a:t>
                </a:r>
                <a:endParaRPr lang="en-US" altLang="zh-CN" sz="2400" b="0" dirty="0"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421054" name="Rectangle 190"/>
          <p:cNvSpPr/>
          <p:nvPr/>
        </p:nvSpPr>
        <p:spPr>
          <a:xfrm>
            <a:off x="1524000" y="2667000"/>
            <a:ext cx="4191000" cy="4191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1021" name="Line 157"/>
          <p:cNvSpPr/>
          <p:nvPr/>
        </p:nvSpPr>
        <p:spPr>
          <a:xfrm>
            <a:off x="2209800" y="4876800"/>
            <a:ext cx="228600" cy="1524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24" name="Line 160"/>
          <p:cNvSpPr/>
          <p:nvPr/>
        </p:nvSpPr>
        <p:spPr>
          <a:xfrm>
            <a:off x="5105400" y="4876800"/>
            <a:ext cx="228600" cy="762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22" name="Line 158"/>
          <p:cNvSpPr/>
          <p:nvPr/>
        </p:nvSpPr>
        <p:spPr>
          <a:xfrm>
            <a:off x="4419600" y="4876800"/>
            <a:ext cx="228600" cy="762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0949" name="Text Box 85"/>
          <p:cNvSpPr txBox="1">
            <a:spLocks noChangeArrowheads="1"/>
          </p:cNvSpPr>
          <p:nvPr/>
        </p:nvSpPr>
        <p:spPr bwMode="auto">
          <a:xfrm>
            <a:off x="2743200" y="304800"/>
            <a:ext cx="7162800" cy="706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树和森林与二叉树的相互转换</a:t>
            </a:r>
            <a:endParaRPr kumimoji="1" lang="zh-CN" altLang="en-US" sz="4000" b="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  <a:sym typeface="+mn-ea"/>
            </a:endParaRPr>
          </a:p>
        </p:txBody>
      </p:sp>
      <p:sp>
        <p:nvSpPr>
          <p:cNvPr id="420950" name="Text Box 86"/>
          <p:cNvSpPr txBox="1"/>
          <p:nvPr/>
        </p:nvSpPr>
        <p:spPr>
          <a:xfrm>
            <a:off x="1524000" y="1141413"/>
            <a:ext cx="4419600" cy="64452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树转换成二叉树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20951" name="Text Box 87"/>
          <p:cNvSpPr txBox="1"/>
          <p:nvPr/>
        </p:nvSpPr>
        <p:spPr>
          <a:xfrm>
            <a:off x="1524000" y="1749425"/>
            <a:ext cx="4419600" cy="9525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anchor="ctr" anchorCtr="0">
            <a:spAutoFit/>
          </a:bodyPr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第一个孩子作为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左孩子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*右兄弟作为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右孩子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" name="Group 129"/>
          <p:cNvGrpSpPr/>
          <p:nvPr/>
        </p:nvGrpSpPr>
        <p:grpSpPr>
          <a:xfrm>
            <a:off x="1752600" y="3046413"/>
            <a:ext cx="4114800" cy="2212975"/>
            <a:chOff x="2832" y="863"/>
            <a:chExt cx="2592" cy="1394"/>
          </a:xfrm>
        </p:grpSpPr>
        <p:sp>
          <p:nvSpPr>
            <p:cNvPr id="39003" name="Line 93"/>
            <p:cNvSpPr/>
            <p:nvPr/>
          </p:nvSpPr>
          <p:spPr>
            <a:xfrm>
              <a:off x="4944" y="1680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04" name="Line 94"/>
            <p:cNvSpPr/>
            <p:nvPr/>
          </p:nvSpPr>
          <p:spPr>
            <a:xfrm flipH="1">
              <a:off x="4416" y="1680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05" name="Line 95"/>
            <p:cNvSpPr/>
            <p:nvPr/>
          </p:nvSpPr>
          <p:spPr>
            <a:xfrm>
              <a:off x="4800" y="1728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06" name="Line 97"/>
            <p:cNvSpPr/>
            <p:nvPr/>
          </p:nvSpPr>
          <p:spPr>
            <a:xfrm>
              <a:off x="4080" y="1104"/>
              <a:ext cx="67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07" name="Line 98"/>
            <p:cNvSpPr/>
            <p:nvPr/>
          </p:nvSpPr>
          <p:spPr>
            <a:xfrm flipH="1">
              <a:off x="3264" y="1104"/>
              <a:ext cx="576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08" name="Line 99"/>
            <p:cNvSpPr/>
            <p:nvPr/>
          </p:nvSpPr>
          <p:spPr>
            <a:xfrm>
              <a:off x="3984" y="1152"/>
              <a:ext cx="0" cy="110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09" name="Line 100"/>
            <p:cNvSpPr/>
            <p:nvPr/>
          </p:nvSpPr>
          <p:spPr>
            <a:xfrm>
              <a:off x="3312" y="1680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10" name="Line 102"/>
            <p:cNvSpPr/>
            <p:nvPr/>
          </p:nvSpPr>
          <p:spPr>
            <a:xfrm flipH="1">
              <a:off x="3024" y="1680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11" name="Oval 103"/>
            <p:cNvSpPr/>
            <p:nvPr/>
          </p:nvSpPr>
          <p:spPr>
            <a:xfrm>
              <a:off x="3792" y="86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2" name="Oval 104"/>
            <p:cNvSpPr/>
            <p:nvPr/>
          </p:nvSpPr>
          <p:spPr>
            <a:xfrm>
              <a:off x="3072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3" name="Oval 105"/>
            <p:cNvSpPr/>
            <p:nvPr/>
          </p:nvSpPr>
          <p:spPr>
            <a:xfrm>
              <a:off x="3792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4" name="Oval 106"/>
            <p:cNvSpPr/>
            <p:nvPr/>
          </p:nvSpPr>
          <p:spPr>
            <a:xfrm>
              <a:off x="4656" y="139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5" name="Oval 107"/>
            <p:cNvSpPr/>
            <p:nvPr/>
          </p:nvSpPr>
          <p:spPr>
            <a:xfrm>
              <a:off x="2832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6" name="Oval 108"/>
            <p:cNvSpPr/>
            <p:nvPr/>
          </p:nvSpPr>
          <p:spPr>
            <a:xfrm>
              <a:off x="3264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7" name="Oval 109"/>
            <p:cNvSpPr/>
            <p:nvPr/>
          </p:nvSpPr>
          <p:spPr>
            <a:xfrm>
              <a:off x="3792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8" name="Oval 110"/>
            <p:cNvSpPr/>
            <p:nvPr/>
          </p:nvSpPr>
          <p:spPr>
            <a:xfrm>
              <a:off x="4224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19" name="Oval 111"/>
            <p:cNvSpPr/>
            <p:nvPr/>
          </p:nvSpPr>
          <p:spPr>
            <a:xfrm>
              <a:off x="4656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0" name="Oval 112"/>
            <p:cNvSpPr/>
            <p:nvPr/>
          </p:nvSpPr>
          <p:spPr>
            <a:xfrm>
              <a:off x="5088" y="192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1" name="Text Box 116"/>
            <p:cNvSpPr txBox="1"/>
            <p:nvPr/>
          </p:nvSpPr>
          <p:spPr>
            <a:xfrm>
              <a:off x="3841" y="86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2" name="Text Box 117"/>
            <p:cNvSpPr txBox="1"/>
            <p:nvPr/>
          </p:nvSpPr>
          <p:spPr>
            <a:xfrm>
              <a:off x="3841" y="139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3" name="Text Box 118"/>
            <p:cNvSpPr txBox="1"/>
            <p:nvPr/>
          </p:nvSpPr>
          <p:spPr>
            <a:xfrm>
              <a:off x="3834" y="1928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4" name="Text Box 119"/>
            <p:cNvSpPr txBox="1"/>
            <p:nvPr/>
          </p:nvSpPr>
          <p:spPr>
            <a:xfrm>
              <a:off x="3121" y="139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5" name="Text Box 120"/>
            <p:cNvSpPr txBox="1"/>
            <p:nvPr/>
          </p:nvSpPr>
          <p:spPr>
            <a:xfrm>
              <a:off x="4705" y="1400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6" name="Text Box 121"/>
            <p:cNvSpPr txBox="1"/>
            <p:nvPr/>
          </p:nvSpPr>
          <p:spPr>
            <a:xfrm>
              <a:off x="2886" y="1928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7" name="Text Box 122"/>
            <p:cNvSpPr txBox="1"/>
            <p:nvPr/>
          </p:nvSpPr>
          <p:spPr>
            <a:xfrm>
              <a:off x="3319" y="1928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8" name="Text Box 125"/>
            <p:cNvSpPr txBox="1"/>
            <p:nvPr/>
          </p:nvSpPr>
          <p:spPr>
            <a:xfrm>
              <a:off x="4267" y="1928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29" name="Text Box 127"/>
            <p:cNvSpPr txBox="1"/>
            <p:nvPr/>
          </p:nvSpPr>
          <p:spPr>
            <a:xfrm>
              <a:off x="4722" y="1928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30" name="Text Box 128"/>
            <p:cNvSpPr txBox="1"/>
            <p:nvPr/>
          </p:nvSpPr>
          <p:spPr>
            <a:xfrm>
              <a:off x="5149" y="1928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1015" name="Line 151"/>
          <p:cNvSpPr/>
          <p:nvPr/>
        </p:nvSpPr>
        <p:spPr>
          <a:xfrm flipH="1">
            <a:off x="2514600" y="3429000"/>
            <a:ext cx="762000" cy="5334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17" name="Line 153"/>
          <p:cNvSpPr/>
          <p:nvPr/>
        </p:nvSpPr>
        <p:spPr>
          <a:xfrm flipH="1">
            <a:off x="3429000" y="4343400"/>
            <a:ext cx="152400" cy="4572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18" name="Line 154"/>
          <p:cNvSpPr/>
          <p:nvPr/>
        </p:nvSpPr>
        <p:spPr>
          <a:xfrm flipH="1">
            <a:off x="4267200" y="4267200"/>
            <a:ext cx="533400" cy="5334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19" name="Line 155"/>
          <p:cNvSpPr/>
          <p:nvPr/>
        </p:nvSpPr>
        <p:spPr>
          <a:xfrm>
            <a:off x="2590800" y="4038600"/>
            <a:ext cx="762000" cy="2286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20" name="Line 156"/>
          <p:cNvSpPr/>
          <p:nvPr/>
        </p:nvSpPr>
        <p:spPr>
          <a:xfrm>
            <a:off x="3810000" y="4038600"/>
            <a:ext cx="838200" cy="1524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16" name="Line 152"/>
          <p:cNvSpPr/>
          <p:nvPr/>
        </p:nvSpPr>
        <p:spPr>
          <a:xfrm flipH="1">
            <a:off x="2057400" y="4343400"/>
            <a:ext cx="228600" cy="4572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079" name="Rectangle 215"/>
          <p:cNvSpPr/>
          <p:nvPr/>
        </p:nvSpPr>
        <p:spPr>
          <a:xfrm>
            <a:off x="6248400" y="3429000"/>
            <a:ext cx="4114800" cy="304800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" name="Group 192"/>
          <p:cNvGrpSpPr/>
          <p:nvPr/>
        </p:nvGrpSpPr>
        <p:grpSpPr>
          <a:xfrm>
            <a:off x="6553200" y="1141413"/>
            <a:ext cx="3343275" cy="4332287"/>
            <a:chOff x="2970" y="767"/>
            <a:chExt cx="2106" cy="2729"/>
          </a:xfrm>
        </p:grpSpPr>
        <p:sp>
          <p:nvSpPr>
            <p:cNvPr id="39039" name="Line 162"/>
            <p:cNvSpPr/>
            <p:nvPr/>
          </p:nvSpPr>
          <p:spPr>
            <a:xfrm>
              <a:off x="4272" y="2736"/>
              <a:ext cx="144" cy="144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0" name="Line 163"/>
            <p:cNvSpPr/>
            <p:nvPr/>
          </p:nvSpPr>
          <p:spPr>
            <a:xfrm flipH="1">
              <a:off x="3840" y="1920"/>
              <a:ext cx="96" cy="192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1" name="Line 164"/>
            <p:cNvSpPr/>
            <p:nvPr/>
          </p:nvSpPr>
          <p:spPr>
            <a:xfrm flipH="1">
              <a:off x="4224" y="2352"/>
              <a:ext cx="144" cy="192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2" name="Line 165"/>
            <p:cNvSpPr/>
            <p:nvPr/>
          </p:nvSpPr>
          <p:spPr>
            <a:xfrm>
              <a:off x="4128" y="1920"/>
              <a:ext cx="192" cy="192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3" name="Line 166"/>
            <p:cNvSpPr/>
            <p:nvPr/>
          </p:nvSpPr>
          <p:spPr>
            <a:xfrm flipH="1">
              <a:off x="3600" y="1008"/>
              <a:ext cx="192" cy="24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4" name="Line 167"/>
            <p:cNvSpPr/>
            <p:nvPr/>
          </p:nvSpPr>
          <p:spPr>
            <a:xfrm>
              <a:off x="3648" y="1440"/>
              <a:ext cx="240" cy="240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5" name="Line 168"/>
            <p:cNvSpPr/>
            <p:nvPr/>
          </p:nvSpPr>
          <p:spPr>
            <a:xfrm>
              <a:off x="3216" y="1920"/>
              <a:ext cx="96" cy="192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6" name="Line 169"/>
            <p:cNvSpPr/>
            <p:nvPr/>
          </p:nvSpPr>
          <p:spPr>
            <a:xfrm flipH="1">
              <a:off x="3216" y="1440"/>
              <a:ext cx="192" cy="24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47" name="Oval 170"/>
            <p:cNvSpPr/>
            <p:nvPr/>
          </p:nvSpPr>
          <p:spPr>
            <a:xfrm>
              <a:off x="3696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48" name="Oval 171"/>
            <p:cNvSpPr/>
            <p:nvPr/>
          </p:nvSpPr>
          <p:spPr>
            <a:xfrm>
              <a:off x="3360" y="120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49" name="Oval 172"/>
            <p:cNvSpPr/>
            <p:nvPr/>
          </p:nvSpPr>
          <p:spPr>
            <a:xfrm>
              <a:off x="3840" y="16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0" name="Oval 173"/>
            <p:cNvSpPr/>
            <p:nvPr/>
          </p:nvSpPr>
          <p:spPr>
            <a:xfrm>
              <a:off x="4272" y="205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1" name="Oval 174"/>
            <p:cNvSpPr/>
            <p:nvPr/>
          </p:nvSpPr>
          <p:spPr>
            <a:xfrm>
              <a:off x="2970" y="162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2" name="Oval 175"/>
            <p:cNvSpPr/>
            <p:nvPr/>
          </p:nvSpPr>
          <p:spPr>
            <a:xfrm>
              <a:off x="3162" y="210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3" name="Oval 176"/>
            <p:cNvSpPr/>
            <p:nvPr/>
          </p:nvSpPr>
          <p:spPr>
            <a:xfrm>
              <a:off x="3606" y="210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4" name="Oval 177"/>
            <p:cNvSpPr/>
            <p:nvPr/>
          </p:nvSpPr>
          <p:spPr>
            <a:xfrm>
              <a:off x="3942" y="2487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5" name="Oval 178"/>
            <p:cNvSpPr/>
            <p:nvPr/>
          </p:nvSpPr>
          <p:spPr>
            <a:xfrm>
              <a:off x="4350" y="283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6" name="Oval 179"/>
            <p:cNvSpPr/>
            <p:nvPr/>
          </p:nvSpPr>
          <p:spPr>
            <a:xfrm>
              <a:off x="4740" y="3159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7" name="Text Box 180"/>
            <p:cNvSpPr txBox="1"/>
            <p:nvPr/>
          </p:nvSpPr>
          <p:spPr>
            <a:xfrm>
              <a:off x="3745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8" name="Text Box 181"/>
            <p:cNvSpPr txBox="1"/>
            <p:nvPr/>
          </p:nvSpPr>
          <p:spPr>
            <a:xfrm>
              <a:off x="3889" y="163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59" name="Text Box 182"/>
            <p:cNvSpPr txBox="1"/>
            <p:nvPr/>
          </p:nvSpPr>
          <p:spPr>
            <a:xfrm>
              <a:off x="3648" y="2111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0" name="Text Box 183"/>
            <p:cNvSpPr txBox="1"/>
            <p:nvPr/>
          </p:nvSpPr>
          <p:spPr>
            <a:xfrm>
              <a:off x="3409" y="119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1" name="Text Box 184"/>
            <p:cNvSpPr txBox="1"/>
            <p:nvPr/>
          </p:nvSpPr>
          <p:spPr>
            <a:xfrm>
              <a:off x="4321" y="206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2" name="Text Box 185"/>
            <p:cNvSpPr txBox="1"/>
            <p:nvPr/>
          </p:nvSpPr>
          <p:spPr>
            <a:xfrm>
              <a:off x="3024" y="1631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3" name="Text Box 186"/>
            <p:cNvSpPr txBox="1"/>
            <p:nvPr/>
          </p:nvSpPr>
          <p:spPr>
            <a:xfrm>
              <a:off x="3217" y="2111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4" name="Text Box 187"/>
            <p:cNvSpPr txBox="1"/>
            <p:nvPr/>
          </p:nvSpPr>
          <p:spPr>
            <a:xfrm>
              <a:off x="3985" y="249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5" name="Text Box 188"/>
            <p:cNvSpPr txBox="1"/>
            <p:nvPr/>
          </p:nvSpPr>
          <p:spPr>
            <a:xfrm>
              <a:off x="4416" y="2840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6" name="Text Box 189"/>
            <p:cNvSpPr txBox="1"/>
            <p:nvPr/>
          </p:nvSpPr>
          <p:spPr>
            <a:xfrm>
              <a:off x="4801" y="3167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067" name="Line 191"/>
            <p:cNvSpPr/>
            <p:nvPr/>
          </p:nvSpPr>
          <p:spPr>
            <a:xfrm>
              <a:off x="4656" y="3072"/>
              <a:ext cx="144" cy="144"/>
            </a:xfrm>
            <a:prstGeom prst="line">
              <a:avLst/>
            </a:prstGeom>
            <a:ln w="3810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2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2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2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2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42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42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42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42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42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2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42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054" grpId="0" bldLvl="0" animBg="1"/>
      <p:bldP spid="420950" grpId="0" bldLvl="0" animBg="1"/>
      <p:bldP spid="420951" grpId="0" bldLvl="0" animBg="1"/>
      <p:bldP spid="421079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6019800" y="1143000"/>
            <a:ext cx="4171950" cy="2363788"/>
            <a:chOff x="2592" y="759"/>
            <a:chExt cx="2628" cy="1489"/>
          </a:xfrm>
        </p:grpSpPr>
        <p:sp>
          <p:nvSpPr>
            <p:cNvPr id="39938" name="Line 3"/>
            <p:cNvSpPr/>
            <p:nvPr/>
          </p:nvSpPr>
          <p:spPr>
            <a:xfrm>
              <a:off x="4848" y="1056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39" name="Line 4"/>
            <p:cNvSpPr/>
            <p:nvPr/>
          </p:nvSpPr>
          <p:spPr>
            <a:xfrm flipH="1">
              <a:off x="4608" y="1056"/>
              <a:ext cx="9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0" name="Line 5"/>
            <p:cNvSpPr/>
            <p:nvPr/>
          </p:nvSpPr>
          <p:spPr>
            <a:xfrm>
              <a:off x="4608" y="1680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1" name="Line 6"/>
            <p:cNvSpPr/>
            <p:nvPr/>
          </p:nvSpPr>
          <p:spPr>
            <a:xfrm>
              <a:off x="3360" y="1056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2" name="Line 7"/>
            <p:cNvSpPr/>
            <p:nvPr/>
          </p:nvSpPr>
          <p:spPr>
            <a:xfrm flipH="1">
              <a:off x="2832" y="1056"/>
              <a:ext cx="33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3" name="Line 8"/>
            <p:cNvSpPr/>
            <p:nvPr/>
          </p:nvSpPr>
          <p:spPr>
            <a:xfrm>
              <a:off x="3216" y="1104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4" name="Line 9"/>
            <p:cNvSpPr/>
            <p:nvPr/>
          </p:nvSpPr>
          <p:spPr>
            <a:xfrm>
              <a:off x="4128" y="1104"/>
              <a:ext cx="0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5" name="Line 10"/>
            <p:cNvSpPr/>
            <p:nvPr/>
          </p:nvSpPr>
          <p:spPr>
            <a:xfrm flipH="1">
              <a:off x="3696" y="1632"/>
              <a:ext cx="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6" name="Oval 11"/>
            <p:cNvSpPr/>
            <p:nvPr/>
          </p:nvSpPr>
          <p:spPr>
            <a:xfrm>
              <a:off x="3072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7" name="Oval 12"/>
            <p:cNvSpPr/>
            <p:nvPr/>
          </p:nvSpPr>
          <p:spPr>
            <a:xfrm>
              <a:off x="259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8" name="Oval 13"/>
            <p:cNvSpPr/>
            <p:nvPr/>
          </p:nvSpPr>
          <p:spPr>
            <a:xfrm>
              <a:off x="3072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9" name="Oval 14"/>
            <p:cNvSpPr/>
            <p:nvPr/>
          </p:nvSpPr>
          <p:spPr>
            <a:xfrm>
              <a:off x="3552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0" name="Oval 15"/>
            <p:cNvSpPr/>
            <p:nvPr/>
          </p:nvSpPr>
          <p:spPr>
            <a:xfrm>
              <a:off x="3546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1" name="Oval 16"/>
            <p:cNvSpPr/>
            <p:nvPr/>
          </p:nvSpPr>
          <p:spPr>
            <a:xfrm>
              <a:off x="3984" y="76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2" name="Oval 17"/>
            <p:cNvSpPr/>
            <p:nvPr/>
          </p:nvSpPr>
          <p:spPr>
            <a:xfrm>
              <a:off x="3984" y="1344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3" name="Oval 18"/>
            <p:cNvSpPr/>
            <p:nvPr/>
          </p:nvSpPr>
          <p:spPr>
            <a:xfrm>
              <a:off x="4614" y="759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4" name="Oval 19"/>
            <p:cNvSpPr/>
            <p:nvPr/>
          </p:nvSpPr>
          <p:spPr>
            <a:xfrm>
              <a:off x="4452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5" name="Oval 20"/>
            <p:cNvSpPr/>
            <p:nvPr/>
          </p:nvSpPr>
          <p:spPr>
            <a:xfrm>
              <a:off x="4884" y="1335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6" name="Text Box 21"/>
            <p:cNvSpPr txBox="1"/>
            <p:nvPr/>
          </p:nvSpPr>
          <p:spPr>
            <a:xfrm>
              <a:off x="3121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7" name="Text Box 22"/>
            <p:cNvSpPr txBox="1"/>
            <p:nvPr/>
          </p:nvSpPr>
          <p:spPr>
            <a:xfrm>
              <a:off x="312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8" name="Text Box 23"/>
            <p:cNvSpPr txBox="1"/>
            <p:nvPr/>
          </p:nvSpPr>
          <p:spPr>
            <a:xfrm>
              <a:off x="4026" y="1352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9" name="Text Box 24"/>
            <p:cNvSpPr txBox="1"/>
            <p:nvPr/>
          </p:nvSpPr>
          <p:spPr>
            <a:xfrm>
              <a:off x="264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0" name="Text Box 25"/>
            <p:cNvSpPr txBox="1"/>
            <p:nvPr/>
          </p:nvSpPr>
          <p:spPr>
            <a:xfrm>
              <a:off x="3601" y="1343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1" name="Text Box 26"/>
            <p:cNvSpPr txBox="1"/>
            <p:nvPr/>
          </p:nvSpPr>
          <p:spPr>
            <a:xfrm>
              <a:off x="3600" y="1919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2" name="Text Box 27"/>
            <p:cNvSpPr txBox="1"/>
            <p:nvPr/>
          </p:nvSpPr>
          <p:spPr>
            <a:xfrm>
              <a:off x="4033" y="767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3" name="Text Box 28"/>
            <p:cNvSpPr txBox="1"/>
            <p:nvPr/>
          </p:nvSpPr>
          <p:spPr>
            <a:xfrm>
              <a:off x="4657" y="76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4" name="Text Box 29"/>
            <p:cNvSpPr txBox="1"/>
            <p:nvPr/>
          </p:nvSpPr>
          <p:spPr>
            <a:xfrm>
              <a:off x="4518" y="1343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5" name="Text Box 30"/>
            <p:cNvSpPr txBox="1"/>
            <p:nvPr/>
          </p:nvSpPr>
          <p:spPr>
            <a:xfrm>
              <a:off x="4945" y="1343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6" name="Oval 31"/>
            <p:cNvSpPr/>
            <p:nvPr/>
          </p:nvSpPr>
          <p:spPr>
            <a:xfrm>
              <a:off x="4458" y="191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7" name="Text Box 32"/>
            <p:cNvSpPr txBox="1"/>
            <p:nvPr/>
          </p:nvSpPr>
          <p:spPr>
            <a:xfrm>
              <a:off x="4506" y="191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1921" name="Text Box 33"/>
          <p:cNvSpPr txBox="1"/>
          <p:nvPr/>
        </p:nvSpPr>
        <p:spPr>
          <a:xfrm>
            <a:off x="1524000" y="1141413"/>
            <a:ext cx="4419600" cy="644525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森林转换成二叉树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21922" name="Text Box 34"/>
          <p:cNvSpPr txBox="1">
            <a:spLocks noChangeArrowheads="1"/>
          </p:cNvSpPr>
          <p:nvPr/>
        </p:nvSpPr>
        <p:spPr bwMode="auto">
          <a:xfrm>
            <a:off x="2819400" y="228600"/>
            <a:ext cx="7010400" cy="706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树和森林与二叉树的相互转换</a:t>
            </a:r>
            <a:endParaRPr kumimoji="1" lang="zh-CN" altLang="en-US" sz="4000" b="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  <a:sym typeface="+mn-ea"/>
            </a:endParaRPr>
          </a:p>
        </p:txBody>
      </p:sp>
      <p:sp>
        <p:nvSpPr>
          <p:cNvPr id="421923" name="Text Box 35"/>
          <p:cNvSpPr txBox="1"/>
          <p:nvPr/>
        </p:nvSpPr>
        <p:spPr>
          <a:xfrm>
            <a:off x="2057400" y="1749425"/>
            <a:ext cx="2590800" cy="9525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依次将每棵树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 转换成二叉树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1924" name="Text Box 36"/>
          <p:cNvSpPr txBox="1"/>
          <p:nvPr/>
        </p:nvSpPr>
        <p:spPr>
          <a:xfrm>
            <a:off x="2057400" y="2882900"/>
            <a:ext cx="3505200" cy="3106738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第一棵树的根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作为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二叉树的根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从第二棵树到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 最后一棵树的根，   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  依次作为前一棵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树根的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右孩子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6323013" y="3365500"/>
            <a:ext cx="1524000" cy="2960688"/>
            <a:chOff x="1200" y="671"/>
            <a:chExt cx="960" cy="1865"/>
          </a:xfrm>
        </p:grpSpPr>
        <p:sp>
          <p:nvSpPr>
            <p:cNvPr id="39973" name="Line 38"/>
            <p:cNvSpPr/>
            <p:nvPr/>
          </p:nvSpPr>
          <p:spPr>
            <a:xfrm>
              <a:off x="1776" y="1728"/>
              <a:ext cx="144" cy="14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74" name="Line 39"/>
            <p:cNvSpPr/>
            <p:nvPr/>
          </p:nvSpPr>
          <p:spPr>
            <a:xfrm flipH="1">
              <a:off x="1392" y="873"/>
              <a:ext cx="336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75" name="Line 40"/>
            <p:cNvSpPr/>
            <p:nvPr/>
          </p:nvSpPr>
          <p:spPr>
            <a:xfrm>
              <a:off x="1440" y="1344"/>
              <a:ext cx="144" cy="14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76" name="Line 41"/>
            <p:cNvSpPr/>
            <p:nvPr/>
          </p:nvSpPr>
          <p:spPr>
            <a:xfrm flipH="1">
              <a:off x="1632" y="2112"/>
              <a:ext cx="24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77" name="Oval 42"/>
            <p:cNvSpPr/>
            <p:nvPr/>
          </p:nvSpPr>
          <p:spPr>
            <a:xfrm>
              <a:off x="1536" y="672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8" name="Oval 43"/>
            <p:cNvSpPr/>
            <p:nvPr/>
          </p:nvSpPr>
          <p:spPr>
            <a:xfrm>
              <a:off x="1200" y="1056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9" name="Oval 44"/>
            <p:cNvSpPr/>
            <p:nvPr/>
          </p:nvSpPr>
          <p:spPr>
            <a:xfrm>
              <a:off x="1488" y="1440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0" name="Oval 45"/>
            <p:cNvSpPr/>
            <p:nvPr/>
          </p:nvSpPr>
          <p:spPr>
            <a:xfrm>
              <a:off x="1824" y="186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1" name="Oval 46"/>
            <p:cNvSpPr/>
            <p:nvPr/>
          </p:nvSpPr>
          <p:spPr>
            <a:xfrm>
              <a:off x="1338" y="2199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2" name="Text Box 47"/>
            <p:cNvSpPr txBox="1"/>
            <p:nvPr/>
          </p:nvSpPr>
          <p:spPr>
            <a:xfrm>
              <a:off x="1585" y="67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3" name="Text Box 48"/>
            <p:cNvSpPr txBox="1"/>
            <p:nvPr/>
          </p:nvSpPr>
          <p:spPr>
            <a:xfrm>
              <a:off x="1537" y="143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4" name="Text Box 49"/>
            <p:cNvSpPr txBox="1"/>
            <p:nvPr/>
          </p:nvSpPr>
          <p:spPr>
            <a:xfrm>
              <a:off x="1249" y="1055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5" name="Text Box 50"/>
            <p:cNvSpPr txBox="1"/>
            <p:nvPr/>
          </p:nvSpPr>
          <p:spPr>
            <a:xfrm>
              <a:off x="1873" y="187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86" name="Text Box 51"/>
            <p:cNvSpPr txBox="1"/>
            <p:nvPr/>
          </p:nvSpPr>
          <p:spPr>
            <a:xfrm>
              <a:off x="1392" y="2207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52"/>
          <p:cNvGrpSpPr/>
          <p:nvPr/>
        </p:nvGrpSpPr>
        <p:grpSpPr>
          <a:xfrm>
            <a:off x="7618413" y="3898900"/>
            <a:ext cx="895350" cy="1208088"/>
            <a:chOff x="2070" y="1007"/>
            <a:chExt cx="564" cy="761"/>
          </a:xfrm>
        </p:grpSpPr>
        <p:sp>
          <p:nvSpPr>
            <p:cNvPr id="39988" name="Line 53"/>
            <p:cNvSpPr/>
            <p:nvPr/>
          </p:nvSpPr>
          <p:spPr>
            <a:xfrm flipH="1">
              <a:off x="2250" y="1335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89" name="Oval 54"/>
            <p:cNvSpPr/>
            <p:nvPr/>
          </p:nvSpPr>
          <p:spPr>
            <a:xfrm>
              <a:off x="2298" y="1008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0" name="Oval 55"/>
            <p:cNvSpPr/>
            <p:nvPr/>
          </p:nvSpPr>
          <p:spPr>
            <a:xfrm>
              <a:off x="2070" y="143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1" name="Text Box 56"/>
            <p:cNvSpPr txBox="1"/>
            <p:nvPr/>
          </p:nvSpPr>
          <p:spPr>
            <a:xfrm>
              <a:off x="2112" y="1439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2" name="Text Box 57"/>
            <p:cNvSpPr txBox="1"/>
            <p:nvPr/>
          </p:nvSpPr>
          <p:spPr>
            <a:xfrm>
              <a:off x="2347" y="1007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8"/>
          <p:cNvGrpSpPr/>
          <p:nvPr/>
        </p:nvGrpSpPr>
        <p:grpSpPr>
          <a:xfrm>
            <a:off x="8077200" y="4495800"/>
            <a:ext cx="1655763" cy="1982788"/>
            <a:chOff x="2065" y="1479"/>
            <a:chExt cx="1043" cy="1249"/>
          </a:xfrm>
        </p:grpSpPr>
        <p:sp>
          <p:nvSpPr>
            <p:cNvPr id="39994" name="Line 59"/>
            <p:cNvSpPr/>
            <p:nvPr/>
          </p:nvSpPr>
          <p:spPr>
            <a:xfrm>
              <a:off x="2688" y="2208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95" name="Line 60"/>
            <p:cNvSpPr/>
            <p:nvPr/>
          </p:nvSpPr>
          <p:spPr>
            <a:xfrm flipH="1">
              <a:off x="2639" y="1737"/>
              <a:ext cx="144" cy="23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96" name="Line 61"/>
            <p:cNvSpPr/>
            <p:nvPr/>
          </p:nvSpPr>
          <p:spPr>
            <a:xfrm flipH="1">
              <a:off x="2303" y="2208"/>
              <a:ext cx="192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97" name="Oval 62"/>
            <p:cNvSpPr/>
            <p:nvPr/>
          </p:nvSpPr>
          <p:spPr>
            <a:xfrm>
              <a:off x="2646" y="1479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8" name="Oval 63"/>
            <p:cNvSpPr/>
            <p:nvPr/>
          </p:nvSpPr>
          <p:spPr>
            <a:xfrm>
              <a:off x="2429" y="1959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99" name="Oval 64"/>
            <p:cNvSpPr/>
            <p:nvPr/>
          </p:nvSpPr>
          <p:spPr>
            <a:xfrm>
              <a:off x="2772" y="2391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000" name="Text Box 65"/>
            <p:cNvSpPr txBox="1"/>
            <p:nvPr/>
          </p:nvSpPr>
          <p:spPr>
            <a:xfrm>
              <a:off x="2689" y="1487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001" name="Text Box 66"/>
            <p:cNvSpPr txBox="1"/>
            <p:nvPr/>
          </p:nvSpPr>
          <p:spPr>
            <a:xfrm>
              <a:off x="2495" y="1967"/>
              <a:ext cx="1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002" name="Text Box 67"/>
            <p:cNvSpPr txBox="1"/>
            <p:nvPr/>
          </p:nvSpPr>
          <p:spPr>
            <a:xfrm>
              <a:off x="2833" y="2399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003" name="Oval 68"/>
            <p:cNvSpPr/>
            <p:nvPr/>
          </p:nvSpPr>
          <p:spPr>
            <a:xfrm>
              <a:off x="2065" y="2343"/>
              <a:ext cx="336" cy="336"/>
            </a:xfrm>
            <a:prstGeom prst="ellipse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004" name="Text Box 69"/>
            <p:cNvSpPr txBox="1"/>
            <p:nvPr/>
          </p:nvSpPr>
          <p:spPr>
            <a:xfrm>
              <a:off x="2113" y="235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1958" name="Line 70"/>
          <p:cNvSpPr/>
          <p:nvPr/>
        </p:nvSpPr>
        <p:spPr>
          <a:xfrm>
            <a:off x="7391400" y="3733800"/>
            <a:ext cx="609600" cy="3048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1959" name="Line 71"/>
          <p:cNvSpPr/>
          <p:nvPr/>
        </p:nvSpPr>
        <p:spPr>
          <a:xfrm>
            <a:off x="8458200" y="4267200"/>
            <a:ext cx="609600" cy="3810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2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1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1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1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1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1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1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1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1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921" grpId="0"/>
      <p:bldP spid="421923" grpId="0"/>
      <p:bldP spid="4219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989" name="Text Box 149"/>
          <p:cNvSpPr txBox="1"/>
          <p:nvPr/>
        </p:nvSpPr>
        <p:spPr>
          <a:xfrm>
            <a:off x="1524000" y="1217613"/>
            <a:ext cx="4343400" cy="582612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二叉树转换为树或森林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19990" name="Text Box 150"/>
          <p:cNvSpPr txBox="1">
            <a:spLocks noChangeArrowheads="1"/>
          </p:cNvSpPr>
          <p:nvPr/>
        </p:nvSpPr>
        <p:spPr bwMode="auto">
          <a:xfrm>
            <a:off x="2819400" y="228600"/>
            <a:ext cx="7010400" cy="706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defRPr/>
            </a:pPr>
            <a:r>
              <a:rPr kumimoji="1" lang="zh-CN" altLang="en-US" sz="40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树和森林与二叉树的相互转换</a:t>
            </a:r>
            <a:endParaRPr kumimoji="1" lang="zh-CN" altLang="en-US" sz="4000" b="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  <a:cs typeface="+mn-cs"/>
              <a:sym typeface="+mn-ea"/>
            </a:endParaRPr>
          </a:p>
        </p:txBody>
      </p:sp>
      <p:sp>
        <p:nvSpPr>
          <p:cNvPr id="419991" name="Text Box 151"/>
          <p:cNvSpPr txBox="1"/>
          <p:nvPr/>
        </p:nvSpPr>
        <p:spPr>
          <a:xfrm>
            <a:off x="1524000" y="1668463"/>
            <a:ext cx="5845175" cy="15684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左孩子作为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第一个孩子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*左孩子的右孩子作为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第二个孩子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*左孩子的右孩子的右孩子作为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第三个孩子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………………..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58"/>
          <p:cNvGrpSpPr/>
          <p:nvPr/>
        </p:nvGrpSpPr>
        <p:grpSpPr>
          <a:xfrm>
            <a:off x="7086600" y="1598613"/>
            <a:ext cx="3276600" cy="2794000"/>
            <a:chOff x="3456" y="767"/>
            <a:chExt cx="1726" cy="1760"/>
          </a:xfrm>
        </p:grpSpPr>
        <p:sp>
          <p:nvSpPr>
            <p:cNvPr id="40965" name="Line 129"/>
            <p:cNvSpPr/>
            <p:nvPr/>
          </p:nvSpPr>
          <p:spPr>
            <a:xfrm>
              <a:off x="3906" y="1489"/>
              <a:ext cx="188" cy="379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66" name="Line 130"/>
            <p:cNvSpPr/>
            <p:nvPr/>
          </p:nvSpPr>
          <p:spPr>
            <a:xfrm flipH="1">
              <a:off x="4800" y="1968"/>
              <a:ext cx="167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67" name="Line 131"/>
            <p:cNvSpPr/>
            <p:nvPr/>
          </p:nvSpPr>
          <p:spPr>
            <a:xfrm>
              <a:off x="4769" y="1531"/>
              <a:ext cx="225" cy="25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68" name="Line 132"/>
            <p:cNvSpPr/>
            <p:nvPr/>
          </p:nvSpPr>
          <p:spPr>
            <a:xfrm flipH="1">
              <a:off x="3606" y="1531"/>
              <a:ext cx="225" cy="33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69" name="Line 133"/>
            <p:cNvSpPr/>
            <p:nvPr/>
          </p:nvSpPr>
          <p:spPr>
            <a:xfrm>
              <a:off x="4319" y="1026"/>
              <a:ext cx="338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0" name="Line 134"/>
            <p:cNvSpPr/>
            <p:nvPr/>
          </p:nvSpPr>
          <p:spPr>
            <a:xfrm flipH="1">
              <a:off x="3981" y="1026"/>
              <a:ext cx="263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75" name="Oval 135"/>
            <p:cNvSpPr>
              <a:spLocks noChangeArrowheads="1"/>
            </p:cNvSpPr>
            <p:nvPr/>
          </p:nvSpPr>
          <p:spPr bwMode="auto">
            <a:xfrm>
              <a:off x="4169" y="815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76" name="Oval 136"/>
            <p:cNvSpPr>
              <a:spLocks noChangeArrowheads="1"/>
            </p:cNvSpPr>
            <p:nvPr/>
          </p:nvSpPr>
          <p:spPr bwMode="auto">
            <a:xfrm>
              <a:off x="3967" y="1775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77" name="Oval 137"/>
            <p:cNvSpPr>
              <a:spLocks noChangeArrowheads="1"/>
            </p:cNvSpPr>
            <p:nvPr/>
          </p:nvSpPr>
          <p:spPr bwMode="auto">
            <a:xfrm>
              <a:off x="3756" y="1278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78" name="Oval 138"/>
            <p:cNvSpPr>
              <a:spLocks noChangeArrowheads="1"/>
            </p:cNvSpPr>
            <p:nvPr/>
          </p:nvSpPr>
          <p:spPr bwMode="auto">
            <a:xfrm>
              <a:off x="4582" y="1278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79" name="Oval 139"/>
            <p:cNvSpPr>
              <a:spLocks noChangeArrowheads="1"/>
            </p:cNvSpPr>
            <p:nvPr/>
          </p:nvSpPr>
          <p:spPr bwMode="auto">
            <a:xfrm>
              <a:off x="4645" y="2207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80" name="Oval 140"/>
            <p:cNvSpPr>
              <a:spLocks noChangeArrowheads="1"/>
            </p:cNvSpPr>
            <p:nvPr/>
          </p:nvSpPr>
          <p:spPr bwMode="auto">
            <a:xfrm>
              <a:off x="3456" y="1741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81" name="Oval 141"/>
            <p:cNvSpPr>
              <a:spLocks noChangeArrowheads="1"/>
            </p:cNvSpPr>
            <p:nvPr/>
          </p:nvSpPr>
          <p:spPr bwMode="auto">
            <a:xfrm>
              <a:off x="4919" y="1741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82" name="Text Box 142"/>
            <p:cNvSpPr txBox="1">
              <a:spLocks noChangeArrowheads="1"/>
            </p:cNvSpPr>
            <p:nvPr/>
          </p:nvSpPr>
          <p:spPr bwMode="auto">
            <a:xfrm>
              <a:off x="3787" y="1230"/>
              <a:ext cx="20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9983" name="Text Box 143"/>
            <p:cNvSpPr txBox="1">
              <a:spLocks noChangeArrowheads="1"/>
            </p:cNvSpPr>
            <p:nvPr/>
          </p:nvSpPr>
          <p:spPr bwMode="auto">
            <a:xfrm>
              <a:off x="4200" y="767"/>
              <a:ext cx="20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9984" name="Text Box 144"/>
            <p:cNvSpPr txBox="1">
              <a:spLocks noChangeArrowheads="1"/>
            </p:cNvSpPr>
            <p:nvPr/>
          </p:nvSpPr>
          <p:spPr bwMode="auto">
            <a:xfrm>
              <a:off x="3487" y="1693"/>
              <a:ext cx="20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9985" name="Text Box 145"/>
            <p:cNvSpPr txBox="1">
              <a:spLocks noChangeArrowheads="1"/>
            </p:cNvSpPr>
            <p:nvPr/>
          </p:nvSpPr>
          <p:spPr bwMode="auto">
            <a:xfrm>
              <a:off x="4002" y="1727"/>
              <a:ext cx="191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9986" name="Text Box 146"/>
            <p:cNvSpPr txBox="1">
              <a:spLocks noChangeArrowheads="1"/>
            </p:cNvSpPr>
            <p:nvPr/>
          </p:nvSpPr>
          <p:spPr bwMode="auto">
            <a:xfrm>
              <a:off x="4617" y="1230"/>
              <a:ext cx="191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9987" name="Text Box 147"/>
            <p:cNvSpPr txBox="1">
              <a:spLocks noChangeArrowheads="1"/>
            </p:cNvSpPr>
            <p:nvPr/>
          </p:nvSpPr>
          <p:spPr bwMode="auto">
            <a:xfrm>
              <a:off x="4948" y="1719"/>
              <a:ext cx="168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9988" name="Text Box 148"/>
            <p:cNvSpPr txBox="1">
              <a:spLocks noChangeArrowheads="1"/>
            </p:cNvSpPr>
            <p:nvPr/>
          </p:nvSpPr>
          <p:spPr bwMode="auto">
            <a:xfrm>
              <a:off x="4676" y="2159"/>
              <a:ext cx="20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9992" name="Oval 152"/>
            <p:cNvSpPr>
              <a:spLocks noChangeArrowheads="1"/>
            </p:cNvSpPr>
            <p:nvPr/>
          </p:nvSpPr>
          <p:spPr bwMode="auto">
            <a:xfrm>
              <a:off x="4220" y="2207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9993" name="Text Box 153"/>
            <p:cNvSpPr txBox="1">
              <a:spLocks noChangeArrowheads="1"/>
            </p:cNvSpPr>
            <p:nvPr/>
          </p:nvSpPr>
          <p:spPr bwMode="auto">
            <a:xfrm>
              <a:off x="4245" y="2159"/>
              <a:ext cx="215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h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0987" name="Line 156"/>
            <p:cNvSpPr/>
            <p:nvPr/>
          </p:nvSpPr>
          <p:spPr>
            <a:xfrm>
              <a:off x="4128" y="2016"/>
              <a:ext cx="144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19999" name="Line 159"/>
          <p:cNvSpPr/>
          <p:nvPr/>
        </p:nvSpPr>
        <p:spPr>
          <a:xfrm flipH="1">
            <a:off x="8077200" y="2057400"/>
            <a:ext cx="457200" cy="4572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0000" name="Line 160"/>
          <p:cNvSpPr/>
          <p:nvPr/>
        </p:nvSpPr>
        <p:spPr>
          <a:xfrm flipH="1">
            <a:off x="8382000" y="2133600"/>
            <a:ext cx="228600" cy="10668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0001" name="Line 161"/>
          <p:cNvSpPr/>
          <p:nvPr/>
        </p:nvSpPr>
        <p:spPr>
          <a:xfrm>
            <a:off x="8763000" y="2133600"/>
            <a:ext cx="76200" cy="17526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0002" name="Line 162"/>
          <p:cNvSpPr/>
          <p:nvPr/>
        </p:nvSpPr>
        <p:spPr>
          <a:xfrm flipH="1">
            <a:off x="7467600" y="2819400"/>
            <a:ext cx="304800" cy="3810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20003" name="Line 163"/>
          <p:cNvSpPr/>
          <p:nvPr/>
        </p:nvSpPr>
        <p:spPr>
          <a:xfrm flipH="1">
            <a:off x="9677400" y="3581400"/>
            <a:ext cx="228600" cy="3048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" name="Group 189"/>
          <p:cNvGrpSpPr/>
          <p:nvPr/>
        </p:nvGrpSpPr>
        <p:grpSpPr>
          <a:xfrm>
            <a:off x="8686800" y="4570413"/>
            <a:ext cx="496888" cy="584200"/>
            <a:chOff x="3367" y="2879"/>
            <a:chExt cx="313" cy="368"/>
          </a:xfrm>
        </p:grpSpPr>
        <p:sp>
          <p:nvSpPr>
            <p:cNvPr id="420014" name="Oval 174"/>
            <p:cNvSpPr>
              <a:spLocks noChangeArrowheads="1"/>
            </p:cNvSpPr>
            <p:nvPr/>
          </p:nvSpPr>
          <p:spPr bwMode="auto">
            <a:xfrm>
              <a:off x="3367" y="2927"/>
              <a:ext cx="31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22" name="Text Box 182"/>
            <p:cNvSpPr txBox="1">
              <a:spLocks noChangeArrowheads="1"/>
            </p:cNvSpPr>
            <p:nvPr/>
          </p:nvSpPr>
          <p:spPr bwMode="auto">
            <a:xfrm>
              <a:off x="3409" y="2879"/>
              <a:ext cx="229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grpSp>
        <p:nvGrpSpPr>
          <p:cNvPr id="4" name="Group 190"/>
          <p:cNvGrpSpPr/>
          <p:nvPr/>
        </p:nvGrpSpPr>
        <p:grpSpPr>
          <a:xfrm>
            <a:off x="9753600" y="4570413"/>
            <a:ext cx="503238" cy="1422400"/>
            <a:chOff x="4187" y="2927"/>
            <a:chExt cx="317" cy="896"/>
          </a:xfrm>
        </p:grpSpPr>
        <p:sp>
          <p:nvSpPr>
            <p:cNvPr id="40997" name="Line 166"/>
            <p:cNvSpPr/>
            <p:nvPr/>
          </p:nvSpPr>
          <p:spPr>
            <a:xfrm>
              <a:off x="4320" y="3216"/>
              <a:ext cx="0" cy="33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15" name="Oval 175"/>
            <p:cNvSpPr>
              <a:spLocks noChangeArrowheads="1"/>
            </p:cNvSpPr>
            <p:nvPr/>
          </p:nvSpPr>
          <p:spPr bwMode="auto">
            <a:xfrm>
              <a:off x="4187" y="3503"/>
              <a:ext cx="31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17" name="Oval 177"/>
            <p:cNvSpPr>
              <a:spLocks noChangeArrowheads="1"/>
            </p:cNvSpPr>
            <p:nvPr/>
          </p:nvSpPr>
          <p:spPr bwMode="auto">
            <a:xfrm>
              <a:off x="4189" y="2949"/>
              <a:ext cx="31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23" name="Text Box 183"/>
            <p:cNvSpPr txBox="1">
              <a:spLocks noChangeArrowheads="1"/>
            </p:cNvSpPr>
            <p:nvPr/>
          </p:nvSpPr>
          <p:spPr bwMode="auto">
            <a:xfrm>
              <a:off x="4224" y="2927"/>
              <a:ext cx="200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20024" name="Text Box 184"/>
            <p:cNvSpPr txBox="1">
              <a:spLocks noChangeArrowheads="1"/>
            </p:cNvSpPr>
            <p:nvPr/>
          </p:nvSpPr>
          <p:spPr bwMode="auto">
            <a:xfrm>
              <a:off x="4224" y="3455"/>
              <a:ext cx="24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grpSp>
        <p:nvGrpSpPr>
          <p:cNvPr id="5" name="Group 188"/>
          <p:cNvGrpSpPr/>
          <p:nvPr/>
        </p:nvGrpSpPr>
        <p:grpSpPr>
          <a:xfrm>
            <a:off x="6781800" y="4570413"/>
            <a:ext cx="1955800" cy="2108200"/>
            <a:chOff x="1931" y="2879"/>
            <a:chExt cx="1232" cy="1328"/>
          </a:xfrm>
        </p:grpSpPr>
        <p:sp>
          <p:nvSpPr>
            <p:cNvPr id="41003" name="Line 165"/>
            <p:cNvSpPr/>
            <p:nvPr/>
          </p:nvSpPr>
          <p:spPr>
            <a:xfrm>
              <a:off x="2688" y="3168"/>
              <a:ext cx="24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4" name="Line 168"/>
            <p:cNvSpPr/>
            <p:nvPr/>
          </p:nvSpPr>
          <p:spPr>
            <a:xfrm flipH="1">
              <a:off x="2544" y="3216"/>
              <a:ext cx="29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5" name="Line 170"/>
            <p:cNvSpPr/>
            <p:nvPr/>
          </p:nvSpPr>
          <p:spPr>
            <a:xfrm flipH="1">
              <a:off x="2208" y="3168"/>
              <a:ext cx="266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11" name="Oval 171"/>
            <p:cNvSpPr>
              <a:spLocks noChangeArrowheads="1"/>
            </p:cNvSpPr>
            <p:nvPr/>
          </p:nvSpPr>
          <p:spPr bwMode="auto">
            <a:xfrm>
              <a:off x="2411" y="2927"/>
              <a:ext cx="314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12" name="Oval 172"/>
            <p:cNvSpPr>
              <a:spLocks noChangeArrowheads="1"/>
            </p:cNvSpPr>
            <p:nvPr/>
          </p:nvSpPr>
          <p:spPr bwMode="auto">
            <a:xfrm>
              <a:off x="2406" y="3407"/>
              <a:ext cx="31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13" name="Oval 173"/>
            <p:cNvSpPr>
              <a:spLocks noChangeArrowheads="1"/>
            </p:cNvSpPr>
            <p:nvPr/>
          </p:nvSpPr>
          <p:spPr bwMode="auto">
            <a:xfrm>
              <a:off x="1979" y="3359"/>
              <a:ext cx="314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16" name="Oval 176"/>
            <p:cNvSpPr>
              <a:spLocks noChangeArrowheads="1"/>
            </p:cNvSpPr>
            <p:nvPr/>
          </p:nvSpPr>
          <p:spPr bwMode="auto">
            <a:xfrm>
              <a:off x="1931" y="3887"/>
              <a:ext cx="315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18" name="Text Box 178"/>
            <p:cNvSpPr txBox="1">
              <a:spLocks noChangeArrowheads="1"/>
            </p:cNvSpPr>
            <p:nvPr/>
          </p:nvSpPr>
          <p:spPr bwMode="auto">
            <a:xfrm>
              <a:off x="2016" y="3311"/>
              <a:ext cx="24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20019" name="Text Box 179"/>
            <p:cNvSpPr txBox="1">
              <a:spLocks noChangeArrowheads="1"/>
            </p:cNvSpPr>
            <p:nvPr/>
          </p:nvSpPr>
          <p:spPr bwMode="auto">
            <a:xfrm>
              <a:off x="2448" y="2879"/>
              <a:ext cx="24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20020" name="Text Box 180"/>
            <p:cNvSpPr txBox="1">
              <a:spLocks noChangeArrowheads="1"/>
            </p:cNvSpPr>
            <p:nvPr/>
          </p:nvSpPr>
          <p:spPr bwMode="auto">
            <a:xfrm>
              <a:off x="1968" y="3839"/>
              <a:ext cx="24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20021" name="Text Box 181"/>
            <p:cNvSpPr txBox="1">
              <a:spLocks noChangeArrowheads="1"/>
            </p:cNvSpPr>
            <p:nvPr/>
          </p:nvSpPr>
          <p:spPr bwMode="auto">
            <a:xfrm>
              <a:off x="2449" y="3359"/>
              <a:ext cx="229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20025" name="Oval 185"/>
            <p:cNvSpPr>
              <a:spLocks noChangeArrowheads="1"/>
            </p:cNvSpPr>
            <p:nvPr/>
          </p:nvSpPr>
          <p:spPr bwMode="auto">
            <a:xfrm>
              <a:off x="2850" y="3407"/>
              <a:ext cx="31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26" name="Text Box 186"/>
            <p:cNvSpPr txBox="1">
              <a:spLocks noChangeArrowheads="1"/>
            </p:cNvSpPr>
            <p:nvPr/>
          </p:nvSpPr>
          <p:spPr bwMode="auto">
            <a:xfrm>
              <a:off x="2880" y="3359"/>
              <a:ext cx="258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h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016" name="Line 187"/>
            <p:cNvSpPr/>
            <p:nvPr/>
          </p:nvSpPr>
          <p:spPr>
            <a:xfrm>
              <a:off x="2112" y="3648"/>
              <a:ext cx="0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20032" name="Text Box 192"/>
          <p:cNvSpPr txBox="1"/>
          <p:nvPr/>
        </p:nvSpPr>
        <p:spPr>
          <a:xfrm>
            <a:off x="1524000" y="3268663"/>
            <a:ext cx="5538788" cy="15684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根作为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第一棵树的根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*根的右孩子作为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第二棵树的根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*根的右孩子的右孩子作为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第三棵树的根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………………..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198"/>
          <p:cNvGrpSpPr/>
          <p:nvPr/>
        </p:nvGrpSpPr>
        <p:grpSpPr>
          <a:xfrm>
            <a:off x="7467600" y="2057400"/>
            <a:ext cx="2438400" cy="1828800"/>
            <a:chOff x="3744" y="1296"/>
            <a:chExt cx="1536" cy="1152"/>
          </a:xfrm>
        </p:grpSpPr>
        <p:sp>
          <p:nvSpPr>
            <p:cNvPr id="41019" name="Line 193"/>
            <p:cNvSpPr/>
            <p:nvPr/>
          </p:nvSpPr>
          <p:spPr>
            <a:xfrm flipH="1">
              <a:off x="4128" y="1296"/>
              <a:ext cx="288" cy="28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20" name="Line 194"/>
            <p:cNvSpPr/>
            <p:nvPr/>
          </p:nvSpPr>
          <p:spPr>
            <a:xfrm flipH="1">
              <a:off x="3744" y="1776"/>
              <a:ext cx="192" cy="24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21" name="Line 195"/>
            <p:cNvSpPr/>
            <p:nvPr/>
          </p:nvSpPr>
          <p:spPr>
            <a:xfrm flipH="1">
              <a:off x="4320" y="1344"/>
              <a:ext cx="144" cy="672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22" name="Line 196"/>
            <p:cNvSpPr/>
            <p:nvPr/>
          </p:nvSpPr>
          <p:spPr>
            <a:xfrm>
              <a:off x="4560" y="1344"/>
              <a:ext cx="48" cy="1104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23" name="Line 197"/>
            <p:cNvSpPr/>
            <p:nvPr/>
          </p:nvSpPr>
          <p:spPr>
            <a:xfrm flipH="1">
              <a:off x="5136" y="2256"/>
              <a:ext cx="144" cy="192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9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9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9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9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20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2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20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0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0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0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0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0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0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0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0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0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0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0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20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20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20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89" grpId="0"/>
      <p:bldP spid="419991" grpId="0"/>
      <p:bldP spid="4200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56"/>
          <p:cNvGrpSpPr/>
          <p:nvPr/>
        </p:nvGrpSpPr>
        <p:grpSpPr>
          <a:xfrm>
            <a:off x="8763000" y="3429000"/>
            <a:ext cx="304800" cy="609600"/>
            <a:chOff x="4560" y="2016"/>
            <a:chExt cx="192" cy="384"/>
          </a:xfrm>
        </p:grpSpPr>
        <p:sp>
          <p:nvSpPr>
            <p:cNvPr id="41986" name="Line 151"/>
            <p:cNvSpPr/>
            <p:nvPr/>
          </p:nvSpPr>
          <p:spPr>
            <a:xfrm>
              <a:off x="4608" y="2016"/>
              <a:ext cx="48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87" name="Oval 148"/>
            <p:cNvSpPr/>
            <p:nvPr/>
          </p:nvSpPr>
          <p:spPr>
            <a:xfrm>
              <a:off x="4560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55"/>
          <p:cNvGrpSpPr/>
          <p:nvPr/>
        </p:nvGrpSpPr>
        <p:grpSpPr>
          <a:xfrm>
            <a:off x="7848600" y="3352800"/>
            <a:ext cx="304800" cy="685800"/>
            <a:chOff x="3984" y="1968"/>
            <a:chExt cx="192" cy="432"/>
          </a:xfrm>
        </p:grpSpPr>
        <p:sp>
          <p:nvSpPr>
            <p:cNvPr id="41989" name="Line 149"/>
            <p:cNvSpPr/>
            <p:nvPr/>
          </p:nvSpPr>
          <p:spPr>
            <a:xfrm>
              <a:off x="3984" y="1968"/>
              <a:ext cx="96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0" name="Oval 147"/>
            <p:cNvSpPr/>
            <p:nvPr/>
          </p:nvSpPr>
          <p:spPr>
            <a:xfrm>
              <a:off x="3984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54"/>
          <p:cNvGrpSpPr/>
          <p:nvPr/>
        </p:nvGrpSpPr>
        <p:grpSpPr>
          <a:xfrm>
            <a:off x="7391400" y="3352800"/>
            <a:ext cx="304800" cy="685800"/>
            <a:chOff x="3696" y="1968"/>
            <a:chExt cx="192" cy="432"/>
          </a:xfrm>
        </p:grpSpPr>
        <p:sp>
          <p:nvSpPr>
            <p:cNvPr id="41992" name="Line 142"/>
            <p:cNvSpPr/>
            <p:nvPr/>
          </p:nvSpPr>
          <p:spPr>
            <a:xfrm flipH="1">
              <a:off x="3792" y="1968"/>
              <a:ext cx="96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3" name="Oval 146"/>
            <p:cNvSpPr/>
            <p:nvPr/>
          </p:nvSpPr>
          <p:spPr>
            <a:xfrm>
              <a:off x="3696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003" name="Text Box 3"/>
          <p:cNvSpPr txBox="1"/>
          <p:nvPr/>
        </p:nvSpPr>
        <p:spPr>
          <a:xfrm>
            <a:off x="1524000" y="5105400"/>
            <a:ext cx="4495800" cy="1568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40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由于（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dirty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）完全二叉树按层次编号后</a:t>
            </a:r>
            <a:r>
              <a:rPr lang="zh-CN" altLang="en-US" sz="240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，可确定各结点与其双亲及孩子的关系，则完全二叉树按编号次序进行顺序表示。</a:t>
            </a:r>
            <a:endParaRPr lang="zh-CN" altLang="en-US" sz="2400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sng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顺序表示</a:t>
            </a:r>
            <a:endParaRPr kumimoji="1" lang="zh-CN" altLang="en-US" sz="4000" b="0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  <p:grpSp>
        <p:nvGrpSpPr>
          <p:cNvPr id="5" name="Group 136"/>
          <p:cNvGrpSpPr/>
          <p:nvPr/>
        </p:nvGrpSpPr>
        <p:grpSpPr>
          <a:xfrm>
            <a:off x="1981200" y="4343400"/>
            <a:ext cx="3124200" cy="609600"/>
            <a:chOff x="336" y="2659"/>
            <a:chExt cx="1968" cy="384"/>
          </a:xfrm>
        </p:grpSpPr>
        <p:sp>
          <p:nvSpPr>
            <p:cNvPr id="41997" name="Rectangle 37"/>
            <p:cNvSpPr/>
            <p:nvPr/>
          </p:nvSpPr>
          <p:spPr>
            <a:xfrm>
              <a:off x="336" y="2755"/>
              <a:ext cx="1968" cy="288"/>
            </a:xfrm>
            <a:prstGeom prst="rect">
              <a:avLst/>
            </a:prstGeom>
            <a:solidFill>
              <a:srgbClr val="FF7C80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8" name="Line 38"/>
            <p:cNvSpPr/>
            <p:nvPr/>
          </p:nvSpPr>
          <p:spPr>
            <a:xfrm>
              <a:off x="528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9" name="Line 40"/>
            <p:cNvSpPr/>
            <p:nvPr/>
          </p:nvSpPr>
          <p:spPr>
            <a:xfrm>
              <a:off x="720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0" name="Line 41"/>
            <p:cNvSpPr/>
            <p:nvPr/>
          </p:nvSpPr>
          <p:spPr>
            <a:xfrm>
              <a:off x="912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1" name="Line 42"/>
            <p:cNvSpPr/>
            <p:nvPr/>
          </p:nvSpPr>
          <p:spPr>
            <a:xfrm>
              <a:off x="1104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2" name="Line 43"/>
            <p:cNvSpPr/>
            <p:nvPr/>
          </p:nvSpPr>
          <p:spPr>
            <a:xfrm>
              <a:off x="1296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3" name="Line 44"/>
            <p:cNvSpPr/>
            <p:nvPr/>
          </p:nvSpPr>
          <p:spPr>
            <a:xfrm>
              <a:off x="1488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4" name="Line 45"/>
            <p:cNvSpPr/>
            <p:nvPr/>
          </p:nvSpPr>
          <p:spPr>
            <a:xfrm>
              <a:off x="1680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5" name="Line 46"/>
            <p:cNvSpPr/>
            <p:nvPr/>
          </p:nvSpPr>
          <p:spPr>
            <a:xfrm>
              <a:off x="1872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6" name="Line 47"/>
            <p:cNvSpPr/>
            <p:nvPr/>
          </p:nvSpPr>
          <p:spPr>
            <a:xfrm>
              <a:off x="2064" y="2755"/>
              <a:ext cx="0" cy="28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7" name="Line 48"/>
            <p:cNvSpPr/>
            <p:nvPr/>
          </p:nvSpPr>
          <p:spPr>
            <a:xfrm flipV="1">
              <a:off x="528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8" name="Line 49"/>
            <p:cNvSpPr/>
            <p:nvPr/>
          </p:nvSpPr>
          <p:spPr>
            <a:xfrm flipV="1">
              <a:off x="720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9" name="Line 50"/>
            <p:cNvSpPr/>
            <p:nvPr/>
          </p:nvSpPr>
          <p:spPr>
            <a:xfrm flipV="1">
              <a:off x="912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0" name="Line 51"/>
            <p:cNvSpPr/>
            <p:nvPr/>
          </p:nvSpPr>
          <p:spPr>
            <a:xfrm flipV="1">
              <a:off x="1104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1" name="Line 52"/>
            <p:cNvSpPr/>
            <p:nvPr/>
          </p:nvSpPr>
          <p:spPr>
            <a:xfrm flipV="1">
              <a:off x="1296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2" name="Line 53"/>
            <p:cNvSpPr/>
            <p:nvPr/>
          </p:nvSpPr>
          <p:spPr>
            <a:xfrm flipV="1">
              <a:off x="1488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3" name="Line 54"/>
            <p:cNvSpPr/>
            <p:nvPr/>
          </p:nvSpPr>
          <p:spPr>
            <a:xfrm flipV="1">
              <a:off x="1680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4" name="Line 55"/>
            <p:cNvSpPr/>
            <p:nvPr/>
          </p:nvSpPr>
          <p:spPr>
            <a:xfrm flipV="1">
              <a:off x="1872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5" name="Line 56"/>
            <p:cNvSpPr/>
            <p:nvPr/>
          </p:nvSpPr>
          <p:spPr>
            <a:xfrm flipV="1">
              <a:off x="2064" y="2659"/>
              <a:ext cx="96" cy="96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" name="Group 139"/>
          <p:cNvGrpSpPr/>
          <p:nvPr/>
        </p:nvGrpSpPr>
        <p:grpSpPr>
          <a:xfrm>
            <a:off x="6248400" y="1827213"/>
            <a:ext cx="3613150" cy="2351087"/>
            <a:chOff x="2765" y="1016"/>
            <a:chExt cx="2276" cy="1481"/>
          </a:xfrm>
        </p:grpSpPr>
        <p:sp>
          <p:nvSpPr>
            <p:cNvPr id="42017" name="Line 57"/>
            <p:cNvSpPr/>
            <p:nvPr/>
          </p:nvSpPr>
          <p:spPr>
            <a:xfrm>
              <a:off x="4656" y="1632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8" name="Line 58"/>
            <p:cNvSpPr/>
            <p:nvPr/>
          </p:nvSpPr>
          <p:spPr>
            <a:xfrm flipH="1">
              <a:off x="4368" y="1605"/>
              <a:ext cx="223" cy="267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9" name="Line 59"/>
            <p:cNvSpPr/>
            <p:nvPr/>
          </p:nvSpPr>
          <p:spPr>
            <a:xfrm flipH="1">
              <a:off x="2928" y="1968"/>
              <a:ext cx="192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0" name="Line 60"/>
            <p:cNvSpPr/>
            <p:nvPr/>
          </p:nvSpPr>
          <p:spPr>
            <a:xfrm flipH="1">
              <a:off x="3168" y="1632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1" name="Line 61"/>
            <p:cNvSpPr/>
            <p:nvPr/>
          </p:nvSpPr>
          <p:spPr>
            <a:xfrm>
              <a:off x="4128" y="1248"/>
              <a:ext cx="456" cy="27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2" name="Line 62"/>
            <p:cNvSpPr/>
            <p:nvPr/>
          </p:nvSpPr>
          <p:spPr>
            <a:xfrm flipH="1">
              <a:off x="3504" y="1248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3" name="Line 64"/>
            <p:cNvSpPr/>
            <p:nvPr/>
          </p:nvSpPr>
          <p:spPr>
            <a:xfrm flipH="1">
              <a:off x="4176" y="1968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4" name="Line 65"/>
            <p:cNvSpPr/>
            <p:nvPr/>
          </p:nvSpPr>
          <p:spPr>
            <a:xfrm>
              <a:off x="3216" y="2016"/>
              <a:ext cx="87" cy="26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5" name="Line 66"/>
            <p:cNvSpPr/>
            <p:nvPr/>
          </p:nvSpPr>
          <p:spPr>
            <a:xfrm flipH="1">
              <a:off x="4704" y="1968"/>
              <a:ext cx="144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6" name="Oval 67"/>
            <p:cNvSpPr/>
            <p:nvPr/>
          </p:nvSpPr>
          <p:spPr>
            <a:xfrm>
              <a:off x="4560" y="220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7" name="Text Box 85"/>
            <p:cNvSpPr txBox="1"/>
            <p:nvPr/>
          </p:nvSpPr>
          <p:spPr>
            <a:xfrm>
              <a:off x="4572" y="215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8" name="Oval 124"/>
            <p:cNvSpPr/>
            <p:nvPr/>
          </p:nvSpPr>
          <p:spPr>
            <a:xfrm>
              <a:off x="3936" y="105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9" name="Oval 125"/>
            <p:cNvSpPr/>
            <p:nvPr/>
          </p:nvSpPr>
          <p:spPr>
            <a:xfrm>
              <a:off x="3360" y="1392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0" name="Oval 126"/>
            <p:cNvSpPr/>
            <p:nvPr/>
          </p:nvSpPr>
          <p:spPr>
            <a:xfrm>
              <a:off x="4464" y="1392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1" name="Text Box 76"/>
            <p:cNvSpPr txBox="1"/>
            <p:nvPr/>
          </p:nvSpPr>
          <p:spPr>
            <a:xfrm>
              <a:off x="3924" y="1016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2" name="Text Box 77"/>
            <p:cNvSpPr txBox="1"/>
            <p:nvPr/>
          </p:nvSpPr>
          <p:spPr>
            <a:xfrm>
              <a:off x="3354" y="1352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3" name="Text Box 78"/>
            <p:cNvSpPr txBox="1"/>
            <p:nvPr/>
          </p:nvSpPr>
          <p:spPr>
            <a:xfrm>
              <a:off x="4452" y="1352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4" name="Oval 127"/>
            <p:cNvSpPr/>
            <p:nvPr/>
          </p:nvSpPr>
          <p:spPr>
            <a:xfrm>
              <a:off x="4224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5" name="Oval 128"/>
            <p:cNvSpPr/>
            <p:nvPr/>
          </p:nvSpPr>
          <p:spPr>
            <a:xfrm>
              <a:off x="4752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6" name="Text Box 82"/>
            <p:cNvSpPr txBox="1"/>
            <p:nvPr/>
          </p:nvSpPr>
          <p:spPr>
            <a:xfrm>
              <a:off x="4789" y="1736"/>
              <a:ext cx="25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7" name="Text Box 81"/>
            <p:cNvSpPr txBox="1"/>
            <p:nvPr/>
          </p:nvSpPr>
          <p:spPr>
            <a:xfrm>
              <a:off x="4206" y="1736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8" name="Oval 129"/>
            <p:cNvSpPr/>
            <p:nvPr/>
          </p:nvSpPr>
          <p:spPr>
            <a:xfrm>
              <a:off x="3024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9" name="Text Box 79"/>
            <p:cNvSpPr txBox="1"/>
            <p:nvPr/>
          </p:nvSpPr>
          <p:spPr>
            <a:xfrm>
              <a:off x="3012" y="1736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0" name="Oval 130"/>
            <p:cNvSpPr/>
            <p:nvPr/>
          </p:nvSpPr>
          <p:spPr>
            <a:xfrm>
              <a:off x="2784" y="220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1" name="Text Box 83"/>
            <p:cNvSpPr txBox="1"/>
            <p:nvPr/>
          </p:nvSpPr>
          <p:spPr>
            <a:xfrm>
              <a:off x="2765" y="2168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2" name="Oval 131"/>
            <p:cNvSpPr/>
            <p:nvPr/>
          </p:nvSpPr>
          <p:spPr>
            <a:xfrm>
              <a:off x="3168" y="220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3" name="Text Box 80"/>
            <p:cNvSpPr txBox="1"/>
            <p:nvPr/>
          </p:nvSpPr>
          <p:spPr>
            <a:xfrm>
              <a:off x="3149" y="2159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4" name="Oval 133"/>
            <p:cNvSpPr/>
            <p:nvPr/>
          </p:nvSpPr>
          <p:spPr>
            <a:xfrm>
              <a:off x="3984" y="220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5" name="Text Box 84"/>
            <p:cNvSpPr txBox="1"/>
            <p:nvPr/>
          </p:nvSpPr>
          <p:spPr>
            <a:xfrm>
              <a:off x="4009" y="2159"/>
              <a:ext cx="20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046" name="Text Box 134"/>
          <p:cNvSpPr txBox="1"/>
          <p:nvPr/>
        </p:nvSpPr>
        <p:spPr>
          <a:xfrm>
            <a:off x="3895725" y="149225"/>
            <a:ext cx="4267200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u="sng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二叉树的存储结构</a:t>
            </a:r>
            <a:endParaRPr lang="zh-CN" altLang="en-US" sz="40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" name="Group 137"/>
          <p:cNvGrpSpPr/>
          <p:nvPr/>
        </p:nvGrpSpPr>
        <p:grpSpPr>
          <a:xfrm>
            <a:off x="1828800" y="1827213"/>
            <a:ext cx="3505200" cy="2320925"/>
            <a:chOff x="432" y="1034"/>
            <a:chExt cx="2208" cy="1462"/>
          </a:xfrm>
        </p:grpSpPr>
        <p:sp>
          <p:nvSpPr>
            <p:cNvPr id="42048" name="Line 8"/>
            <p:cNvSpPr/>
            <p:nvPr/>
          </p:nvSpPr>
          <p:spPr>
            <a:xfrm>
              <a:off x="2280" y="1611"/>
              <a:ext cx="192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49" name="Line 9"/>
            <p:cNvSpPr/>
            <p:nvPr/>
          </p:nvSpPr>
          <p:spPr>
            <a:xfrm flipH="1">
              <a:off x="1992" y="1584"/>
              <a:ext cx="223" cy="267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0" name="Line 10"/>
            <p:cNvSpPr/>
            <p:nvPr/>
          </p:nvSpPr>
          <p:spPr>
            <a:xfrm>
              <a:off x="1128" y="1563"/>
              <a:ext cx="216" cy="26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1" name="Line 11"/>
            <p:cNvSpPr/>
            <p:nvPr/>
          </p:nvSpPr>
          <p:spPr>
            <a:xfrm flipH="1">
              <a:off x="792" y="1611"/>
              <a:ext cx="24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2" name="Line 12"/>
            <p:cNvSpPr/>
            <p:nvPr/>
          </p:nvSpPr>
          <p:spPr>
            <a:xfrm>
              <a:off x="1752" y="1227"/>
              <a:ext cx="456" cy="27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3" name="Line 13"/>
            <p:cNvSpPr/>
            <p:nvPr/>
          </p:nvSpPr>
          <p:spPr>
            <a:xfrm flipH="1">
              <a:off x="1128" y="1227"/>
              <a:ext cx="480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4" name="Oval 14"/>
            <p:cNvSpPr/>
            <p:nvPr/>
          </p:nvSpPr>
          <p:spPr>
            <a:xfrm>
              <a:off x="1536" y="105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55" name="Line 15"/>
            <p:cNvSpPr/>
            <p:nvPr/>
          </p:nvSpPr>
          <p:spPr>
            <a:xfrm flipH="1">
              <a:off x="1281" y="1947"/>
              <a:ext cx="111" cy="26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6" name="Line 16"/>
            <p:cNvSpPr/>
            <p:nvPr/>
          </p:nvSpPr>
          <p:spPr>
            <a:xfrm>
              <a:off x="840" y="1995"/>
              <a:ext cx="87" cy="261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7" name="Line 17"/>
            <p:cNvSpPr/>
            <p:nvPr/>
          </p:nvSpPr>
          <p:spPr>
            <a:xfrm flipH="1">
              <a:off x="627" y="1947"/>
              <a:ext cx="165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8" name="Text Box 27"/>
            <p:cNvSpPr txBox="1"/>
            <p:nvPr/>
          </p:nvSpPr>
          <p:spPr>
            <a:xfrm>
              <a:off x="1560" y="1034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59" name="Oval 114"/>
            <p:cNvSpPr/>
            <p:nvPr/>
          </p:nvSpPr>
          <p:spPr>
            <a:xfrm>
              <a:off x="960" y="1392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0" name="Oval 115"/>
            <p:cNvSpPr/>
            <p:nvPr/>
          </p:nvSpPr>
          <p:spPr>
            <a:xfrm>
              <a:off x="672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1" name="Oval 116"/>
            <p:cNvSpPr/>
            <p:nvPr/>
          </p:nvSpPr>
          <p:spPr>
            <a:xfrm>
              <a:off x="432" y="220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2" name="Oval 117"/>
            <p:cNvSpPr/>
            <p:nvPr/>
          </p:nvSpPr>
          <p:spPr>
            <a:xfrm>
              <a:off x="768" y="220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3" name="Oval 118"/>
            <p:cNvSpPr/>
            <p:nvPr/>
          </p:nvSpPr>
          <p:spPr>
            <a:xfrm>
              <a:off x="1104" y="220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4" name="Oval 119"/>
            <p:cNvSpPr/>
            <p:nvPr/>
          </p:nvSpPr>
          <p:spPr>
            <a:xfrm>
              <a:off x="1248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5" name="Text Box 35"/>
            <p:cNvSpPr txBox="1"/>
            <p:nvPr/>
          </p:nvSpPr>
          <p:spPr>
            <a:xfrm>
              <a:off x="480" y="215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6" name="Text Box 36"/>
            <p:cNvSpPr txBox="1"/>
            <p:nvPr/>
          </p:nvSpPr>
          <p:spPr>
            <a:xfrm>
              <a:off x="816" y="215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7" name="Text Box 32"/>
            <p:cNvSpPr txBox="1"/>
            <p:nvPr/>
          </p:nvSpPr>
          <p:spPr>
            <a:xfrm>
              <a:off x="672" y="1727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8" name="Oval 120"/>
            <p:cNvSpPr/>
            <p:nvPr/>
          </p:nvSpPr>
          <p:spPr>
            <a:xfrm>
              <a:off x="1824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69" name="Oval 121"/>
            <p:cNvSpPr/>
            <p:nvPr/>
          </p:nvSpPr>
          <p:spPr>
            <a:xfrm>
              <a:off x="2112" y="1392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0" name="Oval 122"/>
            <p:cNvSpPr/>
            <p:nvPr/>
          </p:nvSpPr>
          <p:spPr>
            <a:xfrm>
              <a:off x="2352" y="1776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27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1" name="Text Box 33"/>
            <p:cNvSpPr txBox="1"/>
            <p:nvPr/>
          </p:nvSpPr>
          <p:spPr>
            <a:xfrm>
              <a:off x="1248" y="17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2" name="Text Box 34"/>
            <p:cNvSpPr txBox="1"/>
            <p:nvPr/>
          </p:nvSpPr>
          <p:spPr>
            <a:xfrm>
              <a:off x="1872" y="1727"/>
              <a:ext cx="22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3" name="Text Box 29"/>
            <p:cNvSpPr txBox="1"/>
            <p:nvPr/>
          </p:nvSpPr>
          <p:spPr>
            <a:xfrm>
              <a:off x="1008" y="134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4" name="Text Box 30"/>
            <p:cNvSpPr txBox="1"/>
            <p:nvPr/>
          </p:nvSpPr>
          <p:spPr>
            <a:xfrm>
              <a:off x="2160" y="134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5" name="Text Box 31"/>
            <p:cNvSpPr txBox="1"/>
            <p:nvPr/>
          </p:nvSpPr>
          <p:spPr>
            <a:xfrm>
              <a:off x="2400" y="17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76" name="Text Box 135"/>
            <p:cNvSpPr txBox="1"/>
            <p:nvPr/>
          </p:nvSpPr>
          <p:spPr>
            <a:xfrm>
              <a:off x="1056" y="2159"/>
              <a:ext cx="339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039" name="Text Box 39"/>
          <p:cNvSpPr txBox="1"/>
          <p:nvPr/>
        </p:nvSpPr>
        <p:spPr>
          <a:xfrm>
            <a:off x="1828800" y="4418013"/>
            <a:ext cx="3433763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1 2 3 4 5 6 7 8 9 10</a:t>
            </a:r>
            <a:endParaRPr lang="en-US" altLang="zh-CN" sz="28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140"/>
          <p:cNvGrpSpPr/>
          <p:nvPr/>
        </p:nvGrpSpPr>
        <p:grpSpPr>
          <a:xfrm>
            <a:off x="5943600" y="4189413"/>
            <a:ext cx="4495800" cy="763587"/>
            <a:chOff x="2688" y="2639"/>
            <a:chExt cx="2832" cy="481"/>
          </a:xfrm>
        </p:grpSpPr>
        <p:grpSp>
          <p:nvGrpSpPr>
            <p:cNvPr id="42079" name="Group 138"/>
            <p:cNvGrpSpPr/>
            <p:nvPr/>
          </p:nvGrpSpPr>
          <p:grpSpPr>
            <a:xfrm>
              <a:off x="2688" y="2736"/>
              <a:ext cx="2832" cy="384"/>
              <a:chOff x="2592" y="2659"/>
              <a:chExt cx="2736" cy="384"/>
            </a:xfrm>
          </p:grpSpPr>
          <p:sp>
            <p:nvSpPr>
              <p:cNvPr id="42080" name="Rectangle 86"/>
              <p:cNvSpPr/>
              <p:nvPr/>
            </p:nvSpPr>
            <p:spPr>
              <a:xfrm>
                <a:off x="2592" y="2755"/>
                <a:ext cx="2736" cy="288"/>
              </a:xfrm>
              <a:prstGeom prst="rect">
                <a:avLst/>
              </a:prstGeom>
              <a:solidFill>
                <a:srgbClr val="FF7C80"/>
              </a:solidFill>
              <a:ln w="9525"/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7C80"/>
                </a:extrusionClr>
              </a:sp3d>
            </p:spPr>
            <p:txBody>
              <a:bodyPr wrap="none" anchor="ctr" anchorCtr="0">
                <a:flatTx/>
              </a:bodyPr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81" name="Line 87"/>
              <p:cNvSpPr/>
              <p:nvPr/>
            </p:nvSpPr>
            <p:spPr>
              <a:xfrm>
                <a:off x="2784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2" name="Line 89"/>
              <p:cNvSpPr/>
              <p:nvPr/>
            </p:nvSpPr>
            <p:spPr>
              <a:xfrm>
                <a:off x="2976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3" name="Line 90"/>
              <p:cNvSpPr/>
              <p:nvPr/>
            </p:nvSpPr>
            <p:spPr>
              <a:xfrm>
                <a:off x="3168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4" name="Line 91"/>
              <p:cNvSpPr/>
              <p:nvPr/>
            </p:nvSpPr>
            <p:spPr>
              <a:xfrm>
                <a:off x="3360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5" name="Line 92"/>
              <p:cNvSpPr/>
              <p:nvPr/>
            </p:nvSpPr>
            <p:spPr>
              <a:xfrm>
                <a:off x="3552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6" name="Line 93"/>
              <p:cNvSpPr/>
              <p:nvPr/>
            </p:nvSpPr>
            <p:spPr>
              <a:xfrm>
                <a:off x="3744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7" name="Line 94"/>
              <p:cNvSpPr/>
              <p:nvPr/>
            </p:nvSpPr>
            <p:spPr>
              <a:xfrm>
                <a:off x="3936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8" name="Line 95"/>
              <p:cNvSpPr/>
              <p:nvPr/>
            </p:nvSpPr>
            <p:spPr>
              <a:xfrm>
                <a:off x="4128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89" name="Line 96"/>
              <p:cNvSpPr/>
              <p:nvPr/>
            </p:nvSpPr>
            <p:spPr>
              <a:xfrm>
                <a:off x="4320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0" name="Line 97"/>
              <p:cNvSpPr/>
              <p:nvPr/>
            </p:nvSpPr>
            <p:spPr>
              <a:xfrm flipV="1">
                <a:off x="2784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1" name="Line 98"/>
              <p:cNvSpPr/>
              <p:nvPr/>
            </p:nvSpPr>
            <p:spPr>
              <a:xfrm flipV="1">
                <a:off x="2976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2" name="Line 99"/>
              <p:cNvSpPr/>
              <p:nvPr/>
            </p:nvSpPr>
            <p:spPr>
              <a:xfrm flipV="1">
                <a:off x="3168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3" name="Line 100"/>
              <p:cNvSpPr/>
              <p:nvPr/>
            </p:nvSpPr>
            <p:spPr>
              <a:xfrm flipV="1">
                <a:off x="3360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4" name="Line 101"/>
              <p:cNvSpPr/>
              <p:nvPr/>
            </p:nvSpPr>
            <p:spPr>
              <a:xfrm flipV="1">
                <a:off x="3552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5" name="Line 102"/>
              <p:cNvSpPr/>
              <p:nvPr/>
            </p:nvSpPr>
            <p:spPr>
              <a:xfrm flipV="1">
                <a:off x="3744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6" name="Line 103"/>
              <p:cNvSpPr/>
              <p:nvPr/>
            </p:nvSpPr>
            <p:spPr>
              <a:xfrm flipV="1">
                <a:off x="3936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7" name="Line 104"/>
              <p:cNvSpPr/>
              <p:nvPr/>
            </p:nvSpPr>
            <p:spPr>
              <a:xfrm flipV="1">
                <a:off x="4128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8" name="Line 105"/>
              <p:cNvSpPr/>
              <p:nvPr/>
            </p:nvSpPr>
            <p:spPr>
              <a:xfrm flipV="1">
                <a:off x="4320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99" name="Line 106"/>
              <p:cNvSpPr/>
              <p:nvPr/>
            </p:nvSpPr>
            <p:spPr>
              <a:xfrm>
                <a:off x="4512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0" name="Line 107"/>
              <p:cNvSpPr/>
              <p:nvPr/>
            </p:nvSpPr>
            <p:spPr>
              <a:xfrm flipV="1">
                <a:off x="4512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1" name="Line 108"/>
              <p:cNvSpPr/>
              <p:nvPr/>
            </p:nvSpPr>
            <p:spPr>
              <a:xfrm>
                <a:off x="4704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2" name="Line 109"/>
              <p:cNvSpPr/>
              <p:nvPr/>
            </p:nvSpPr>
            <p:spPr>
              <a:xfrm flipV="1">
                <a:off x="4704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3" name="Line 110"/>
              <p:cNvSpPr/>
              <p:nvPr/>
            </p:nvSpPr>
            <p:spPr>
              <a:xfrm>
                <a:off x="4896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4" name="Line 111"/>
              <p:cNvSpPr/>
              <p:nvPr/>
            </p:nvSpPr>
            <p:spPr>
              <a:xfrm flipV="1">
                <a:off x="4896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5" name="Line 112"/>
              <p:cNvSpPr/>
              <p:nvPr/>
            </p:nvSpPr>
            <p:spPr>
              <a:xfrm>
                <a:off x="5088" y="2755"/>
                <a:ext cx="0" cy="288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106" name="Line 113"/>
              <p:cNvSpPr/>
              <p:nvPr/>
            </p:nvSpPr>
            <p:spPr>
              <a:xfrm flipV="1">
                <a:off x="5088" y="2659"/>
                <a:ext cx="96" cy="96"/>
              </a:xfrm>
              <a:prstGeom prst="line">
                <a:avLst/>
              </a:prstGeom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107" name="Text Box 88"/>
            <p:cNvSpPr txBox="1"/>
            <p:nvPr/>
          </p:nvSpPr>
          <p:spPr>
            <a:xfrm>
              <a:off x="2688" y="2639"/>
              <a:ext cx="2826" cy="251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1   2   3   4   5   6   7   8   9  10 11 12 13 14</a:t>
              </a:r>
              <a:endParaRPr lang="en-US" altLang="zh-CN" sz="20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141" name="Text Box 141"/>
          <p:cNvSpPr txBox="1"/>
          <p:nvPr/>
        </p:nvSpPr>
        <p:spPr>
          <a:xfrm>
            <a:off x="6248400" y="5251450"/>
            <a:ext cx="4419600" cy="120015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2400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将一般二叉树转换为完全二叉树（添加虚结点），然后按层次编号次序进行顺序表示。</a:t>
            </a:r>
            <a:endParaRPr lang="zh-CN" altLang="en-US" sz="2400" dirty="0">
              <a:solidFill>
                <a:srgbClr val="00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0" name="Group 153"/>
          <p:cNvGrpSpPr/>
          <p:nvPr/>
        </p:nvGrpSpPr>
        <p:grpSpPr>
          <a:xfrm>
            <a:off x="7543800" y="2819400"/>
            <a:ext cx="381000" cy="609600"/>
            <a:chOff x="3792" y="1632"/>
            <a:chExt cx="240" cy="384"/>
          </a:xfrm>
        </p:grpSpPr>
        <p:sp>
          <p:nvSpPr>
            <p:cNvPr id="42110" name="Line 150"/>
            <p:cNvSpPr/>
            <p:nvPr/>
          </p:nvSpPr>
          <p:spPr>
            <a:xfrm>
              <a:off x="3792" y="1632"/>
              <a:ext cx="144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111" name="Oval 145"/>
            <p:cNvSpPr/>
            <p:nvPr/>
          </p:nvSpPr>
          <p:spPr>
            <a:xfrm>
              <a:off x="3840" y="1824"/>
              <a:ext cx="192" cy="19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152" name="Text Box 152"/>
          <p:cNvSpPr txBox="1"/>
          <p:nvPr/>
        </p:nvSpPr>
        <p:spPr>
          <a:xfrm>
            <a:off x="5791200" y="4418172"/>
            <a:ext cx="4684395" cy="52197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 B C D    E F G H        I      J</a:t>
            </a:r>
            <a:endParaRPr lang="en-US" altLang="zh-CN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157" name="Text Box 157"/>
          <p:cNvSpPr txBox="1"/>
          <p:nvPr/>
        </p:nvSpPr>
        <p:spPr>
          <a:xfrm>
            <a:off x="2286000" y="5097463"/>
            <a:ext cx="2705100" cy="1568450"/>
          </a:xfrm>
          <a:prstGeom prst="rect">
            <a:avLst/>
          </a:prstGeom>
          <a:solidFill>
            <a:srgbClr val="FFFF99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结点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双亲是结点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左孩子是结点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没有右孩子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158" name="Text Box 158"/>
          <p:cNvSpPr txBox="1"/>
          <p:nvPr/>
        </p:nvSpPr>
        <p:spPr>
          <a:xfrm>
            <a:off x="6629400" y="5097463"/>
            <a:ext cx="3546475" cy="1568450"/>
          </a:xfrm>
          <a:prstGeom prst="rect">
            <a:avLst/>
          </a:prstGeom>
          <a:solidFill>
            <a:srgbClr val="FFCCFF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结点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）：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双亲是结点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左孩子是结点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没有右孩子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为空）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159" name="Text Box 159"/>
          <p:cNvSpPr txBox="1"/>
          <p:nvPr/>
        </p:nvSpPr>
        <p:spPr>
          <a:xfrm>
            <a:off x="2286000" y="1217613"/>
            <a:ext cx="1970088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完全二叉树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28160" name="Text Box 160"/>
          <p:cNvSpPr txBox="1"/>
          <p:nvPr/>
        </p:nvSpPr>
        <p:spPr>
          <a:xfrm>
            <a:off x="7315200" y="1293813"/>
            <a:ext cx="1970088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一般二叉树</a:t>
            </a:r>
            <a:endParaRPr lang="zh-CN" altLang="en-US" sz="2800" dirty="0">
              <a:solidFill>
                <a:srgbClr val="80008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00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2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2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2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12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12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/>
      <p:bldP spid="128005" grpId="0" build="p"/>
      <p:bldP spid="128039" grpId="0"/>
      <p:bldP spid="128141" grpId="0"/>
      <p:bldP spid="128152" grpId="0"/>
      <p:bldP spid="128157" grpId="0" bldLvl="0" animBg="1"/>
      <p:bldP spid="128158" grpId="0" bldLvl="0" animBg="1"/>
      <p:bldP spid="128159" grpId="0"/>
      <p:bldP spid="12816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572000" y="1219200"/>
            <a:ext cx="3276600" cy="685800"/>
            <a:chOff x="1200" y="1056"/>
            <a:chExt cx="2064" cy="432"/>
          </a:xfrm>
        </p:grpSpPr>
        <p:sp>
          <p:nvSpPr>
            <p:cNvPr id="44034" name="Rectangle 3"/>
            <p:cNvSpPr/>
            <p:nvPr/>
          </p:nvSpPr>
          <p:spPr>
            <a:xfrm>
              <a:off x="1200" y="1152"/>
              <a:ext cx="2064" cy="336"/>
            </a:xfrm>
            <a:prstGeom prst="rect">
              <a:avLst/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35" name="Text Box 4"/>
            <p:cNvSpPr txBox="1"/>
            <p:nvPr/>
          </p:nvSpPr>
          <p:spPr>
            <a:xfrm>
              <a:off x="1247" y="1151"/>
              <a:ext cx="19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lchild   data   rchild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36" name="Line 5"/>
            <p:cNvSpPr/>
            <p:nvPr/>
          </p:nvSpPr>
          <p:spPr>
            <a:xfrm flipV="1">
              <a:off x="1968" y="1152"/>
              <a:ext cx="0" cy="33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37" name="Line 6"/>
            <p:cNvSpPr/>
            <p:nvPr/>
          </p:nvSpPr>
          <p:spPr>
            <a:xfrm flipV="1">
              <a:off x="2544" y="1152"/>
              <a:ext cx="0" cy="33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38" name="Line 7"/>
            <p:cNvSpPr/>
            <p:nvPr/>
          </p:nvSpPr>
          <p:spPr>
            <a:xfrm flipV="1">
              <a:off x="1968" y="1056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39" name="Line 8"/>
            <p:cNvSpPr/>
            <p:nvPr/>
          </p:nvSpPr>
          <p:spPr>
            <a:xfrm flipV="1">
              <a:off x="2544" y="1056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97321" name="Text Box 9"/>
          <p:cNvSpPr txBox="1"/>
          <p:nvPr/>
        </p:nvSpPr>
        <p:spPr>
          <a:xfrm>
            <a:off x="1909763" y="1751013"/>
            <a:ext cx="26860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指向左孩子结点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97322" name="Text Box 10"/>
          <p:cNvSpPr txBox="1"/>
          <p:nvPr/>
        </p:nvSpPr>
        <p:spPr>
          <a:xfrm>
            <a:off x="7700963" y="1827213"/>
            <a:ext cx="26860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指向右孩子结点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97326" name="Text Box 14"/>
          <p:cNvSpPr txBox="1">
            <a:spLocks noChangeArrowheads="1"/>
          </p:cNvSpPr>
          <p:nvPr/>
        </p:nvSpPr>
        <p:spPr bwMode="auto">
          <a:xfrm>
            <a:off x="4191000" y="381000"/>
            <a:ext cx="36576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3200" u="sng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cs typeface="+mn-cs"/>
                <a:sym typeface="+mn-ea"/>
              </a:rPr>
              <a:t>二叉链表表示</a:t>
            </a:r>
            <a:endParaRPr kumimoji="1" lang="zh-CN" altLang="en-US" sz="3200" b="0" kern="1200" cap="none" spc="0" normalizeH="0" baseline="0" noProof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3" name="Group 76"/>
          <p:cNvGrpSpPr/>
          <p:nvPr/>
        </p:nvGrpSpPr>
        <p:grpSpPr>
          <a:xfrm>
            <a:off x="6477000" y="3351213"/>
            <a:ext cx="1219200" cy="584200"/>
            <a:chOff x="2928" y="2082"/>
            <a:chExt cx="624" cy="368"/>
          </a:xfrm>
        </p:grpSpPr>
        <p:sp>
          <p:nvSpPr>
            <p:cNvPr id="44044" name="Rectangle 17" descr="羊皮纸"/>
            <p:cNvSpPr/>
            <p:nvPr/>
          </p:nvSpPr>
          <p:spPr>
            <a:xfrm>
              <a:off x="2928" y="2141"/>
              <a:ext cx="624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45" name="Line 18"/>
            <p:cNvSpPr/>
            <p:nvPr/>
          </p:nvSpPr>
          <p:spPr>
            <a:xfrm>
              <a:off x="3120" y="2141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6" name="Line 19"/>
            <p:cNvSpPr/>
            <p:nvPr/>
          </p:nvSpPr>
          <p:spPr>
            <a:xfrm>
              <a:off x="3360" y="2141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7" name="Text Box 49"/>
            <p:cNvSpPr txBox="1"/>
            <p:nvPr/>
          </p:nvSpPr>
          <p:spPr>
            <a:xfrm>
              <a:off x="3101" y="2082"/>
              <a:ext cx="24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78"/>
          <p:cNvGrpSpPr/>
          <p:nvPr/>
        </p:nvGrpSpPr>
        <p:grpSpPr>
          <a:xfrm>
            <a:off x="5105400" y="5027613"/>
            <a:ext cx="1219200" cy="584200"/>
            <a:chOff x="2208" y="3167"/>
            <a:chExt cx="624" cy="368"/>
          </a:xfrm>
        </p:grpSpPr>
        <p:sp>
          <p:nvSpPr>
            <p:cNvPr id="44049" name="Rectangle 32" descr="羊皮纸"/>
            <p:cNvSpPr/>
            <p:nvPr/>
          </p:nvSpPr>
          <p:spPr>
            <a:xfrm>
              <a:off x="2208" y="3197"/>
              <a:ext cx="624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0" name="Line 33"/>
            <p:cNvSpPr/>
            <p:nvPr/>
          </p:nvSpPr>
          <p:spPr>
            <a:xfrm flipH="1">
              <a:off x="2400" y="3197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51" name="Line 34"/>
            <p:cNvSpPr/>
            <p:nvPr/>
          </p:nvSpPr>
          <p:spPr>
            <a:xfrm>
              <a:off x="2640" y="3197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52" name="Text Box 51"/>
            <p:cNvSpPr txBox="1"/>
            <p:nvPr/>
          </p:nvSpPr>
          <p:spPr>
            <a:xfrm>
              <a:off x="2381" y="3167"/>
              <a:ext cx="24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79"/>
          <p:cNvGrpSpPr/>
          <p:nvPr/>
        </p:nvGrpSpPr>
        <p:grpSpPr>
          <a:xfrm>
            <a:off x="6477000" y="4997450"/>
            <a:ext cx="1295400" cy="584200"/>
            <a:chOff x="2928" y="3148"/>
            <a:chExt cx="624" cy="368"/>
          </a:xfrm>
        </p:grpSpPr>
        <p:sp>
          <p:nvSpPr>
            <p:cNvPr id="44054" name="Rectangle 29" descr="羊皮纸"/>
            <p:cNvSpPr/>
            <p:nvPr/>
          </p:nvSpPr>
          <p:spPr>
            <a:xfrm>
              <a:off x="2928" y="3197"/>
              <a:ext cx="624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5" name="Line 30"/>
            <p:cNvSpPr/>
            <p:nvPr/>
          </p:nvSpPr>
          <p:spPr>
            <a:xfrm>
              <a:off x="3120" y="3197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56" name="Line 31"/>
            <p:cNvSpPr/>
            <p:nvPr/>
          </p:nvSpPr>
          <p:spPr>
            <a:xfrm>
              <a:off x="3360" y="3197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57" name="Text Box 52"/>
            <p:cNvSpPr txBox="1"/>
            <p:nvPr/>
          </p:nvSpPr>
          <p:spPr>
            <a:xfrm>
              <a:off x="3107" y="3148"/>
              <a:ext cx="229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81"/>
          <p:cNvGrpSpPr/>
          <p:nvPr/>
        </p:nvGrpSpPr>
        <p:grpSpPr>
          <a:xfrm>
            <a:off x="7010400" y="5865813"/>
            <a:ext cx="1371600" cy="584200"/>
            <a:chOff x="3264" y="3695"/>
            <a:chExt cx="624" cy="368"/>
          </a:xfrm>
        </p:grpSpPr>
        <p:sp>
          <p:nvSpPr>
            <p:cNvPr id="44059" name="Rectangle 26" descr="羊皮纸"/>
            <p:cNvSpPr/>
            <p:nvPr/>
          </p:nvSpPr>
          <p:spPr>
            <a:xfrm>
              <a:off x="3264" y="3725"/>
              <a:ext cx="624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0" name="Line 27"/>
            <p:cNvSpPr/>
            <p:nvPr/>
          </p:nvSpPr>
          <p:spPr>
            <a:xfrm>
              <a:off x="3456" y="3725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1" name="Line 28"/>
            <p:cNvSpPr/>
            <p:nvPr/>
          </p:nvSpPr>
          <p:spPr>
            <a:xfrm>
              <a:off x="3696" y="3725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2" name="Text Box 53"/>
            <p:cNvSpPr txBox="1"/>
            <p:nvPr/>
          </p:nvSpPr>
          <p:spPr>
            <a:xfrm>
              <a:off x="3462" y="3695"/>
              <a:ext cx="19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54"/>
          <p:cNvGrpSpPr/>
          <p:nvPr/>
        </p:nvGrpSpPr>
        <p:grpSpPr>
          <a:xfrm>
            <a:off x="2209800" y="3122613"/>
            <a:ext cx="2362200" cy="3068637"/>
            <a:chOff x="432" y="757"/>
            <a:chExt cx="1008" cy="1933"/>
          </a:xfrm>
        </p:grpSpPr>
        <p:sp>
          <p:nvSpPr>
            <p:cNvPr id="44064" name="Line 55"/>
            <p:cNvSpPr/>
            <p:nvPr/>
          </p:nvSpPr>
          <p:spPr>
            <a:xfrm flipH="1">
              <a:off x="816" y="2016"/>
              <a:ext cx="192" cy="48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5" name="Line 56"/>
            <p:cNvSpPr/>
            <p:nvPr/>
          </p:nvSpPr>
          <p:spPr>
            <a:xfrm>
              <a:off x="864" y="1536"/>
              <a:ext cx="384" cy="86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6" name="Line 57"/>
            <p:cNvSpPr/>
            <p:nvPr/>
          </p:nvSpPr>
          <p:spPr>
            <a:xfrm flipH="1">
              <a:off x="624" y="1056"/>
              <a:ext cx="336" cy="81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67" name="Oval 58" descr="羊皮纸"/>
            <p:cNvSpPr/>
            <p:nvPr/>
          </p:nvSpPr>
          <p:spPr>
            <a:xfrm>
              <a:off x="864" y="816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8" name="Oval 59" descr="羊皮纸"/>
            <p:cNvSpPr/>
            <p:nvPr/>
          </p:nvSpPr>
          <p:spPr>
            <a:xfrm>
              <a:off x="672" y="1296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9" name="Oval 60" descr="羊皮纸"/>
            <p:cNvSpPr/>
            <p:nvPr/>
          </p:nvSpPr>
          <p:spPr>
            <a:xfrm>
              <a:off x="432" y="1824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0" name="Oval 61" descr="羊皮纸"/>
            <p:cNvSpPr/>
            <p:nvPr/>
          </p:nvSpPr>
          <p:spPr>
            <a:xfrm>
              <a:off x="912" y="1824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1" name="Oval 62" descr="羊皮纸"/>
            <p:cNvSpPr/>
            <p:nvPr/>
          </p:nvSpPr>
          <p:spPr>
            <a:xfrm>
              <a:off x="1152" y="2352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2" name="Oval 63" descr="羊皮纸"/>
            <p:cNvSpPr/>
            <p:nvPr/>
          </p:nvSpPr>
          <p:spPr>
            <a:xfrm>
              <a:off x="672" y="2352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3" name="Text Box 64"/>
            <p:cNvSpPr txBox="1"/>
            <p:nvPr/>
          </p:nvSpPr>
          <p:spPr>
            <a:xfrm>
              <a:off x="912" y="757"/>
              <a:ext cx="20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4" name="Text Box 65"/>
            <p:cNvSpPr txBox="1"/>
            <p:nvPr/>
          </p:nvSpPr>
          <p:spPr>
            <a:xfrm>
              <a:off x="712" y="1247"/>
              <a:ext cx="19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5" name="Text Box 66"/>
            <p:cNvSpPr txBox="1"/>
            <p:nvPr/>
          </p:nvSpPr>
          <p:spPr>
            <a:xfrm>
              <a:off x="480" y="1794"/>
              <a:ext cx="20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6" name="Text Box 67"/>
            <p:cNvSpPr txBox="1"/>
            <p:nvPr/>
          </p:nvSpPr>
          <p:spPr>
            <a:xfrm>
              <a:off x="948" y="1794"/>
              <a:ext cx="20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7" name="Text Box 68"/>
            <p:cNvSpPr txBox="1"/>
            <p:nvPr/>
          </p:nvSpPr>
          <p:spPr>
            <a:xfrm>
              <a:off x="1212" y="2322"/>
              <a:ext cx="18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78" name="Text Box 69"/>
            <p:cNvSpPr txBox="1"/>
            <p:nvPr/>
          </p:nvSpPr>
          <p:spPr>
            <a:xfrm>
              <a:off x="727" y="2322"/>
              <a:ext cx="19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80"/>
          <p:cNvGrpSpPr/>
          <p:nvPr/>
        </p:nvGrpSpPr>
        <p:grpSpPr>
          <a:xfrm>
            <a:off x="5638800" y="5865813"/>
            <a:ext cx="1219200" cy="584200"/>
            <a:chOff x="2544" y="3695"/>
            <a:chExt cx="624" cy="368"/>
          </a:xfrm>
        </p:grpSpPr>
        <p:sp>
          <p:nvSpPr>
            <p:cNvPr id="44080" name="Rectangle 23" descr="羊皮纸"/>
            <p:cNvSpPr/>
            <p:nvPr/>
          </p:nvSpPr>
          <p:spPr>
            <a:xfrm>
              <a:off x="2544" y="3725"/>
              <a:ext cx="624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1" name="Line 24"/>
            <p:cNvSpPr/>
            <p:nvPr/>
          </p:nvSpPr>
          <p:spPr>
            <a:xfrm>
              <a:off x="2736" y="3725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82" name="Line 25"/>
            <p:cNvSpPr/>
            <p:nvPr/>
          </p:nvSpPr>
          <p:spPr>
            <a:xfrm>
              <a:off x="2976" y="3725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83" name="Text Box 70"/>
            <p:cNvSpPr txBox="1"/>
            <p:nvPr/>
          </p:nvSpPr>
          <p:spPr>
            <a:xfrm>
              <a:off x="2715" y="3695"/>
              <a:ext cx="232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5"/>
          <p:cNvGrpSpPr/>
          <p:nvPr/>
        </p:nvGrpSpPr>
        <p:grpSpPr>
          <a:xfrm>
            <a:off x="5867400" y="2603500"/>
            <a:ext cx="990600" cy="749300"/>
            <a:chOff x="2544" y="1640"/>
            <a:chExt cx="624" cy="472"/>
          </a:xfrm>
        </p:grpSpPr>
        <p:sp>
          <p:nvSpPr>
            <p:cNvPr id="44085" name="Line 73"/>
            <p:cNvSpPr/>
            <p:nvPr/>
          </p:nvSpPr>
          <p:spPr>
            <a:xfrm>
              <a:off x="2928" y="1968"/>
              <a:ext cx="240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4086" name="Text Box 74"/>
            <p:cNvSpPr txBox="1"/>
            <p:nvPr/>
          </p:nvSpPr>
          <p:spPr>
            <a:xfrm>
              <a:off x="2544" y="1640"/>
              <a:ext cx="571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root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83"/>
          <p:cNvGrpSpPr/>
          <p:nvPr/>
        </p:nvGrpSpPr>
        <p:grpSpPr>
          <a:xfrm>
            <a:off x="3581400" y="1752600"/>
            <a:ext cx="1600200" cy="1144588"/>
            <a:chOff x="1200" y="2112"/>
            <a:chExt cx="1008" cy="721"/>
          </a:xfrm>
        </p:grpSpPr>
        <p:sp>
          <p:nvSpPr>
            <p:cNvPr id="44088" name="AutoShape 84"/>
            <p:cNvSpPr/>
            <p:nvPr/>
          </p:nvSpPr>
          <p:spPr>
            <a:xfrm>
              <a:off x="1200" y="2544"/>
              <a:ext cx="960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9" name="Text Box 85"/>
            <p:cNvSpPr txBox="1"/>
            <p:nvPr/>
          </p:nvSpPr>
          <p:spPr>
            <a:xfrm>
              <a:off x="1201" y="2504"/>
              <a:ext cx="96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leftChild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90" name="Line 86"/>
            <p:cNvSpPr/>
            <p:nvPr/>
          </p:nvSpPr>
          <p:spPr>
            <a:xfrm flipH="1">
              <a:off x="1872" y="2256"/>
              <a:ext cx="192" cy="192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4091" name="Line 87"/>
            <p:cNvSpPr/>
            <p:nvPr/>
          </p:nvSpPr>
          <p:spPr>
            <a:xfrm flipV="1">
              <a:off x="2064" y="2112"/>
              <a:ext cx="144" cy="144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11" name="Group 94"/>
          <p:cNvGrpSpPr/>
          <p:nvPr/>
        </p:nvGrpSpPr>
        <p:grpSpPr>
          <a:xfrm>
            <a:off x="7086600" y="1828800"/>
            <a:ext cx="1828800" cy="1143000"/>
            <a:chOff x="3264" y="1248"/>
            <a:chExt cx="1152" cy="720"/>
          </a:xfrm>
        </p:grpSpPr>
        <p:sp>
          <p:nvSpPr>
            <p:cNvPr id="44093" name="AutoShape 89"/>
            <p:cNvSpPr/>
            <p:nvPr/>
          </p:nvSpPr>
          <p:spPr>
            <a:xfrm>
              <a:off x="3264" y="1680"/>
              <a:ext cx="115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94" name="Text Box 91"/>
            <p:cNvSpPr txBox="1"/>
            <p:nvPr/>
          </p:nvSpPr>
          <p:spPr>
            <a:xfrm>
              <a:off x="3265" y="1631"/>
              <a:ext cx="1123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FFFF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rightChild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95" name="Line 92"/>
            <p:cNvSpPr/>
            <p:nvPr/>
          </p:nvSpPr>
          <p:spPr>
            <a:xfrm flipH="1" flipV="1">
              <a:off x="3504" y="1392"/>
              <a:ext cx="192" cy="192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4096" name="Line 93"/>
            <p:cNvSpPr/>
            <p:nvPr/>
          </p:nvSpPr>
          <p:spPr>
            <a:xfrm>
              <a:off x="3360" y="1248"/>
              <a:ext cx="144" cy="144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sp>
        <p:nvSpPr>
          <p:cNvPr id="397348" name="Line 36"/>
          <p:cNvSpPr/>
          <p:nvPr/>
        </p:nvSpPr>
        <p:spPr>
          <a:xfrm flipH="1">
            <a:off x="6324600" y="3657600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397353" name="Text Box 41"/>
          <p:cNvSpPr txBox="1"/>
          <p:nvPr/>
        </p:nvSpPr>
        <p:spPr>
          <a:xfrm>
            <a:off x="7315200" y="3427413"/>
            <a:ext cx="398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b="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" name="Group 77"/>
          <p:cNvGrpSpPr/>
          <p:nvPr/>
        </p:nvGrpSpPr>
        <p:grpSpPr>
          <a:xfrm>
            <a:off x="5715000" y="4159250"/>
            <a:ext cx="1219200" cy="584200"/>
            <a:chOff x="2592" y="2620"/>
            <a:chExt cx="624" cy="368"/>
          </a:xfrm>
        </p:grpSpPr>
        <p:sp>
          <p:nvSpPr>
            <p:cNvPr id="44100" name="Rectangle 20" descr="羊皮纸"/>
            <p:cNvSpPr/>
            <p:nvPr/>
          </p:nvSpPr>
          <p:spPr>
            <a:xfrm>
              <a:off x="2592" y="2669"/>
              <a:ext cx="624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101" name="Line 21"/>
            <p:cNvSpPr/>
            <p:nvPr/>
          </p:nvSpPr>
          <p:spPr>
            <a:xfrm>
              <a:off x="2784" y="2669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2" name="Line 22"/>
            <p:cNvSpPr/>
            <p:nvPr/>
          </p:nvSpPr>
          <p:spPr>
            <a:xfrm>
              <a:off x="3024" y="2669"/>
              <a:ext cx="0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103" name="Text Box 50"/>
            <p:cNvSpPr txBox="1"/>
            <p:nvPr/>
          </p:nvSpPr>
          <p:spPr>
            <a:xfrm>
              <a:off x="2763" y="2620"/>
              <a:ext cx="232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7349" name="Line 37"/>
          <p:cNvSpPr/>
          <p:nvPr/>
        </p:nvSpPr>
        <p:spPr>
          <a:xfrm flipH="1">
            <a:off x="5562600" y="4495800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397351" name="Line 39"/>
          <p:cNvSpPr/>
          <p:nvPr/>
        </p:nvSpPr>
        <p:spPr>
          <a:xfrm>
            <a:off x="6781800" y="4495800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397354" name="Text Box 42"/>
          <p:cNvSpPr txBox="1"/>
          <p:nvPr/>
        </p:nvSpPr>
        <p:spPr>
          <a:xfrm>
            <a:off x="5105400" y="5027613"/>
            <a:ext cx="398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b="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7394" name="Text Box 82"/>
          <p:cNvSpPr txBox="1"/>
          <p:nvPr/>
        </p:nvSpPr>
        <p:spPr>
          <a:xfrm>
            <a:off x="5943600" y="5027613"/>
            <a:ext cx="398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b="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7350" name="Line 38"/>
          <p:cNvSpPr/>
          <p:nvPr/>
        </p:nvSpPr>
        <p:spPr>
          <a:xfrm flipH="1">
            <a:off x="6324600" y="5334000"/>
            <a:ext cx="3048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397352" name="Line 40"/>
          <p:cNvSpPr/>
          <p:nvPr/>
        </p:nvSpPr>
        <p:spPr>
          <a:xfrm>
            <a:off x="7543800" y="5334000"/>
            <a:ext cx="228600" cy="60960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397356" name="Text Box 44"/>
          <p:cNvSpPr txBox="1"/>
          <p:nvPr/>
        </p:nvSpPr>
        <p:spPr>
          <a:xfrm>
            <a:off x="5638800" y="5865813"/>
            <a:ext cx="398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b="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7355" name="Text Box 43"/>
          <p:cNvSpPr txBox="1"/>
          <p:nvPr/>
        </p:nvSpPr>
        <p:spPr>
          <a:xfrm>
            <a:off x="6477000" y="5865813"/>
            <a:ext cx="398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b="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7358" name="Text Box 46"/>
          <p:cNvSpPr txBox="1"/>
          <p:nvPr/>
        </p:nvSpPr>
        <p:spPr>
          <a:xfrm>
            <a:off x="7010400" y="5865813"/>
            <a:ext cx="398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b="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7357" name="Text Box 45"/>
          <p:cNvSpPr txBox="1"/>
          <p:nvPr/>
        </p:nvSpPr>
        <p:spPr>
          <a:xfrm>
            <a:off x="8001000" y="5865813"/>
            <a:ext cx="398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b="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97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97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39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9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97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4" dur="500"/>
                                        <p:tgtEl>
                                          <p:spTgt spid="39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39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9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9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7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97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97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0" dur="500"/>
                                        <p:tgtEl>
                                          <p:spTgt spid="39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5" dur="500"/>
                                        <p:tgtEl>
                                          <p:spTgt spid="39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0" dur="500"/>
                                        <p:tgtEl>
                                          <p:spTgt spid="39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5" dur="500"/>
                                        <p:tgtEl>
                                          <p:spTgt spid="39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21" grpId="0"/>
      <p:bldP spid="397322" grpId="0"/>
      <p:bldP spid="397353" grpId="0"/>
      <p:bldP spid="397354" grpId="0"/>
      <p:bldP spid="397394" grpId="0"/>
      <p:bldP spid="397356" grpId="0"/>
      <p:bldP spid="397355" grpId="0"/>
      <p:bldP spid="397358" grpId="0"/>
      <p:bldP spid="39735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83" name="Text Box 3"/>
          <p:cNvSpPr txBox="1">
            <a:spLocks noChangeArrowheads="1"/>
          </p:cNvSpPr>
          <p:nvPr/>
        </p:nvSpPr>
        <p:spPr bwMode="auto">
          <a:xfrm>
            <a:off x="1055370" y="332740"/>
            <a:ext cx="35052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3200" u="sng" kern="1200" cap="none" spc="0" normalizeH="0" baseline="0" noProof="0">
                <a:solidFill>
                  <a:srgbClr val="1552D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cs typeface="+mn-cs"/>
                <a:sym typeface="+mn-ea"/>
              </a:rPr>
              <a:t>三叉链表表示</a:t>
            </a:r>
            <a:endParaRPr kumimoji="1" lang="zh-CN" altLang="en-US" sz="3200" b="0" u="sng" kern="1200" cap="none" spc="0" normalizeH="0" baseline="0" noProof="0">
              <a:solidFill>
                <a:srgbClr val="1552D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2" name="Group 51"/>
          <p:cNvGrpSpPr/>
          <p:nvPr/>
        </p:nvGrpSpPr>
        <p:grpSpPr>
          <a:xfrm>
            <a:off x="7848600" y="1600200"/>
            <a:ext cx="1860550" cy="1143000"/>
            <a:chOff x="3744" y="3264"/>
            <a:chExt cx="1172" cy="720"/>
          </a:xfrm>
        </p:grpSpPr>
        <p:sp>
          <p:nvSpPr>
            <p:cNvPr id="45059" name="AutoShape 14"/>
            <p:cNvSpPr/>
            <p:nvPr/>
          </p:nvSpPr>
          <p:spPr>
            <a:xfrm>
              <a:off x="3744" y="3696"/>
              <a:ext cx="115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60" name="Text Box 26"/>
            <p:cNvSpPr txBox="1"/>
            <p:nvPr/>
          </p:nvSpPr>
          <p:spPr>
            <a:xfrm>
              <a:off x="3793" y="3647"/>
              <a:ext cx="1123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rightChild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61" name="Line 31"/>
            <p:cNvSpPr/>
            <p:nvPr/>
          </p:nvSpPr>
          <p:spPr>
            <a:xfrm flipH="1" flipV="1">
              <a:off x="4128" y="3408"/>
              <a:ext cx="240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5062" name="Line 32"/>
            <p:cNvSpPr/>
            <p:nvPr/>
          </p:nvSpPr>
          <p:spPr>
            <a:xfrm>
              <a:off x="3984" y="3264"/>
              <a:ext cx="144" cy="144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3" name="Group 49"/>
          <p:cNvGrpSpPr/>
          <p:nvPr/>
        </p:nvGrpSpPr>
        <p:grpSpPr>
          <a:xfrm>
            <a:off x="4191000" y="1219200"/>
            <a:ext cx="4800600" cy="609600"/>
            <a:chOff x="1536" y="2352"/>
            <a:chExt cx="3024" cy="384"/>
          </a:xfrm>
        </p:grpSpPr>
        <p:sp>
          <p:nvSpPr>
            <p:cNvPr id="45064" name="AutoShape 13"/>
            <p:cNvSpPr/>
            <p:nvPr/>
          </p:nvSpPr>
          <p:spPr>
            <a:xfrm>
              <a:off x="1536" y="2448"/>
              <a:ext cx="3024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65" name="Line 20"/>
            <p:cNvSpPr/>
            <p:nvPr/>
          </p:nvSpPr>
          <p:spPr>
            <a:xfrm flipV="1">
              <a:off x="2928" y="2448"/>
              <a:ext cx="0" cy="288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6" name="Line 21"/>
            <p:cNvSpPr/>
            <p:nvPr/>
          </p:nvSpPr>
          <p:spPr>
            <a:xfrm flipV="1">
              <a:off x="2928" y="2352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7" name="Line 22"/>
            <p:cNvSpPr/>
            <p:nvPr/>
          </p:nvSpPr>
          <p:spPr>
            <a:xfrm flipV="1">
              <a:off x="2352" y="2448"/>
              <a:ext cx="0" cy="288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8" name="Line 23"/>
            <p:cNvSpPr/>
            <p:nvPr/>
          </p:nvSpPr>
          <p:spPr>
            <a:xfrm flipV="1">
              <a:off x="2352" y="2352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9" name="Line 24"/>
            <p:cNvSpPr/>
            <p:nvPr/>
          </p:nvSpPr>
          <p:spPr>
            <a:xfrm flipV="1">
              <a:off x="3696" y="2400"/>
              <a:ext cx="0" cy="288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0" name="Line 25"/>
            <p:cNvSpPr/>
            <p:nvPr/>
          </p:nvSpPr>
          <p:spPr>
            <a:xfrm flipV="1">
              <a:off x="3696" y="2352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1" name="Text Box 37"/>
            <p:cNvSpPr txBox="1"/>
            <p:nvPr/>
          </p:nvSpPr>
          <p:spPr>
            <a:xfrm>
              <a:off x="1632" y="2399"/>
              <a:ext cx="2786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lchild   data   parent   rchild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50"/>
          <p:cNvGrpSpPr/>
          <p:nvPr/>
        </p:nvGrpSpPr>
        <p:grpSpPr>
          <a:xfrm>
            <a:off x="3352800" y="1600200"/>
            <a:ext cx="1527175" cy="1206500"/>
            <a:chOff x="912" y="2976"/>
            <a:chExt cx="962" cy="760"/>
          </a:xfrm>
        </p:grpSpPr>
        <p:sp>
          <p:nvSpPr>
            <p:cNvPr id="45073" name="AutoShape 15"/>
            <p:cNvSpPr/>
            <p:nvPr/>
          </p:nvSpPr>
          <p:spPr>
            <a:xfrm>
              <a:off x="912" y="3408"/>
              <a:ext cx="960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4" name="Text Box 19"/>
            <p:cNvSpPr txBox="1"/>
            <p:nvPr/>
          </p:nvSpPr>
          <p:spPr>
            <a:xfrm>
              <a:off x="913" y="3407"/>
              <a:ext cx="96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leftChild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5" name="Line 29"/>
            <p:cNvSpPr/>
            <p:nvPr/>
          </p:nvSpPr>
          <p:spPr>
            <a:xfrm flipH="1">
              <a:off x="1440" y="3120"/>
              <a:ext cx="288" cy="2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5076" name="Line 30"/>
            <p:cNvSpPr/>
            <p:nvPr/>
          </p:nvSpPr>
          <p:spPr>
            <a:xfrm flipV="1">
              <a:off x="1728" y="2976"/>
              <a:ext cx="144" cy="144"/>
            </a:xfrm>
            <a:prstGeom prst="line">
              <a:avLst/>
            </a:prstGeom>
            <a:ln w="38100" cap="rnd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5" name="Group 124"/>
          <p:cNvGrpSpPr/>
          <p:nvPr/>
        </p:nvGrpSpPr>
        <p:grpSpPr>
          <a:xfrm>
            <a:off x="6400800" y="227013"/>
            <a:ext cx="1371600" cy="1068387"/>
            <a:chOff x="3072" y="143"/>
            <a:chExt cx="864" cy="673"/>
          </a:xfrm>
        </p:grpSpPr>
        <p:sp>
          <p:nvSpPr>
            <p:cNvPr id="45078" name="Line 43"/>
            <p:cNvSpPr/>
            <p:nvPr/>
          </p:nvSpPr>
          <p:spPr>
            <a:xfrm flipV="1">
              <a:off x="3439" y="624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5079" name="Group 52"/>
            <p:cNvGrpSpPr/>
            <p:nvPr/>
          </p:nvGrpSpPr>
          <p:grpSpPr>
            <a:xfrm>
              <a:off x="3072" y="143"/>
              <a:ext cx="864" cy="673"/>
              <a:chOff x="2959" y="1727"/>
              <a:chExt cx="864" cy="673"/>
            </a:xfrm>
          </p:grpSpPr>
          <p:sp>
            <p:nvSpPr>
              <p:cNvPr id="45080" name="AutoShape 12"/>
              <p:cNvSpPr/>
              <p:nvPr/>
            </p:nvSpPr>
            <p:spPr>
              <a:xfrm>
                <a:off x="2959" y="1776"/>
                <a:ext cx="864" cy="288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9525"/>
              <a:scene3d>
                <a:camera prst="legacyObliqueTopRight">
                  <a:rot lat="0" lon="0" rev="0"/>
                </a:camera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</a:sp3d>
            </p:spPr>
            <p:txBody>
              <a:bodyPr wrap="none" anchor="ctr" anchorCtr="0">
                <a:flatTx/>
              </a:bodyPr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81" name="Text Box 17"/>
              <p:cNvSpPr txBox="1"/>
              <p:nvPr/>
            </p:nvSpPr>
            <p:spPr>
              <a:xfrm>
                <a:off x="3027" y="1727"/>
                <a:ext cx="745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rgbClr val="FFFF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parent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82" name="Line 27"/>
              <p:cNvSpPr/>
              <p:nvPr/>
            </p:nvSpPr>
            <p:spPr>
              <a:xfrm flipV="1">
                <a:off x="3408" y="2064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45083" name="Line 28"/>
              <p:cNvSpPr/>
              <p:nvPr/>
            </p:nvSpPr>
            <p:spPr>
              <a:xfrm>
                <a:off x="3408" y="2304"/>
                <a:ext cx="0" cy="96"/>
              </a:xfrm>
              <a:prstGeom prst="line">
                <a:avLst/>
              </a:prstGeom>
              <a:ln w="38100" cap="rnd" cmpd="sng">
                <a:solidFill>
                  <a:schemeClr val="tx2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276534" name="Text Box 54"/>
          <p:cNvSpPr txBox="1"/>
          <p:nvPr/>
        </p:nvSpPr>
        <p:spPr>
          <a:xfrm>
            <a:off x="7243763" y="684213"/>
            <a:ext cx="2327275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指向双亲结点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7" name="Group 123"/>
          <p:cNvGrpSpPr/>
          <p:nvPr/>
        </p:nvGrpSpPr>
        <p:grpSpPr>
          <a:xfrm>
            <a:off x="5257800" y="2589213"/>
            <a:ext cx="3370263" cy="3860800"/>
            <a:chOff x="2112" y="1602"/>
            <a:chExt cx="2123" cy="2432"/>
          </a:xfrm>
        </p:grpSpPr>
        <p:sp>
          <p:nvSpPr>
            <p:cNvPr id="45086" name="Rectangle 56" descr="羊皮纸"/>
            <p:cNvSpPr/>
            <p:nvPr/>
          </p:nvSpPr>
          <p:spPr>
            <a:xfrm>
              <a:off x="3408" y="3696"/>
              <a:ext cx="816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7" name="Line 57"/>
            <p:cNvSpPr/>
            <p:nvPr/>
          </p:nvSpPr>
          <p:spPr>
            <a:xfrm>
              <a:off x="3839" y="3696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88" name="Line 58"/>
            <p:cNvSpPr/>
            <p:nvPr/>
          </p:nvSpPr>
          <p:spPr>
            <a:xfrm>
              <a:off x="4032" y="3696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89" name="Line 59"/>
            <p:cNvSpPr/>
            <p:nvPr/>
          </p:nvSpPr>
          <p:spPr>
            <a:xfrm>
              <a:off x="3600" y="3696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0" name="Rectangle 60" descr="羊皮纸"/>
            <p:cNvSpPr/>
            <p:nvPr/>
          </p:nvSpPr>
          <p:spPr>
            <a:xfrm>
              <a:off x="2496" y="3696"/>
              <a:ext cx="816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1" name="Line 61"/>
            <p:cNvSpPr/>
            <p:nvPr/>
          </p:nvSpPr>
          <p:spPr>
            <a:xfrm>
              <a:off x="2927" y="3696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2" name="Line 62"/>
            <p:cNvSpPr/>
            <p:nvPr/>
          </p:nvSpPr>
          <p:spPr>
            <a:xfrm>
              <a:off x="3119" y="3696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3" name="Line 63"/>
            <p:cNvSpPr/>
            <p:nvPr/>
          </p:nvSpPr>
          <p:spPr>
            <a:xfrm>
              <a:off x="2688" y="3696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4" name="Rectangle 64" descr="羊皮纸"/>
            <p:cNvSpPr/>
            <p:nvPr/>
          </p:nvSpPr>
          <p:spPr>
            <a:xfrm>
              <a:off x="3072" y="3168"/>
              <a:ext cx="816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5" name="Line 65"/>
            <p:cNvSpPr/>
            <p:nvPr/>
          </p:nvSpPr>
          <p:spPr>
            <a:xfrm>
              <a:off x="3503" y="3168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6" name="Line 66"/>
            <p:cNvSpPr/>
            <p:nvPr/>
          </p:nvSpPr>
          <p:spPr>
            <a:xfrm>
              <a:off x="3696" y="3168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7" name="Line 67"/>
            <p:cNvSpPr/>
            <p:nvPr/>
          </p:nvSpPr>
          <p:spPr>
            <a:xfrm>
              <a:off x="3263" y="3168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8" name="Rectangle 68" descr="羊皮纸"/>
            <p:cNvSpPr/>
            <p:nvPr/>
          </p:nvSpPr>
          <p:spPr>
            <a:xfrm>
              <a:off x="2160" y="3168"/>
              <a:ext cx="816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9" name="Line 69"/>
            <p:cNvSpPr/>
            <p:nvPr/>
          </p:nvSpPr>
          <p:spPr>
            <a:xfrm>
              <a:off x="2591" y="3168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0" name="Line 70"/>
            <p:cNvSpPr/>
            <p:nvPr/>
          </p:nvSpPr>
          <p:spPr>
            <a:xfrm>
              <a:off x="2783" y="3168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1" name="Line 71"/>
            <p:cNvSpPr/>
            <p:nvPr/>
          </p:nvSpPr>
          <p:spPr>
            <a:xfrm>
              <a:off x="2352" y="3168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2" name="Rectangle 72" descr="羊皮纸"/>
            <p:cNvSpPr/>
            <p:nvPr/>
          </p:nvSpPr>
          <p:spPr>
            <a:xfrm>
              <a:off x="2592" y="2640"/>
              <a:ext cx="816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03" name="Line 73"/>
            <p:cNvSpPr/>
            <p:nvPr/>
          </p:nvSpPr>
          <p:spPr>
            <a:xfrm>
              <a:off x="3023" y="2640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4" name="Line 74"/>
            <p:cNvSpPr/>
            <p:nvPr/>
          </p:nvSpPr>
          <p:spPr>
            <a:xfrm>
              <a:off x="3216" y="2640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5" name="Line 75"/>
            <p:cNvSpPr/>
            <p:nvPr/>
          </p:nvSpPr>
          <p:spPr>
            <a:xfrm>
              <a:off x="2783" y="2640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6" name="Rectangle 76" descr="羊皮纸"/>
            <p:cNvSpPr/>
            <p:nvPr/>
          </p:nvSpPr>
          <p:spPr>
            <a:xfrm>
              <a:off x="2880" y="2112"/>
              <a:ext cx="816" cy="288"/>
            </a:xfrm>
            <a:prstGeom prst="rect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07" name="Line 77"/>
            <p:cNvSpPr/>
            <p:nvPr/>
          </p:nvSpPr>
          <p:spPr>
            <a:xfrm>
              <a:off x="3311" y="2112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8" name="Line 78"/>
            <p:cNvSpPr/>
            <p:nvPr/>
          </p:nvSpPr>
          <p:spPr>
            <a:xfrm>
              <a:off x="3504" y="2112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9" name="Line 79"/>
            <p:cNvSpPr/>
            <p:nvPr/>
          </p:nvSpPr>
          <p:spPr>
            <a:xfrm>
              <a:off x="3071" y="2112"/>
              <a:ext cx="1" cy="28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10" name="Line 80"/>
            <p:cNvSpPr/>
            <p:nvPr/>
          </p:nvSpPr>
          <p:spPr>
            <a:xfrm flipH="1">
              <a:off x="2784" y="2256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5111" name="Line 81"/>
            <p:cNvSpPr/>
            <p:nvPr/>
          </p:nvSpPr>
          <p:spPr>
            <a:xfrm flipH="1">
              <a:off x="2496" y="2784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5112" name="Line 82"/>
            <p:cNvSpPr/>
            <p:nvPr/>
          </p:nvSpPr>
          <p:spPr>
            <a:xfrm flipH="1">
              <a:off x="2976" y="3312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5113" name="Line 83"/>
            <p:cNvSpPr/>
            <p:nvPr/>
          </p:nvSpPr>
          <p:spPr>
            <a:xfrm>
              <a:off x="3312" y="2784"/>
              <a:ext cx="384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5114" name="Line 84"/>
            <p:cNvSpPr/>
            <p:nvPr/>
          </p:nvSpPr>
          <p:spPr>
            <a:xfrm>
              <a:off x="3792" y="3312"/>
              <a:ext cx="288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5115" name="Line 85"/>
            <p:cNvSpPr/>
            <p:nvPr/>
          </p:nvSpPr>
          <p:spPr>
            <a:xfrm>
              <a:off x="3216" y="2928"/>
              <a:ext cx="384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5116" name="Line 86"/>
            <p:cNvSpPr/>
            <p:nvPr/>
          </p:nvSpPr>
          <p:spPr>
            <a:xfrm>
              <a:off x="3600" y="3456"/>
              <a:ext cx="336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5117" name="Line 87"/>
            <p:cNvSpPr/>
            <p:nvPr/>
          </p:nvSpPr>
          <p:spPr>
            <a:xfrm flipH="1">
              <a:off x="3120" y="2400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5118" name="Line 88"/>
            <p:cNvSpPr/>
            <p:nvPr/>
          </p:nvSpPr>
          <p:spPr>
            <a:xfrm flipH="1">
              <a:off x="3024" y="3456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5119" name="Line 89"/>
            <p:cNvSpPr/>
            <p:nvPr/>
          </p:nvSpPr>
          <p:spPr>
            <a:xfrm flipH="1">
              <a:off x="2688" y="2928"/>
              <a:ext cx="240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45120" name="Text Box 91"/>
            <p:cNvSpPr txBox="1"/>
            <p:nvPr/>
          </p:nvSpPr>
          <p:spPr>
            <a:xfrm>
              <a:off x="2448" y="3656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1" name="Text Box 92"/>
            <p:cNvSpPr txBox="1"/>
            <p:nvPr/>
          </p:nvSpPr>
          <p:spPr>
            <a:xfrm>
              <a:off x="3072" y="3656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2" name="Text Box 93"/>
            <p:cNvSpPr txBox="1"/>
            <p:nvPr/>
          </p:nvSpPr>
          <p:spPr>
            <a:xfrm>
              <a:off x="3360" y="3656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3" name="Text Box 94"/>
            <p:cNvSpPr txBox="1"/>
            <p:nvPr/>
          </p:nvSpPr>
          <p:spPr>
            <a:xfrm>
              <a:off x="3984" y="3656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4" name="Text Box 95"/>
            <p:cNvSpPr txBox="1"/>
            <p:nvPr/>
          </p:nvSpPr>
          <p:spPr>
            <a:xfrm>
              <a:off x="2736" y="3119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5" name="Text Box 96"/>
            <p:cNvSpPr txBox="1"/>
            <p:nvPr/>
          </p:nvSpPr>
          <p:spPr>
            <a:xfrm>
              <a:off x="2112" y="3119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6" name="Text Box 97"/>
            <p:cNvSpPr txBox="1"/>
            <p:nvPr/>
          </p:nvSpPr>
          <p:spPr>
            <a:xfrm>
              <a:off x="3264" y="2063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7" name="Text Box 98"/>
            <p:cNvSpPr txBox="1"/>
            <p:nvPr/>
          </p:nvSpPr>
          <p:spPr>
            <a:xfrm>
              <a:off x="3456" y="2063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8" name="Text Box 99"/>
            <p:cNvSpPr txBox="1"/>
            <p:nvPr/>
          </p:nvSpPr>
          <p:spPr>
            <a:xfrm>
              <a:off x="3025" y="2063"/>
              <a:ext cx="30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9" name="Text Box 100"/>
            <p:cNvSpPr txBox="1"/>
            <p:nvPr/>
          </p:nvSpPr>
          <p:spPr>
            <a:xfrm>
              <a:off x="2737" y="2591"/>
              <a:ext cx="28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30" name="Text Box 101"/>
            <p:cNvSpPr txBox="1"/>
            <p:nvPr/>
          </p:nvSpPr>
          <p:spPr>
            <a:xfrm>
              <a:off x="2298" y="3138"/>
              <a:ext cx="30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31" name="Text Box 102"/>
            <p:cNvSpPr txBox="1"/>
            <p:nvPr/>
          </p:nvSpPr>
          <p:spPr>
            <a:xfrm>
              <a:off x="3217" y="3119"/>
              <a:ext cx="30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32" name="Text Box 103"/>
            <p:cNvSpPr txBox="1"/>
            <p:nvPr/>
          </p:nvSpPr>
          <p:spPr>
            <a:xfrm>
              <a:off x="3566" y="3666"/>
              <a:ext cx="272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33" name="Text Box 104"/>
            <p:cNvSpPr txBox="1"/>
            <p:nvPr/>
          </p:nvSpPr>
          <p:spPr>
            <a:xfrm>
              <a:off x="2641" y="3666"/>
              <a:ext cx="28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34" name="Line 105"/>
            <p:cNvSpPr/>
            <p:nvPr/>
          </p:nvSpPr>
          <p:spPr>
            <a:xfrm flipH="1">
              <a:off x="3153" y="1920"/>
              <a:ext cx="144" cy="192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5135" name="Text Box 106"/>
            <p:cNvSpPr txBox="1"/>
            <p:nvPr/>
          </p:nvSpPr>
          <p:spPr>
            <a:xfrm>
              <a:off x="3128" y="1602"/>
              <a:ext cx="565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root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107"/>
          <p:cNvGrpSpPr/>
          <p:nvPr/>
        </p:nvGrpSpPr>
        <p:grpSpPr>
          <a:xfrm>
            <a:off x="2209800" y="3122613"/>
            <a:ext cx="2362200" cy="3068637"/>
            <a:chOff x="432" y="757"/>
            <a:chExt cx="1008" cy="1933"/>
          </a:xfrm>
        </p:grpSpPr>
        <p:sp>
          <p:nvSpPr>
            <p:cNvPr id="45137" name="Line 108"/>
            <p:cNvSpPr/>
            <p:nvPr/>
          </p:nvSpPr>
          <p:spPr>
            <a:xfrm flipH="1">
              <a:off x="816" y="2016"/>
              <a:ext cx="192" cy="48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38" name="Line 109"/>
            <p:cNvSpPr/>
            <p:nvPr/>
          </p:nvSpPr>
          <p:spPr>
            <a:xfrm>
              <a:off x="864" y="1536"/>
              <a:ext cx="384" cy="86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39" name="Line 110"/>
            <p:cNvSpPr/>
            <p:nvPr/>
          </p:nvSpPr>
          <p:spPr>
            <a:xfrm flipH="1">
              <a:off x="624" y="1056"/>
              <a:ext cx="336" cy="81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40" name="Oval 111" descr="羊皮纸"/>
            <p:cNvSpPr/>
            <p:nvPr/>
          </p:nvSpPr>
          <p:spPr>
            <a:xfrm>
              <a:off x="864" y="816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1" name="Oval 112" descr="羊皮纸"/>
            <p:cNvSpPr/>
            <p:nvPr/>
          </p:nvSpPr>
          <p:spPr>
            <a:xfrm>
              <a:off x="672" y="1296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2" name="Oval 113" descr="羊皮纸"/>
            <p:cNvSpPr/>
            <p:nvPr/>
          </p:nvSpPr>
          <p:spPr>
            <a:xfrm>
              <a:off x="432" y="1824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3" name="Oval 114" descr="羊皮纸"/>
            <p:cNvSpPr/>
            <p:nvPr/>
          </p:nvSpPr>
          <p:spPr>
            <a:xfrm>
              <a:off x="912" y="1824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4" name="Oval 115" descr="羊皮纸"/>
            <p:cNvSpPr/>
            <p:nvPr/>
          </p:nvSpPr>
          <p:spPr>
            <a:xfrm>
              <a:off x="1152" y="2352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5" name="Oval 116" descr="羊皮纸"/>
            <p:cNvSpPr/>
            <p:nvPr/>
          </p:nvSpPr>
          <p:spPr>
            <a:xfrm>
              <a:off x="672" y="2352"/>
              <a:ext cx="288" cy="288"/>
            </a:xfrm>
            <a:prstGeom prst="ellipse">
              <a:avLst/>
            </a:prstGeom>
            <a:blipFill rotWithShape="0">
              <a:blip r:embed="rId1"/>
            </a:blip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6" name="Text Box 117"/>
            <p:cNvSpPr txBox="1"/>
            <p:nvPr/>
          </p:nvSpPr>
          <p:spPr>
            <a:xfrm>
              <a:off x="912" y="757"/>
              <a:ext cx="20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7" name="Text Box 118"/>
            <p:cNvSpPr txBox="1"/>
            <p:nvPr/>
          </p:nvSpPr>
          <p:spPr>
            <a:xfrm>
              <a:off x="712" y="1247"/>
              <a:ext cx="19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8" name="Text Box 119"/>
            <p:cNvSpPr txBox="1"/>
            <p:nvPr/>
          </p:nvSpPr>
          <p:spPr>
            <a:xfrm>
              <a:off x="480" y="1794"/>
              <a:ext cx="20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49" name="Text Box 120"/>
            <p:cNvSpPr txBox="1"/>
            <p:nvPr/>
          </p:nvSpPr>
          <p:spPr>
            <a:xfrm>
              <a:off x="948" y="1794"/>
              <a:ext cx="203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50" name="Text Box 121"/>
            <p:cNvSpPr txBox="1"/>
            <p:nvPr/>
          </p:nvSpPr>
          <p:spPr>
            <a:xfrm>
              <a:off x="1212" y="2322"/>
              <a:ext cx="18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51" name="Text Box 122"/>
            <p:cNvSpPr txBox="1"/>
            <p:nvPr/>
          </p:nvSpPr>
          <p:spPr>
            <a:xfrm>
              <a:off x="727" y="2322"/>
              <a:ext cx="194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Text Box 2"/>
          <p:cNvSpPr txBox="1"/>
          <p:nvPr/>
        </p:nvSpPr>
        <p:spPr>
          <a:xfrm>
            <a:off x="1905000" y="2667000"/>
            <a:ext cx="8763000" cy="3352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typedef struct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node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                                                </a:t>
            </a:r>
            <a:r>
              <a:rPr lang="en-US" altLang="zh-CN" sz="32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3200" b="0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二叉树结点定义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ElemType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                          </a:t>
            </a:r>
            <a:r>
              <a:rPr lang="en-US" altLang="zh-CN" sz="32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3200" b="0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结点数据域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struct node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* lchild, * rchild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en-US" altLang="zh-CN" sz="32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3200" b="0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左右孩子指针域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BTNode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0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BTNode *root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en-US" altLang="zh-CN" sz="32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//</a:t>
            </a:r>
            <a:r>
              <a:rPr lang="zh-CN" altLang="en-US" sz="3200" b="0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根指针唯一确定二叉链表</a:t>
            </a:r>
            <a:r>
              <a:rPr lang="zh-CN" altLang="en-US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</a:t>
            </a:r>
            <a:endParaRPr lang="zh-CN" altLang="en-US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1981200" y="762000"/>
            <a:ext cx="3449638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cs typeface="+mn-cs"/>
                <a:sym typeface="+mn-ea"/>
              </a:rPr>
              <a:t>二叉链表结点结构</a:t>
            </a:r>
            <a:endParaRPr kumimoji="1" lang="zh-CN" altLang="en-US" sz="3200" b="0" kern="1200" cap="none" spc="0" normalizeH="0" baseline="0" noProof="0">
              <a:solidFill>
                <a:schemeClr val="hlink"/>
              </a:solidFill>
              <a:latin typeface="Arial" panose="020B0604020202020204" pitchFamily="34" charset="0"/>
              <a:ea typeface="黑体" panose="02010609060101010101" pitchFamily="2" charset="-122"/>
              <a:cs typeface="+mn-cs"/>
              <a:sym typeface="+mn-ea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019800" y="685800"/>
            <a:ext cx="3276600" cy="685800"/>
            <a:chOff x="1200" y="1056"/>
            <a:chExt cx="2064" cy="432"/>
          </a:xfrm>
        </p:grpSpPr>
        <p:sp>
          <p:nvSpPr>
            <p:cNvPr id="46084" name="Rectangle 6"/>
            <p:cNvSpPr/>
            <p:nvPr/>
          </p:nvSpPr>
          <p:spPr>
            <a:xfrm>
              <a:off x="1200" y="1152"/>
              <a:ext cx="2064" cy="336"/>
            </a:xfrm>
            <a:prstGeom prst="rect">
              <a:avLst/>
            </a:prstGeom>
            <a:solidFill>
              <a:schemeClr val="accent1"/>
            </a:solidFill>
            <a:ln w="9525"/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 anchorCtr="0">
              <a:flatTx/>
            </a:bodyPr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85" name="Text Box 7"/>
            <p:cNvSpPr txBox="1"/>
            <p:nvPr/>
          </p:nvSpPr>
          <p:spPr>
            <a:xfrm>
              <a:off x="1247" y="1151"/>
              <a:ext cx="197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lchild   data   rchild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086" name="Line 8"/>
            <p:cNvSpPr/>
            <p:nvPr/>
          </p:nvSpPr>
          <p:spPr>
            <a:xfrm flipV="1">
              <a:off x="1968" y="1152"/>
              <a:ext cx="0" cy="33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87" name="Line 9"/>
            <p:cNvSpPr/>
            <p:nvPr/>
          </p:nvSpPr>
          <p:spPr>
            <a:xfrm flipV="1">
              <a:off x="2544" y="1152"/>
              <a:ext cx="0" cy="33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88" name="Line 10"/>
            <p:cNvSpPr/>
            <p:nvPr/>
          </p:nvSpPr>
          <p:spPr>
            <a:xfrm flipV="1">
              <a:off x="1968" y="1056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89" name="Line 11"/>
            <p:cNvSpPr/>
            <p:nvPr/>
          </p:nvSpPr>
          <p:spPr>
            <a:xfrm flipV="1">
              <a:off x="2544" y="1056"/>
              <a:ext cx="96" cy="96"/>
            </a:xfrm>
            <a:prstGeom prst="line">
              <a:avLst/>
            </a:prstGeom>
            <a:ln w="19050" cap="flat" cmpd="sng">
              <a:solidFill>
                <a:srgbClr val="FFFFCC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32109" name="Text Box 13"/>
          <p:cNvSpPr txBox="1">
            <a:spLocks noChangeArrowheads="1"/>
          </p:cNvSpPr>
          <p:nvPr/>
        </p:nvSpPr>
        <p:spPr bwMode="auto">
          <a:xfrm>
            <a:off x="2057400" y="1905000"/>
            <a:ext cx="18161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cs typeface="+mn-cs"/>
                <a:sym typeface="+mn-ea"/>
              </a:rPr>
              <a:t>数据类型</a:t>
            </a:r>
            <a:endParaRPr kumimoji="1" lang="zh-CN" altLang="en-US" sz="3200" b="0" kern="1200" cap="none" spc="0" normalizeH="0" baseline="0" noProof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/>
      <p:bldP spid="132109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922" name="Text Box 2"/>
          <p:cNvSpPr txBox="1">
            <a:spLocks noChangeArrowheads="1"/>
          </p:cNvSpPr>
          <p:nvPr/>
        </p:nvSpPr>
        <p:spPr bwMode="auto">
          <a:xfrm>
            <a:off x="1774825" y="1285875"/>
            <a:ext cx="8458835" cy="52197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fontAlgn="base">
              <a:spcBef>
                <a:spcPct val="15000"/>
              </a:spcBef>
            </a:pPr>
            <a:r>
              <a:rPr kumimoji="1" lang="zh-CN" altLang="en-US" sz="2800" strike="noStrike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（</a:t>
            </a:r>
            <a:r>
              <a:rPr kumimoji="1" lang="en-US" altLang="zh-CN" sz="2800" strike="noStrike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1</a:t>
            </a:r>
            <a:r>
              <a:rPr kumimoji="1" lang="zh-CN" altLang="en-US" sz="2800" strike="noStrike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）创建二叉树</a:t>
            </a:r>
            <a:r>
              <a:rPr kumimoji="1" lang="en-US" altLang="zh-CN" sz="2800" strike="noStrike" noProof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CreateBTNode</a:t>
            </a:r>
            <a:r>
              <a:rPr kumimoji="1" lang="en-US" altLang="zh-CN" sz="2800" strike="noStrike" noProof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(*</a:t>
            </a:r>
            <a:r>
              <a:rPr kumimoji="1" lang="en-US" altLang="zh-CN" sz="2800" strike="noStrike" noProof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b</a:t>
            </a:r>
            <a:r>
              <a:rPr kumimoji="1" lang="zh-CN" altLang="en-US" sz="2800" strike="noStrike" noProof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，</a:t>
            </a:r>
            <a:r>
              <a:rPr kumimoji="1" lang="en-US" altLang="zh-CN" sz="2800" strike="noStrike" noProof="1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*</a:t>
            </a:r>
            <a:r>
              <a:rPr kumimoji="1" lang="en-US" altLang="zh-CN" sz="2800" strike="noStrike" noProof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str</a:t>
            </a:r>
            <a:r>
              <a:rPr kumimoji="1" lang="en-US" altLang="zh-CN" sz="2800" strike="noStrike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)       </a:t>
            </a:r>
            <a:endParaRPr kumimoji="1" lang="en-US" altLang="zh-CN" sz="2800" strike="noStrike" noProof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</a:endParaRPr>
          </a:p>
        </p:txBody>
      </p:sp>
      <p:sp>
        <p:nvSpPr>
          <p:cNvPr id="209923" name="Text Box 3" descr="纸莎草纸"/>
          <p:cNvSpPr txBox="1">
            <a:spLocks noChangeArrowheads="1"/>
          </p:cNvSpPr>
          <p:nvPr/>
        </p:nvSpPr>
        <p:spPr bwMode="auto">
          <a:xfrm>
            <a:off x="1774825" y="333375"/>
            <a:ext cx="7519035" cy="645160"/>
          </a:xfrm>
          <a:prstGeom prst="rect">
            <a:avLst/>
          </a:prstGeom>
          <a:ln>
            <a:solidFill>
              <a:schemeClr val="bg1"/>
            </a:solidFill>
            <a:tailEnd type="none" w="med" len="lg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fontAlgn="base">
              <a:spcBef>
                <a:spcPct val="15000"/>
              </a:spcBef>
            </a:pPr>
            <a:r>
              <a:rPr kumimoji="1" lang="en-US" altLang="zh-CN" sz="3600" strike="noStrike" spc="50" noProof="1" dirty="0"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 </a:t>
            </a:r>
            <a:r>
              <a:rPr kumimoji="1" lang="zh-CN" altLang="en-US" sz="3600" strike="noStrike" spc="50" noProof="1" dirty="0"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rPr>
              <a:t>二叉树的基本运算算法实现</a:t>
            </a:r>
            <a:endParaRPr kumimoji="1" lang="zh-CN" altLang="en-US" sz="3600" strike="noStrike" spc="50" noProof="1" dirty="0"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隶书" panose="02010509060101010101" pitchFamily="49" charset="-122"/>
            </a:endParaRPr>
          </a:p>
        </p:txBody>
      </p:sp>
      <p:sp>
        <p:nvSpPr>
          <p:cNvPr id="47107" name="Text Box 5"/>
          <p:cNvSpPr txBox="1"/>
          <p:nvPr/>
        </p:nvSpPr>
        <p:spPr>
          <a:xfrm>
            <a:off x="2279650" y="1989138"/>
            <a:ext cx="75612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由正确的二叉树括号表示串　</a:t>
            </a:r>
            <a:r>
              <a:rPr lang="zh-CN" altLang="en-US" sz="2400" dirty="0">
                <a:solidFill>
                  <a:srgbClr val="FF00FF"/>
                </a:solidFill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/>
              </a:rPr>
              <a:t>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sym typeface="Wingdings" panose="05000000000000000000" pitchFamily="2" charset="2"/>
              </a:rPr>
              <a:t>　二叉链存储结构</a:t>
            </a:r>
            <a:endParaRPr lang="zh-CN" altLang="en-US" sz="2400" dirty="0">
              <a:latin typeface="隶书" panose="02010509060101010101" pitchFamily="49" charset="-122"/>
              <a:ea typeface="隶书" panose="02010509060101010101" pitchFamily="49" charset="-122"/>
              <a:sym typeface="Wingdings" panose="05000000000000000000" pitchFamily="2" charset="2"/>
            </a:endParaRPr>
          </a:p>
        </p:txBody>
      </p:sp>
      <p:grpSp>
        <p:nvGrpSpPr>
          <p:cNvPr id="209934" name="Group 14"/>
          <p:cNvGrpSpPr/>
          <p:nvPr/>
        </p:nvGrpSpPr>
        <p:grpSpPr>
          <a:xfrm>
            <a:off x="3940175" y="2420938"/>
            <a:ext cx="4819650" cy="1254125"/>
            <a:chOff x="1522" y="1525"/>
            <a:chExt cx="3036" cy="790"/>
          </a:xfrm>
        </p:grpSpPr>
        <p:sp>
          <p:nvSpPr>
            <p:cNvPr id="47109" name="Line 6"/>
            <p:cNvSpPr/>
            <p:nvPr/>
          </p:nvSpPr>
          <p:spPr>
            <a:xfrm flipV="1">
              <a:off x="1927" y="1525"/>
              <a:ext cx="0" cy="272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47110" name="Text Box 7"/>
            <p:cNvSpPr txBox="1"/>
            <p:nvPr/>
          </p:nvSpPr>
          <p:spPr>
            <a:xfrm>
              <a:off x="1522" y="1800"/>
              <a:ext cx="10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隶书" panose="02010509060101010101" pitchFamily="49" charset="-122"/>
                  <a:ea typeface="隶书" panose="02010509060101010101" pitchFamily="49" charset="-122"/>
                </a:rPr>
                <a:t>逻辑结构</a:t>
              </a:r>
              <a:endParaRPr lang="zh-CN" altLang="en-US" sz="240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47111" name="Line 8"/>
            <p:cNvSpPr/>
            <p:nvPr/>
          </p:nvSpPr>
          <p:spPr>
            <a:xfrm flipV="1">
              <a:off x="3968" y="1525"/>
              <a:ext cx="0" cy="272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47112" name="Text Box 9"/>
            <p:cNvSpPr txBox="1"/>
            <p:nvPr/>
          </p:nvSpPr>
          <p:spPr>
            <a:xfrm>
              <a:off x="3515" y="1799"/>
              <a:ext cx="10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隶书" panose="02010509060101010101" pitchFamily="49" charset="-122"/>
                  <a:ea typeface="隶书" panose="02010509060101010101" pitchFamily="49" charset="-122"/>
                </a:rPr>
                <a:t>存储结构</a:t>
              </a:r>
              <a:endPara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209930" name="AutoShape 10"/>
            <p:cNvSpPr>
              <a:spLocks noChangeArrowheads="1"/>
            </p:cNvSpPr>
            <p:nvPr/>
          </p:nvSpPr>
          <p:spPr bwMode="auto">
            <a:xfrm>
              <a:off x="2517" y="1889"/>
              <a:ext cx="953" cy="90"/>
            </a:xfrm>
            <a:prstGeom prst="rightArrow">
              <a:avLst>
                <a:gd name="adj1" fmla="val 50000"/>
                <a:gd name="adj2" fmla="val 264722"/>
              </a:avLst>
            </a:prstGeom>
            <a:ln>
              <a:tailEnd type="none" w="med" len="lg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base"/>
              <a:endParaRPr lang="zh-CN" altLang="en-US" sz="2400" strike="noStrike" noProof="1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14" name="Text Box 11"/>
            <p:cNvSpPr txBox="1"/>
            <p:nvPr/>
          </p:nvSpPr>
          <p:spPr>
            <a:xfrm>
              <a:off x="2517" y="2025"/>
              <a:ext cx="86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隶书" panose="02010509060101010101" pitchFamily="49" charset="-122"/>
                  <a:ea typeface="隶书" panose="02010509060101010101" pitchFamily="49" charset="-122"/>
                </a:rPr>
                <a:t>映射</a:t>
              </a:r>
              <a:endPara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9935" name="Group 15"/>
          <p:cNvGrpSpPr/>
          <p:nvPr/>
        </p:nvGrpSpPr>
        <p:grpSpPr>
          <a:xfrm>
            <a:off x="2278063" y="3789363"/>
            <a:ext cx="5905500" cy="2692400"/>
            <a:chOff x="475" y="2387"/>
            <a:chExt cx="3720" cy="1696"/>
          </a:xfrm>
        </p:grpSpPr>
        <p:sp>
          <p:nvSpPr>
            <p:cNvPr id="47116" name="Text Box 12"/>
            <p:cNvSpPr txBox="1"/>
            <p:nvPr/>
          </p:nvSpPr>
          <p:spPr>
            <a:xfrm>
              <a:off x="475" y="2387"/>
              <a:ext cx="37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隶书" panose="02010509060101010101" pitchFamily="49" charset="-122"/>
                  <a:ea typeface="隶书" panose="02010509060101010101" pitchFamily="49" charset="-122"/>
                </a:rPr>
                <a:t>正确的二叉树括号表示串中只有</a:t>
              </a:r>
              <a:r>
                <a:rPr lang="en-US" altLang="zh-CN" sz="2400" dirty="0">
                  <a:latin typeface="隶书" panose="02010509060101010101" pitchFamily="49" charset="-122"/>
                  <a:ea typeface="隶书" panose="02010509060101010101" pitchFamily="49" charset="-122"/>
                </a:rPr>
                <a:t>4</a:t>
              </a:r>
              <a:r>
                <a:rPr lang="zh-CN" altLang="en-US" sz="2400" dirty="0">
                  <a:latin typeface="隶书" panose="02010509060101010101" pitchFamily="49" charset="-122"/>
                  <a:ea typeface="隶书" panose="02010509060101010101" pitchFamily="49" charset="-122"/>
                </a:rPr>
                <a:t>类字符：</a:t>
              </a:r>
              <a:endPara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209933" name="Text Box 13"/>
            <p:cNvSpPr txBox="1">
              <a:spLocks noChangeArrowheads="1"/>
            </p:cNvSpPr>
            <p:nvPr/>
          </p:nvSpPr>
          <p:spPr bwMode="auto">
            <a:xfrm>
              <a:off x="611" y="2840"/>
              <a:ext cx="3266" cy="1243"/>
            </a:xfrm>
            <a:prstGeom prst="rect">
              <a:avLst/>
            </a:prstGeom>
            <a:solidFill>
              <a:schemeClr val="bg1"/>
            </a:solidFill>
            <a:ln>
              <a:tailEnd type="none" w="med" len="lg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457200" indent="-457200" algn="l" fontAlgn="base">
                <a:lnSpc>
                  <a:spcPct val="90000"/>
                </a:lnSpc>
                <a:spcBef>
                  <a:spcPct val="50000"/>
                </a:spcBef>
                <a:buFontTx/>
                <a:buBlip>
                  <a:blip r:embed="rId1"/>
                </a:buBlip>
              </a:pPr>
              <a:r>
                <a:rPr lang="zh-CN" altLang="en-US" sz="2400" strike="noStrike" noProof="1" dirty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单个</a:t>
              </a:r>
              <a:r>
                <a:rPr lang="zh-CN" altLang="en-US" sz="2400" strike="noStrike" noProof="1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字符</a:t>
              </a:r>
              <a:r>
                <a:rPr lang="zh-CN" altLang="en-US" sz="2400" strike="noStrike" noProof="1" smtClean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：结点的</a:t>
              </a:r>
              <a:r>
                <a:rPr lang="zh-CN" altLang="en-US" sz="2400" strike="noStrike" noProof="1" dirty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值</a:t>
              </a:r>
              <a:endParaRPr lang="zh-CN" altLang="en-US" sz="2400" strike="noStrike" noProof="1" dirty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endParaRPr>
            </a:p>
            <a:p>
              <a:pPr marL="457200" indent="-457200" algn="l" fontAlgn="base">
                <a:lnSpc>
                  <a:spcPct val="90000"/>
                </a:lnSpc>
                <a:spcBef>
                  <a:spcPct val="50000"/>
                </a:spcBef>
                <a:buFontTx/>
                <a:buBlip>
                  <a:blip r:embed="rId1"/>
                </a:buBlip>
              </a:pPr>
              <a:r>
                <a:rPr lang="en-US" altLang="zh-CN" sz="2400" strike="noStrike" noProof="1" dirty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(</a:t>
              </a:r>
              <a:r>
                <a:rPr lang="zh-CN" altLang="en-US" sz="2400" strike="noStrike" noProof="1" dirty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：表示</a:t>
              </a:r>
              <a:r>
                <a:rPr lang="zh-CN" altLang="en-US" sz="2400" strike="noStrike" noProof="1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一</a:t>
              </a:r>
              <a:r>
                <a:rPr lang="zh-CN" altLang="en-US" sz="2400" strike="noStrike" noProof="1" smtClean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棵左子</a:t>
              </a:r>
              <a:r>
                <a:rPr lang="zh-CN" altLang="en-US" sz="2400" strike="noStrike" noProof="1" dirty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树的开始</a:t>
              </a:r>
              <a:endParaRPr lang="zh-CN" altLang="en-US" sz="2400" strike="noStrike" noProof="1" dirty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endParaRPr>
            </a:p>
            <a:p>
              <a:pPr marL="457200" indent="-457200" algn="l" fontAlgn="base">
                <a:lnSpc>
                  <a:spcPct val="90000"/>
                </a:lnSpc>
                <a:spcBef>
                  <a:spcPct val="50000"/>
                </a:spcBef>
                <a:buFontTx/>
                <a:buBlip>
                  <a:blip r:embed="rId1"/>
                </a:buBlip>
              </a:pPr>
              <a:r>
                <a:rPr lang="en-US" altLang="zh-CN" sz="2400" strike="noStrike" noProof="1" dirty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)</a:t>
              </a:r>
              <a:r>
                <a:rPr lang="zh-CN" altLang="en-US" sz="2400" strike="noStrike" noProof="1" dirty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：表示一棵子树的结束</a:t>
              </a:r>
              <a:endParaRPr lang="zh-CN" altLang="en-US" sz="2400" strike="noStrike" noProof="1" dirty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endParaRPr>
            </a:p>
            <a:p>
              <a:pPr marL="457200" indent="-457200" algn="l" fontAlgn="base">
                <a:lnSpc>
                  <a:spcPct val="90000"/>
                </a:lnSpc>
                <a:spcBef>
                  <a:spcPct val="50000"/>
                </a:spcBef>
                <a:buFontTx/>
                <a:buBlip>
                  <a:blip r:embed="rId1"/>
                </a:buBlip>
              </a:pPr>
              <a:r>
                <a:rPr lang="zh-CN" altLang="en-US" sz="2400" strike="noStrike" noProof="1" smtClean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，</a:t>
              </a:r>
              <a:r>
                <a:rPr lang="zh-CN" altLang="en-US" sz="2400" strike="noStrike" noProof="1" smtClean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：表示一棵右</a:t>
              </a:r>
              <a:r>
                <a:rPr lang="zh-CN" altLang="en-US" sz="2400" strike="noStrike" noProof="1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子</a:t>
              </a:r>
              <a:r>
                <a:rPr lang="zh-CN" altLang="en-US" sz="2400" strike="noStrike" noProof="1" smtClean="0">
                  <a:latin typeface="隶书" panose="02010509060101010101" pitchFamily="49" charset="-122"/>
                  <a:ea typeface="隶书" panose="02010509060101010101" pitchFamily="49" charset="-122"/>
                  <a:cs typeface="隶书" panose="02010509060101010101" pitchFamily="49" charset="-122"/>
                </a:rPr>
                <a:t>树的开始</a:t>
              </a:r>
              <a:endParaRPr lang="zh-CN" altLang="en-US" sz="2400" strike="noStrike" noProof="1" dirty="0">
                <a:latin typeface="隶书" panose="02010509060101010101" pitchFamily="49" charset="-122"/>
                <a:ea typeface="隶书" panose="02010509060101010101" pitchFamily="49" charset="-122"/>
                <a:cs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9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Text Box 5"/>
          <p:cNvSpPr txBox="1"/>
          <p:nvPr/>
        </p:nvSpPr>
        <p:spPr>
          <a:xfrm>
            <a:off x="2166938" y="285750"/>
            <a:ext cx="1885950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Bahnschrift SemiLight SemiCondensed" panose="020B0502040204020203" charset="0"/>
                <a:ea typeface="宋体" panose="02010600030101010101" pitchFamily="2" charset="-122"/>
              </a:rPr>
              <a:t>算法设计：</a:t>
            </a:r>
            <a:endParaRPr lang="zh-CN" altLang="en-US" sz="3200" dirty="0">
              <a:solidFill>
                <a:srgbClr val="FF0000"/>
              </a:solidFill>
              <a:latin typeface="Bahnschrift SemiLight SemiCondensed" panose="020B0502040204020203" charset="0"/>
              <a:ea typeface="Bahnschrift SemiLight SemiCondensed" panose="020B0502040204020203" charset="0"/>
            </a:endParaRPr>
          </a:p>
        </p:txBody>
      </p:sp>
      <p:sp>
        <p:nvSpPr>
          <p:cNvPr id="48130" name="Text Box 15"/>
          <p:cNvSpPr txBox="1"/>
          <p:nvPr/>
        </p:nvSpPr>
        <p:spPr>
          <a:xfrm>
            <a:off x="4335463" y="2282825"/>
            <a:ext cx="358775" cy="46037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i="1" dirty="0">
                <a:solidFill>
                  <a:srgbClr val="0000CC"/>
                </a:solidFill>
                <a:latin typeface="Bahnschrift SemiLight SemiCondensed" panose="020B0502040204020203" charset="0"/>
                <a:ea typeface="宋体" panose="02010600030101010101" pitchFamily="2" charset="-122"/>
              </a:rPr>
              <a:t>L</a:t>
            </a:r>
            <a:endParaRPr lang="en-US" altLang="zh-CN" sz="2400" b="0" i="1" dirty="0">
              <a:solidFill>
                <a:srgbClr val="0000CC"/>
              </a:solidFill>
              <a:latin typeface="Bahnschrift SemiLight SemiCondensed" panose="020B0502040204020203" charset="0"/>
              <a:ea typeface="宋体" panose="02010600030101010101" pitchFamily="2" charset="-122"/>
            </a:endParaRPr>
          </a:p>
        </p:txBody>
      </p:sp>
      <p:grpSp>
        <p:nvGrpSpPr>
          <p:cNvPr id="48131" name="组合 13"/>
          <p:cNvGrpSpPr/>
          <p:nvPr/>
        </p:nvGrpSpPr>
        <p:grpSpPr>
          <a:xfrm>
            <a:off x="4024313" y="928688"/>
            <a:ext cx="2500312" cy="2078037"/>
            <a:chOff x="2500298" y="928670"/>
            <a:chExt cx="2500330" cy="2078045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3352796" y="928670"/>
              <a:ext cx="719138" cy="719137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tIns="72000" rIns="0" bIns="0"/>
            <a:lstStyle/>
            <a:p>
              <a:pPr fontAlgn="base"/>
              <a:r>
                <a:rPr kumimoji="1" lang="en-US" altLang="zh-CN" sz="2400" i="1" strike="noStrike" noProof="1" dirty="0" smtClean="0">
                  <a:solidFill>
                    <a:srgbClr val="0000CC"/>
                  </a:solidFill>
                  <a:latin typeface="Bahnschrift SemiLight SemiCondensed" panose="020B0502040204020203" charset="0"/>
                  <a:ea typeface="宋体" panose="02010600030101010101" pitchFamily="2" charset="-122"/>
                  <a:cs typeface="Bahnschrift SemiLight SemiCondensed" panose="020B0502040204020203" charset="0"/>
                </a:rPr>
                <a:t>N</a:t>
              </a:r>
              <a:endParaRPr kumimoji="1" lang="en-US" altLang="zh-CN" sz="2400" i="1" strike="noStrike" noProof="1" dirty="0" smtClean="0">
                <a:solidFill>
                  <a:srgbClr val="0000CC"/>
                </a:solidFill>
                <a:latin typeface="Bahnschrift SemiLight SemiCondensed" panose="020B0502040204020203" charset="0"/>
                <a:ea typeface="宋体" panose="02010600030101010101" pitchFamily="2" charset="-122"/>
                <a:cs typeface="Bahnschrift SemiLight SemiCondensed" panose="020B0502040204020203" charset="0"/>
              </a:endParaRPr>
            </a:p>
          </p:txBody>
        </p:sp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2500298" y="2000240"/>
              <a:ext cx="876300" cy="1006475"/>
            </a:xfrm>
            <a:prstGeom prst="wedgeEllipseCallout">
              <a:avLst>
                <a:gd name="adj1" fmla="val 59764"/>
                <a:gd name="adj2" fmla="val -93431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pPr algn="just" fontAlgn="base"/>
              <a:endParaRPr kumimoji="1" lang="zh-CN" altLang="zh-CN" sz="2400" b="0" strike="noStrike" noProof="1" dirty="0">
                <a:solidFill>
                  <a:schemeClr val="tx1"/>
                </a:solidFill>
                <a:latin typeface="Bahnschrift SemiLight SemiCondensed" panose="020B0502040204020203" charset="0"/>
                <a:ea typeface="宋体" panose="02010600030101010101" pitchFamily="2" charset="-122"/>
                <a:cs typeface="Bahnschrift SemiLight SemiCondensed" panose="020B0502040204020203" charset="0"/>
              </a:endParaRP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4143372" y="2025629"/>
              <a:ext cx="857256" cy="974743"/>
            </a:xfrm>
            <a:prstGeom prst="wedgeEllipseCallout">
              <a:avLst>
                <a:gd name="adj1" fmla="val -75000"/>
                <a:gd name="adj2" fmla="val -97116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pPr algn="just" fontAlgn="base"/>
              <a:endParaRPr kumimoji="1" lang="zh-CN" altLang="zh-CN" sz="1200" b="0" strike="noStrike" noProof="1">
                <a:solidFill>
                  <a:schemeClr val="tx1"/>
                </a:solidFill>
                <a:latin typeface="Bahnschrift SemiLight SemiCondensed" panose="020B0502040204020203" charset="0"/>
                <a:ea typeface="宋体" panose="02010600030101010101" pitchFamily="2" charset="-122"/>
                <a:cs typeface="Bahnschrift SemiLight SemiCondensed" panose="020B0502040204020203" charset="0"/>
              </a:endParaRPr>
            </a:p>
          </p:txBody>
        </p:sp>
      </p:grpSp>
      <p:sp>
        <p:nvSpPr>
          <p:cNvPr id="48135" name="Text Box 16"/>
          <p:cNvSpPr txBox="1"/>
          <p:nvPr/>
        </p:nvSpPr>
        <p:spPr>
          <a:xfrm>
            <a:off x="5953125" y="2301875"/>
            <a:ext cx="382588" cy="46037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i="1" dirty="0">
                <a:solidFill>
                  <a:srgbClr val="0000CC"/>
                </a:solidFill>
                <a:latin typeface="Bahnschrift SemiLight SemiCondensed" panose="020B0502040204020203" charset="0"/>
                <a:ea typeface="宋体" panose="02010600030101010101" pitchFamily="2" charset="-122"/>
              </a:rPr>
              <a:t>R</a:t>
            </a:r>
            <a:endParaRPr lang="en-US" altLang="zh-CN" sz="2400" b="0" i="1" dirty="0">
              <a:solidFill>
                <a:srgbClr val="0000CC"/>
              </a:solidFill>
              <a:latin typeface="Bahnschrift SemiLight SemiCondensed" panose="020B0502040204020203" charset="0"/>
              <a:ea typeface="宋体" panose="02010600030101010101" pitchFamily="2" charset="-122"/>
            </a:endParaRPr>
          </a:p>
        </p:txBody>
      </p:sp>
      <p:sp>
        <p:nvSpPr>
          <p:cNvPr id="48136" name="TextBox 10"/>
          <p:cNvSpPr txBox="1"/>
          <p:nvPr/>
        </p:nvSpPr>
        <p:spPr>
          <a:xfrm>
            <a:off x="2381250" y="3429000"/>
            <a:ext cx="84359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buBlip>
                <a:blip r:embed="rId1"/>
              </a:buBlip>
            </a:pP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先</a:t>
            </a:r>
            <a:r>
              <a:rPr lang="zh-CN" altLang="en-US" sz="2400">
                <a:latin typeface="Bahnschrift SemiLight SemiCondensed" panose="020B0502040204020203" charset="0"/>
                <a:ea typeface="楷体" panose="02010609060101010101" pitchFamily="49" charset="-122"/>
              </a:rPr>
              <a:t>构造</a:t>
            </a:r>
            <a:r>
              <a:rPr lang="zh-CN" altLang="en-US" sz="2400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根结点</a:t>
            </a:r>
            <a:r>
              <a:rPr lang="en-US" altLang="zh-CN" sz="2400" i="1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N</a:t>
            </a:r>
            <a:r>
              <a:rPr lang="zh-CN" altLang="en-US" sz="2400">
                <a:latin typeface="Bahnschrift SemiLight SemiCondensed" panose="020B0502040204020203" charset="0"/>
                <a:ea typeface="楷体" panose="02010609060101010101" pitchFamily="49" charset="-122"/>
              </a:rPr>
              <a:t>，再</a:t>
            </a: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构造</a:t>
            </a:r>
            <a:r>
              <a:rPr lang="zh-CN" altLang="en-US" sz="2400" dirty="0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左子</a:t>
            </a:r>
            <a:r>
              <a:rPr lang="zh-CN" altLang="en-US" sz="2400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树</a:t>
            </a:r>
            <a:r>
              <a:rPr lang="en-US" altLang="zh-CN" sz="2400" i="1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L</a:t>
            </a:r>
            <a:r>
              <a:rPr lang="zh-CN" altLang="en-US" sz="2400">
                <a:latin typeface="Bahnschrift SemiLight SemiCondensed" panose="020B0502040204020203" charset="0"/>
                <a:ea typeface="楷体" panose="02010609060101010101" pitchFamily="49" charset="-122"/>
              </a:rPr>
              <a:t>，最后</a:t>
            </a: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构造</a:t>
            </a:r>
            <a:r>
              <a:rPr lang="zh-CN" altLang="en-US" sz="2400" dirty="0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右子树</a:t>
            </a:r>
            <a:r>
              <a:rPr lang="en-US" altLang="zh-CN" sz="2400" i="1" dirty="0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R</a:t>
            </a:r>
            <a:endParaRPr lang="en-US" altLang="zh-CN" sz="2400" i="1" dirty="0">
              <a:solidFill>
                <a:srgbClr val="FF00FF"/>
              </a:solidFill>
              <a:latin typeface="Bahnschrift SemiLight SemiCondensed" panose="020B0502040204020203" charset="0"/>
              <a:ea typeface="楷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0" y="4000500"/>
            <a:ext cx="76438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buBlip>
                <a:blip r:embed="rId1"/>
              </a:buBlip>
            </a:pP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构造</a:t>
            </a:r>
            <a:r>
              <a:rPr lang="zh-CN" altLang="en-US" sz="2400" dirty="0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右子树</a:t>
            </a:r>
            <a:r>
              <a:rPr lang="en-US" altLang="zh-CN" sz="2400" i="1">
                <a:solidFill>
                  <a:srgbClr val="FF00FF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R</a:t>
            </a:r>
            <a:r>
              <a:rPr lang="zh-CN" altLang="en-US" sz="2400">
                <a:latin typeface="Bahnschrift SemiLight SemiCondensed" panose="020B0502040204020203" charset="0"/>
                <a:ea typeface="楷体" panose="02010609060101010101" pitchFamily="49" charset="-122"/>
              </a:rPr>
              <a:t>时，找不到</a:t>
            </a:r>
            <a:r>
              <a:rPr lang="en-US" altLang="zh-CN" sz="2400" i="1">
                <a:latin typeface="Bahnschrift SemiLight SemiCondensed" panose="020B0502040204020203" charset="0"/>
                <a:ea typeface="楷体" panose="02010609060101010101" pitchFamily="49" charset="-122"/>
              </a:rPr>
              <a:t>N</a:t>
            </a:r>
            <a:r>
              <a:rPr lang="zh-CN" altLang="en-US" sz="2400">
                <a:latin typeface="Bahnschrift SemiLight SemiCondensed" panose="020B0502040204020203" charset="0"/>
                <a:ea typeface="楷体" panose="02010609060101010101" pitchFamily="49" charset="-122"/>
              </a:rPr>
              <a:t>了，所以</a:t>
            </a: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需要保存</a:t>
            </a:r>
            <a:r>
              <a:rPr lang="en-US" altLang="zh-CN" sz="2400" i="1" dirty="0">
                <a:latin typeface="Bahnschrift SemiLight SemiCondensed" panose="020B0502040204020203" charset="0"/>
                <a:ea typeface="楷体" panose="02010609060101010101" pitchFamily="49" charset="-122"/>
              </a:rPr>
              <a:t>N</a:t>
            </a:r>
            <a:endParaRPr lang="en-US" altLang="zh-CN" sz="2400" i="1" dirty="0">
              <a:latin typeface="Bahnschrift SemiLight SemiCondensed" panose="020B0502040204020203" charset="0"/>
              <a:ea typeface="楷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81250" y="4538663"/>
            <a:ext cx="76438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buBlip>
                <a:blip r:embed="rId1"/>
              </a:buBlip>
            </a:pPr>
            <a:r>
              <a:rPr lang="zh-CN" altLang="en-US" sz="2400">
                <a:latin typeface="Bahnschrift SemiLight SemiCondensed" panose="020B0502040204020203" charset="0"/>
                <a:ea typeface="楷体" panose="02010609060101010101" pitchFamily="49" charset="-122"/>
              </a:rPr>
              <a:t>而结点是</a:t>
            </a: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按最近原则</a:t>
            </a:r>
            <a:r>
              <a:rPr lang="zh-CN" altLang="en-US" sz="2400">
                <a:latin typeface="Bahnschrift SemiLight SemiCondensed" panose="020B0502040204020203" charset="0"/>
                <a:ea typeface="楷体" panose="02010609060101010101" pitchFamily="49" charset="-122"/>
              </a:rPr>
              <a:t>匹配的，所以</a:t>
            </a: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使用一个</a:t>
            </a:r>
            <a:r>
              <a:rPr lang="zh-CN" altLang="en-US" sz="2400" dirty="0">
                <a:solidFill>
                  <a:srgbClr val="FF0000"/>
                </a:solidFill>
                <a:latin typeface="Bahnschrift SemiLight SemiCondensed" panose="020B0502040204020203" charset="0"/>
                <a:ea typeface="楷体" panose="02010609060101010101" pitchFamily="49" charset="-122"/>
              </a:rPr>
              <a:t>栈</a:t>
            </a:r>
            <a:r>
              <a:rPr lang="zh-CN" altLang="en-US" sz="2400" dirty="0">
                <a:latin typeface="Bahnschrift SemiLight SemiCondensed" panose="020B0502040204020203" charset="0"/>
                <a:ea typeface="楷体" panose="02010609060101010101" pitchFamily="49" charset="-122"/>
              </a:rPr>
              <a:t>保存</a:t>
            </a:r>
            <a:r>
              <a:rPr lang="en-US" altLang="zh-CN" sz="2400" i="1" dirty="0">
                <a:latin typeface="Bahnschrift SemiLight SemiCondensed" panose="020B0502040204020203" charset="0"/>
                <a:ea typeface="楷体" panose="02010609060101010101" pitchFamily="49" charset="-122"/>
              </a:rPr>
              <a:t>N</a:t>
            </a:r>
            <a:endParaRPr lang="en-US" altLang="zh-CN" sz="2400" i="1" dirty="0">
              <a:latin typeface="Bahnschrift SemiLight SemiCondensed" panose="020B0502040204020203" charset="0"/>
              <a:ea typeface="楷体" panose="02010609060101010101" pitchFamily="49" charset="-122"/>
            </a:endParaRPr>
          </a:p>
        </p:txBody>
      </p:sp>
      <p:sp>
        <p:nvSpPr>
          <p:cNvPr id="48139" name="Text Box 16"/>
          <p:cNvSpPr txBox="1"/>
          <p:nvPr/>
        </p:nvSpPr>
        <p:spPr>
          <a:xfrm>
            <a:off x="4311650" y="2286000"/>
            <a:ext cx="358775" cy="46037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i="1" dirty="0">
                <a:solidFill>
                  <a:srgbClr val="0000CC"/>
                </a:solidFill>
                <a:latin typeface="Bahnschrift SemiLight SemiCondensed" panose="020B0502040204020203" charset="0"/>
                <a:ea typeface="宋体" panose="02010600030101010101" pitchFamily="2" charset="-122"/>
              </a:rPr>
              <a:t>L</a:t>
            </a:r>
            <a:endParaRPr lang="en-US" altLang="zh-CN" sz="2400" i="1" dirty="0">
              <a:solidFill>
                <a:srgbClr val="0000CC"/>
              </a:solidFill>
              <a:latin typeface="Bahnschrift SemiLight SemiCondensed" panose="020B0502040204020203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84" name="Text Box 4"/>
          <p:cNvSpPr txBox="1">
            <a:spLocks noChangeArrowheads="1"/>
          </p:cNvSpPr>
          <p:nvPr/>
        </p:nvSpPr>
        <p:spPr bwMode="auto">
          <a:xfrm>
            <a:off x="688340" y="981075"/>
            <a:ext cx="11131550" cy="5422265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7030A0"/>
            </a:solidFill>
            <a:miter lim="800000"/>
            <a:tailEnd type="none" w="med" len="lg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tIns="108000" bIns="14400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① </a:t>
            </a:r>
            <a:r>
              <a:rPr kumimoji="1" lang="zh-CN" altLang="en-US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noProof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</a:t>
            </a:r>
            <a:r>
              <a:rPr kumimoji="1" lang="en-US" altLang="zh-CN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=‘</a:t>
            </a:r>
            <a:r>
              <a:rPr kumimoji="1" lang="en-US" altLang="zh-CN" sz="2800" noProof="1" dirty="0" smtClean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</a:t>
            </a: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则将前面刚</a:t>
            </a:r>
            <a:r>
              <a:rPr kumimoji="1" lang="zh-CN" altLang="en-US" sz="2800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的结点作为双亲结点进栈，并</a:t>
            </a:r>
            <a:r>
              <a:rPr kumimoji="1" lang="zh-CN" altLang="en-US" sz="2800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置</a:t>
            </a:r>
            <a:r>
              <a:rPr kumimoji="1" lang="en-US" altLang="zh-CN" sz="2800" i="1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，表示开始处理左孩子结点；</a:t>
            </a:r>
            <a:endParaRPr kumimoji="1" lang="zh-CN" altLang="en-US" sz="2800" noProof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② 若</a:t>
            </a:r>
            <a:r>
              <a:rPr kumimoji="1" lang="en-US" altLang="zh-CN" sz="2800" noProof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</a:t>
            </a:r>
            <a:r>
              <a:rPr kumimoji="1" lang="en-US" altLang="zh-CN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=‘</a:t>
            </a:r>
            <a:r>
              <a:rPr kumimoji="1" lang="en-US" altLang="zh-CN" sz="2800" noProof="1" dirty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en-US" altLang="zh-CN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</a:t>
            </a:r>
            <a:r>
              <a:rPr kumimoji="1" lang="zh-CN" altLang="en-US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：表示</a:t>
            </a:r>
            <a:r>
              <a:rPr kumimoji="1" lang="zh-CN" altLang="en-US" sz="2800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栈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顶结点的</a:t>
            </a: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左、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右孩子结点处理完毕，退</a:t>
            </a:r>
            <a:r>
              <a:rPr kumimoji="1" lang="zh-CN" altLang="en-US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栈；</a:t>
            </a:r>
            <a:endParaRPr kumimoji="1" lang="zh-CN" altLang="en-US" sz="2800" noProof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③ 若</a:t>
            </a:r>
            <a:r>
              <a:rPr kumimoji="1" lang="en-US" altLang="zh-CN" sz="2800" noProof="1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=‘</a:t>
            </a:r>
            <a:r>
              <a:rPr kumimoji="1" lang="zh-CN" altLang="en-US" sz="2800" noProof="1" smtClean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’</a:t>
            </a:r>
            <a:r>
              <a:rPr kumimoji="1" lang="zh-CN" altLang="en-US" sz="2800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表示开始处理右孩子结点，置</a:t>
            </a:r>
            <a:r>
              <a:rPr kumimoji="1" lang="en-US" altLang="zh-CN" sz="2800" i="1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noProof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1" lang="en-US" altLang="zh-CN" sz="2800" noProof="1" dirty="0" smtClean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④ 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其他情况（</a:t>
            </a:r>
            <a:r>
              <a:rPr kumimoji="1" lang="zh-CN" altLang="en-US" sz="2800" noProof="1" smtClean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结点值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）：</a:t>
            </a:r>
            <a:endParaRPr kumimoji="1" lang="zh-CN" altLang="en-US" sz="2800" noProof="1" dirty="0" smtClean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　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　     创建*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结点用于</a:t>
            </a: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存放</a:t>
            </a:r>
            <a:r>
              <a:rPr kumimoji="1" lang="en-US" altLang="zh-CN" sz="2800" noProof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</a:t>
            </a: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1" lang="zh-CN" altLang="en-US" sz="2800" noProof="1" dirty="0" smtClean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当</a:t>
            </a:r>
            <a:r>
              <a:rPr kumimoji="1" lang="en-US" altLang="zh-CN" sz="2800" i="1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时，将*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结点作为栈顶结点的左孩子结点；</a:t>
            </a:r>
            <a:endParaRPr kumimoji="1" lang="zh-CN" altLang="en-US" sz="2800" noProof="1" dirty="0" smtClean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kumimoji="1" lang="zh-CN" altLang="en-US" sz="2800" noProof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kumimoji="1" lang="en-US" altLang="zh-CN" sz="2800" i="1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时，将*</a:t>
            </a:r>
            <a:r>
              <a:rPr kumimoji="1" lang="en-US" altLang="zh-CN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noProof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结点作为栈顶结点的右孩子结点。</a:t>
            </a:r>
            <a:endParaRPr kumimoji="1" lang="zh-CN" altLang="en-US" sz="2800" noProof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154" name="TextBox 10"/>
          <p:cNvSpPr txBox="1"/>
          <p:nvPr/>
        </p:nvSpPr>
        <p:spPr>
          <a:xfrm>
            <a:off x="1881505" y="323850"/>
            <a:ext cx="81127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用</a:t>
            </a:r>
            <a:r>
              <a:rPr lang="en-US" altLang="zh-CN" sz="28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ch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扫描采用括号表示法表示二叉树的字符串：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charRg st="5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charRg st="96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charRg st="131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charRg st="151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charRg st="172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>
                                            <p:txEl>
                                              <p:charRg st="210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" name="TextBox 101"/>
          <p:cNvSpPr txBox="1"/>
          <p:nvPr/>
        </p:nvSpPr>
        <p:spPr>
          <a:xfrm>
            <a:off x="7667625" y="2344738"/>
            <a:ext cx="428625" cy="676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667625" y="2344738"/>
            <a:ext cx="428625" cy="676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67625" y="2344738"/>
            <a:ext cx="428625" cy="676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0" name="Text Box 2"/>
          <p:cNvSpPr txBox="1"/>
          <p:nvPr/>
        </p:nvSpPr>
        <p:spPr>
          <a:xfrm>
            <a:off x="2422525" y="963613"/>
            <a:ext cx="4859338" cy="4302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 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D 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 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)  </a:t>
            </a:r>
            <a:r>
              <a:rPr lang="en-US" altLang="zh-CN" sz="2200">
                <a:latin typeface="Times New Roman" panose="02020603050405020304" pitchFamily="18" charset="0"/>
                <a:ea typeface="宋体" panose="02010600030101010101" pitchFamily="2" charset="-122"/>
              </a:rPr>
              <a:t>)  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C 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sz="22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200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2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 )  )</a:t>
            </a:r>
            <a:endParaRPr lang="en-US" altLang="zh-CN" sz="2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1" name="Line 3"/>
          <p:cNvSpPr>
            <a:spLocks noChangeShapeType="1"/>
          </p:cNvSpPr>
          <p:nvPr/>
        </p:nvSpPr>
        <p:spPr bwMode="auto">
          <a:xfrm flipV="1">
            <a:off x="2638425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0182" name="Line 4"/>
          <p:cNvSpPr/>
          <p:nvPr/>
        </p:nvSpPr>
        <p:spPr>
          <a:xfrm>
            <a:off x="8616950" y="2536825"/>
            <a:ext cx="0" cy="2879725"/>
          </a:xfrm>
          <a:prstGeom prst="line">
            <a:avLst/>
          </a:prstGeom>
          <a:ln w="3175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3" name="Line 5"/>
          <p:cNvSpPr/>
          <p:nvPr/>
        </p:nvSpPr>
        <p:spPr>
          <a:xfrm>
            <a:off x="10056813" y="2536825"/>
            <a:ext cx="0" cy="2879725"/>
          </a:xfrm>
          <a:prstGeom prst="line">
            <a:avLst/>
          </a:prstGeom>
          <a:ln w="3175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4" name="Line 6"/>
          <p:cNvSpPr/>
          <p:nvPr/>
        </p:nvSpPr>
        <p:spPr>
          <a:xfrm>
            <a:off x="8616950" y="5426075"/>
            <a:ext cx="1439863" cy="0"/>
          </a:xfrm>
          <a:prstGeom prst="line">
            <a:avLst/>
          </a:prstGeom>
          <a:ln w="31750" cap="flat" cmpd="sng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1975" name="Rectangle 7"/>
          <p:cNvSpPr>
            <a:spLocks noChangeArrowheads="1"/>
          </p:cNvSpPr>
          <p:nvPr/>
        </p:nvSpPr>
        <p:spPr bwMode="auto">
          <a:xfrm>
            <a:off x="8761413" y="4786313"/>
            <a:ext cx="1152525" cy="5762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/>
            <a:r>
              <a:rPr lang="en-US" altLang="zh-CN" i="1" strike="noStrike" noProof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en-US" altLang="zh-CN" i="1" strike="noStrike" noProof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1979" name="Rectangle 11"/>
          <p:cNvSpPr>
            <a:spLocks noChangeArrowheads="1"/>
          </p:cNvSpPr>
          <p:nvPr/>
        </p:nvSpPr>
        <p:spPr bwMode="auto">
          <a:xfrm>
            <a:off x="8761413" y="4144963"/>
            <a:ext cx="1152525" cy="5762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/>
            <a:r>
              <a:rPr lang="en-US" altLang="zh-CN" i="1" strike="noStrike" noProof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en-US" altLang="zh-CN" i="1" strike="noStrike" noProof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2014" name="Rectangle 46"/>
          <p:cNvSpPr>
            <a:spLocks noChangeArrowheads="1"/>
          </p:cNvSpPr>
          <p:nvPr/>
        </p:nvSpPr>
        <p:spPr bwMode="auto">
          <a:xfrm>
            <a:off x="8764588" y="3497263"/>
            <a:ext cx="1152525" cy="5762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/>
            <a:r>
              <a:rPr lang="en-US" altLang="zh-CN" i="1" strike="noStrike" noProof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en-US" altLang="zh-CN" i="1" strike="noStrike" noProof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2015" name="Rectangle 47"/>
          <p:cNvSpPr>
            <a:spLocks noChangeArrowheads="1"/>
          </p:cNvSpPr>
          <p:nvPr/>
        </p:nvSpPr>
        <p:spPr bwMode="auto">
          <a:xfrm>
            <a:off x="8764588" y="4144963"/>
            <a:ext cx="1152525" cy="5762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/>
            <a:r>
              <a:rPr lang="en-US" altLang="zh-CN" i="1" strike="noStrike" noProof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en-US" altLang="zh-CN" i="1" strike="noStrike" noProof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2016" name="Line 48"/>
          <p:cNvSpPr>
            <a:spLocks noChangeShapeType="1"/>
          </p:cNvSpPr>
          <p:nvPr/>
        </p:nvSpPr>
        <p:spPr bwMode="auto">
          <a:xfrm flipV="1">
            <a:off x="2881313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17" name="Line 49"/>
          <p:cNvSpPr>
            <a:spLocks noChangeShapeType="1"/>
          </p:cNvSpPr>
          <p:nvPr/>
        </p:nvSpPr>
        <p:spPr bwMode="auto">
          <a:xfrm flipV="1">
            <a:off x="3141663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18" name="Line 50"/>
          <p:cNvSpPr>
            <a:spLocks noChangeShapeType="1"/>
          </p:cNvSpPr>
          <p:nvPr/>
        </p:nvSpPr>
        <p:spPr bwMode="auto">
          <a:xfrm flipV="1">
            <a:off x="3309938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19" name="Line 51"/>
          <p:cNvSpPr>
            <a:spLocks noChangeShapeType="1"/>
          </p:cNvSpPr>
          <p:nvPr/>
        </p:nvSpPr>
        <p:spPr bwMode="auto">
          <a:xfrm flipV="1">
            <a:off x="3549650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0" name="Line 52"/>
          <p:cNvSpPr>
            <a:spLocks noChangeShapeType="1"/>
          </p:cNvSpPr>
          <p:nvPr/>
        </p:nvSpPr>
        <p:spPr bwMode="auto">
          <a:xfrm flipV="1">
            <a:off x="3771900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1" name="Line 53"/>
          <p:cNvSpPr>
            <a:spLocks noChangeShapeType="1"/>
          </p:cNvSpPr>
          <p:nvPr/>
        </p:nvSpPr>
        <p:spPr bwMode="auto">
          <a:xfrm flipV="1">
            <a:off x="3997325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2" name="Line 54"/>
          <p:cNvSpPr>
            <a:spLocks noChangeShapeType="1"/>
          </p:cNvSpPr>
          <p:nvPr/>
        </p:nvSpPr>
        <p:spPr bwMode="auto">
          <a:xfrm flipV="1">
            <a:off x="4354513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3" name="Line 55"/>
          <p:cNvSpPr>
            <a:spLocks noChangeShapeType="1"/>
          </p:cNvSpPr>
          <p:nvPr/>
        </p:nvSpPr>
        <p:spPr bwMode="auto">
          <a:xfrm flipV="1">
            <a:off x="4595813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4" name="Line 56"/>
          <p:cNvSpPr>
            <a:spLocks noChangeShapeType="1"/>
          </p:cNvSpPr>
          <p:nvPr/>
        </p:nvSpPr>
        <p:spPr bwMode="auto">
          <a:xfrm flipV="1">
            <a:off x="4881563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5" name="Line 57"/>
          <p:cNvSpPr>
            <a:spLocks noChangeShapeType="1"/>
          </p:cNvSpPr>
          <p:nvPr/>
        </p:nvSpPr>
        <p:spPr bwMode="auto">
          <a:xfrm flipV="1">
            <a:off x="5121275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6" name="Line 58"/>
          <p:cNvSpPr>
            <a:spLocks noChangeShapeType="1"/>
          </p:cNvSpPr>
          <p:nvPr/>
        </p:nvSpPr>
        <p:spPr bwMode="auto">
          <a:xfrm flipV="1">
            <a:off x="5510213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7" name="Line 59"/>
          <p:cNvSpPr>
            <a:spLocks noChangeShapeType="1"/>
          </p:cNvSpPr>
          <p:nvPr/>
        </p:nvSpPr>
        <p:spPr bwMode="auto">
          <a:xfrm flipV="1">
            <a:off x="5803900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8" name="Line 60"/>
          <p:cNvSpPr>
            <a:spLocks noChangeShapeType="1"/>
          </p:cNvSpPr>
          <p:nvPr/>
        </p:nvSpPr>
        <p:spPr bwMode="auto">
          <a:xfrm flipV="1">
            <a:off x="6096000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29" name="Line 61"/>
          <p:cNvSpPr>
            <a:spLocks noChangeShapeType="1"/>
          </p:cNvSpPr>
          <p:nvPr/>
        </p:nvSpPr>
        <p:spPr bwMode="auto">
          <a:xfrm flipV="1">
            <a:off x="6308725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30" name="Line 62"/>
          <p:cNvSpPr>
            <a:spLocks noChangeShapeType="1"/>
          </p:cNvSpPr>
          <p:nvPr/>
        </p:nvSpPr>
        <p:spPr bwMode="auto">
          <a:xfrm flipV="1">
            <a:off x="6684963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31" name="Line 63"/>
          <p:cNvSpPr>
            <a:spLocks noChangeShapeType="1"/>
          </p:cNvSpPr>
          <p:nvPr/>
        </p:nvSpPr>
        <p:spPr bwMode="auto">
          <a:xfrm flipV="1">
            <a:off x="6927850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212032" name="Line 64"/>
          <p:cNvSpPr>
            <a:spLocks noChangeShapeType="1"/>
          </p:cNvSpPr>
          <p:nvPr/>
        </p:nvSpPr>
        <p:spPr bwMode="auto">
          <a:xfrm flipV="1">
            <a:off x="7162800" y="1495425"/>
            <a:ext cx="0" cy="504825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0206" name="Text Box 65"/>
          <p:cNvSpPr txBox="1"/>
          <p:nvPr/>
        </p:nvSpPr>
        <p:spPr>
          <a:xfrm>
            <a:off x="387985" y="328930"/>
            <a:ext cx="8578215" cy="5219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　根据括号表示法字符串构造二叉链的演示</a:t>
            </a:r>
            <a:endParaRPr lang="zh-CN" altLang="en-US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2034" name="Text Box 66"/>
          <p:cNvSpPr txBox="1"/>
          <p:nvPr/>
        </p:nvSpPr>
        <p:spPr>
          <a:xfrm>
            <a:off x="4238625" y="5786438"/>
            <a:ext cx="2808288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二叉链创建完毕</a:t>
            </a:r>
            <a:endParaRPr lang="zh-CN" altLang="en-US" sz="2800" dirty="0">
              <a:solidFill>
                <a:srgbClr val="FF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组合 94"/>
          <p:cNvGrpSpPr/>
          <p:nvPr/>
        </p:nvGrpSpPr>
        <p:grpSpPr>
          <a:xfrm>
            <a:off x="3101975" y="3678238"/>
            <a:ext cx="1081088" cy="360362"/>
            <a:chOff x="1577950" y="3678230"/>
            <a:chExt cx="1081088" cy="360363"/>
          </a:xfrm>
        </p:grpSpPr>
        <p:sp>
          <p:nvSpPr>
            <p:cNvPr id="68" name="Rectangle 26"/>
            <p:cNvSpPr>
              <a:spLocks noChangeArrowheads="1"/>
            </p:cNvSpPr>
            <p:nvPr/>
          </p:nvSpPr>
          <p:spPr bwMode="auto">
            <a:xfrm>
              <a:off x="1577950" y="3678230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strike="noStrike" noProof="1"/>
            </a:p>
          </p:txBody>
        </p:sp>
        <p:sp>
          <p:nvSpPr>
            <p:cNvPr id="69" name="Rectangle 27"/>
            <p:cNvSpPr>
              <a:spLocks noChangeArrowheads="1"/>
            </p:cNvSpPr>
            <p:nvPr/>
          </p:nvSpPr>
          <p:spPr bwMode="auto">
            <a:xfrm>
              <a:off x="1938312" y="3678230"/>
              <a:ext cx="360363" cy="36036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000" i="1" strike="noStrike" noProof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000" i="1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28"/>
            <p:cNvSpPr>
              <a:spLocks noChangeArrowheads="1"/>
            </p:cNvSpPr>
            <p:nvPr/>
          </p:nvSpPr>
          <p:spPr bwMode="auto">
            <a:xfrm>
              <a:off x="2298675" y="3678230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/>
                <a:t>∧</a:t>
              </a:r>
              <a:endParaRPr lang="en-US" altLang="zh-CN" sz="1800" strike="noStrike" noProof="1" dirty="0"/>
            </a:p>
          </p:txBody>
        </p:sp>
      </p:grpSp>
      <p:grpSp>
        <p:nvGrpSpPr>
          <p:cNvPr id="3" name="组合 98"/>
          <p:cNvGrpSpPr/>
          <p:nvPr/>
        </p:nvGrpSpPr>
        <p:grpSpPr>
          <a:xfrm>
            <a:off x="2452688" y="4470400"/>
            <a:ext cx="1081087" cy="360363"/>
            <a:chOff x="928662" y="4470392"/>
            <a:chExt cx="1081088" cy="360363"/>
          </a:xfrm>
        </p:grpSpPr>
        <p:sp>
          <p:nvSpPr>
            <p:cNvPr id="71" name="Rectangle 29"/>
            <p:cNvSpPr>
              <a:spLocks noChangeArrowheads="1"/>
            </p:cNvSpPr>
            <p:nvPr/>
          </p:nvSpPr>
          <p:spPr bwMode="auto">
            <a:xfrm>
              <a:off x="928662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/>
                <a:t>∧</a:t>
              </a:r>
              <a:endParaRPr lang="en-US" altLang="zh-CN" sz="1800" strike="noStrike" noProof="1" dirty="0"/>
            </a:p>
          </p:txBody>
        </p:sp>
        <p:sp>
          <p:nvSpPr>
            <p:cNvPr id="72" name="Rectangle 30"/>
            <p:cNvSpPr>
              <a:spLocks noChangeArrowheads="1"/>
            </p:cNvSpPr>
            <p:nvPr/>
          </p:nvSpPr>
          <p:spPr bwMode="auto">
            <a:xfrm>
              <a:off x="1289025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0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000" i="1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31"/>
            <p:cNvSpPr>
              <a:spLocks noChangeArrowheads="1"/>
            </p:cNvSpPr>
            <p:nvPr/>
          </p:nvSpPr>
          <p:spPr bwMode="auto">
            <a:xfrm>
              <a:off x="1649387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strike="noStrike" noProof="1"/>
            </a:p>
          </p:txBody>
        </p:sp>
      </p:grpSp>
      <p:grpSp>
        <p:nvGrpSpPr>
          <p:cNvPr id="4" name="组合 99"/>
          <p:cNvGrpSpPr/>
          <p:nvPr/>
        </p:nvGrpSpPr>
        <p:grpSpPr>
          <a:xfrm>
            <a:off x="3317875" y="5191125"/>
            <a:ext cx="1081088" cy="360363"/>
            <a:chOff x="1793850" y="5191117"/>
            <a:chExt cx="1081088" cy="360363"/>
          </a:xfrm>
        </p:grpSpPr>
        <p:sp>
          <p:nvSpPr>
            <p:cNvPr id="74" name="Rectangle 32"/>
            <p:cNvSpPr>
              <a:spLocks noChangeArrowheads="1"/>
            </p:cNvSpPr>
            <p:nvPr/>
          </p:nvSpPr>
          <p:spPr bwMode="auto">
            <a:xfrm>
              <a:off x="1793850" y="5191117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/>
                <a:t>∧</a:t>
              </a:r>
              <a:endParaRPr lang="en-US" altLang="zh-CN" sz="1800" strike="noStrike" noProof="1" dirty="0"/>
            </a:p>
          </p:txBody>
        </p:sp>
        <p:sp>
          <p:nvSpPr>
            <p:cNvPr id="75" name="Rectangle 33"/>
            <p:cNvSpPr>
              <a:spLocks noChangeArrowheads="1"/>
            </p:cNvSpPr>
            <p:nvPr/>
          </p:nvSpPr>
          <p:spPr bwMode="auto">
            <a:xfrm>
              <a:off x="2154212" y="5191117"/>
              <a:ext cx="360363" cy="36036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000" i="1" strike="noStrike" noProof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2000" i="1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34"/>
            <p:cNvSpPr>
              <a:spLocks noChangeArrowheads="1"/>
            </p:cNvSpPr>
            <p:nvPr/>
          </p:nvSpPr>
          <p:spPr bwMode="auto">
            <a:xfrm>
              <a:off x="2514575" y="5191117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/>
                <a:t>∧</a:t>
              </a:r>
              <a:endParaRPr lang="en-US" altLang="zh-CN" sz="1800" strike="noStrike" noProof="1"/>
            </a:p>
          </p:txBody>
        </p:sp>
      </p:grpSp>
      <p:grpSp>
        <p:nvGrpSpPr>
          <p:cNvPr id="5" name="组合 95"/>
          <p:cNvGrpSpPr/>
          <p:nvPr/>
        </p:nvGrpSpPr>
        <p:grpSpPr>
          <a:xfrm>
            <a:off x="5334000" y="3679825"/>
            <a:ext cx="1081088" cy="360363"/>
            <a:chOff x="3809975" y="3679817"/>
            <a:chExt cx="1081088" cy="360363"/>
          </a:xfrm>
        </p:grpSpPr>
        <p:sp>
          <p:nvSpPr>
            <p:cNvPr id="77" name="Rectangle 35"/>
            <p:cNvSpPr>
              <a:spLocks noChangeArrowheads="1"/>
            </p:cNvSpPr>
            <p:nvPr/>
          </p:nvSpPr>
          <p:spPr bwMode="auto">
            <a:xfrm>
              <a:off x="3809975" y="3679817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strike="noStrike" noProof="1"/>
            </a:p>
          </p:txBody>
        </p:sp>
        <p:sp>
          <p:nvSpPr>
            <p:cNvPr id="78" name="Rectangle 36"/>
            <p:cNvSpPr>
              <a:spLocks noChangeArrowheads="1"/>
            </p:cNvSpPr>
            <p:nvPr/>
          </p:nvSpPr>
          <p:spPr bwMode="auto">
            <a:xfrm>
              <a:off x="4170337" y="3679817"/>
              <a:ext cx="360363" cy="36036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000" i="1" strike="noStrike" noProof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000" i="1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37"/>
            <p:cNvSpPr>
              <a:spLocks noChangeArrowheads="1"/>
            </p:cNvSpPr>
            <p:nvPr/>
          </p:nvSpPr>
          <p:spPr bwMode="auto">
            <a:xfrm>
              <a:off x="4530700" y="3679817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strike="noStrike" noProof="1"/>
            </a:p>
          </p:txBody>
        </p:sp>
      </p:grpSp>
      <p:grpSp>
        <p:nvGrpSpPr>
          <p:cNvPr id="6" name="组合 97"/>
          <p:cNvGrpSpPr/>
          <p:nvPr/>
        </p:nvGrpSpPr>
        <p:grpSpPr>
          <a:xfrm>
            <a:off x="4398963" y="4470400"/>
            <a:ext cx="1081087" cy="360363"/>
            <a:chOff x="2874937" y="4470392"/>
            <a:chExt cx="1081088" cy="360363"/>
          </a:xfrm>
        </p:grpSpPr>
        <p:sp>
          <p:nvSpPr>
            <p:cNvPr id="80" name="Rectangle 38"/>
            <p:cNvSpPr>
              <a:spLocks noChangeArrowheads="1"/>
            </p:cNvSpPr>
            <p:nvPr/>
          </p:nvSpPr>
          <p:spPr bwMode="auto">
            <a:xfrm>
              <a:off x="2874937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/>
                <a:t>∧</a:t>
              </a:r>
              <a:endParaRPr lang="en-US" altLang="zh-CN" sz="1800" strike="noStrike" noProof="1" dirty="0"/>
            </a:p>
          </p:txBody>
        </p:sp>
        <p:sp>
          <p:nvSpPr>
            <p:cNvPr id="81" name="Rectangle 39"/>
            <p:cNvSpPr>
              <a:spLocks noChangeArrowheads="1"/>
            </p:cNvSpPr>
            <p:nvPr/>
          </p:nvSpPr>
          <p:spPr bwMode="auto">
            <a:xfrm>
              <a:off x="3235300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000" i="1" strike="noStrike" noProof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000" i="1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40"/>
            <p:cNvSpPr>
              <a:spLocks noChangeArrowheads="1"/>
            </p:cNvSpPr>
            <p:nvPr/>
          </p:nvSpPr>
          <p:spPr bwMode="auto">
            <a:xfrm>
              <a:off x="3595662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/>
                <a:t>∧</a:t>
              </a:r>
              <a:endParaRPr lang="en-US" altLang="zh-CN" sz="1800" strike="noStrike" noProof="1" dirty="0"/>
            </a:p>
          </p:txBody>
        </p:sp>
      </p:grpSp>
      <p:grpSp>
        <p:nvGrpSpPr>
          <p:cNvPr id="7" name="组合 96"/>
          <p:cNvGrpSpPr/>
          <p:nvPr/>
        </p:nvGrpSpPr>
        <p:grpSpPr>
          <a:xfrm>
            <a:off x="6197600" y="4470400"/>
            <a:ext cx="1081088" cy="360363"/>
            <a:chOff x="4673575" y="4470392"/>
            <a:chExt cx="1081088" cy="360363"/>
          </a:xfrm>
        </p:grpSpPr>
        <p:sp>
          <p:nvSpPr>
            <p:cNvPr id="83" name="Rectangle 41"/>
            <p:cNvSpPr>
              <a:spLocks noChangeArrowheads="1"/>
            </p:cNvSpPr>
            <p:nvPr/>
          </p:nvSpPr>
          <p:spPr bwMode="auto">
            <a:xfrm>
              <a:off x="4673575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/>
                <a:t>∧</a:t>
              </a:r>
              <a:endParaRPr lang="en-US" altLang="zh-CN" sz="1800" strike="noStrike" noProof="1" dirty="0"/>
            </a:p>
          </p:txBody>
        </p:sp>
        <p:sp>
          <p:nvSpPr>
            <p:cNvPr id="84" name="Rectangle 42"/>
            <p:cNvSpPr>
              <a:spLocks noChangeArrowheads="1"/>
            </p:cNvSpPr>
            <p:nvPr/>
          </p:nvSpPr>
          <p:spPr bwMode="auto">
            <a:xfrm>
              <a:off x="5033937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0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000" i="1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43"/>
            <p:cNvSpPr>
              <a:spLocks noChangeArrowheads="1"/>
            </p:cNvSpPr>
            <p:nvPr/>
          </p:nvSpPr>
          <p:spPr bwMode="auto">
            <a:xfrm>
              <a:off x="5394300" y="4470392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/>
                <a:t>∧</a:t>
              </a:r>
              <a:endParaRPr lang="en-US" altLang="zh-CN" sz="1800" strike="noStrike" noProof="1"/>
            </a:p>
          </p:txBody>
        </p:sp>
      </p:grpSp>
      <p:sp>
        <p:nvSpPr>
          <p:cNvPr id="87" name="Line 45"/>
          <p:cNvSpPr/>
          <p:nvPr/>
        </p:nvSpPr>
        <p:spPr>
          <a:xfrm flipH="1">
            <a:off x="2886075" y="3822700"/>
            <a:ext cx="431800" cy="6477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Freeform 47"/>
          <p:cNvSpPr/>
          <p:nvPr/>
        </p:nvSpPr>
        <p:spPr>
          <a:xfrm>
            <a:off x="3330575" y="4662488"/>
            <a:ext cx="419100" cy="5286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64" y="333"/>
              </a:cxn>
            </a:cxnLst>
            <a:pathLst>
              <a:path w="264" h="333">
                <a:moveTo>
                  <a:pt x="0" y="0"/>
                </a:moveTo>
                <a:lnTo>
                  <a:pt x="264" y="333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90" name="Line 48"/>
          <p:cNvSpPr/>
          <p:nvPr/>
        </p:nvSpPr>
        <p:spPr>
          <a:xfrm flipH="1">
            <a:off x="4902200" y="3895725"/>
            <a:ext cx="647700" cy="5746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Line 49"/>
          <p:cNvSpPr/>
          <p:nvPr/>
        </p:nvSpPr>
        <p:spPr>
          <a:xfrm>
            <a:off x="6199188" y="3895725"/>
            <a:ext cx="503237" cy="5746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组合 109"/>
          <p:cNvGrpSpPr/>
          <p:nvPr/>
        </p:nvGrpSpPr>
        <p:grpSpPr>
          <a:xfrm>
            <a:off x="4252913" y="2887663"/>
            <a:ext cx="1081087" cy="360362"/>
            <a:chOff x="2728887" y="2887655"/>
            <a:chExt cx="1081088" cy="360363"/>
          </a:xfrm>
        </p:grpSpPr>
        <p:sp>
          <p:nvSpPr>
            <p:cNvPr id="65" name="Rectangle 23"/>
            <p:cNvSpPr>
              <a:spLocks noChangeArrowheads="1"/>
            </p:cNvSpPr>
            <p:nvPr/>
          </p:nvSpPr>
          <p:spPr bwMode="auto">
            <a:xfrm>
              <a:off x="2728887" y="2887655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strike="noStrike" noProof="1"/>
            </a:p>
          </p:txBody>
        </p:sp>
        <p:sp>
          <p:nvSpPr>
            <p:cNvPr id="66" name="Rectangle 24"/>
            <p:cNvSpPr>
              <a:spLocks noChangeArrowheads="1"/>
            </p:cNvSpPr>
            <p:nvPr/>
          </p:nvSpPr>
          <p:spPr bwMode="auto">
            <a:xfrm>
              <a:off x="3089250" y="2887655"/>
              <a:ext cx="360363" cy="36036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0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000" i="1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25"/>
            <p:cNvSpPr>
              <a:spLocks noChangeArrowheads="1"/>
            </p:cNvSpPr>
            <p:nvPr/>
          </p:nvSpPr>
          <p:spPr bwMode="auto">
            <a:xfrm>
              <a:off x="3449612" y="2887655"/>
              <a:ext cx="360363" cy="3603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strike="noStrike" noProof="1"/>
            </a:p>
          </p:txBody>
        </p:sp>
      </p:grpSp>
      <p:grpSp>
        <p:nvGrpSpPr>
          <p:cNvPr id="9" name="组合 110"/>
          <p:cNvGrpSpPr/>
          <p:nvPr/>
        </p:nvGrpSpPr>
        <p:grpSpPr>
          <a:xfrm>
            <a:off x="4637088" y="2286000"/>
            <a:ext cx="647700" cy="600075"/>
            <a:chOff x="3113062" y="2285992"/>
            <a:chExt cx="647700" cy="600075"/>
          </a:xfrm>
        </p:grpSpPr>
        <p:sp>
          <p:nvSpPr>
            <p:cNvPr id="50241" name="Line 50"/>
            <p:cNvSpPr/>
            <p:nvPr/>
          </p:nvSpPr>
          <p:spPr>
            <a:xfrm>
              <a:off x="3306737" y="2454267"/>
              <a:ext cx="0" cy="431800"/>
            </a:xfrm>
            <a:prstGeom prst="line">
              <a:avLst/>
            </a:prstGeom>
            <a:ln w="28575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42" name="Text Box 51"/>
            <p:cNvSpPr txBox="1"/>
            <p:nvPr/>
          </p:nvSpPr>
          <p:spPr>
            <a:xfrm>
              <a:off x="3113062" y="2285992"/>
              <a:ext cx="647700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243" name="TextBox 100"/>
          <p:cNvSpPr txBox="1"/>
          <p:nvPr/>
        </p:nvSpPr>
        <p:spPr>
          <a:xfrm>
            <a:off x="7096125" y="2357438"/>
            <a:ext cx="714375" cy="5540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3600" i="1" dirty="0"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244" name="TextBox 103"/>
          <p:cNvSpPr txBox="1"/>
          <p:nvPr/>
        </p:nvSpPr>
        <p:spPr>
          <a:xfrm>
            <a:off x="9024938" y="5572125"/>
            <a:ext cx="642937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栈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Line 44"/>
          <p:cNvSpPr/>
          <p:nvPr/>
        </p:nvSpPr>
        <p:spPr>
          <a:xfrm flipH="1">
            <a:off x="3822700" y="3103563"/>
            <a:ext cx="647700" cy="5762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667625" y="2344738"/>
            <a:ext cx="428625" cy="5540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" name="Line 46"/>
          <p:cNvSpPr/>
          <p:nvPr/>
        </p:nvSpPr>
        <p:spPr>
          <a:xfrm>
            <a:off x="5191125" y="3103563"/>
            <a:ext cx="647700" cy="5762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120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212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2120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2120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500"/>
                                        <p:tgtEl>
                                          <p:spTgt spid="2120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500"/>
                                        <p:tgtEl>
                                          <p:spTgt spid="2120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2120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6" dur="500"/>
                                        <p:tgtEl>
                                          <p:spTgt spid="2120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1" dur="500"/>
                                        <p:tgtEl>
                                          <p:spTgt spid="2120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9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2120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2" dur="500"/>
                                        <p:tgtEl>
                                          <p:spTgt spid="2120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500"/>
                                        <p:tgtEl>
                                          <p:spTgt spid="212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4" dur="500"/>
                                        <p:tgtEl>
                                          <p:spTgt spid="212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0" dur="500"/>
                                        <p:tgtEl>
                                          <p:spTgt spid="212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2" dur="500"/>
                                        <p:tgtEl>
                                          <p:spTgt spid="212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8" dur="500"/>
                                        <p:tgtEl>
                                          <p:spTgt spid="212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6" dur="500"/>
                                        <p:tgtEl>
                                          <p:spTgt spid="2120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1" dur="500"/>
                                        <p:tgtEl>
                                          <p:spTgt spid="212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9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ldLvl="0" animBg="1"/>
      <p:bldP spid="103" grpId="0" bldLvl="0" animBg="1"/>
      <p:bldP spid="107" grpId="0" bldLvl="0" animBg="1"/>
      <p:bldP spid="211971" grpId="0" bldLvl="0" animBg="1"/>
      <p:bldP spid="211971" grpId="1" bldLvl="0" animBg="1"/>
      <p:bldP spid="211975" grpId="0" bldLvl="0" animBg="1"/>
      <p:bldP spid="211975" grpId="1" bldLvl="0" animBg="1"/>
      <p:bldP spid="211979" grpId="0" bldLvl="0" animBg="1"/>
      <p:bldP spid="211979" grpId="1" bldLvl="0" animBg="1"/>
      <p:bldP spid="212014" grpId="0" bldLvl="0" animBg="1"/>
      <p:bldP spid="212014" grpId="1" bldLvl="0" animBg="1"/>
      <p:bldP spid="212015" grpId="0" bldLvl="0" animBg="1"/>
      <p:bldP spid="212015" grpId="1" bldLvl="0" animBg="1"/>
      <p:bldP spid="212016" grpId="0" bldLvl="0" animBg="1"/>
      <p:bldP spid="212016" grpId="1" bldLvl="0" animBg="1"/>
      <p:bldP spid="212017" grpId="0" bldLvl="0" animBg="1"/>
      <p:bldP spid="212017" grpId="1" bldLvl="0" animBg="1"/>
      <p:bldP spid="212018" grpId="0" bldLvl="0" animBg="1"/>
      <p:bldP spid="212018" grpId="1" bldLvl="0" animBg="1"/>
      <p:bldP spid="212019" grpId="0" bldLvl="0" animBg="1"/>
      <p:bldP spid="212019" grpId="1" bldLvl="0" animBg="1"/>
      <p:bldP spid="212020" grpId="0" bldLvl="0" animBg="1"/>
      <p:bldP spid="212020" grpId="1" bldLvl="0" animBg="1"/>
      <p:bldP spid="212021" grpId="0" bldLvl="0" animBg="1"/>
      <p:bldP spid="212021" grpId="1" bldLvl="0" animBg="1"/>
      <p:bldP spid="212022" grpId="0" bldLvl="0" animBg="1"/>
      <p:bldP spid="212022" grpId="1" bldLvl="0" animBg="1"/>
      <p:bldP spid="212023" grpId="0" bldLvl="0" animBg="1"/>
      <p:bldP spid="212023" grpId="1" bldLvl="0" animBg="1"/>
      <p:bldP spid="212024" grpId="0" bldLvl="0" animBg="1"/>
      <p:bldP spid="212024" grpId="1" bldLvl="0" animBg="1"/>
      <p:bldP spid="212025" grpId="0" bldLvl="0" animBg="1"/>
      <p:bldP spid="212025" grpId="1" bldLvl="0" animBg="1"/>
      <p:bldP spid="212026" grpId="0" bldLvl="0" animBg="1"/>
      <p:bldP spid="212026" grpId="1" bldLvl="0" animBg="1"/>
      <p:bldP spid="212027" grpId="0" bldLvl="0" animBg="1"/>
      <p:bldP spid="212027" grpId="1" bldLvl="0" animBg="1"/>
      <p:bldP spid="212028" grpId="0" bldLvl="0" animBg="1"/>
      <p:bldP spid="212028" grpId="1" bldLvl="0" animBg="1"/>
      <p:bldP spid="212029" grpId="0" bldLvl="0" animBg="1"/>
      <p:bldP spid="212029" grpId="1" bldLvl="0" animBg="1"/>
      <p:bldP spid="212030" grpId="0" bldLvl="0" animBg="1"/>
      <p:bldP spid="212030" grpId="1" bldLvl="0" animBg="1"/>
      <p:bldP spid="212031" grpId="0" bldLvl="0" animBg="1"/>
      <p:bldP spid="212031" grpId="1" bldLvl="0" animBg="1"/>
      <p:bldP spid="212032" grpId="0" bldLvl="0" animBg="1"/>
      <p:bldP spid="212034" grpId="0" bldLvl="0" animBg="1"/>
      <p:bldP spid="87" grpId="0" bldLvl="0" animBg="1"/>
      <p:bldP spid="89" grpId="0" bldLvl="0" animBg="1"/>
      <p:bldP spid="90" grpId="0" bldLvl="0" animBg="1"/>
      <p:bldP spid="91" grpId="0" bldLvl="0" animBg="1"/>
      <p:bldP spid="86" grpId="0" bldLvl="0" animBg="1"/>
      <p:bldP spid="109" grpId="0" bldLvl="0" animBg="1"/>
      <p:bldP spid="8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Text Box 2"/>
          <p:cNvSpPr txBox="1"/>
          <p:nvPr/>
        </p:nvSpPr>
        <p:spPr>
          <a:xfrm>
            <a:off x="1905000" y="714375"/>
            <a:ext cx="8405813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销毁二叉链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大问题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。则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-&gt;lchild)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销毁左子树，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 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-&gt;rchild)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销毁右子树：</a:t>
            </a:r>
            <a:r>
              <a:rPr lang="zh-CN" altLang="en-US" sz="240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两个小问题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562610" y="109855"/>
            <a:ext cx="6819900" cy="521970"/>
          </a:xfrm>
          <a:prstGeom prst="rect">
            <a:avLst/>
          </a:prstGeom>
          <a:solidFill>
            <a:schemeClr val="bg1"/>
          </a:solidFill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 fontAlgn="base">
              <a:spcBef>
                <a:spcPct val="50000"/>
              </a:spcBef>
            </a:pPr>
            <a:r>
              <a:rPr kumimoji="1" lang="zh-CN" altLang="en-US" sz="2800" strike="noStrike" noProof="1" dirty="0">
                <a:solidFill>
                  <a:srgbClr val="FF0000"/>
                </a:solidFill>
                <a:latin typeface="+mn-ea"/>
                <a:cs typeface="+mn-ea"/>
              </a:rPr>
              <a:t>（</a:t>
            </a:r>
            <a:r>
              <a:rPr kumimoji="1" lang="en-US" altLang="zh-CN" sz="2800" strike="noStrike" noProof="1">
                <a:solidFill>
                  <a:srgbClr val="FF0000"/>
                </a:solidFill>
                <a:latin typeface="+mn-ea"/>
                <a:cs typeface="+mn-ea"/>
              </a:rPr>
              <a:t>2</a:t>
            </a: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）销毁二叉链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DestroyBT(*b)</a:t>
            </a: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：</a:t>
            </a:r>
            <a:endParaRPr kumimoji="1" lang="zh-CN" altLang="en-US" sz="2800" strike="noStrike" noProof="1" dirty="0" smtClean="0">
              <a:solidFill>
                <a:srgbClr val="FF0000"/>
              </a:solidFill>
              <a:latin typeface="+mn-ea"/>
              <a:cs typeface="+mn-ea"/>
            </a:endParaRPr>
          </a:p>
        </p:txBody>
      </p:sp>
      <p:grpSp>
        <p:nvGrpSpPr>
          <p:cNvPr id="51203" name="组合 16"/>
          <p:cNvGrpSpPr/>
          <p:nvPr/>
        </p:nvGrpSpPr>
        <p:grpSpPr>
          <a:xfrm>
            <a:off x="3810000" y="1571625"/>
            <a:ext cx="3814763" cy="2765425"/>
            <a:chOff x="1857356" y="2143116"/>
            <a:chExt cx="3814762" cy="2765425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3390881" y="2600316"/>
              <a:ext cx="863600" cy="504825"/>
            </a:xfrm>
            <a:prstGeom prst="ellipse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400" i="1" strike="noStrike" noProof="1" dirty="0" smtClean="0">
                  <a:solidFill>
                    <a:srgbClr val="3333FF"/>
                  </a:solidFill>
                  <a:latin typeface="+mn-ea"/>
                  <a:cs typeface="Times New Roman" panose="02020603050405020304" pitchFamily="18" charset="0"/>
                </a:rPr>
                <a:t>N</a:t>
              </a:r>
              <a:endParaRPr lang="en-US" altLang="zh-CN" sz="2400" i="1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205" name="Arc 6"/>
            <p:cNvSpPr/>
            <p:nvPr/>
          </p:nvSpPr>
          <p:spPr>
            <a:xfrm>
              <a:off x="3178156" y="2351079"/>
              <a:ext cx="433387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33387" y="287338"/>
                </a:cxn>
                <a:cxn ang="0">
                  <a:pos x="0" y="287338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1206" name="AutoShape 7"/>
            <p:cNvSpPr/>
            <p:nvPr/>
          </p:nvSpPr>
          <p:spPr>
            <a:xfrm>
              <a:off x="2289156" y="3536941"/>
              <a:ext cx="1150937" cy="792163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207" name="AutoShape 8"/>
            <p:cNvSpPr/>
            <p:nvPr/>
          </p:nvSpPr>
          <p:spPr>
            <a:xfrm>
              <a:off x="4138593" y="3536941"/>
              <a:ext cx="1150937" cy="792163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208" name="Line 10"/>
            <p:cNvSpPr/>
            <p:nvPr/>
          </p:nvSpPr>
          <p:spPr>
            <a:xfrm flipH="1">
              <a:off x="2936856" y="3044816"/>
              <a:ext cx="647700" cy="649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09" name="Line 11"/>
            <p:cNvSpPr/>
            <p:nvPr/>
          </p:nvSpPr>
          <p:spPr>
            <a:xfrm>
              <a:off x="4100493" y="3032116"/>
              <a:ext cx="555645" cy="6111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10" name="Text Box 12"/>
            <p:cNvSpPr txBox="1"/>
            <p:nvPr/>
          </p:nvSpPr>
          <p:spPr>
            <a:xfrm>
              <a:off x="2649518" y="2143116"/>
              <a:ext cx="719137" cy="46037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211" name="Text Box 13"/>
            <p:cNvSpPr txBox="1"/>
            <p:nvPr/>
          </p:nvSpPr>
          <p:spPr>
            <a:xfrm>
              <a:off x="1857356" y="4448166"/>
              <a:ext cx="1727200" cy="46037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-&gt;lchild</a:t>
              </a:r>
              <a:endParaRPr lang="en-US" altLang="zh-CN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212" name="Text Box 14"/>
            <p:cNvSpPr txBox="1"/>
            <p:nvPr/>
          </p:nvSpPr>
          <p:spPr>
            <a:xfrm>
              <a:off x="3944918" y="4448166"/>
              <a:ext cx="1727200" cy="46037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-&gt;</a:t>
              </a:r>
              <a:r>
                <a:rPr lang="en-US" altLang="zh-CN" sz="24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rchild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10250" y="1643063"/>
            <a:ext cx="25003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：大问题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81188" y="3100388"/>
            <a:ext cx="2714625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&gt;lchild)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：小问题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67563" y="3071813"/>
            <a:ext cx="2786062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&gt;rchild)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：小问题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24063" y="4214813"/>
            <a:ext cx="36433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递归模型如下：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62050" y="4714875"/>
            <a:ext cx="10363200" cy="95408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44000" tIns="108000" rIns="144000" bIns="108000" rtlCol="0">
            <a:spAutoFit/>
          </a:bodyPr>
          <a:lstStyle/>
          <a:p>
            <a:pPr algn="l" fontAlgn="base"/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)  ≡  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不做任何事件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	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	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若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=NULL</a:t>
            </a:r>
            <a:endParaRPr lang="zh-CN" altLang="en-US" sz="2400" strike="noStrike" noProof="1" dirty="0" smtClean="0">
              <a:solidFill>
                <a:srgbClr val="3333FF"/>
              </a:solidFill>
              <a:latin typeface="+mn-ea"/>
              <a:cs typeface="+mn-ea"/>
            </a:endParaRPr>
          </a:p>
          <a:p>
            <a:pPr algn="l" fontAlgn="base"/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)  ≡   </a:t>
            </a:r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-&gt;</a:t>
            </a:r>
            <a:r>
              <a:rPr lang="en-US" altLang="zh-CN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l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child)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；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 </a:t>
            </a:r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-&gt;rchild)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；其他情况</a:t>
            </a:r>
            <a:r>
              <a:rPr lang="en-US" altLang="zh-CN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 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释放</a:t>
            </a:r>
            <a:r>
              <a:rPr lang="en-US" altLang="zh-CN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*</a:t>
            </a:r>
            <a:r>
              <a:rPr lang="en-US" altLang="zh-CN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结点</a:t>
            </a:r>
            <a:endParaRPr lang="zh-CN" altLang="en-US" sz="2400" strike="noStrike" noProof="1" dirty="0">
              <a:solidFill>
                <a:srgbClr val="3333FF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2"/>
          <p:cNvSpPr txBox="1"/>
          <p:nvPr/>
        </p:nvSpPr>
        <p:spPr>
          <a:xfrm>
            <a:off x="1905000" y="714375"/>
            <a:ext cx="8078788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在二叉树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中查找值为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的结点（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唯一）。找到后返回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其指针，否则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NULL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66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469900" y="142875"/>
            <a:ext cx="5802630" cy="521970"/>
          </a:xfrm>
          <a:prstGeom prst="rect">
            <a:avLst/>
          </a:prstGeom>
          <a:solidFill>
            <a:schemeClr val="bg1"/>
          </a:solidFill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 fontAlgn="base">
              <a:spcBef>
                <a:spcPct val="50000"/>
              </a:spcBef>
            </a:pP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（</a:t>
            </a:r>
            <a:r>
              <a:rPr kumimoji="1" lang="en-US" altLang="zh-CN" sz="2800" strike="noStrike" noProof="1" dirty="0" smtClean="0">
                <a:solidFill>
                  <a:srgbClr val="FF0000"/>
                </a:solidFill>
                <a:latin typeface="+mn-ea"/>
                <a:cs typeface="+mn-ea"/>
              </a:rPr>
              <a:t>3</a:t>
            </a: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）查找结点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FindNode</a:t>
            </a:r>
            <a:r>
              <a:rPr kumimoji="1" lang="en-US" altLang="zh-CN" sz="2800" strike="noStrike" noProof="1">
                <a:solidFill>
                  <a:srgbClr val="FF0000"/>
                </a:solidFill>
                <a:latin typeface="+mn-ea"/>
                <a:cs typeface="+mn-ea"/>
              </a:rPr>
              <a:t>(*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b</a:t>
            </a: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，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x</a:t>
            </a:r>
            <a:r>
              <a:rPr kumimoji="1" lang="en-US" altLang="zh-CN" sz="2800" strike="noStrike" noProof="1" dirty="0">
                <a:solidFill>
                  <a:srgbClr val="FF0000"/>
                </a:solidFill>
                <a:latin typeface="+mn-ea"/>
                <a:cs typeface="+mn-ea"/>
              </a:rPr>
              <a:t>)</a:t>
            </a:r>
            <a:endParaRPr kumimoji="1" lang="en-US" altLang="zh-CN" sz="2800" strike="noStrike" noProof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  <p:grpSp>
        <p:nvGrpSpPr>
          <p:cNvPr id="52227" name="组合 16"/>
          <p:cNvGrpSpPr/>
          <p:nvPr/>
        </p:nvGrpSpPr>
        <p:grpSpPr>
          <a:xfrm>
            <a:off x="3810000" y="1571625"/>
            <a:ext cx="3814763" cy="2765425"/>
            <a:chOff x="1857356" y="2143116"/>
            <a:chExt cx="3814762" cy="2765425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3390881" y="2600316"/>
              <a:ext cx="863600" cy="504825"/>
            </a:xfrm>
            <a:prstGeom prst="ellipse">
              <a:avLst/>
            </a:prstGeom>
            <a:ln>
              <a:tailEnd type="none" w="med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2400" i="1" strike="noStrike" noProof="1" dirty="0" smtClean="0">
                  <a:solidFill>
                    <a:srgbClr val="3333FF"/>
                  </a:solidFill>
                  <a:latin typeface="+mn-ea"/>
                  <a:cs typeface="Times New Roman" panose="02020603050405020304" pitchFamily="18" charset="0"/>
                </a:rPr>
                <a:t>N</a:t>
              </a:r>
              <a:endParaRPr lang="en-US" altLang="zh-CN" sz="2400" i="1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229" name="Arc 6"/>
            <p:cNvSpPr/>
            <p:nvPr/>
          </p:nvSpPr>
          <p:spPr>
            <a:xfrm>
              <a:off x="3178156" y="2351079"/>
              <a:ext cx="433387" cy="2873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33387" y="287338"/>
                </a:cxn>
                <a:cxn ang="0">
                  <a:pos x="0" y="287338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2230" name="AutoShape 7"/>
            <p:cNvSpPr/>
            <p:nvPr/>
          </p:nvSpPr>
          <p:spPr>
            <a:xfrm>
              <a:off x="2289156" y="3536941"/>
              <a:ext cx="1150937" cy="792163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231" name="AutoShape 8"/>
            <p:cNvSpPr/>
            <p:nvPr/>
          </p:nvSpPr>
          <p:spPr>
            <a:xfrm>
              <a:off x="4138593" y="3536941"/>
              <a:ext cx="1150937" cy="792163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232" name="Line 10"/>
            <p:cNvSpPr/>
            <p:nvPr/>
          </p:nvSpPr>
          <p:spPr>
            <a:xfrm flipH="1">
              <a:off x="2936856" y="3044816"/>
              <a:ext cx="647700" cy="649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33" name="Line 11"/>
            <p:cNvSpPr/>
            <p:nvPr/>
          </p:nvSpPr>
          <p:spPr>
            <a:xfrm>
              <a:off x="4100493" y="3032116"/>
              <a:ext cx="555645" cy="6111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34" name="Text Box 12"/>
            <p:cNvSpPr txBox="1"/>
            <p:nvPr/>
          </p:nvSpPr>
          <p:spPr>
            <a:xfrm>
              <a:off x="2649518" y="2143116"/>
              <a:ext cx="719137" cy="46037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endPara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235" name="Text Box 13"/>
            <p:cNvSpPr txBox="1"/>
            <p:nvPr/>
          </p:nvSpPr>
          <p:spPr>
            <a:xfrm>
              <a:off x="1857356" y="4448166"/>
              <a:ext cx="1727200" cy="46037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-&gt;lchild</a:t>
              </a:r>
              <a:endParaRPr lang="en-US" altLang="zh-CN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236" name="Text Box 14"/>
            <p:cNvSpPr txBox="1"/>
            <p:nvPr/>
          </p:nvSpPr>
          <p:spPr>
            <a:xfrm>
              <a:off x="3944918" y="4448166"/>
              <a:ext cx="1727200" cy="460375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-&gt;</a:t>
              </a:r>
              <a:r>
                <a:rPr lang="en-US" altLang="zh-CN" sz="24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rchild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10250" y="1643063"/>
            <a:ext cx="35083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：大问题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95438" y="3100388"/>
            <a:ext cx="3071812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&gt;lchild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：小问题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67563" y="3071813"/>
            <a:ext cx="3071812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&gt;rchild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：小问题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24063" y="4214813"/>
            <a:ext cx="36433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递归模型如下：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1713" y="4714875"/>
            <a:ext cx="10837863" cy="169227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pPr algn="l" fontAlgn="base"/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，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x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) = NULL		        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若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=NULL</a:t>
            </a:r>
            <a:endParaRPr lang="zh-CN" altLang="en-US" sz="2400" strike="noStrike" noProof="1" dirty="0" smtClean="0">
              <a:solidFill>
                <a:srgbClr val="3333FF"/>
              </a:solidFill>
              <a:latin typeface="+mn-ea"/>
              <a:cs typeface="+mn-ea"/>
            </a:endParaRPr>
          </a:p>
          <a:p>
            <a:pPr algn="l" fontAlgn="base"/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，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x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) = 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			        </a:t>
            </a:r>
            <a:r>
              <a:rPr lang="zh-CN" alt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若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-&gt;data==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x</a:t>
            </a:r>
            <a:endParaRPr lang="zh-CN" altLang="en-US" sz="2400" i="1" strike="noStrike" noProof="1" dirty="0" smtClean="0">
              <a:solidFill>
                <a:srgbClr val="3333FF"/>
              </a:solidFill>
              <a:latin typeface="+mn-ea"/>
              <a:cs typeface="+mn-ea"/>
            </a:endParaRPr>
          </a:p>
          <a:p>
            <a:pPr algn="l" fontAlgn="base"/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，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x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) =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 p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	                 </a:t>
            </a:r>
            <a:r>
              <a:rPr lang="zh-CN" alt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若在左子树中</a:t>
            </a:r>
            <a:r>
              <a:rPr lang="zh-CN" alt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找到了，即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p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=</a:t>
            </a:r>
            <a:r>
              <a:rPr lang="en-US" sz="2400" i="1" strike="noStrike" noProof="1" dirty="0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-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&gt;lchild，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x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)</a:t>
            </a:r>
            <a:r>
              <a:rPr lang="zh-CN" alt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且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p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!=NULL</a:t>
            </a:r>
            <a:endParaRPr lang="zh-CN" altLang="en-US" sz="2400" strike="noStrike" noProof="1" dirty="0" smtClean="0">
              <a:solidFill>
                <a:srgbClr val="3333FF"/>
              </a:solidFill>
              <a:latin typeface="+mn-ea"/>
              <a:cs typeface="+mn-ea"/>
            </a:endParaRPr>
          </a:p>
          <a:p>
            <a:pPr algn="l" fontAlgn="base"/>
            <a:r>
              <a:rPr lang="en-US" sz="2400" i="1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，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x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) = </a:t>
            </a:r>
            <a:r>
              <a:rPr lang="en-US" sz="2400" i="1" strike="noStrike" noProof="1" dirty="0" smtClean="0">
                <a:solidFill>
                  <a:srgbClr val="FF0000"/>
                </a:solidFill>
                <a:latin typeface="+mn-ea"/>
                <a:cs typeface="+mn-ea"/>
              </a:rPr>
              <a:t>f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(</a:t>
            </a:r>
            <a:r>
              <a:rPr lang="en-US" sz="2400" i="1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b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-</a:t>
            </a:r>
            <a:r>
              <a:rPr lang="en-US" sz="2400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&gt;rchild，</a:t>
            </a:r>
            <a:r>
              <a:rPr lang="en-US" sz="2400" i="1" strike="noStrike" noProof="1" smtClean="0">
                <a:solidFill>
                  <a:srgbClr val="3333FF"/>
                </a:solidFill>
                <a:latin typeface="+mn-ea"/>
                <a:cs typeface="+mn-ea"/>
              </a:rPr>
              <a:t>x</a:t>
            </a:r>
            <a:r>
              <a:rPr 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)		</a:t>
            </a:r>
            <a:r>
              <a:rPr lang="zh-CN" altLang="en-US" sz="2400" strike="noStrike" noProof="1" dirty="0" smtClean="0">
                <a:solidFill>
                  <a:srgbClr val="3333FF"/>
                </a:solidFill>
                <a:latin typeface="+mn-ea"/>
                <a:cs typeface="+mn-ea"/>
              </a:rPr>
              <a:t>其他情况</a:t>
            </a:r>
            <a:endParaRPr lang="zh-CN" altLang="en-US" sz="2400" strike="noStrike" noProof="1" dirty="0">
              <a:solidFill>
                <a:srgbClr val="3333FF"/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2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49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00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22">
                                            <p:txEl>
                                              <p:charRg st="2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22">
                                            <p:txEl>
                                              <p:charRg st="24" end="4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2">
                                            <p:txEl>
                                              <p:charRg st="49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2">
                                            <p:txEl>
                                              <p:charRg st="49" end="10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22">
                                            <p:txEl>
                                              <p:charRg st="100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22">
                                            <p:txEl>
                                              <p:charRg st="100" end="13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 animBg="1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Text Box 2"/>
          <p:cNvSpPr txBox="1">
            <a:spLocks noChangeArrowheads="1"/>
          </p:cNvSpPr>
          <p:nvPr/>
        </p:nvSpPr>
        <p:spPr bwMode="auto">
          <a:xfrm>
            <a:off x="2667000" y="2071688"/>
            <a:ext cx="6335713" cy="46561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252000" rIns="252000">
            <a:spAutoFit/>
          </a:bodyPr>
          <a:lstStyle/>
          <a:p>
            <a:pPr algn="l" fontAlgn="base">
              <a:spcBef>
                <a:spcPct val="50000"/>
              </a:spcBef>
            </a:pPr>
            <a:r>
              <a:rPr kumimoji="1" lang="en-US" altLang="zh-CN" sz="2800" strike="noStrike" noProof="1" dirty="0" err="1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*</a:t>
            </a:r>
            <a:r>
              <a:rPr kumimoji="1" lang="en-US" altLang="zh-CN" sz="2800" strike="noStrike" noProof="1" dirty="0" err="1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LchildNod</a:t>
            </a: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e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*p)</a:t>
            </a:r>
            <a:endParaRPr kumimoji="1" lang="en-US" altLang="zh-CN" sz="2800" strike="noStrike" noProof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{</a:t>
            </a:r>
            <a:endParaRPr kumimoji="1" lang="en-US" altLang="zh-CN" sz="2800" strike="noStrike" noProof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return p-&gt;</a:t>
            </a: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lchild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;</a:t>
            </a:r>
            <a:endParaRPr kumimoji="1" lang="en-US" altLang="zh-CN" sz="2800" strike="noStrike" noProof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}</a:t>
            </a:r>
            <a:endParaRPr kumimoji="1" lang="en-US" altLang="zh-CN" sz="2800" strike="noStrike" noProof="1" dirty="0" smtClean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endParaRPr kumimoji="1" lang="en-US" altLang="zh-CN" sz="2800" strike="noStrike" noProof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strike="noStrike" noProof="1" dirty="0" err="1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*</a:t>
            </a:r>
            <a:r>
              <a:rPr kumimoji="1" lang="en-US" altLang="zh-CN" sz="2800" strike="noStrike" noProof="1" dirty="0" err="1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RchildNode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*p)</a:t>
            </a:r>
            <a:endParaRPr kumimoji="1" lang="en-US" altLang="zh-CN" sz="2800" strike="noStrike" noProof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{</a:t>
            </a:r>
            <a:endParaRPr kumimoji="1" lang="en-US" altLang="zh-CN" sz="2800" strike="noStrike" noProof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     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return p-&gt;</a:t>
            </a: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rchild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;</a:t>
            </a:r>
            <a:endParaRPr kumimoji="1" lang="en-US" altLang="zh-CN" sz="2800" strike="noStrike" noProof="1" dirty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} </a:t>
            </a:r>
            <a:endParaRPr kumimoji="1" lang="en-US" altLang="zh-CN" sz="2800" strike="noStrike" noProof="1" dirty="0" smtClean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16067" name="Text Box 3"/>
          <p:cNvSpPr txBox="1">
            <a:spLocks noChangeArrowheads="1"/>
          </p:cNvSpPr>
          <p:nvPr/>
        </p:nvSpPr>
        <p:spPr bwMode="auto">
          <a:xfrm>
            <a:off x="347980" y="333375"/>
            <a:ext cx="9204325" cy="521970"/>
          </a:xfrm>
          <a:prstGeom prst="rect">
            <a:avLst/>
          </a:prstGeom>
          <a:solidFill>
            <a:schemeClr val="bg1"/>
          </a:solidFill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fontAlgn="base">
              <a:spcBef>
                <a:spcPct val="50000"/>
              </a:spcBef>
            </a:pP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（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4</a:t>
            </a: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）</a:t>
            </a:r>
            <a:r>
              <a:rPr kumimoji="1" lang="zh-CN" altLang="en-US" sz="2800" strike="noStrike" noProof="1">
                <a:solidFill>
                  <a:srgbClr val="FF0000"/>
                </a:solidFill>
                <a:latin typeface="+mn-ea"/>
                <a:cs typeface="+mn-ea"/>
              </a:rPr>
              <a:t>找</a:t>
            </a: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孩子结点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LchildNode(p</a:t>
            </a:r>
            <a:r>
              <a:rPr kumimoji="1" lang="en-US" altLang="zh-CN" sz="2800" strike="noStrike" noProof="1" dirty="0">
                <a:solidFill>
                  <a:srgbClr val="FF0000"/>
                </a:solidFill>
                <a:latin typeface="+mn-ea"/>
                <a:cs typeface="+mn-ea"/>
              </a:rPr>
              <a:t>)</a:t>
            </a:r>
            <a:r>
              <a:rPr kumimoji="1" lang="zh-CN" altLang="en-US" sz="2800" strike="noStrike" noProof="1" dirty="0">
                <a:solidFill>
                  <a:srgbClr val="FF0000"/>
                </a:solidFill>
                <a:latin typeface="+mn-ea"/>
                <a:cs typeface="+mn-ea"/>
              </a:rPr>
              <a:t>和</a:t>
            </a:r>
            <a:r>
              <a:rPr kumimoji="1" lang="en-US" altLang="zh-CN" sz="2800" strike="noStrike" noProof="1" dirty="0" err="1">
                <a:solidFill>
                  <a:srgbClr val="FF0000"/>
                </a:solidFill>
                <a:latin typeface="+mn-ea"/>
                <a:cs typeface="+mn-ea"/>
              </a:rPr>
              <a:t>RchildNode</a:t>
            </a:r>
            <a:r>
              <a:rPr kumimoji="1" lang="en-US" altLang="zh-CN" sz="2800" strike="noStrike" noProof="1" dirty="0">
                <a:solidFill>
                  <a:srgbClr val="FF0000"/>
                </a:solidFill>
                <a:latin typeface="+mn-ea"/>
                <a:cs typeface="+mn-ea"/>
              </a:rPr>
              <a:t>(p)</a:t>
            </a:r>
            <a:endParaRPr kumimoji="1" lang="en-US" altLang="zh-CN" sz="2800" strike="noStrike" noProof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53251" name="Text Box 4"/>
          <p:cNvSpPr txBox="1"/>
          <p:nvPr/>
        </p:nvSpPr>
        <p:spPr>
          <a:xfrm>
            <a:off x="2062163" y="1181100"/>
            <a:ext cx="73199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直接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结点的左孩子结点或右孩子结点的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指针。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1" name="Text Box 3"/>
          <p:cNvSpPr txBox="1">
            <a:spLocks noChangeArrowheads="1"/>
          </p:cNvSpPr>
          <p:nvPr/>
        </p:nvSpPr>
        <p:spPr bwMode="auto">
          <a:xfrm>
            <a:off x="818515" y="260350"/>
            <a:ext cx="6069965" cy="607695"/>
          </a:xfrm>
          <a:prstGeom prst="rect">
            <a:avLst/>
          </a:prstGeom>
          <a:solidFill>
            <a:schemeClr val="bg1"/>
          </a:solidFill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（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5</a:t>
            </a:r>
            <a:r>
              <a:rPr kumimoji="1" lang="zh-CN" altLang="en-US" sz="2800" strike="noStrike" noProof="1" smtClean="0">
                <a:solidFill>
                  <a:srgbClr val="FF0000"/>
                </a:solidFill>
                <a:latin typeface="+mn-ea"/>
                <a:cs typeface="+mn-ea"/>
              </a:rPr>
              <a:t>）</a:t>
            </a:r>
            <a:r>
              <a:rPr kumimoji="1" lang="zh-CN" altLang="en-US" sz="2800" strike="noStrike" noProof="1" dirty="0">
                <a:solidFill>
                  <a:srgbClr val="FF0000"/>
                </a:solidFill>
                <a:latin typeface="+mn-ea"/>
                <a:cs typeface="+mn-ea"/>
              </a:rPr>
              <a:t>求高度</a:t>
            </a:r>
            <a:r>
              <a:rPr kumimoji="1" lang="en-US" altLang="zh-CN" sz="2800" strike="noStrike" noProof="1" dirty="0" err="1">
                <a:solidFill>
                  <a:srgbClr val="FF0000"/>
                </a:solidFill>
                <a:latin typeface="+mn-ea"/>
                <a:cs typeface="+mn-ea"/>
              </a:rPr>
              <a:t>BTNodeDepth</a:t>
            </a:r>
            <a:r>
              <a:rPr kumimoji="1" lang="en-US" altLang="zh-CN" sz="2800" strike="noStrike" noProof="1" dirty="0">
                <a:solidFill>
                  <a:srgbClr val="FF0000"/>
                </a:solidFill>
                <a:latin typeface="+mn-ea"/>
                <a:cs typeface="+mn-ea"/>
              </a:rPr>
              <a:t>(*b)</a:t>
            </a:r>
            <a:endParaRPr kumimoji="1" lang="en-US" altLang="zh-CN" sz="2800" strike="noStrike" noProof="1" dirty="0">
              <a:solidFill>
                <a:srgbClr val="FF0000"/>
              </a:solidFill>
              <a:latin typeface="+mn-ea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106613" y="3856038"/>
            <a:ext cx="8372475" cy="2076450"/>
            <a:chOff x="582636" y="4286256"/>
            <a:chExt cx="8372475" cy="2077478"/>
          </a:xfrm>
        </p:grpSpPr>
        <p:sp>
          <p:nvSpPr>
            <p:cNvPr id="217090" name="Text Box 2"/>
            <p:cNvSpPr txBox="1">
              <a:spLocks noChangeArrowheads="1"/>
            </p:cNvSpPr>
            <p:nvPr/>
          </p:nvSpPr>
          <p:spPr bwMode="auto">
            <a:xfrm>
              <a:off x="727416" y="5076831"/>
              <a:ext cx="8227695" cy="1286903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lIns="144000" tIns="108000" rIns="144000" bIns="108000">
              <a:spAutoFit/>
            </a:bodyPr>
            <a:lstStyle/>
            <a:p>
              <a:pPr algn="just" fontAlgn="base"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en-US" altLang="zh-CN" sz="2400" i="1" strike="noStrike" noProof="1" dirty="0">
                  <a:solidFill>
                    <a:srgbClr val="FF0000"/>
                  </a:solidFill>
                  <a:latin typeface="+mn-ea"/>
                  <a:cs typeface="+mn-ea"/>
                </a:rPr>
                <a:t>f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(</a:t>
              </a:r>
              <a:r>
                <a:rPr kumimoji="1" lang="en-US" altLang="zh-CN" sz="2400" i="1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b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) = 0				     </a:t>
              </a:r>
              <a:r>
                <a:rPr kumimoji="1" lang="zh-CN" altLang="en-US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　　</a:t>
              </a:r>
              <a:r>
                <a:rPr kumimoji="1" lang="zh-CN" altLang="en-US" sz="2400" strike="noStrike" noProof="1" dirty="0" smtClean="0">
                  <a:solidFill>
                    <a:srgbClr val="3333FF"/>
                  </a:solidFill>
                  <a:latin typeface="+mn-ea"/>
                  <a:cs typeface="+mn-ea"/>
                </a:rPr>
                <a:t> </a:t>
              </a:r>
              <a:r>
                <a:rPr kumimoji="1" lang="zh-CN" altLang="en-US" sz="2400" i="1" strike="noStrike" noProof="1" dirty="0" smtClean="0">
                  <a:solidFill>
                    <a:srgbClr val="3333FF"/>
                  </a:solidFill>
                  <a:latin typeface="+mn-ea"/>
                  <a:cs typeface="+mn-ea"/>
                </a:rPr>
                <a:t> </a:t>
              </a:r>
              <a:r>
                <a:rPr kumimoji="1" lang="en-US" altLang="zh-CN" sz="2400" i="1" strike="noStrike" noProof="1" dirty="0" smtClean="0">
                  <a:solidFill>
                    <a:srgbClr val="3333FF"/>
                  </a:solidFill>
                  <a:latin typeface="+mn-ea"/>
                  <a:cs typeface="+mn-ea"/>
                </a:rPr>
                <a:t>b</a:t>
              </a:r>
              <a:r>
                <a:rPr kumimoji="1" lang="en-US" altLang="zh-CN" sz="2400" strike="noStrike" noProof="1" dirty="0" smtClean="0">
                  <a:solidFill>
                    <a:srgbClr val="3333FF"/>
                  </a:solidFill>
                  <a:latin typeface="+mn-ea"/>
                  <a:cs typeface="+mn-ea"/>
                </a:rPr>
                <a:t>=NULL</a:t>
              </a:r>
              <a:endParaRPr kumimoji="1" lang="en-US" altLang="zh-CN" sz="2400" strike="noStrike" noProof="1" dirty="0">
                <a:solidFill>
                  <a:srgbClr val="3333FF"/>
                </a:solidFill>
                <a:latin typeface="+mn-ea"/>
                <a:cs typeface="+mn-ea"/>
              </a:endParaRPr>
            </a:p>
            <a:p>
              <a:pPr algn="l" fontAlgn="base"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en-US" altLang="zh-CN" sz="2400" i="1" strike="noStrike" noProof="1" dirty="0">
                  <a:solidFill>
                    <a:srgbClr val="FF0000"/>
                  </a:solidFill>
                  <a:latin typeface="+mn-ea"/>
                  <a:cs typeface="+mn-ea"/>
                </a:rPr>
                <a:t>f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(</a:t>
              </a:r>
              <a:r>
                <a:rPr kumimoji="1" lang="en-US" altLang="zh-CN" sz="2400" i="1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b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) = MAX{</a:t>
              </a:r>
              <a:r>
                <a:rPr kumimoji="1" lang="en-US" altLang="zh-CN" sz="2400" i="1" strike="noStrike" noProof="1" dirty="0">
                  <a:solidFill>
                    <a:srgbClr val="FF0000"/>
                  </a:solidFill>
                  <a:latin typeface="+mn-ea"/>
                  <a:cs typeface="+mn-ea"/>
                </a:rPr>
                <a:t>f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(</a:t>
              </a:r>
              <a:r>
                <a:rPr kumimoji="1" lang="en-US" altLang="zh-CN" sz="2400" i="1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b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-&gt;</a:t>
              </a:r>
              <a:r>
                <a:rPr kumimoji="1" lang="en-US" altLang="zh-CN" sz="2400" strike="noStrike" noProof="1" err="1">
                  <a:solidFill>
                    <a:srgbClr val="3333FF"/>
                  </a:solidFill>
                  <a:latin typeface="+mn-ea"/>
                  <a:cs typeface="+mn-ea"/>
                </a:rPr>
                <a:t>lchild</a:t>
              </a:r>
              <a:r>
                <a:rPr kumimoji="1" lang="en-US" altLang="zh-CN" sz="2400" strike="noStrike" noProof="1" smtClean="0">
                  <a:solidFill>
                    <a:srgbClr val="3333FF"/>
                  </a:solidFill>
                  <a:latin typeface="+mn-ea"/>
                  <a:cs typeface="+mn-ea"/>
                </a:rPr>
                <a:t>)</a:t>
              </a:r>
              <a:r>
                <a:rPr kumimoji="1" lang="zh-CN" altLang="en-US" sz="2400" strike="noStrike" noProof="1" smtClean="0">
                  <a:solidFill>
                    <a:srgbClr val="3333FF"/>
                  </a:solidFill>
                  <a:latin typeface="+mn-ea"/>
                  <a:cs typeface="+mn-ea"/>
                </a:rPr>
                <a:t>，</a:t>
              </a:r>
              <a:r>
                <a:rPr kumimoji="1" lang="en-US" altLang="zh-CN" sz="2400" i="1" strike="noStrike" noProof="1" smtClean="0">
                  <a:solidFill>
                    <a:srgbClr val="FF0000"/>
                  </a:solidFill>
                  <a:latin typeface="+mn-ea"/>
                  <a:cs typeface="+mn-ea"/>
                </a:rPr>
                <a:t>f</a:t>
              </a:r>
              <a:r>
                <a:rPr kumimoji="1" lang="en-US" altLang="zh-CN" sz="2400" strike="noStrike" noProof="1" smtClean="0">
                  <a:solidFill>
                    <a:srgbClr val="3333FF"/>
                  </a:solidFill>
                  <a:latin typeface="+mn-ea"/>
                  <a:cs typeface="+mn-ea"/>
                </a:rPr>
                <a:t>(</a:t>
              </a:r>
              <a:r>
                <a:rPr kumimoji="1" lang="en-US" altLang="zh-CN" sz="2400" i="1" strike="noStrike" noProof="1" smtClean="0">
                  <a:solidFill>
                    <a:srgbClr val="3333FF"/>
                  </a:solidFill>
                  <a:latin typeface="+mn-ea"/>
                  <a:cs typeface="+mn-ea"/>
                </a:rPr>
                <a:t>b</a:t>
              </a:r>
              <a:r>
                <a:rPr kumimoji="1" lang="en-US" altLang="zh-CN" sz="2400" strike="noStrike" noProof="1" smtClean="0">
                  <a:solidFill>
                    <a:srgbClr val="3333FF"/>
                  </a:solidFill>
                  <a:latin typeface="+mn-ea"/>
                  <a:cs typeface="+mn-ea"/>
                </a:rPr>
                <a:t>-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&gt;</a:t>
              </a:r>
              <a:r>
                <a:rPr kumimoji="1" lang="en-US" altLang="zh-CN" sz="2400" strike="noStrike" noProof="1" dirty="0" err="1">
                  <a:solidFill>
                    <a:srgbClr val="3333FF"/>
                  </a:solidFill>
                  <a:latin typeface="+mn-ea"/>
                  <a:cs typeface="+mn-ea"/>
                </a:rPr>
                <a:t>rchild</a:t>
              </a:r>
              <a:r>
                <a:rPr kumimoji="1" lang="en-US" altLang="zh-CN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)}+1 </a:t>
              </a:r>
              <a:r>
                <a:rPr kumimoji="1" lang="zh-CN" altLang="en-US" sz="2400" strike="noStrike" noProof="1" dirty="0">
                  <a:solidFill>
                    <a:srgbClr val="3333FF"/>
                  </a:solidFill>
                  <a:latin typeface="+mn-ea"/>
                  <a:cs typeface="+mn-ea"/>
                </a:rPr>
                <a:t>其他情况</a:t>
              </a:r>
              <a:endParaRPr kumimoji="1" lang="zh-CN" altLang="en-US" sz="2400" strike="noStrike" noProof="1" dirty="0">
                <a:solidFill>
                  <a:srgbClr val="3333FF"/>
                </a:solidFill>
                <a:latin typeface="+mn-ea"/>
                <a:cs typeface="+mn-ea"/>
              </a:endParaRPr>
            </a:p>
          </p:txBody>
        </p:sp>
        <p:sp>
          <p:nvSpPr>
            <p:cNvPr id="54276" name="Text Box 4"/>
            <p:cNvSpPr txBox="1"/>
            <p:nvPr/>
          </p:nvSpPr>
          <p:spPr>
            <a:xfrm>
              <a:off x="582636" y="4286256"/>
              <a:ext cx="6769100" cy="65869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44000" tIns="108000" rIns="144000" bIns="108000" anchor="t" anchorCtr="0">
              <a:spAutoFit/>
            </a:bodyPr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求二叉树的高度的递归模型</a:t>
              </a:r>
              <a:r>
                <a: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f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如下：</a:t>
              </a:r>
              <a:endPara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17093" name="Oval 5"/>
          <p:cNvSpPr>
            <a:spLocks noChangeArrowheads="1"/>
          </p:cNvSpPr>
          <p:nvPr/>
        </p:nvSpPr>
        <p:spPr bwMode="auto">
          <a:xfrm>
            <a:off x="5230813" y="1538288"/>
            <a:ext cx="863600" cy="504825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400" i="1" strike="noStrike" noProof="1" dirty="0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N</a:t>
            </a:r>
            <a:endParaRPr lang="en-US" altLang="zh-CN" sz="2400" i="1" strike="noStrike" noProof="1" dirty="0" smtClean="0">
              <a:solidFill>
                <a:srgbClr val="3333FF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4278" name="Arc 6"/>
          <p:cNvSpPr/>
          <p:nvPr/>
        </p:nvSpPr>
        <p:spPr>
          <a:xfrm>
            <a:off x="4967288" y="1289050"/>
            <a:ext cx="433387" cy="2873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33387" y="287338"/>
              </a:cxn>
              <a:cxn ang="0">
                <a:pos x="0" y="287338"/>
              </a:cxn>
            </a:cxnLst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 cap="flat" cmpd="sng">
            <a:solidFill>
              <a:srgbClr val="CC00FF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54279" name="AutoShape 7"/>
          <p:cNvSpPr/>
          <p:nvPr/>
        </p:nvSpPr>
        <p:spPr>
          <a:xfrm>
            <a:off x="4078288" y="2474913"/>
            <a:ext cx="1150937" cy="792162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lg"/>
          </a:ln>
        </p:spPr>
        <p:txBody>
          <a:bodyPr wrap="none" anchor="ctr" anchorCtr="0"/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280" name="AutoShape 8"/>
          <p:cNvSpPr/>
          <p:nvPr/>
        </p:nvSpPr>
        <p:spPr>
          <a:xfrm>
            <a:off x="5927725" y="2462213"/>
            <a:ext cx="1150938" cy="792162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lg"/>
          </a:ln>
        </p:spPr>
        <p:txBody>
          <a:bodyPr wrap="none" anchor="ctr" anchorCtr="0"/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281" name="Line 10"/>
          <p:cNvSpPr/>
          <p:nvPr/>
        </p:nvSpPr>
        <p:spPr>
          <a:xfrm flipH="1">
            <a:off x="4713288" y="1970088"/>
            <a:ext cx="647700" cy="6492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282" name="Line 11"/>
          <p:cNvSpPr/>
          <p:nvPr/>
        </p:nvSpPr>
        <p:spPr>
          <a:xfrm>
            <a:off x="5927725" y="1995488"/>
            <a:ext cx="504825" cy="5762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283" name="Text Box 12"/>
          <p:cNvSpPr txBox="1"/>
          <p:nvPr/>
        </p:nvSpPr>
        <p:spPr>
          <a:xfrm>
            <a:off x="4438650" y="1081088"/>
            <a:ext cx="719138" cy="4603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i="1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en-US" altLang="zh-CN" sz="2400" i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284" name="Text Box 13"/>
          <p:cNvSpPr txBox="1"/>
          <p:nvPr/>
        </p:nvSpPr>
        <p:spPr>
          <a:xfrm>
            <a:off x="3868738" y="3386138"/>
            <a:ext cx="1727200" cy="4603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-&gt;lchild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285" name="Text Box 14"/>
          <p:cNvSpPr txBox="1"/>
          <p:nvPr/>
        </p:nvSpPr>
        <p:spPr>
          <a:xfrm>
            <a:off x="5734050" y="3386138"/>
            <a:ext cx="1727200" cy="460375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-&gt;rchild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53125" y="1143000"/>
            <a:ext cx="26892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：大问题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81813" y="2357438"/>
            <a:ext cx="2714625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-&gt;rchild)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：小问题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38313" y="2571750"/>
            <a:ext cx="2714625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i="1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-&gt;lchild)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：小问题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993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j-cs"/>
              </a:rPr>
              <a:t>二叉树的遍历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143364" name="Rectangle 4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树的遍历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就是按某种次序访问树中的所有结点，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               要求每个结点访问一次且仅访问一次。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遍历二叉树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三方面工作：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访问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根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结点记作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D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                                    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遍历根的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左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子树记作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L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                                    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遍历根的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右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子树记作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R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则可能的遍历次序有：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      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前序     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DLR   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镜像    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DRL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      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中序     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LDR   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镜像    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RDL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      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后序     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LRD   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镜像    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RLD</a:t>
            </a:r>
            <a:r>
              <a:rPr kumimoji="1" lang="en-US" altLang="zh-CN" sz="4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   </a:t>
            </a:r>
            <a:endParaRPr kumimoji="1" lang="en-US" altLang="zh-CN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1619250" y="4216400"/>
            <a:ext cx="2365375" cy="166528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>
              <a:spcBef>
                <a:spcPct val="10000"/>
              </a:spcBef>
              <a:buClrTx/>
              <a:buSzTx/>
              <a:defRPr/>
            </a:pPr>
            <a:r>
              <a:rPr kumimoji="1" lang="zh-CN" altLang="en-US" sz="32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前序     </a:t>
            </a:r>
            <a:r>
              <a:rPr kumimoji="1" lang="en-US" altLang="zh-CN" sz="32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DLR</a:t>
            </a:r>
            <a:endParaRPr kumimoji="1" lang="en-US" altLang="zh-CN" sz="3200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spcBef>
                <a:spcPct val="10000"/>
              </a:spcBef>
              <a:buClrTx/>
              <a:buSzTx/>
              <a:defRPr/>
            </a:pPr>
            <a:r>
              <a:rPr kumimoji="1" lang="zh-CN" altLang="en-US" sz="32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中序     </a:t>
            </a:r>
            <a:r>
              <a:rPr kumimoji="1" lang="en-US" altLang="zh-CN" sz="32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LDR</a:t>
            </a:r>
            <a:endParaRPr kumimoji="1" lang="en-US" altLang="zh-CN" sz="3200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spcBef>
                <a:spcPct val="10000"/>
              </a:spcBef>
              <a:buClrTx/>
              <a:buSzTx/>
              <a:defRPr/>
            </a:pPr>
            <a:r>
              <a:rPr kumimoji="1" lang="zh-CN" altLang="en-US" sz="32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后序     </a:t>
            </a:r>
            <a:r>
              <a:rPr kumimoji="1" lang="en-US" altLang="zh-CN" sz="32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LRD</a:t>
            </a:r>
            <a:endParaRPr kumimoji="1" lang="en-US" altLang="zh-CN" sz="3200" kern="1200" cap="none" spc="0" normalizeH="0" baseline="0" noProof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364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22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3364">
                                            <p:txEl>
                                              <p:charRg st="22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5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3364">
                                            <p:txEl>
                                              <p:charRg st="58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79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3364">
                                            <p:txEl>
                                              <p:charRg st="79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130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3364">
                                            <p:txEl>
                                              <p:charRg st="130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181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43364">
                                            <p:txEl>
                                              <p:charRg st="181" end="1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192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43364">
                                            <p:txEl>
                                              <p:charRg st="192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230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43364">
                                            <p:txEl>
                                              <p:charRg st="230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>
                                            <p:txEl>
                                              <p:charRg st="268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43364">
                                            <p:txEl>
                                              <p:charRg st="268" end="3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build="p"/>
      <p:bldP spid="143365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708" name="Rectangle 12"/>
          <p:cNvSpPr>
            <a:spLocks noGrp="1" noChangeArrowheads="1"/>
          </p:cNvSpPr>
          <p:nvPr>
            <p:ph idx="1"/>
          </p:nvPr>
        </p:nvSpPr>
        <p:spPr>
          <a:xfrm>
            <a:off x="909638" y="796925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隶书" panose="02010509060101010101" pitchFamily="49" charset="-122"/>
                <a:cs typeface="+mn-cs"/>
              </a:rPr>
              <a:t>前序遍历二叉树：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若二叉树非空，则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访问根结点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(D)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前序遍历左子树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(L)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前序遍历右子树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(R)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  <p:grpSp>
        <p:nvGrpSpPr>
          <p:cNvPr id="2" name="Group 46"/>
          <p:cNvGrpSpPr/>
          <p:nvPr/>
        </p:nvGrpSpPr>
        <p:grpSpPr>
          <a:xfrm>
            <a:off x="6626225" y="52388"/>
            <a:ext cx="3124200" cy="3098800"/>
            <a:chOff x="3312" y="1074"/>
            <a:chExt cx="2208" cy="1952"/>
          </a:xfrm>
        </p:grpSpPr>
        <p:grpSp>
          <p:nvGrpSpPr>
            <p:cNvPr id="56323" name="Group 38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56324" name="Line 4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5" name="Line 5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6" name="Line 6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7" name="Line 9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8" name="Line 10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6329" name="Line 11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5710" name="Oval 14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4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5712" name="Oval 16"/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5715" name="Oval 19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9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5716" name="Oval 20"/>
              <p:cNvSpPr>
                <a:spLocks noChangeArrowheads="1"/>
              </p:cNvSpPr>
              <p:nvPr/>
            </p:nvSpPr>
            <p:spPr bwMode="auto">
              <a:xfrm>
                <a:off x="4751" y="1632"/>
                <a:ext cx="337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5718" name="Oval 22"/>
              <p:cNvSpPr>
                <a:spLocks noChangeArrowheads="1"/>
              </p:cNvSpPr>
              <p:nvPr/>
            </p:nvSpPr>
            <p:spPr bwMode="auto">
              <a:xfrm>
                <a:off x="4656" y="268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5732" name="Oval 36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5733" name="Oval 37"/>
              <p:cNvSpPr>
                <a:spLocks noChangeArrowheads="1"/>
              </p:cNvSpPr>
              <p:nvPr/>
            </p:nvSpPr>
            <p:spPr bwMode="auto">
              <a:xfrm>
                <a:off x="5185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5735" name="Text Box 39"/>
            <p:cNvSpPr txBox="1">
              <a:spLocks noChangeArrowheads="1"/>
            </p:cNvSpPr>
            <p:nvPr/>
          </p:nvSpPr>
          <p:spPr bwMode="auto">
            <a:xfrm>
              <a:off x="3729" y="1602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285736" name="Text Box 40"/>
            <p:cNvSpPr txBox="1">
              <a:spLocks noChangeArrowheads="1"/>
            </p:cNvSpPr>
            <p:nvPr/>
          </p:nvSpPr>
          <p:spPr bwMode="auto">
            <a:xfrm>
              <a:off x="4258" y="1074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285737" name="Text Box 41"/>
            <p:cNvSpPr txBox="1">
              <a:spLocks noChangeArrowheads="1"/>
            </p:cNvSpPr>
            <p:nvPr/>
          </p:nvSpPr>
          <p:spPr bwMode="auto">
            <a:xfrm>
              <a:off x="3347" y="2130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285738" name="Text Box 42"/>
            <p:cNvSpPr txBox="1">
              <a:spLocks noChangeArrowheads="1"/>
            </p:cNvSpPr>
            <p:nvPr/>
          </p:nvSpPr>
          <p:spPr bwMode="auto">
            <a:xfrm>
              <a:off x="4025" y="2178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285739" name="Text Box 43"/>
            <p:cNvSpPr txBox="1">
              <a:spLocks noChangeArrowheads="1"/>
            </p:cNvSpPr>
            <p:nvPr/>
          </p:nvSpPr>
          <p:spPr bwMode="auto">
            <a:xfrm>
              <a:off x="4793" y="1602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285740" name="Text Box 44"/>
            <p:cNvSpPr txBox="1">
              <a:spLocks noChangeArrowheads="1"/>
            </p:cNvSpPr>
            <p:nvPr/>
          </p:nvSpPr>
          <p:spPr bwMode="auto">
            <a:xfrm>
              <a:off x="5216" y="2159"/>
              <a:ext cx="225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285741" name="Text Box 45"/>
            <p:cNvSpPr txBox="1">
              <a:spLocks noChangeArrowheads="1"/>
            </p:cNvSpPr>
            <p:nvPr/>
          </p:nvSpPr>
          <p:spPr bwMode="auto">
            <a:xfrm>
              <a:off x="4690" y="2658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285749" name="Text Box 53"/>
          <p:cNvSpPr txBox="1"/>
          <p:nvPr/>
        </p:nvSpPr>
        <p:spPr>
          <a:xfrm>
            <a:off x="5849938" y="3048000"/>
            <a:ext cx="4724400" cy="3659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preorder ( BTNode *t ) 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 t != NULL ) 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visite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preorder ( 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lchild 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preorder ( 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rchild 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50" name="Text Box 54"/>
          <p:cNvSpPr txBox="1"/>
          <p:nvPr/>
        </p:nvSpPr>
        <p:spPr>
          <a:xfrm>
            <a:off x="2209800" y="4260850"/>
            <a:ext cx="2744788" cy="1446213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前序遍历序列：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   L    R       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51" name="Text Box 55"/>
          <p:cNvSpPr txBox="1"/>
          <p:nvPr/>
        </p:nvSpPr>
        <p:spPr>
          <a:xfrm>
            <a:off x="2744788" y="5103813"/>
            <a:ext cx="10731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 d e</a:t>
            </a:r>
            <a:endParaRPr lang="en-US" altLang="zh-CN" sz="3200" i="1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5752" name="Text Box 56"/>
          <p:cNvSpPr txBox="1"/>
          <p:nvPr/>
        </p:nvSpPr>
        <p:spPr>
          <a:xfrm>
            <a:off x="3659188" y="5103813"/>
            <a:ext cx="90487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f g</a:t>
            </a:r>
            <a:endParaRPr lang="en-US" altLang="zh-CN" sz="3200" i="1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570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85708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>
                                            <p:txEl>
                                              <p:charRg st="1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85708">
                                            <p:txEl>
                                              <p:charRg st="1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85708">
                                            <p:txEl>
                                              <p:charRg st="28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8">
                                            <p:txEl>
                                              <p:charRg st="4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85708">
                                            <p:txEl>
                                              <p:charRg st="4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8575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0">
                                            <p:txEl>
                                              <p:charRg st="8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85750">
                                            <p:txEl>
                                              <p:charRg st="8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0">
                                            <p:txEl>
                                              <p:charRg st="31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85750">
                                            <p:txEl>
                                              <p:charRg st="31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8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8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85749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>
                                            <p:txEl>
                                              <p:charRg st="29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285749">
                                            <p:txEl>
                                              <p:charRg st="29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>
                                            <p:txEl>
                                              <p:charRg st="5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285749">
                                            <p:txEl>
                                              <p:charRg st="51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>
                                            <p:txEl>
                                              <p:charRg st="76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285749">
                                            <p:txEl>
                                              <p:charRg st="76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>
                                            <p:txEl>
                                              <p:charRg st="10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285749">
                                            <p:txEl>
                                              <p:charRg st="108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>
                                            <p:txEl>
                                              <p:charRg st="14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285749">
                                            <p:txEl>
                                              <p:charRg st="140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9">
                                            <p:txEl>
                                              <p:charRg st="146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285749">
                                            <p:txEl>
                                              <p:charRg st="146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8" grpId="0" build="p"/>
      <p:bldP spid="285749" grpId="0" build="p"/>
      <p:bldP spid="285750" grpId="0" build="p"/>
      <p:bldP spid="285751" grpId="0"/>
      <p:bldP spid="28575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8" name="Rectangle 2"/>
          <p:cNvSpPr>
            <a:spLocks noGrp="1" noChangeArrowheads="1"/>
          </p:cNvSpPr>
          <p:nvPr>
            <p:ph idx="1"/>
          </p:nvPr>
        </p:nvSpPr>
        <p:spPr>
          <a:xfrm>
            <a:off x="1808163" y="701675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隶书" panose="02010509060101010101" pitchFamily="49" charset="-122"/>
                <a:cs typeface="+mn-cs"/>
              </a:rPr>
              <a:t>中序遍历二叉树：</a:t>
            </a:r>
            <a:endParaRPr kumimoji="1" lang="zh-CN" altLang="en-US" sz="4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隶书" panose="020105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若二叉树非空，则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中序遍历左子树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(L)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访问根结点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(D)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中序遍历右子树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(R)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6897688" y="34925"/>
            <a:ext cx="3124200" cy="3098800"/>
            <a:chOff x="3312" y="1074"/>
            <a:chExt cx="2208" cy="1952"/>
          </a:xfrm>
        </p:grpSpPr>
        <p:grpSp>
          <p:nvGrpSpPr>
            <p:cNvPr id="57347" name="Group 4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57348" name="Line 5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349" name="Line 6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350" name="Line 7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351" name="Line 8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352" name="Line 9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353" name="Line 10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8347" name="Oval 11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4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8348" name="Oval 12"/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8349" name="Oval 13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9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8350" name="Oval 14"/>
              <p:cNvSpPr>
                <a:spLocks noChangeArrowheads="1"/>
              </p:cNvSpPr>
              <p:nvPr/>
            </p:nvSpPr>
            <p:spPr bwMode="auto">
              <a:xfrm>
                <a:off x="4751" y="1632"/>
                <a:ext cx="337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8351" name="Oval 15"/>
              <p:cNvSpPr>
                <a:spLocks noChangeArrowheads="1"/>
              </p:cNvSpPr>
              <p:nvPr/>
            </p:nvSpPr>
            <p:spPr bwMode="auto">
              <a:xfrm>
                <a:off x="4656" y="268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8352" name="Oval 16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8353" name="Oval 17"/>
              <p:cNvSpPr>
                <a:spLocks noChangeArrowheads="1"/>
              </p:cNvSpPr>
              <p:nvPr/>
            </p:nvSpPr>
            <p:spPr bwMode="auto">
              <a:xfrm>
                <a:off x="5185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98354" name="Text Box 18"/>
            <p:cNvSpPr txBox="1">
              <a:spLocks noChangeArrowheads="1"/>
            </p:cNvSpPr>
            <p:nvPr/>
          </p:nvSpPr>
          <p:spPr bwMode="auto">
            <a:xfrm>
              <a:off x="3729" y="1602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8355" name="Text Box 19"/>
            <p:cNvSpPr txBox="1">
              <a:spLocks noChangeArrowheads="1"/>
            </p:cNvSpPr>
            <p:nvPr/>
          </p:nvSpPr>
          <p:spPr bwMode="auto">
            <a:xfrm>
              <a:off x="4258" y="1074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8356" name="Text Box 20"/>
            <p:cNvSpPr txBox="1">
              <a:spLocks noChangeArrowheads="1"/>
            </p:cNvSpPr>
            <p:nvPr/>
          </p:nvSpPr>
          <p:spPr bwMode="auto">
            <a:xfrm>
              <a:off x="3347" y="2130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8357" name="Text Box 21"/>
            <p:cNvSpPr txBox="1">
              <a:spLocks noChangeArrowheads="1"/>
            </p:cNvSpPr>
            <p:nvPr/>
          </p:nvSpPr>
          <p:spPr bwMode="auto">
            <a:xfrm>
              <a:off x="4025" y="2178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8358" name="Text Box 22"/>
            <p:cNvSpPr txBox="1">
              <a:spLocks noChangeArrowheads="1"/>
            </p:cNvSpPr>
            <p:nvPr/>
          </p:nvSpPr>
          <p:spPr bwMode="auto">
            <a:xfrm>
              <a:off x="4793" y="1602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8359" name="Text Box 23"/>
            <p:cNvSpPr txBox="1">
              <a:spLocks noChangeArrowheads="1"/>
            </p:cNvSpPr>
            <p:nvPr/>
          </p:nvSpPr>
          <p:spPr bwMode="auto">
            <a:xfrm>
              <a:off x="5216" y="2159"/>
              <a:ext cx="225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8360" name="Text Box 24"/>
            <p:cNvSpPr txBox="1">
              <a:spLocks noChangeArrowheads="1"/>
            </p:cNvSpPr>
            <p:nvPr/>
          </p:nvSpPr>
          <p:spPr bwMode="auto">
            <a:xfrm>
              <a:off x="4690" y="2658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398364" name="Text Box 28"/>
          <p:cNvSpPr txBox="1"/>
          <p:nvPr/>
        </p:nvSpPr>
        <p:spPr>
          <a:xfrm>
            <a:off x="5778500" y="3048000"/>
            <a:ext cx="4724400" cy="3659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inorder ( BTNode *t ) 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 t != NULL ) 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inorder ( 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lchild 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32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visite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inorder ( 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rchild 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8365" name="Text Box 29"/>
          <p:cNvSpPr txBox="1"/>
          <p:nvPr/>
        </p:nvSpPr>
        <p:spPr>
          <a:xfrm>
            <a:off x="2209800" y="4260850"/>
            <a:ext cx="2744788" cy="1446213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中序遍历序列：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   D    R       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8366" name="Text Box 30"/>
          <p:cNvSpPr txBox="1"/>
          <p:nvPr/>
        </p:nvSpPr>
        <p:spPr>
          <a:xfrm>
            <a:off x="2365375" y="5133975"/>
            <a:ext cx="971550" cy="5826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b e</a:t>
            </a:r>
            <a:endParaRPr lang="en-US" altLang="zh-CN" sz="3200" i="1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8367" name="Text Box 31"/>
          <p:cNvSpPr txBox="1"/>
          <p:nvPr/>
        </p:nvSpPr>
        <p:spPr>
          <a:xfrm>
            <a:off x="3506788" y="5133975"/>
            <a:ext cx="904875" cy="5826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g f </a:t>
            </a:r>
            <a:endParaRPr lang="en-US" altLang="zh-CN" sz="3200" i="1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833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8338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98338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charRg st="3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98338">
                                            <p:txEl>
                                              <p:charRg st="3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charRg st="4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98338">
                                            <p:txEl>
                                              <p:charRg st="4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9836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>
                                            <p:txEl>
                                              <p:charRg st="8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398365">
                                            <p:txEl>
                                              <p:charRg st="8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>
                                            <p:txEl>
                                              <p:charRg st="3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398365">
                                            <p:txEl>
                                              <p:charRg st="31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39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39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398364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charRg st="28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398364">
                                            <p:txEl>
                                              <p:charRg st="28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charRg st="5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398364">
                                            <p:txEl>
                                              <p:charRg st="5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charRg st="81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398364">
                                            <p:txEl>
                                              <p:charRg st="81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charRg st="107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398364">
                                            <p:txEl>
                                              <p:charRg st="107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charRg st="138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398364">
                                            <p:txEl>
                                              <p:charRg st="138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>
                                            <p:txEl>
                                              <p:charRg st="144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398364">
                                            <p:txEl>
                                              <p:charRg st="144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build="p"/>
      <p:bldP spid="398364" grpId="0" build="p"/>
      <p:bldP spid="398365" grpId="0" build="p"/>
      <p:bldP spid="398366" grpId="0"/>
      <p:bldP spid="39836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62" name="Rectangle 2"/>
          <p:cNvSpPr>
            <a:spLocks noGrp="1" noChangeArrowheads="1"/>
          </p:cNvSpPr>
          <p:nvPr>
            <p:ph idx="1"/>
          </p:nvPr>
        </p:nvSpPr>
        <p:spPr>
          <a:xfrm>
            <a:off x="1765300" y="739775"/>
            <a:ext cx="82296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隶书" panose="02010509060101010101" pitchFamily="49" charset="-122"/>
                <a:cs typeface="+mn-cs"/>
              </a:rPr>
              <a:t>后序遍历二叉树：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若二叉树非空，则</a:t>
            </a:r>
            <a:endParaRPr kumimoji="1" lang="zh-CN" altLang="en-US" sz="28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后序遍历左子树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(L)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后序遍历右子树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(R)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访问根结点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仿宋_GB2312" pitchFamily="49" charset="-122"/>
                <a:cs typeface="+mn-cs"/>
              </a:rPr>
              <a:t>(D)</a:t>
            </a:r>
            <a:endParaRPr kumimoji="1" lang="en-US" altLang="zh-CN" sz="3700" b="1" i="1" u="none" strike="noStrike" kern="0" cap="none" spc="0" normalizeH="0" baseline="0" noProof="0" smtClean="0">
              <a:ln>
                <a:noFill/>
              </a:ln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仿宋_GB2312" pitchFamily="49" charset="-122"/>
              <a:cs typeface="+mn-cs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7043738" y="61913"/>
            <a:ext cx="3124200" cy="3098800"/>
            <a:chOff x="3312" y="1074"/>
            <a:chExt cx="2208" cy="1952"/>
          </a:xfrm>
        </p:grpSpPr>
        <p:grpSp>
          <p:nvGrpSpPr>
            <p:cNvPr id="58371" name="Group 4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58372" name="Line 5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8373" name="Line 6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8374" name="Line 7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8375" name="Line 8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8376" name="Line 9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8377" name="Line 10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371" name="Oval 11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4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2" name="Oval 12"/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3" name="Oval 13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9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4" name="Oval 14"/>
              <p:cNvSpPr>
                <a:spLocks noChangeArrowheads="1"/>
              </p:cNvSpPr>
              <p:nvPr/>
            </p:nvSpPr>
            <p:spPr bwMode="auto">
              <a:xfrm>
                <a:off x="4751" y="1632"/>
                <a:ext cx="337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5" name="Oval 15"/>
              <p:cNvSpPr>
                <a:spLocks noChangeArrowheads="1"/>
              </p:cNvSpPr>
              <p:nvPr/>
            </p:nvSpPr>
            <p:spPr bwMode="auto">
              <a:xfrm>
                <a:off x="4656" y="268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6" name="Oval 16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9377" name="Oval 17"/>
              <p:cNvSpPr>
                <a:spLocks noChangeArrowheads="1"/>
              </p:cNvSpPr>
              <p:nvPr/>
            </p:nvSpPr>
            <p:spPr bwMode="auto">
              <a:xfrm>
                <a:off x="5185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99378" name="Text Box 18"/>
            <p:cNvSpPr txBox="1">
              <a:spLocks noChangeArrowheads="1"/>
            </p:cNvSpPr>
            <p:nvPr/>
          </p:nvSpPr>
          <p:spPr bwMode="auto">
            <a:xfrm>
              <a:off x="3729" y="1602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9379" name="Text Box 19"/>
            <p:cNvSpPr txBox="1">
              <a:spLocks noChangeArrowheads="1"/>
            </p:cNvSpPr>
            <p:nvPr/>
          </p:nvSpPr>
          <p:spPr bwMode="auto">
            <a:xfrm>
              <a:off x="4258" y="1074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9380" name="Text Box 20"/>
            <p:cNvSpPr txBox="1">
              <a:spLocks noChangeArrowheads="1"/>
            </p:cNvSpPr>
            <p:nvPr/>
          </p:nvSpPr>
          <p:spPr bwMode="auto">
            <a:xfrm>
              <a:off x="3347" y="2130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9381" name="Text Box 21"/>
            <p:cNvSpPr txBox="1">
              <a:spLocks noChangeArrowheads="1"/>
            </p:cNvSpPr>
            <p:nvPr/>
          </p:nvSpPr>
          <p:spPr bwMode="auto">
            <a:xfrm>
              <a:off x="4025" y="2178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9382" name="Text Box 22"/>
            <p:cNvSpPr txBox="1">
              <a:spLocks noChangeArrowheads="1"/>
            </p:cNvSpPr>
            <p:nvPr/>
          </p:nvSpPr>
          <p:spPr bwMode="auto">
            <a:xfrm>
              <a:off x="4793" y="1602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9383" name="Text Box 23"/>
            <p:cNvSpPr txBox="1">
              <a:spLocks noChangeArrowheads="1"/>
            </p:cNvSpPr>
            <p:nvPr/>
          </p:nvSpPr>
          <p:spPr bwMode="auto">
            <a:xfrm>
              <a:off x="5216" y="2159"/>
              <a:ext cx="225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99384" name="Text Box 24"/>
            <p:cNvSpPr txBox="1">
              <a:spLocks noChangeArrowheads="1"/>
            </p:cNvSpPr>
            <p:nvPr/>
          </p:nvSpPr>
          <p:spPr bwMode="auto">
            <a:xfrm>
              <a:off x="4690" y="2658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399385" name="Text Box 25"/>
          <p:cNvSpPr txBox="1"/>
          <p:nvPr/>
        </p:nvSpPr>
        <p:spPr>
          <a:xfrm>
            <a:off x="2209800" y="4184650"/>
            <a:ext cx="2744788" cy="1446213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后序遍历序列：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   R    D       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86" name="Text Box 26"/>
          <p:cNvSpPr txBox="1"/>
          <p:nvPr/>
        </p:nvSpPr>
        <p:spPr>
          <a:xfrm>
            <a:off x="2211388" y="5103813"/>
            <a:ext cx="9715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e b</a:t>
            </a:r>
            <a:endParaRPr lang="en-US" altLang="zh-CN" sz="3200" i="1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87" name="Text Box 27"/>
          <p:cNvSpPr txBox="1"/>
          <p:nvPr/>
        </p:nvSpPr>
        <p:spPr>
          <a:xfrm>
            <a:off x="3049588" y="5027613"/>
            <a:ext cx="90487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 f c</a:t>
            </a:r>
            <a:endParaRPr lang="en-US" altLang="zh-CN" sz="3200" i="1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88" name="Text Box 28"/>
          <p:cNvSpPr txBox="1"/>
          <p:nvPr/>
        </p:nvSpPr>
        <p:spPr>
          <a:xfrm>
            <a:off x="5778500" y="3048000"/>
            <a:ext cx="4953000" cy="3659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postorder ( BTNode *t ) 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 t != NULL ) 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postorder ( 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lchild 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postorder ( 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rchild 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320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visite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="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-&gt;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data)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936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9362">
                                            <p:txEl>
                                              <p:charRg st="9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99362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charRg st="3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99362">
                                            <p:txEl>
                                              <p:charRg st="3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>
                                            <p:txEl>
                                              <p:charRg st="4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99362">
                                            <p:txEl>
                                              <p:charRg st="42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9938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5">
                                            <p:txEl>
                                              <p:charRg st="8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399385">
                                            <p:txEl>
                                              <p:charRg st="8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5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399385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39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39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39938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8">
                                            <p:txEl>
                                              <p:charRg st="3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399388">
                                            <p:txEl>
                                              <p:charRg st="30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8">
                                            <p:txEl>
                                              <p:charRg st="52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399388">
                                            <p:txEl>
                                              <p:charRg st="52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8">
                                            <p:txEl>
                                              <p:charRg st="84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399388">
                                            <p:txEl>
                                              <p:charRg st="84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8">
                                            <p:txEl>
                                              <p:charRg st="11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399388">
                                            <p:txEl>
                                              <p:charRg st="117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8">
                                            <p:txEl>
                                              <p:charRg st="143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399388">
                                            <p:txEl>
                                              <p:charRg st="143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8">
                                            <p:txEl>
                                              <p:charRg st="150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399388">
                                            <p:txEl>
                                              <p:charRg st="150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 build="p"/>
      <p:bldP spid="399385" grpId="0" build="p"/>
      <p:bldP spid="399386" grpId="0"/>
      <p:bldP spid="399387" grpId="0"/>
      <p:bldP spid="399388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2020" name="Rectangle 4"/>
          <p:cNvSpPr>
            <a:spLocks noChangeArrowheads="1"/>
          </p:cNvSpPr>
          <p:nvPr/>
        </p:nvSpPr>
        <p:spPr bwMode="auto">
          <a:xfrm>
            <a:off x="3103563" y="317500"/>
            <a:ext cx="5799138" cy="70802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在二叉树中查找指定结点</a:t>
            </a:r>
            <a:endParaRPr kumimoji="1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  <a:sym typeface="+mn-ea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981200" y="1446213"/>
            <a:ext cx="3124200" cy="3098800"/>
            <a:chOff x="3312" y="1074"/>
            <a:chExt cx="2208" cy="1952"/>
          </a:xfrm>
        </p:grpSpPr>
        <p:grpSp>
          <p:nvGrpSpPr>
            <p:cNvPr id="59395" name="Group 7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59396" name="Line 8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397" name="Line 9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398" name="Line 10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399" name="Line 11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0" name="Line 12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9401" name="Line 13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2030" name="Oval 14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4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2031" name="Oval 15"/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2032" name="Oval 16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9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2033" name="Oval 17"/>
              <p:cNvSpPr>
                <a:spLocks noChangeArrowheads="1"/>
              </p:cNvSpPr>
              <p:nvPr/>
            </p:nvSpPr>
            <p:spPr bwMode="auto">
              <a:xfrm>
                <a:off x="4751" y="1632"/>
                <a:ext cx="337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2034" name="Oval 18"/>
              <p:cNvSpPr>
                <a:spLocks noChangeArrowheads="1"/>
              </p:cNvSpPr>
              <p:nvPr/>
            </p:nvSpPr>
            <p:spPr bwMode="auto">
              <a:xfrm>
                <a:off x="4656" y="268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2035" name="Oval 19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2036" name="Oval 20"/>
              <p:cNvSpPr>
                <a:spLocks noChangeArrowheads="1"/>
              </p:cNvSpPr>
              <p:nvPr/>
            </p:nvSpPr>
            <p:spPr bwMode="auto">
              <a:xfrm>
                <a:off x="5185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42037" name="Text Box 21"/>
            <p:cNvSpPr txBox="1">
              <a:spLocks noChangeArrowheads="1"/>
            </p:cNvSpPr>
            <p:nvPr/>
          </p:nvSpPr>
          <p:spPr bwMode="auto">
            <a:xfrm>
              <a:off x="3729" y="1602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42038" name="Text Box 22"/>
            <p:cNvSpPr txBox="1">
              <a:spLocks noChangeArrowheads="1"/>
            </p:cNvSpPr>
            <p:nvPr/>
          </p:nvSpPr>
          <p:spPr bwMode="auto">
            <a:xfrm>
              <a:off x="4258" y="1074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42039" name="Text Box 23"/>
            <p:cNvSpPr txBox="1">
              <a:spLocks noChangeArrowheads="1"/>
            </p:cNvSpPr>
            <p:nvPr/>
          </p:nvSpPr>
          <p:spPr bwMode="auto">
            <a:xfrm>
              <a:off x="3347" y="2130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42040" name="Text Box 24"/>
            <p:cNvSpPr txBox="1">
              <a:spLocks noChangeArrowheads="1"/>
            </p:cNvSpPr>
            <p:nvPr/>
          </p:nvSpPr>
          <p:spPr bwMode="auto">
            <a:xfrm>
              <a:off x="4025" y="2178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42041" name="Text Box 25"/>
            <p:cNvSpPr txBox="1">
              <a:spLocks noChangeArrowheads="1"/>
            </p:cNvSpPr>
            <p:nvPr/>
          </p:nvSpPr>
          <p:spPr bwMode="auto">
            <a:xfrm>
              <a:off x="4793" y="1602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42042" name="Text Box 26"/>
            <p:cNvSpPr txBox="1">
              <a:spLocks noChangeArrowheads="1"/>
            </p:cNvSpPr>
            <p:nvPr/>
          </p:nvSpPr>
          <p:spPr bwMode="auto">
            <a:xfrm>
              <a:off x="5216" y="2159"/>
              <a:ext cx="225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342043" name="Text Box 27"/>
            <p:cNvSpPr txBox="1">
              <a:spLocks noChangeArrowheads="1"/>
            </p:cNvSpPr>
            <p:nvPr/>
          </p:nvSpPr>
          <p:spPr bwMode="auto">
            <a:xfrm>
              <a:off x="4690" y="2658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342044" name="Text Box 28"/>
          <p:cNvSpPr txBox="1"/>
          <p:nvPr/>
        </p:nvSpPr>
        <p:spPr>
          <a:xfrm>
            <a:off x="1906588" y="4951413"/>
            <a:ext cx="32448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判断根是否？根是成功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2045" name="Text Box 29"/>
          <p:cNvSpPr txBox="1"/>
          <p:nvPr/>
        </p:nvSpPr>
        <p:spPr>
          <a:xfrm>
            <a:off x="1901825" y="5332413"/>
            <a:ext cx="293687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若不是，查找左子树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2046" name="Text Box 30"/>
          <p:cNvSpPr txBox="1"/>
          <p:nvPr/>
        </p:nvSpPr>
        <p:spPr>
          <a:xfrm>
            <a:off x="1898650" y="5713413"/>
            <a:ext cx="293687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若左无，查找右子树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2047" name="Text Box 31"/>
          <p:cNvSpPr txBox="1"/>
          <p:nvPr/>
        </p:nvSpPr>
        <p:spPr>
          <a:xfrm>
            <a:off x="3201988" y="1368425"/>
            <a:ext cx="744537" cy="7683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2048" name="Oval 32"/>
          <p:cNvSpPr/>
          <p:nvPr/>
        </p:nvSpPr>
        <p:spPr>
          <a:xfrm>
            <a:off x="1828800" y="2133600"/>
            <a:ext cx="1752600" cy="1981200"/>
          </a:xfrm>
          <a:prstGeom prst="ellipse">
            <a:avLst/>
          </a:pr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2049" name="Oval 33"/>
          <p:cNvSpPr/>
          <p:nvPr/>
        </p:nvSpPr>
        <p:spPr>
          <a:xfrm>
            <a:off x="3581400" y="2209800"/>
            <a:ext cx="1600200" cy="2590800"/>
          </a:xfrm>
          <a:prstGeom prst="ellipse">
            <a:avLst/>
          </a:pr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2050" name="Text Box 34"/>
          <p:cNvSpPr txBox="1"/>
          <p:nvPr/>
        </p:nvSpPr>
        <p:spPr>
          <a:xfrm>
            <a:off x="5154613" y="1274763"/>
            <a:ext cx="5730875" cy="483076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r>
              <a:rPr lang="en-US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find(BTNode *b, elemtype  x)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 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if(b==NULL)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return(NULL); 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空树*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en-US" altLang="en-US" sz="16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 (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b-&gt;data==x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return(b);   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查找成功*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en-US" altLang="en-US" sz="16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p=find(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b-&gt;lchild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,x);    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查找左子树*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en-US" altLang="en-US" sz="16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if(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p==NULL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p=find(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b-&gt;rchild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,x); 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en-US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查找右子树*</a:t>
            </a:r>
            <a:r>
              <a: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en-US" altLang="en-US" sz="16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return(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);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8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2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2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34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4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4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34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4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 bldLvl="0" animBg="1"/>
      <p:bldP spid="342044" grpId="0"/>
      <p:bldP spid="342045" grpId="0"/>
      <p:bldP spid="342046" grpId="0"/>
      <p:bldP spid="342047" grpId="0"/>
      <p:bldP spid="342048" grpId="0" bldLvl="0" animBg="1"/>
      <p:bldP spid="342049" grpId="0" bldLvl="0" animBg="1"/>
      <p:bldP spid="34205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5" name="Text Box 3"/>
          <p:cNvSpPr txBox="1"/>
          <p:nvPr/>
        </p:nvSpPr>
        <p:spPr>
          <a:xfrm>
            <a:off x="5334000" y="1295400"/>
            <a:ext cx="4191000" cy="4937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leaf ( BTNode *b )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 b</a:t>
            </a:r>
            <a:r>
              <a:rPr lang="en-US" altLang="zh-CN" sz="3200" b="0" i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==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NULL )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return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if (</a:t>
            </a:r>
            <a:r>
              <a:rPr lang="en-US" altLang="zh-CN" sz="3200" b="0" dirty="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return 1;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nl=leaf( </a:t>
            </a:r>
            <a:r>
              <a:rPr lang="en-US" altLang="zh-CN" sz="3200" b="0" dirty="0">
                <a:latin typeface="Times New Roman" panose="02020603050405020304" pitchFamily="18" charset="0"/>
                <a:ea typeface="宋体" panose="02010600030101010101" pitchFamily="2" charset="-122"/>
              </a:rPr>
              <a:t>b-&gt;lchild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);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nr=leaf( </a:t>
            </a:r>
            <a:r>
              <a:rPr lang="en-US" altLang="zh-CN" sz="3200" b="0" dirty="0">
                <a:latin typeface="Times New Roman" panose="02020603050405020304" pitchFamily="18" charset="0"/>
                <a:ea typeface="宋体" panose="02010600030101010101" pitchFamily="2" charset="-122"/>
              </a:rPr>
              <a:t>b-&gt;rchild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);    </a:t>
            </a:r>
            <a:endParaRPr lang="en-US" altLang="zh-CN" sz="32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return</a:t>
            </a:r>
            <a:r>
              <a:rPr lang="en-US" altLang="zh-CN" sz="3200" b="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nl+nr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3200" b="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18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隶书" panose="02010509060101010101" pitchFamily="49" charset="-122"/>
                <a:cs typeface="+mj-cs"/>
              </a:rPr>
              <a:t>统计二叉树叶子结点的个数</a:t>
            </a:r>
            <a:endParaRPr kumimoji="1" lang="zh-CN" altLang="en-US" sz="5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仿宋_GB2312" pitchFamily="49" charset="-122"/>
              <a:cs typeface="+mj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981200" y="1751013"/>
            <a:ext cx="3124200" cy="3098800"/>
            <a:chOff x="3312" y="1074"/>
            <a:chExt cx="2208" cy="1952"/>
          </a:xfrm>
        </p:grpSpPr>
        <p:grpSp>
          <p:nvGrpSpPr>
            <p:cNvPr id="61444" name="Group 6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61445" name="Line 7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46" name="Line 8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47" name="Line 9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48" name="Line 10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49" name="Line 11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1450" name="Line 12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1565" name="Oval 13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4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1566" name="Oval 14"/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1567" name="Oval 15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9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1568" name="Oval 16"/>
              <p:cNvSpPr>
                <a:spLocks noChangeArrowheads="1"/>
              </p:cNvSpPr>
              <p:nvPr/>
            </p:nvSpPr>
            <p:spPr bwMode="auto">
              <a:xfrm>
                <a:off x="4751" y="1632"/>
                <a:ext cx="337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1569" name="Oval 17"/>
              <p:cNvSpPr>
                <a:spLocks noChangeArrowheads="1"/>
              </p:cNvSpPr>
              <p:nvPr/>
            </p:nvSpPr>
            <p:spPr bwMode="auto">
              <a:xfrm>
                <a:off x="4656" y="268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1570" name="Oval 18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1571" name="Oval 19"/>
              <p:cNvSpPr>
                <a:spLocks noChangeArrowheads="1"/>
              </p:cNvSpPr>
              <p:nvPr/>
            </p:nvSpPr>
            <p:spPr bwMode="auto">
              <a:xfrm>
                <a:off x="5185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51572" name="Text Box 20"/>
            <p:cNvSpPr txBox="1">
              <a:spLocks noChangeArrowheads="1"/>
            </p:cNvSpPr>
            <p:nvPr/>
          </p:nvSpPr>
          <p:spPr bwMode="auto">
            <a:xfrm>
              <a:off x="3729" y="1602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151573" name="Text Box 21"/>
            <p:cNvSpPr txBox="1">
              <a:spLocks noChangeArrowheads="1"/>
            </p:cNvSpPr>
            <p:nvPr/>
          </p:nvSpPr>
          <p:spPr bwMode="auto">
            <a:xfrm>
              <a:off x="4258" y="1074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151574" name="Text Box 22"/>
            <p:cNvSpPr txBox="1">
              <a:spLocks noChangeArrowheads="1"/>
            </p:cNvSpPr>
            <p:nvPr/>
          </p:nvSpPr>
          <p:spPr bwMode="auto">
            <a:xfrm>
              <a:off x="3347" y="2130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151575" name="Text Box 23"/>
            <p:cNvSpPr txBox="1">
              <a:spLocks noChangeArrowheads="1"/>
            </p:cNvSpPr>
            <p:nvPr/>
          </p:nvSpPr>
          <p:spPr bwMode="auto">
            <a:xfrm>
              <a:off x="4025" y="2178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151576" name="Text Box 24"/>
            <p:cNvSpPr txBox="1">
              <a:spLocks noChangeArrowheads="1"/>
            </p:cNvSpPr>
            <p:nvPr/>
          </p:nvSpPr>
          <p:spPr bwMode="auto">
            <a:xfrm>
              <a:off x="4793" y="1602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151577" name="Text Box 25"/>
            <p:cNvSpPr txBox="1">
              <a:spLocks noChangeArrowheads="1"/>
            </p:cNvSpPr>
            <p:nvPr/>
          </p:nvSpPr>
          <p:spPr bwMode="auto">
            <a:xfrm>
              <a:off x="5216" y="2159"/>
              <a:ext cx="225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151578" name="Text Box 26"/>
            <p:cNvSpPr txBox="1">
              <a:spLocks noChangeArrowheads="1"/>
            </p:cNvSpPr>
            <p:nvPr/>
          </p:nvSpPr>
          <p:spPr bwMode="auto">
            <a:xfrm>
              <a:off x="4690" y="2658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151579" name="Text Box 27"/>
          <p:cNvSpPr txBox="1"/>
          <p:nvPr/>
        </p:nvSpPr>
        <p:spPr>
          <a:xfrm>
            <a:off x="2663825" y="5180013"/>
            <a:ext cx="159702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空树：</a:t>
            </a:r>
            <a:r>
              <a:rPr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n=0</a:t>
            </a:r>
            <a:endParaRPr lang="en-US" altLang="zh-CN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0" name="Text Box 28"/>
          <p:cNvSpPr txBox="1"/>
          <p:nvPr/>
        </p:nvSpPr>
        <p:spPr>
          <a:xfrm>
            <a:off x="2052638" y="5561013"/>
            <a:ext cx="220980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根是叶子：</a:t>
            </a:r>
            <a:r>
              <a:rPr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n=1</a:t>
            </a:r>
            <a:endParaRPr lang="en-US" altLang="zh-CN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1" name="Text Box 29"/>
          <p:cNvSpPr txBox="1"/>
          <p:nvPr/>
        </p:nvSpPr>
        <p:spPr>
          <a:xfrm>
            <a:off x="2052638" y="6018213"/>
            <a:ext cx="279082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根是分支：</a:t>
            </a:r>
            <a:r>
              <a:rPr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n=nl+nr</a:t>
            </a:r>
            <a:endParaRPr lang="en-US" altLang="zh-CN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2" name="Text Box 30"/>
          <p:cNvSpPr txBox="1"/>
          <p:nvPr/>
        </p:nvSpPr>
        <p:spPr>
          <a:xfrm>
            <a:off x="6019800" y="4868863"/>
            <a:ext cx="4314825" cy="1568450"/>
          </a:xfrm>
          <a:prstGeom prst="rect">
            <a:avLst/>
          </a:prstGeom>
          <a:solidFill>
            <a:srgbClr val="FF99FF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统计二叉树结点的个数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统计二叉树分支结点的个数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统计二叉树度为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的结点个数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统计二叉树度为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的结点个数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4" name="Text Box 32"/>
          <p:cNvSpPr txBox="1"/>
          <p:nvPr/>
        </p:nvSpPr>
        <p:spPr>
          <a:xfrm>
            <a:off x="1752600" y="3808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5" name="Text Box 33"/>
          <p:cNvSpPr txBox="1"/>
          <p:nvPr/>
        </p:nvSpPr>
        <p:spPr>
          <a:xfrm>
            <a:off x="2286000" y="3808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6" name="Text Box 34"/>
          <p:cNvSpPr txBox="1"/>
          <p:nvPr/>
        </p:nvSpPr>
        <p:spPr>
          <a:xfrm>
            <a:off x="2743200" y="3808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7" name="Text Box 35"/>
          <p:cNvSpPr txBox="1"/>
          <p:nvPr/>
        </p:nvSpPr>
        <p:spPr>
          <a:xfrm>
            <a:off x="3276600" y="3808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8" name="Text Box 36"/>
          <p:cNvSpPr txBox="1"/>
          <p:nvPr/>
        </p:nvSpPr>
        <p:spPr>
          <a:xfrm>
            <a:off x="3657600" y="4570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89" name="Text Box 37"/>
          <p:cNvSpPr txBox="1"/>
          <p:nvPr/>
        </p:nvSpPr>
        <p:spPr>
          <a:xfrm>
            <a:off x="4267200" y="45704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0" name="Text Box 38"/>
          <p:cNvSpPr txBox="1"/>
          <p:nvPr/>
        </p:nvSpPr>
        <p:spPr>
          <a:xfrm>
            <a:off x="2286000" y="28940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1" name="Text Box 39"/>
          <p:cNvSpPr txBox="1"/>
          <p:nvPr/>
        </p:nvSpPr>
        <p:spPr>
          <a:xfrm>
            <a:off x="2895600" y="28940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2" name="Text Box 40"/>
          <p:cNvSpPr txBox="1"/>
          <p:nvPr/>
        </p:nvSpPr>
        <p:spPr>
          <a:xfrm>
            <a:off x="4419600" y="36560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3" name="Text Box 41"/>
          <p:cNvSpPr txBox="1"/>
          <p:nvPr/>
        </p:nvSpPr>
        <p:spPr>
          <a:xfrm>
            <a:off x="4419600" y="28940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4" name="Text Box 42"/>
          <p:cNvSpPr txBox="1"/>
          <p:nvPr/>
        </p:nvSpPr>
        <p:spPr>
          <a:xfrm>
            <a:off x="3657600" y="19796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5" name="Text Box 43"/>
          <p:cNvSpPr txBox="1"/>
          <p:nvPr/>
        </p:nvSpPr>
        <p:spPr>
          <a:xfrm>
            <a:off x="4953000" y="37322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6" name="Text Box 44"/>
          <p:cNvSpPr txBox="1"/>
          <p:nvPr/>
        </p:nvSpPr>
        <p:spPr>
          <a:xfrm>
            <a:off x="3810000" y="28940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7" name="Text Box 45"/>
          <p:cNvSpPr txBox="1"/>
          <p:nvPr/>
        </p:nvSpPr>
        <p:spPr>
          <a:xfrm>
            <a:off x="2971800" y="19796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98" name="Text Box 46"/>
          <p:cNvSpPr txBox="1"/>
          <p:nvPr/>
        </p:nvSpPr>
        <p:spPr>
          <a:xfrm>
            <a:off x="3352800" y="1446213"/>
            <a:ext cx="3365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5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5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1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1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1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1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1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1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1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1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1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1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1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1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1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1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1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1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51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51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51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51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1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51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51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2" dur="500"/>
                                        <p:tgtEl>
                                          <p:spTgt spid="15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/>
      <p:bldP spid="151579" grpId="0"/>
      <p:bldP spid="151580" grpId="0"/>
      <p:bldP spid="151581" grpId="0"/>
      <p:bldP spid="151582" grpId="0" bldLvl="0" animBg="1"/>
      <p:bldP spid="151584" grpId="0"/>
      <p:bldP spid="151585" grpId="0"/>
      <p:bldP spid="151586" grpId="0"/>
      <p:bldP spid="151587" grpId="0"/>
      <p:bldP spid="151588" grpId="0"/>
      <p:bldP spid="151589" grpId="0"/>
      <p:bldP spid="151590" grpId="0"/>
      <p:bldP spid="151591" grpId="0"/>
      <p:bldP spid="151592" grpId="0"/>
      <p:bldP spid="151593" grpId="0"/>
      <p:bldP spid="151594" grpId="0"/>
      <p:bldP spid="151595" grpId="0"/>
      <p:bldP spid="151596" grpId="0"/>
      <p:bldP spid="151597" grpId="0"/>
      <p:bldP spid="15159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Text Box 4"/>
          <p:cNvSpPr txBox="1"/>
          <p:nvPr/>
        </p:nvSpPr>
        <p:spPr>
          <a:xfrm>
            <a:off x="612775" y="322263"/>
            <a:ext cx="10733088" cy="9636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ts val="34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en-US" altLang="zh-CN" sz="28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8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8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7-13】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假设二叉树采用二叉链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存储结构，设计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一个算法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Level()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求二叉树</a:t>
            </a:r>
            <a:r>
              <a:rPr lang="en-US" altLang="zh-CN" sz="2800" i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中值为</a:t>
            </a:r>
            <a:r>
              <a:rPr lang="en-US" altLang="zh-CN" sz="2800" i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的结点的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层次（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假设所有结点值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唯一）。</a:t>
            </a:r>
            <a:endParaRPr lang="zh-CN" altLang="en-US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822" name="Text Box 5"/>
          <p:cNvSpPr txBox="1"/>
          <p:nvPr/>
        </p:nvSpPr>
        <p:spPr>
          <a:xfrm>
            <a:off x="841375" y="1362075"/>
            <a:ext cx="11041063" cy="2030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sz="28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解：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</a:t>
            </a: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Level(</a:t>
            </a:r>
            <a:r>
              <a:rPr lang="en-US" altLang="zh-CN" sz="2800" i="1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i="1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 i="1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en-US" altLang="zh-CN" sz="2800" dirty="0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返回二叉树</a:t>
            </a:r>
            <a:r>
              <a:rPr lang="en-US" altLang="zh-CN" sz="2800" i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data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2800" i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的结点的层次，其中</a:t>
            </a:r>
            <a:r>
              <a:rPr lang="en-US" altLang="zh-CN" sz="2800" i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en-US" altLang="zh-CN" sz="2800" i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所指结点的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层数。</a:t>
            </a:r>
            <a:endParaRPr lang="en-US" altLang="zh-CN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当在二叉树</a:t>
            </a:r>
            <a:r>
              <a:rPr lang="en-US" altLang="zh-CN" sz="2800" i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中找到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data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值为</a:t>
            </a:r>
            <a:r>
              <a:rPr lang="en-US" altLang="zh-CN" sz="2800" i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的结点，返回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其层次（一个大于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的整数）；若</a:t>
            </a:r>
            <a:r>
              <a:rPr lang="zh-CN" altLang="en-US" sz="280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没有找到，返回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8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39"/>
          <p:cNvGrpSpPr/>
          <p:nvPr/>
        </p:nvGrpSpPr>
        <p:grpSpPr>
          <a:xfrm>
            <a:off x="2452688" y="3609975"/>
            <a:ext cx="7429500" cy="2317750"/>
            <a:chOff x="928662" y="3609399"/>
            <a:chExt cx="7429552" cy="2319025"/>
          </a:xfrm>
        </p:grpSpPr>
        <p:grpSp>
          <p:nvGrpSpPr>
            <p:cNvPr id="63492" name="组合 17"/>
            <p:cNvGrpSpPr/>
            <p:nvPr/>
          </p:nvGrpSpPr>
          <p:grpSpPr>
            <a:xfrm>
              <a:off x="928662" y="3609399"/>
              <a:ext cx="3357586" cy="2307726"/>
              <a:chOff x="2571736" y="1714488"/>
              <a:chExt cx="3357586" cy="2307726"/>
            </a:xfrm>
          </p:grpSpPr>
          <p:sp>
            <p:nvSpPr>
              <p:cNvPr id="63493" name="椭圆 16"/>
              <p:cNvSpPr/>
              <p:nvPr/>
            </p:nvSpPr>
            <p:spPr>
              <a:xfrm>
                <a:off x="3929058" y="2000240"/>
                <a:ext cx="571504" cy="428628"/>
              </a:xfrm>
              <a:prstGeom prst="ellipse">
                <a:avLst/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40" tIns="45720" rIns="91440" bIns="45720" anchor="t" anchorCtr="0"/>
              <a:p>
                <a:endParaRPr lang="zh-CN" altLang="en-US" sz="2400">
                  <a:solidFill>
                    <a:srgbClr val="0033CC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494" name="等腰三角形 17"/>
              <p:cNvSpPr/>
              <p:nvPr/>
            </p:nvSpPr>
            <p:spPr>
              <a:xfrm>
                <a:off x="2643174" y="2857496"/>
                <a:ext cx="1000132" cy="71438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40" tIns="45720" rIns="91440" bIns="45720" anchor="t" anchorCtr="0"/>
              <a:p>
                <a:endParaRPr lang="zh-CN" altLang="en-US" sz="2400">
                  <a:solidFill>
                    <a:srgbClr val="0033CC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495" name="等腰三角形 18"/>
              <p:cNvSpPr/>
              <p:nvPr/>
            </p:nvSpPr>
            <p:spPr>
              <a:xfrm>
                <a:off x="4714876" y="2857496"/>
                <a:ext cx="1000132" cy="714380"/>
              </a:xfrm>
              <a:prstGeom prst="triangle">
                <a:avLst>
                  <a:gd name="adj" fmla="val 50000"/>
                </a:avLst>
              </a:prstGeom>
              <a:solidFill>
                <a:srgbClr val="00B0F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40" tIns="45720" rIns="91440" bIns="45720" anchor="t" anchorCtr="0"/>
              <a:p>
                <a:endParaRPr lang="zh-CN" altLang="en-US" sz="2400">
                  <a:solidFill>
                    <a:srgbClr val="0033CC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63496" name="直接箭头连接符 19"/>
              <p:cNvCxnSpPr>
                <a:stCxn id="63493" idx="3"/>
              </p:cNvCxnSpPr>
              <p:nvPr/>
            </p:nvCxnSpPr>
            <p:spPr>
              <a:xfrm rot="5400000">
                <a:off x="3332279" y="2319897"/>
                <a:ext cx="634275" cy="726637"/>
              </a:xfrm>
              <a:prstGeom prst="straightConnector1">
                <a:avLst/>
              </a:prstGeom>
              <a:ln w="25400" cap="flat" cmpd="sng">
                <a:solidFill>
                  <a:srgbClr val="9900FF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3497" name="直接箭头连接符 20"/>
              <p:cNvCxnSpPr>
                <a:stCxn id="63493" idx="5"/>
              </p:cNvCxnSpPr>
              <p:nvPr/>
            </p:nvCxnSpPr>
            <p:spPr>
              <a:xfrm rot="-5400000" flipH="1">
                <a:off x="4391591" y="2391334"/>
                <a:ext cx="705713" cy="655199"/>
              </a:xfrm>
              <a:prstGeom prst="straightConnector1">
                <a:avLst/>
              </a:prstGeom>
              <a:ln w="25400" cap="flat" cmpd="sng">
                <a:solidFill>
                  <a:srgbClr val="9900FF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3498" name="直接箭头连接符 21"/>
              <p:cNvCxnSpPr>
                <a:stCxn id="63493" idx="5"/>
                <a:endCxn id="63493" idx="1"/>
              </p:cNvCxnSpPr>
              <p:nvPr/>
            </p:nvCxnSpPr>
            <p:spPr>
              <a:xfrm>
                <a:off x="3786182" y="1928802"/>
                <a:ext cx="226571" cy="134209"/>
              </a:xfrm>
              <a:prstGeom prst="straightConnector1">
                <a:avLst/>
              </a:prstGeom>
              <a:ln w="25400" cap="flat" cmpd="sng">
                <a:solidFill>
                  <a:srgbClr val="9900FF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63499" name="TextBox 22"/>
              <p:cNvSpPr txBox="1"/>
              <p:nvPr/>
            </p:nvSpPr>
            <p:spPr>
              <a:xfrm>
                <a:off x="3571868" y="1714488"/>
                <a:ext cx="214314" cy="3690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p>
                <a:r>
                  <a:rPr lang="en-US" altLang="zh-CN" sz="2400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endParaRPr lang="en-US" altLang="zh-CN" sz="2400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500" name="TextBox 23"/>
              <p:cNvSpPr txBox="1"/>
              <p:nvPr/>
            </p:nvSpPr>
            <p:spPr>
              <a:xfrm>
                <a:off x="2571736" y="3714752"/>
                <a:ext cx="1214446" cy="3074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p>
                <a:r>
                  <a:rPr lang="en-US" altLang="zh-CN" sz="2000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-&gt;</a:t>
                </a:r>
                <a:r>
                  <a:rPr lang="en-US" altLang="zh-CN" sz="2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lchild</a:t>
                </a:r>
                <a:endParaRPr lang="en-US" altLang="zh-CN" sz="2000" dirty="0" err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501" name="TextBox 24"/>
              <p:cNvSpPr txBox="1"/>
              <p:nvPr/>
            </p:nvSpPr>
            <p:spPr>
              <a:xfrm>
                <a:off x="4714876" y="3714752"/>
                <a:ext cx="1214446" cy="3074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 anchor="t" anchorCtr="0">
                <a:spAutoFit/>
              </a:bodyPr>
              <a:p>
                <a:r>
                  <a:rPr lang="en-US" altLang="zh-CN" sz="2000" i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-&gt;</a:t>
                </a:r>
                <a:r>
                  <a:rPr lang="en-US" altLang="zh-CN" sz="2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rchild</a:t>
                </a:r>
                <a:endParaRPr lang="en-US" altLang="zh-CN" sz="2000" dirty="0" err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63502" name="组合 38"/>
            <p:cNvGrpSpPr/>
            <p:nvPr/>
          </p:nvGrpSpPr>
          <p:grpSpPr>
            <a:xfrm>
              <a:off x="4071934" y="3774300"/>
              <a:ext cx="4286280" cy="2154124"/>
              <a:chOff x="4071934" y="2962007"/>
              <a:chExt cx="4286280" cy="2154124"/>
            </a:xfrm>
          </p:grpSpPr>
          <p:sp>
            <p:nvSpPr>
              <p:cNvPr id="63503" name="TextBox 32"/>
              <p:cNvSpPr txBox="1"/>
              <p:nvPr/>
            </p:nvSpPr>
            <p:spPr>
              <a:xfrm>
                <a:off x="4071934" y="2962007"/>
                <a:ext cx="4286280" cy="4605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zh-CN" altLang="en-US" sz="2400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初始调用</a:t>
                </a:r>
                <a:r>
                  <a:rPr lang="zh-CN" altLang="en-US" sz="240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en-US" altLang="zh-CN" sz="2400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Level(</a:t>
                </a:r>
                <a:r>
                  <a:rPr lang="en-US" altLang="zh-CN" sz="2400" i="1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2400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400" i="1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x</a:t>
                </a:r>
                <a:r>
                  <a:rPr lang="zh-CN" altLang="en-US" sz="2400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2400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400" dirty="0">
                    <a:solidFill>
                      <a:srgbClr val="FF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:endParaRPr lang="zh-CN" altLang="en-US" sz="2400" dirty="0">
                  <a:solidFill>
                    <a:srgbClr val="FF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63504" name="直接箭头连接符 34"/>
              <p:cNvCxnSpPr>
                <a:stCxn id="63493" idx="5"/>
                <a:endCxn id="63493" idx="1"/>
              </p:cNvCxnSpPr>
              <p:nvPr/>
            </p:nvCxnSpPr>
            <p:spPr>
              <a:xfrm rot="5400000" flipH="1" flipV="1">
                <a:off x="6680037" y="3571082"/>
                <a:ext cx="285752" cy="1588"/>
              </a:xfrm>
              <a:prstGeom prst="straightConnector1">
                <a:avLst/>
              </a:prstGeom>
              <a:ln w="25400" cap="flat" cmpd="sng">
                <a:solidFill>
                  <a:srgbClr val="9900FF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63505" name="TextBox 35"/>
              <p:cNvSpPr txBox="1"/>
              <p:nvPr/>
            </p:nvSpPr>
            <p:spPr>
              <a:xfrm>
                <a:off x="6478423" y="3793598"/>
                <a:ext cx="714380" cy="10150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algn="ctr"/>
                <a:r>
                  <a:rPr lang="en-US" altLang="zh-CN" sz="2000" i="1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sz="200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指向根结点</a:t>
                </a:r>
                <a:endParaRPr lang="zh-CN" altLang="en-US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506" name="TextBox 36"/>
              <p:cNvSpPr txBox="1"/>
              <p:nvPr/>
            </p:nvSpPr>
            <p:spPr>
              <a:xfrm>
                <a:off x="7358082" y="3793598"/>
                <a:ext cx="714380" cy="13225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algn="ctr"/>
                <a:r>
                  <a:rPr lang="zh-CN" altLang="en-US" sz="200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根结点的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层次为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endParaRPr lang="en-US" altLang="zh-CN" sz="2000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63507" name="直接箭头连接符 37"/>
              <p:cNvCxnSpPr>
                <a:stCxn id="63493" idx="5"/>
                <a:endCxn id="63493" idx="1"/>
              </p:cNvCxnSpPr>
              <p:nvPr/>
            </p:nvCxnSpPr>
            <p:spPr>
              <a:xfrm rot="5400000" flipH="1" flipV="1">
                <a:off x="7555198" y="3571082"/>
                <a:ext cx="285752" cy="1588"/>
              </a:xfrm>
              <a:prstGeom prst="straightConnector1">
                <a:avLst/>
              </a:prstGeom>
              <a:ln w="25400" cap="flat" cmpd="sng">
                <a:solidFill>
                  <a:srgbClr val="9900FF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TextBox 14"/>
          <p:cNvSpPr txBox="1"/>
          <p:nvPr/>
        </p:nvSpPr>
        <p:spPr>
          <a:xfrm>
            <a:off x="698500" y="2122805"/>
            <a:ext cx="9471660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32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 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对于其他情况</a:t>
            </a:r>
            <a:r>
              <a:rPr lang="en-US" altLang="zh-CN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首先在左子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树中</a:t>
            </a:r>
            <a:r>
              <a:rPr lang="zh-CN" altLang="en-US" sz="280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找。若找到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了直接返回。</a:t>
            </a:r>
            <a:endParaRPr lang="zh-CN" altLang="en-US" sz="2800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2" name="组合 17"/>
          <p:cNvGrpSpPr/>
          <p:nvPr/>
        </p:nvGrpSpPr>
        <p:grpSpPr>
          <a:xfrm>
            <a:off x="4095750" y="3929380"/>
            <a:ext cx="3804920" cy="2369803"/>
            <a:chOff x="2571736" y="1714488"/>
            <a:chExt cx="3357586" cy="2369088"/>
          </a:xfrm>
        </p:grpSpPr>
        <p:sp>
          <p:nvSpPr>
            <p:cNvPr id="64515" name="椭圆 16"/>
            <p:cNvSpPr/>
            <p:nvPr/>
          </p:nvSpPr>
          <p:spPr>
            <a:xfrm>
              <a:off x="3929058" y="2000240"/>
              <a:ext cx="571504" cy="428628"/>
            </a:xfrm>
            <a:prstGeom prst="ellipse">
              <a:avLst/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40" tIns="45720" rIns="91440" bIns="45720" anchor="t" anchorCtr="0"/>
            <a:p>
              <a:endPara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4516" name="等腰三角形 17"/>
            <p:cNvSpPr/>
            <p:nvPr/>
          </p:nvSpPr>
          <p:spPr>
            <a:xfrm>
              <a:off x="2643174" y="2857496"/>
              <a:ext cx="1000132" cy="7143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40" tIns="45720" rIns="91440" bIns="45720" anchor="t" anchorCtr="0"/>
            <a:p>
              <a:endPara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4517" name="等腰三角形 18"/>
            <p:cNvSpPr/>
            <p:nvPr/>
          </p:nvSpPr>
          <p:spPr>
            <a:xfrm>
              <a:off x="4714876" y="2857496"/>
              <a:ext cx="1000132" cy="7143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40" tIns="45720" rIns="91440" bIns="45720" anchor="t" anchorCtr="0"/>
            <a:p>
              <a:endPara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64518" name="直接箭头连接符 19"/>
            <p:cNvCxnSpPr>
              <a:stCxn id="64515" idx="3"/>
            </p:cNvCxnSpPr>
            <p:nvPr/>
          </p:nvCxnSpPr>
          <p:spPr>
            <a:xfrm rot="5400000">
              <a:off x="3332279" y="2319897"/>
              <a:ext cx="634275" cy="726637"/>
            </a:xfrm>
            <a:prstGeom prst="straightConnector1">
              <a:avLst/>
            </a:prstGeom>
            <a:ln w="25400" cap="flat" cmpd="sng">
              <a:solidFill>
                <a:srgbClr val="9900FF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64519" name="直接箭头连接符 20"/>
            <p:cNvCxnSpPr>
              <a:stCxn id="64515" idx="5"/>
            </p:cNvCxnSpPr>
            <p:nvPr/>
          </p:nvCxnSpPr>
          <p:spPr>
            <a:xfrm rot="-5400000" flipH="1">
              <a:off x="4391591" y="2391334"/>
              <a:ext cx="705713" cy="655199"/>
            </a:xfrm>
            <a:prstGeom prst="straightConnector1">
              <a:avLst/>
            </a:prstGeom>
            <a:ln w="25400" cap="flat" cmpd="sng">
              <a:solidFill>
                <a:srgbClr val="9900FF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64520" name="直接箭头连接符 21"/>
            <p:cNvCxnSpPr>
              <a:stCxn id="64515" idx="5"/>
              <a:endCxn id="64515" idx="1"/>
            </p:cNvCxnSpPr>
            <p:nvPr/>
          </p:nvCxnSpPr>
          <p:spPr>
            <a:xfrm>
              <a:off x="3786182" y="1928802"/>
              <a:ext cx="226571" cy="134209"/>
            </a:xfrm>
            <a:prstGeom prst="straightConnector1">
              <a:avLst/>
            </a:prstGeom>
            <a:ln w="25400" cap="flat" cmpd="sng">
              <a:solidFill>
                <a:srgbClr val="9900FF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4521" name="TextBox 22"/>
            <p:cNvSpPr txBox="1"/>
            <p:nvPr/>
          </p:nvSpPr>
          <p:spPr>
            <a:xfrm>
              <a:off x="3571868" y="1714488"/>
              <a:ext cx="214314" cy="3688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22" name="TextBox 23"/>
            <p:cNvSpPr txBox="1"/>
            <p:nvPr/>
          </p:nvSpPr>
          <p:spPr>
            <a:xfrm>
              <a:off x="2571736" y="3714752"/>
              <a:ext cx="1214446" cy="3688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  <a:r>
                <a:rPr lang="en-US" altLang="zh-CN" sz="2400" i="1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lchild</a:t>
              </a:r>
              <a:endPara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523" name="TextBox 24"/>
            <p:cNvSpPr txBox="1"/>
            <p:nvPr/>
          </p:nvSpPr>
          <p:spPr>
            <a:xfrm>
              <a:off x="4714876" y="3714752"/>
              <a:ext cx="1214446" cy="3688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  <a:r>
                <a:rPr lang="en-US" altLang="zh-CN" sz="2400" i="1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rchild</a:t>
              </a:r>
              <a:endParaRPr lang="en-US" altLang="zh-CN" sz="2400" i="1" dirty="0" err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3881755" y="4879975"/>
            <a:ext cx="1861185" cy="1500505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 anchorCtr="0"/>
          <a:p>
            <a:endParaRPr lang="zh-CN" altLang="en-US" sz="280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5953125" y="4929505"/>
            <a:ext cx="1861820" cy="149987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40" tIns="45720" rIns="91440" bIns="45720" anchor="t" anchorCtr="0"/>
          <a:p>
            <a:endParaRPr lang="zh-CN" altLang="en-US" sz="280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0230" y="219075"/>
            <a:ext cx="57130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Wingdings" panose="05000000000000000000"/>
              </a:rPr>
              <a:t>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空二叉树中找不到值为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的结点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4" name="右箭头 33"/>
          <p:cNvSpPr/>
          <p:nvPr/>
        </p:nvSpPr>
        <p:spPr bwMode="auto">
          <a:xfrm>
            <a:off x="5953125" y="304800"/>
            <a:ext cx="567055" cy="28765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normalizeH="0" baseline="0" noProof="1" smtClean="0">
              <a:ln>
                <a:noFill/>
              </a:ln>
              <a:solidFill>
                <a:srgbClr val="0033CC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3975" y="214630"/>
            <a:ext cx="57924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Level(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h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)=0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若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=NULL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5000" y="795655"/>
            <a:ext cx="571309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Wingdings" panose="05000000000000000000"/>
              </a:rPr>
              <a:t>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若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指向值为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的结点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7" name="右箭头 36"/>
          <p:cNvSpPr/>
          <p:nvPr/>
        </p:nvSpPr>
        <p:spPr bwMode="auto">
          <a:xfrm>
            <a:off x="5953125" y="881380"/>
            <a:ext cx="567055" cy="28892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normalizeH="0" baseline="0" noProof="1" smtClean="0">
              <a:ln>
                <a:noFill/>
              </a:ln>
              <a:solidFill>
                <a:srgbClr val="0033CC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组合 47"/>
          <p:cNvGrpSpPr/>
          <p:nvPr/>
        </p:nvGrpSpPr>
        <p:grpSpPr>
          <a:xfrm>
            <a:off x="5882005" y="814705"/>
            <a:ext cx="6151245" cy="1279407"/>
            <a:chOff x="4357686" y="814312"/>
            <a:chExt cx="5428789" cy="1279176"/>
          </a:xfrm>
        </p:grpSpPr>
        <p:sp>
          <p:nvSpPr>
            <p:cNvPr id="38" name="TextBox 37"/>
            <p:cNvSpPr txBox="1"/>
            <p:nvPr/>
          </p:nvSpPr>
          <p:spPr>
            <a:xfrm>
              <a:off x="4868789" y="814312"/>
              <a:ext cx="4917686" cy="521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u="heavy" noProof="1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Level</a:t>
              </a:r>
              <a:r>
                <a:rPr lang="en-US" altLang="zh-CN" sz="2800" u="heavy" noProof="1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i="1" u="heavy" noProof="1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800" i="1" u="heavy" noProof="1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800" i="1" u="heavy" noProof="1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en-US" sz="2800" i="1" u="heavy" noProof="1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2800" i="1" u="heavy" noProof="1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800" u="heavy" noProof="1" dirty="0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)=</a:t>
              </a:r>
              <a:r>
                <a:rPr lang="en-US" altLang="zh-CN" sz="2800" i="1" u="heavy" noProof="1" dirty="0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800" i="1" noProof="1" dirty="0" smtClean="0">
                  <a:solidFill>
                    <a:srgbClr val="0000FF"/>
                  </a:solidFill>
                  <a:uFill>
                    <a:solidFill>
                      <a:srgbClr val="FF00FF"/>
                    </a:solidFill>
                  </a:u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lang="zh-CN" altLang="en-US" sz="2800" noProof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noProof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800" noProof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-&gt;</a:t>
              </a:r>
              <a:r>
                <a:rPr lang="en-US" altLang="zh-CN" sz="2800" i="1" noProof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data</a:t>
              </a:r>
              <a:r>
                <a:rPr lang="en-US" altLang="zh-CN" sz="2800" noProof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800" i="1" noProof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endParaRPr lang="en-US" altLang="zh-CN" sz="2800" i="1" noProof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4533" name="TextBox 40"/>
            <p:cNvSpPr txBox="1"/>
            <p:nvPr/>
          </p:nvSpPr>
          <p:spPr>
            <a:xfrm>
              <a:off x="4357686" y="1571612"/>
              <a:ext cx="5146898" cy="5218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假设“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h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表示</a:t>
              </a:r>
              <a:r>
                <a:rPr lang="en-US" altLang="zh-CN" sz="2800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b</a:t>
              </a:r>
              <a:r>
                <a:rPr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所指结点的层次”</a:t>
              </a:r>
              <a:endPara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63905" y="3111500"/>
            <a:ext cx="60712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/>
              </a:rPr>
              <a:t> 否则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返回在右</a:t>
            </a: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左子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树中的查找结果。</a:t>
            </a:r>
            <a:endParaRPr lang="zh-CN" altLang="en-US" sz="2800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24250" y="2571750"/>
            <a:ext cx="85058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Level(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h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)=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  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当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=Level (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&gt;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lchild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h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+1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)≠0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81375" y="3500755"/>
            <a:ext cx="88646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Level(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h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)=Level(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&gt;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rchild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h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+1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)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其他情况</a:t>
            </a: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6" name="右箭头 45"/>
          <p:cNvSpPr/>
          <p:nvPr/>
        </p:nvSpPr>
        <p:spPr bwMode="auto">
          <a:xfrm>
            <a:off x="3113405" y="2624455"/>
            <a:ext cx="567055" cy="28765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normalizeH="0" baseline="0" noProof="1" smtClean="0">
              <a:ln>
                <a:noFill/>
              </a:ln>
              <a:solidFill>
                <a:srgbClr val="0033CC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" name="右箭头 46"/>
          <p:cNvSpPr/>
          <p:nvPr/>
        </p:nvSpPr>
        <p:spPr bwMode="auto">
          <a:xfrm>
            <a:off x="3192780" y="3571875"/>
            <a:ext cx="567055" cy="287655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200" b="1" i="0" u="none" strike="noStrike" cap="none" normalizeH="0" baseline="0" noProof="1" smtClean="0">
              <a:ln>
                <a:noFill/>
              </a:ln>
              <a:solidFill>
                <a:srgbClr val="0033CC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0" grpId="0" bldLvl="0" animBg="1"/>
      <p:bldP spid="30" grpId="1" bldLvl="0" animBg="1"/>
      <p:bldP spid="31" grpId="0" bldLvl="0" animBg="1"/>
      <p:bldP spid="33" grpId="0"/>
      <p:bldP spid="34" grpId="0" bldLvl="0" animBg="1"/>
      <p:bldP spid="35" grpId="0"/>
      <p:bldP spid="36" grpId="0"/>
      <p:bldP spid="37" grpId="0" bldLvl="0" animBg="1"/>
      <p:bldP spid="43" grpId="0"/>
      <p:bldP spid="44" grpId="0"/>
      <p:bldP spid="45" grpId="0"/>
      <p:bldP spid="46" grpId="0" bldLvl="0" animBg="1"/>
      <p:bldP spid="47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Text Box 14"/>
          <p:cNvSpPr txBox="1"/>
          <p:nvPr/>
        </p:nvSpPr>
        <p:spPr>
          <a:xfrm>
            <a:off x="2238375" y="428625"/>
            <a:ext cx="5083175" cy="582613"/>
          </a:xfrm>
          <a:prstGeom prst="rect">
            <a:avLst/>
          </a:prstGeom>
          <a:noFill/>
          <a:ln w="3175">
            <a:noFill/>
          </a:ln>
        </p:spPr>
        <p:txBody>
          <a:bodyPr wrap="square" lIns="91435" tIns="45718" rIns="91435" bIns="45718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递归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</a:rPr>
              <a:t>模型</a:t>
            </a:r>
            <a:r>
              <a:rPr lang="en-US" altLang="zh-CN" sz="3200" i="1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r>
              <a:rPr lang="en-US" altLang="zh-CN" sz="3200"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3200" i="1"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r>
              <a:rPr lang="zh-CN" altLang="en-US" sz="320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3200" i="1"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3200" i="1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3200" i="1">
                <a:latin typeface="Times New Roman" panose="02020603050405020304" pitchFamily="18" charset="0"/>
                <a:ea typeface="楷体" panose="02010609060101010101" pitchFamily="49" charset="-122"/>
              </a:rPr>
              <a:t>h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如下：</a:t>
            </a:r>
            <a:endParaRPr lang="zh-CN" altLang="en-US" sz="3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80591" name="Text Box 15"/>
          <p:cNvSpPr txBox="1">
            <a:spLocks noChangeArrowheads="1"/>
          </p:cNvSpPr>
          <p:nvPr/>
        </p:nvSpPr>
        <p:spPr bwMode="auto">
          <a:xfrm>
            <a:off x="2166938" y="1071563"/>
            <a:ext cx="8143875" cy="252888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08000" rIns="180000" bIns="108000">
            <a:spAutoFit/>
          </a:bodyPr>
          <a:lstStyle/>
          <a:p>
            <a:pPr algn="l" fontAlgn="base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3200" i="1" strike="noStrike" noProof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32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=0	</a:t>
            </a:r>
            <a:r>
              <a:rPr lang="zh-CN" altLang="en-US" sz="3200" strike="noStrike" noProof="1" smtClean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当</a:t>
            </a:r>
            <a:r>
              <a:rPr lang="en-US" altLang="zh-CN" sz="3200" i="1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=NULL</a:t>
            </a:r>
            <a:endParaRPr lang="en-US" altLang="zh-CN" sz="32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l" fontAlgn="base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32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3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sz="3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3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32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3200" i="1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3200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3200" i="1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-&gt;</a:t>
            </a:r>
            <a:r>
              <a:rPr lang="en-US" altLang="zh-CN" sz="3200" i="1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data</a:t>
            </a:r>
            <a:r>
              <a:rPr lang="en-US" altLang="zh-CN" sz="32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3200" i="1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endParaRPr lang="en-US" altLang="zh-CN" sz="3200" i="1" strike="noStrike" noProof="1" dirty="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3200" i="1" strike="noStrike" noProof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</a:t>
            </a:r>
            <a:r>
              <a:rPr lang="en-US" altLang="zh-CN" sz="3200" i="1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3200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3200" i="1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32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3200" i="1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i="1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3200" strike="noStrike" noProof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sz="3200" i="1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lchild</a:t>
            </a:r>
            <a:r>
              <a:rPr lang="zh-CN" altLang="en-US" sz="3200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i="1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3200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lang="en-US" altLang="zh-CN" sz="3200" strike="noStrike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)≠0</a:t>
            </a:r>
            <a:endParaRPr lang="en-US" altLang="zh-CN" sz="3200" strike="noStrike" noProof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CN" sz="3200" i="1" strike="noStrike" noProof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)=</a:t>
            </a:r>
            <a:r>
              <a:rPr lang="en-US" altLang="zh-CN" sz="3200" i="1" strike="noStrike" noProof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i="1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3200" strike="noStrike" noProof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lang="zh-CN" altLang="en-US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i="1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3200" strike="noStrike" noProof="1" smtClean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lang="en-US" altLang="zh-CN" sz="3200" strike="noStrike" noProof="1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3200" strike="noStrike" noProof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其他</a:t>
            </a:r>
            <a:r>
              <a:rPr lang="zh-CN" altLang="en-US" sz="3200" strike="noStrike" noProof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情况</a:t>
            </a:r>
            <a:endParaRPr lang="zh-CN" altLang="en-US" sz="3200" strike="noStrike" noProof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2450" name="Text Box 2"/>
          <p:cNvSpPr txBox="1">
            <a:spLocks noChangeArrowheads="1"/>
          </p:cNvSpPr>
          <p:nvPr/>
        </p:nvSpPr>
        <p:spPr bwMode="auto">
          <a:xfrm>
            <a:off x="679450" y="927100"/>
            <a:ext cx="11209655" cy="51339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44000" tIns="108000" rIns="144000" bIns="108000">
            <a:noAutofit/>
          </a:bodyPr>
          <a:lstStyle/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strike="noStrike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Level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BTNode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ElemType x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h) 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找到</a:t>
            </a:r>
            <a:r>
              <a:rPr kumimoji="1" lang="zh-CN" altLang="en-US" sz="24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结点后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zh-CN" altLang="en-US" sz="24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层次，否则</a:t>
            </a: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if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(b==NULL) return 0;  		</a:t>
            </a:r>
            <a:r>
              <a:rPr kumimoji="1" lang="en-US" altLang="zh-CN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空树时返回</a:t>
            </a:r>
            <a:r>
              <a:rPr kumimoji="1" lang="en-US" altLang="zh-CN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</a:t>
            </a:r>
            <a:endParaRPr kumimoji="1" lang="en-US" altLang="zh-CN" sz="24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else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 (b-&gt;data==x) return h; 	</a:t>
            </a:r>
            <a:r>
              <a:rPr kumimoji="1" lang="en-US" altLang="zh-CN" sz="2400" strike="noStrike" noProof="1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找到结点时</a:t>
            </a:r>
            <a:endParaRPr kumimoji="1" lang="zh-CN" altLang="en-US" sz="24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{      </a:t>
            </a:r>
            <a:r>
              <a:rPr kumimoji="1" lang="en-US" altLang="zh-CN" sz="2400" i="1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strike="noStrike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Level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(b-</a:t>
            </a:r>
            <a:r>
              <a:rPr kumimoji="1" lang="en-US" altLang="zh-CN" sz="24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lchild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h+1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 	</a:t>
            </a:r>
            <a:r>
              <a:rPr kumimoji="1" lang="en-US" altLang="zh-CN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在左子树中查找</a:t>
            </a:r>
            <a:endParaRPr kumimoji="1" lang="zh-CN" altLang="en-US" sz="24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if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i="1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==0)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        </a:t>
            </a:r>
            <a:r>
              <a:rPr kumimoji="1" lang="en-US" altLang="zh-CN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左子树中未找到时在右子树中查找</a:t>
            </a:r>
            <a:endParaRPr kumimoji="1" lang="zh-CN" altLang="en-US" sz="24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zh-CN" altLang="en-US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 </a:t>
            </a:r>
            <a:r>
              <a:rPr kumimoji="1" lang="en-US" altLang="zh-CN" sz="2400" strike="noStrike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Level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(b-</a:t>
            </a:r>
            <a:r>
              <a:rPr kumimoji="1" lang="en-US" altLang="zh-CN" sz="24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h+1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	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else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 </a:t>
            </a:r>
            <a:r>
              <a:rPr kumimoji="1" lang="en-US" altLang="zh-CN" sz="2400" i="1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}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800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6562" name="Text Box 3"/>
          <p:cNvSpPr txBox="1"/>
          <p:nvPr/>
        </p:nvSpPr>
        <p:spPr>
          <a:xfrm>
            <a:off x="3071813" y="5419725"/>
            <a:ext cx="55308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注意：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基于</a:t>
            </a:r>
            <a:r>
              <a:rPr lang="zh-CN" altLang="en-US" sz="2800" dirty="0">
                <a:solidFill>
                  <a:srgbClr val="FF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先序遍历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算法思想。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6563" name="Text Box 4"/>
          <p:cNvSpPr txBox="1"/>
          <p:nvPr/>
        </p:nvSpPr>
        <p:spPr>
          <a:xfrm>
            <a:off x="1560513" y="152400"/>
            <a:ext cx="4103687" cy="606425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对应的递归算法如下：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Text Box 4"/>
          <p:cNvSpPr txBox="1"/>
          <p:nvPr/>
        </p:nvSpPr>
        <p:spPr>
          <a:xfrm>
            <a:off x="5808663" y="2470150"/>
            <a:ext cx="3744912" cy="428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200">
                <a:latin typeface="Consolas" panose="020B0609020204030204" pitchFamily="49" charset="0"/>
                <a:ea typeface="楷体" panose="02010609060101010101" pitchFamily="49" charset="-122"/>
              </a:rPr>
              <a:t>先序序列：</a:t>
            </a:r>
            <a:r>
              <a:rPr lang="en-US" altLang="zh-CN" sz="2200" i="1">
                <a:latin typeface="Consolas" panose="020B0609020204030204" pitchFamily="49" charset="0"/>
                <a:ea typeface="楷体" panose="02010609060101010101" pitchFamily="49" charset="-122"/>
              </a:rPr>
              <a:t>NLR</a:t>
            </a:r>
            <a:endParaRPr lang="en-US" altLang="zh-CN" sz="2200" i="1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168974" name="Text Box 14"/>
          <p:cNvSpPr txBox="1">
            <a:spLocks noChangeArrowheads="1"/>
          </p:cNvSpPr>
          <p:nvPr/>
        </p:nvSpPr>
        <p:spPr bwMode="auto">
          <a:xfrm>
            <a:off x="759460" y="1048385"/>
            <a:ext cx="7215505" cy="64516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先序遍历非递归算法</a:t>
            </a: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7587" name="Line 15"/>
          <p:cNvSpPr/>
          <p:nvPr/>
        </p:nvSpPr>
        <p:spPr>
          <a:xfrm flipH="1">
            <a:off x="4006850" y="2527300"/>
            <a:ext cx="288925" cy="360363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88" name="Text Box 16"/>
          <p:cNvSpPr txBox="1"/>
          <p:nvPr/>
        </p:nvSpPr>
        <p:spPr>
          <a:xfrm>
            <a:off x="4222750" y="2298700"/>
            <a:ext cx="288925" cy="3984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2000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7589" name="Text Box 17"/>
          <p:cNvSpPr txBox="1"/>
          <p:nvPr/>
        </p:nvSpPr>
        <p:spPr>
          <a:xfrm>
            <a:off x="2351088" y="4746625"/>
            <a:ext cx="13874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800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</a:rPr>
              <a:t>-&gt;</a:t>
            </a:r>
            <a:r>
              <a:rPr lang="en-US" altLang="zh-CN" sz="1800" i="1">
                <a:latin typeface="Consolas" panose="020B0609020204030204" pitchFamily="49" charset="0"/>
                <a:ea typeface="宋体" panose="02010600030101010101" pitchFamily="2" charset="-122"/>
              </a:rPr>
              <a:t>lchild</a:t>
            </a:r>
            <a:endParaRPr lang="en-US" altLang="zh-CN" sz="1800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7590" name="Text Box 18"/>
          <p:cNvSpPr txBox="1"/>
          <p:nvPr/>
        </p:nvSpPr>
        <p:spPr>
          <a:xfrm>
            <a:off x="4222750" y="4746625"/>
            <a:ext cx="1516063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800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r>
              <a:rPr lang="en-US" altLang="zh-CN" sz="1800">
                <a:latin typeface="Consolas" panose="020B0609020204030204" pitchFamily="49" charset="0"/>
                <a:ea typeface="宋体" panose="02010600030101010101" pitchFamily="2" charset="-122"/>
              </a:rPr>
              <a:t>-&gt;</a:t>
            </a:r>
            <a:r>
              <a:rPr lang="en-US" altLang="zh-CN" sz="1800" i="1">
                <a:latin typeface="Consolas" panose="020B0609020204030204" pitchFamily="49" charset="0"/>
                <a:ea typeface="宋体" panose="02010600030101010101" pitchFamily="2" charset="-122"/>
              </a:rPr>
              <a:t>rchild</a:t>
            </a:r>
            <a:endParaRPr lang="en-US" altLang="zh-CN" sz="1800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7591" name="Oval 19"/>
          <p:cNvSpPr/>
          <p:nvPr/>
        </p:nvSpPr>
        <p:spPr>
          <a:xfrm>
            <a:off x="3560763" y="2874963"/>
            <a:ext cx="863600" cy="504825"/>
          </a:xfrm>
          <a:prstGeom prst="ellipse">
            <a:avLst/>
          </a:prstGeom>
          <a:solidFill>
            <a:srgbClr val="FFC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lg"/>
          </a:ln>
        </p:spPr>
        <p:txBody>
          <a:bodyPr wrap="none" anchor="ctr" anchorCtr="0"/>
          <a:p>
            <a:r>
              <a:rPr lang="en-US" altLang="zh-CN" i="1">
                <a:latin typeface="Consolas" panose="020B0609020204030204" pitchFamily="49" charset="0"/>
                <a:ea typeface="宋体" panose="02010600030101010101" pitchFamily="2" charset="-122"/>
              </a:rPr>
              <a:t>N</a:t>
            </a:r>
            <a:endParaRPr lang="en-US" altLang="zh-CN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7592" name="AutoShape 20"/>
          <p:cNvSpPr/>
          <p:nvPr/>
        </p:nvSpPr>
        <p:spPr>
          <a:xfrm>
            <a:off x="2433638" y="3811588"/>
            <a:ext cx="1150937" cy="792162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lg"/>
          </a:ln>
        </p:spPr>
        <p:txBody>
          <a:bodyPr wrap="none" anchor="t" anchorCtr="0"/>
          <a:p>
            <a:pPr>
              <a:lnSpc>
                <a:spcPts val="1200"/>
              </a:lnSpc>
            </a:pPr>
            <a:r>
              <a:rPr lang="en-US" altLang="zh-CN" i="1">
                <a:latin typeface="Consolas" panose="020B0609020204030204" pitchFamily="49" charset="0"/>
                <a:ea typeface="宋体" panose="02010600030101010101" pitchFamily="2" charset="-122"/>
              </a:rPr>
              <a:t>L</a:t>
            </a:r>
            <a:endParaRPr lang="en-US" altLang="zh-CN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7593" name="AutoShape 21"/>
          <p:cNvSpPr/>
          <p:nvPr/>
        </p:nvSpPr>
        <p:spPr>
          <a:xfrm>
            <a:off x="4295775" y="3811588"/>
            <a:ext cx="1150938" cy="792162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lg"/>
          </a:ln>
        </p:spPr>
        <p:txBody>
          <a:bodyPr wrap="none" anchor="t" anchorCtr="0"/>
          <a:p>
            <a:pPr algn="ctr">
              <a:lnSpc>
                <a:spcPts val="1200"/>
              </a:lnSpc>
            </a:pPr>
            <a:r>
              <a:rPr lang="en-US" altLang="zh-CN" i="1">
                <a:latin typeface="Consolas" panose="020B0609020204030204" pitchFamily="49" charset="0"/>
                <a:ea typeface="宋体" panose="02010600030101010101" pitchFamily="2" charset="-122"/>
              </a:rPr>
              <a:t>R</a:t>
            </a:r>
            <a:endParaRPr lang="en-US" altLang="zh-CN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7594" name="Line 22"/>
          <p:cNvSpPr/>
          <p:nvPr/>
        </p:nvSpPr>
        <p:spPr>
          <a:xfrm flipH="1">
            <a:off x="3081338" y="3306763"/>
            <a:ext cx="647700" cy="6492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595" name="Freeform 23"/>
          <p:cNvSpPr/>
          <p:nvPr/>
        </p:nvSpPr>
        <p:spPr>
          <a:xfrm>
            <a:off x="4270375" y="3319463"/>
            <a:ext cx="542925" cy="577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42" y="364"/>
              </a:cxn>
            </a:cxnLst>
            <a:pathLst>
              <a:path w="342" h="364">
                <a:moveTo>
                  <a:pt x="0" y="0"/>
                </a:moveTo>
                <a:lnTo>
                  <a:pt x="342" y="36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67596" name="Text Box 25"/>
          <p:cNvSpPr txBox="1"/>
          <p:nvPr/>
        </p:nvSpPr>
        <p:spPr>
          <a:xfrm>
            <a:off x="6024563" y="3044825"/>
            <a:ext cx="3889375" cy="13208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marL="457200" indent="-457200">
              <a:lnSpc>
                <a:spcPts val="2800"/>
              </a:lnSpc>
              <a:spcBef>
                <a:spcPct val="50000"/>
              </a:spcBef>
              <a:buFontTx/>
              <a:buBlip>
                <a:blip r:embed="rId1"/>
              </a:buBlip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用栈保存根结点（地址）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ts val="2800"/>
              </a:lnSpc>
              <a:spcBef>
                <a:spcPct val="50000"/>
              </a:spcBef>
              <a:buFontTx/>
              <a:buBlip>
                <a:blip r:embed="rId1"/>
              </a:buBlip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右孩子先进、左孩子后进栈，因为栈后进先出。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Box 4" descr="信纸"/>
          <p:cNvSpPr txBox="1">
            <a:spLocks noChangeArrowheads="1"/>
          </p:cNvSpPr>
          <p:nvPr/>
        </p:nvSpPr>
        <p:spPr bwMode="auto">
          <a:xfrm>
            <a:off x="371792" y="135255"/>
            <a:ext cx="6532580" cy="583565"/>
          </a:xfrm>
          <a:prstGeom prst="rect">
            <a:avLst/>
          </a:prstGeom>
          <a:noFill/>
          <a:ln w="9525" algn="ctr">
            <a:noFill/>
            <a:miter lim="800000"/>
            <a:tailEnd type="none" w="med" len="lg"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noProof="1" smtClean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3200" noProof="1" smtClean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二叉树</a:t>
            </a:r>
            <a:r>
              <a:rPr kumimoji="1" lang="en-US" altLang="zh-CN" sz="3200" noProof="1" smtClean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3</a:t>
            </a:r>
            <a:r>
              <a:rPr kumimoji="1" lang="zh-CN" altLang="en-US" sz="3200" noProof="1" smtClean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种遍历的非递归</a:t>
            </a:r>
            <a:r>
              <a:rPr kumimoji="1" lang="zh-CN" altLang="en-US" sz="3200" noProof="1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算法</a:t>
            </a:r>
            <a:endParaRPr lang="zh-CN" altLang="en-US" sz="3200" noProof="1" dirty="0"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5268" name="Rectangle 4"/>
          <p:cNvSpPr>
            <a:spLocks noChangeArrowheads="1"/>
          </p:cNvSpPr>
          <p:nvPr/>
        </p:nvSpPr>
        <p:spPr bwMode="auto">
          <a:xfrm>
            <a:off x="411163" y="254000"/>
            <a:ext cx="7248525" cy="644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fontAlgn="base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3600" strike="noStrike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先序遍历非递归过程1如下：</a:t>
            </a:r>
            <a:endParaRPr kumimoji="1" lang="zh-CN" altLang="en-US" sz="3600" strike="noStrike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95269" name="Text Box 5"/>
          <p:cNvSpPr txBox="1">
            <a:spLocks noChangeArrowheads="1"/>
          </p:cNvSpPr>
          <p:nvPr/>
        </p:nvSpPr>
        <p:spPr bwMode="auto">
          <a:xfrm>
            <a:off x="2208529" y="1250948"/>
            <a:ext cx="8008620" cy="514032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08000" bIns="108000">
            <a:spAutoFit/>
          </a:bodyPr>
          <a:lstStyle/>
          <a:p>
            <a:pPr algn="l" fontAlgn="base"/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if (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当前</a:t>
            </a:r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树不空</a:t>
            </a:r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en-US" altLang="zh-CN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根结点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zh-CN" altLang="en-US" sz="32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en-US" altLang="zh-CN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while </a:t>
            </a:r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32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en-US" altLang="zh-CN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zh-CN" altLang="en-US" sz="3200" strike="noStrike" noProof="1" smtClean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出栈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并访问之</a:t>
            </a:r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en-US" altLang="zh-CN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若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结点有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右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孩子，将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其右孩子</a:t>
            </a:r>
            <a:r>
              <a:rPr lang="zh-CN" altLang="en-US" sz="32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； </a:t>
            </a:r>
            <a:endParaRPr lang="zh-CN" altLang="en-US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若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结点有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左</a:t>
            </a:r>
            <a:r>
              <a:rPr lang="zh-CN" altLang="en-US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孩子，将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其左孩子</a:t>
            </a:r>
            <a:r>
              <a:rPr lang="zh-CN" altLang="en-US" sz="32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；</a:t>
            </a:r>
            <a:endParaRPr lang="zh-CN" altLang="en-US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32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32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32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3200" b="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9DC0BE1-E115-48B7-9F87-E40F8D1D1DD5}" type="slidenum">
              <a:rPr kumimoji="0" lang="en-US" altLang="zh-CN" sz="1200" b="1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292" name="Line 4"/>
          <p:cNvSpPr>
            <a:spLocks noChangeShapeType="1"/>
          </p:cNvSpPr>
          <p:nvPr/>
        </p:nvSpPr>
        <p:spPr bwMode="auto">
          <a:xfrm>
            <a:off x="2638425" y="2495550"/>
            <a:ext cx="288925" cy="287338"/>
          </a:xfrm>
          <a:prstGeom prst="lin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293" name="Line 5"/>
          <p:cNvSpPr>
            <a:spLocks noChangeShapeType="1"/>
          </p:cNvSpPr>
          <p:nvPr/>
        </p:nvSpPr>
        <p:spPr bwMode="auto">
          <a:xfrm flipH="1">
            <a:off x="3143250" y="1343025"/>
            <a:ext cx="287338" cy="287338"/>
          </a:xfrm>
          <a:prstGeom prst="lin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294" name="Freeform 6"/>
          <p:cNvSpPr/>
          <p:nvPr/>
        </p:nvSpPr>
        <p:spPr bwMode="auto">
          <a:xfrm>
            <a:off x="3752850" y="1295400"/>
            <a:ext cx="301625" cy="3889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295" name="Line 7"/>
          <p:cNvSpPr>
            <a:spLocks noChangeShapeType="1"/>
          </p:cNvSpPr>
          <p:nvPr/>
        </p:nvSpPr>
        <p:spPr bwMode="auto">
          <a:xfrm flipH="1">
            <a:off x="2566988" y="1919288"/>
            <a:ext cx="360363" cy="360363"/>
          </a:xfrm>
          <a:prstGeom prst="lin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296" name="Line 8"/>
          <p:cNvSpPr>
            <a:spLocks noChangeShapeType="1"/>
          </p:cNvSpPr>
          <p:nvPr/>
        </p:nvSpPr>
        <p:spPr bwMode="auto">
          <a:xfrm flipH="1">
            <a:off x="3709988" y="1947863"/>
            <a:ext cx="287338" cy="287338"/>
          </a:xfrm>
          <a:prstGeom prst="lin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297" name="Line 9"/>
          <p:cNvSpPr>
            <a:spLocks noChangeShapeType="1"/>
          </p:cNvSpPr>
          <p:nvPr/>
        </p:nvSpPr>
        <p:spPr bwMode="auto">
          <a:xfrm>
            <a:off x="4295775" y="1919288"/>
            <a:ext cx="287338" cy="360363"/>
          </a:xfrm>
          <a:prstGeom prst="lin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298" name="Oval 10"/>
          <p:cNvSpPr>
            <a:spLocks noChangeArrowheads="1"/>
          </p:cNvSpPr>
          <p:nvPr/>
        </p:nvSpPr>
        <p:spPr bwMode="auto">
          <a:xfrm>
            <a:off x="3359150" y="105568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299" name="Oval 11"/>
          <p:cNvSpPr>
            <a:spLocks noChangeArrowheads="1"/>
          </p:cNvSpPr>
          <p:nvPr/>
        </p:nvSpPr>
        <p:spPr bwMode="auto">
          <a:xfrm>
            <a:off x="2854325" y="16303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0" name="Oval 12"/>
          <p:cNvSpPr>
            <a:spLocks noChangeArrowheads="1"/>
          </p:cNvSpPr>
          <p:nvPr/>
        </p:nvSpPr>
        <p:spPr bwMode="auto">
          <a:xfrm>
            <a:off x="3935413" y="16303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1" name="Oval 13"/>
          <p:cNvSpPr>
            <a:spLocks noChangeArrowheads="1"/>
          </p:cNvSpPr>
          <p:nvPr/>
        </p:nvSpPr>
        <p:spPr bwMode="auto">
          <a:xfrm>
            <a:off x="2279650" y="22066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2" name="Oval 14"/>
          <p:cNvSpPr>
            <a:spLocks noChangeArrowheads="1"/>
          </p:cNvSpPr>
          <p:nvPr/>
        </p:nvSpPr>
        <p:spPr bwMode="auto">
          <a:xfrm>
            <a:off x="3360738" y="22066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3" name="Oval 15"/>
          <p:cNvSpPr>
            <a:spLocks noChangeArrowheads="1"/>
          </p:cNvSpPr>
          <p:nvPr/>
        </p:nvSpPr>
        <p:spPr bwMode="auto">
          <a:xfrm>
            <a:off x="2854325" y="271145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4" name="Oval 16"/>
          <p:cNvSpPr>
            <a:spLocks noChangeArrowheads="1"/>
          </p:cNvSpPr>
          <p:nvPr/>
        </p:nvSpPr>
        <p:spPr bwMode="auto">
          <a:xfrm>
            <a:off x="4440238" y="22066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5" name="Line 17"/>
          <p:cNvSpPr>
            <a:spLocks noChangeShapeType="1"/>
          </p:cNvSpPr>
          <p:nvPr/>
        </p:nvSpPr>
        <p:spPr bwMode="auto">
          <a:xfrm>
            <a:off x="3000375" y="3775075"/>
            <a:ext cx="0" cy="1800225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6" name="Line 18"/>
          <p:cNvSpPr>
            <a:spLocks noChangeShapeType="1"/>
          </p:cNvSpPr>
          <p:nvPr/>
        </p:nvSpPr>
        <p:spPr bwMode="auto">
          <a:xfrm>
            <a:off x="4152900" y="3775075"/>
            <a:ext cx="0" cy="1800225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07" name="Line 19"/>
          <p:cNvSpPr>
            <a:spLocks noChangeShapeType="1"/>
          </p:cNvSpPr>
          <p:nvPr/>
        </p:nvSpPr>
        <p:spPr bwMode="auto">
          <a:xfrm>
            <a:off x="3000375" y="5599113"/>
            <a:ext cx="1152525" cy="0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9649" name="Text Box 20"/>
          <p:cNvSpPr txBox="1"/>
          <p:nvPr/>
        </p:nvSpPr>
        <p:spPr>
          <a:xfrm>
            <a:off x="3000375" y="5815013"/>
            <a:ext cx="1152525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楷体" panose="02010609060101010101" pitchFamily="49" charset="-122"/>
              </a:rPr>
              <a:t>一个栈</a:t>
            </a:r>
            <a:endParaRPr lang="zh-CN" altLang="en-US" sz="20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6315" name="Oval 27"/>
          <p:cNvSpPr>
            <a:spLocks noChangeArrowheads="1"/>
          </p:cNvSpPr>
          <p:nvPr/>
        </p:nvSpPr>
        <p:spPr bwMode="auto">
          <a:xfrm>
            <a:off x="3359150" y="105568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16" name="Oval 28"/>
          <p:cNvSpPr>
            <a:spLocks noChangeArrowheads="1"/>
          </p:cNvSpPr>
          <p:nvPr/>
        </p:nvSpPr>
        <p:spPr bwMode="auto">
          <a:xfrm>
            <a:off x="2854325" y="163195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17" name="Oval 29"/>
          <p:cNvSpPr>
            <a:spLocks noChangeArrowheads="1"/>
          </p:cNvSpPr>
          <p:nvPr/>
        </p:nvSpPr>
        <p:spPr bwMode="auto">
          <a:xfrm>
            <a:off x="3935413" y="16303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18" name="Oval 30"/>
          <p:cNvSpPr>
            <a:spLocks noChangeArrowheads="1"/>
          </p:cNvSpPr>
          <p:nvPr/>
        </p:nvSpPr>
        <p:spPr bwMode="auto">
          <a:xfrm>
            <a:off x="2279650" y="220821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19" name="Oval 31"/>
          <p:cNvSpPr>
            <a:spLocks noChangeArrowheads="1"/>
          </p:cNvSpPr>
          <p:nvPr/>
        </p:nvSpPr>
        <p:spPr bwMode="auto">
          <a:xfrm>
            <a:off x="3360738" y="22066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20" name="Oval 32"/>
          <p:cNvSpPr>
            <a:spLocks noChangeArrowheads="1"/>
          </p:cNvSpPr>
          <p:nvPr/>
        </p:nvSpPr>
        <p:spPr bwMode="auto">
          <a:xfrm>
            <a:off x="2854325" y="271145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6321" name="Oval 33"/>
          <p:cNvSpPr>
            <a:spLocks noChangeArrowheads="1"/>
          </p:cNvSpPr>
          <p:nvPr/>
        </p:nvSpPr>
        <p:spPr bwMode="auto">
          <a:xfrm>
            <a:off x="4440238" y="22066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9657" name="Text Box 34"/>
          <p:cNvSpPr txBox="1"/>
          <p:nvPr/>
        </p:nvSpPr>
        <p:spPr>
          <a:xfrm>
            <a:off x="6024563" y="1916113"/>
            <a:ext cx="1728787" cy="4302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200">
                <a:latin typeface="Consolas" panose="020B0609020204030204" pitchFamily="49" charset="0"/>
                <a:ea typeface="楷体" panose="02010609060101010101" pitchFamily="49" charset="-122"/>
              </a:rPr>
              <a:t>先序序列：</a:t>
            </a:r>
            <a:endParaRPr lang="zh-CN" altLang="en-US" sz="22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6323" name="Text Box 35"/>
          <p:cNvSpPr txBox="1"/>
          <p:nvPr/>
        </p:nvSpPr>
        <p:spPr>
          <a:xfrm>
            <a:off x="5230813" y="2782888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6324" name="Text Box 36"/>
          <p:cNvSpPr txBox="1"/>
          <p:nvPr/>
        </p:nvSpPr>
        <p:spPr>
          <a:xfrm>
            <a:off x="5878513" y="2782888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6325" name="Text Box 37"/>
          <p:cNvSpPr txBox="1"/>
          <p:nvPr/>
        </p:nvSpPr>
        <p:spPr>
          <a:xfrm>
            <a:off x="6526213" y="2782888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6326" name="Text Box 38"/>
          <p:cNvSpPr txBox="1"/>
          <p:nvPr/>
        </p:nvSpPr>
        <p:spPr>
          <a:xfrm>
            <a:off x="7175500" y="2782888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G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6327" name="Text Box 39"/>
          <p:cNvSpPr txBox="1"/>
          <p:nvPr/>
        </p:nvSpPr>
        <p:spPr>
          <a:xfrm>
            <a:off x="7731125" y="2782888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6328" name="Text Box 40"/>
          <p:cNvSpPr txBox="1"/>
          <p:nvPr/>
        </p:nvSpPr>
        <p:spPr>
          <a:xfrm>
            <a:off x="8378825" y="2782888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6329" name="Text Box 41"/>
          <p:cNvSpPr txBox="1"/>
          <p:nvPr/>
        </p:nvSpPr>
        <p:spPr>
          <a:xfrm>
            <a:off x="9028113" y="2782888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6330" name="Text Box 42"/>
          <p:cNvSpPr txBox="1"/>
          <p:nvPr/>
        </p:nvSpPr>
        <p:spPr>
          <a:xfrm>
            <a:off x="5448300" y="4221163"/>
            <a:ext cx="2735263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先序遍历完毕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396332" name="Text Box 44"/>
          <p:cNvSpPr txBox="1">
            <a:spLocks noChangeArrowheads="1"/>
          </p:cNvSpPr>
          <p:nvPr/>
        </p:nvSpPr>
        <p:spPr bwMode="auto">
          <a:xfrm>
            <a:off x="186055" y="53340"/>
            <a:ext cx="9408795" cy="76835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先序非递归算法1动画演示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9DC0BE1-E115-48B7-9F87-E40F8D1D1DD5}" type="slidenum">
              <a:rPr kumimoji="0" lang="en-US" altLang="zh-CN" sz="1200" b="1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5269" name="Text Box 5"/>
          <p:cNvSpPr txBox="1">
            <a:spLocks noChangeArrowheads="1"/>
          </p:cNvSpPr>
          <p:nvPr/>
        </p:nvSpPr>
        <p:spPr bwMode="auto">
          <a:xfrm>
            <a:off x="7101204" y="3710305"/>
            <a:ext cx="5090795" cy="3293745"/>
          </a:xfrm>
          <a:prstGeom prst="rect">
            <a:avLst/>
          </a:prstGeom>
          <a:noFill/>
          <a:ln w="12700" cmpd="sng">
            <a:solidFill>
              <a:srgbClr val="3366FF"/>
            </a:solidFill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08000" bIns="108000">
            <a:spAutoFit/>
          </a:bodyPr>
          <a:p>
            <a:pPr algn="l" fontAlgn="base"/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if (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当前</a:t>
            </a:r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树不空</a:t>
            </a:r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en-US" altLang="zh-CN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根结点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</a:t>
            </a:r>
            <a:r>
              <a:rPr lang="zh-CN" altLang="en-US" sz="20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en-US" altLang="zh-CN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while </a:t>
            </a:r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20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en-US" altLang="zh-CN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zh-CN" altLang="en-US" sz="2000" strike="noStrike" noProof="1" smtClean="0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出栈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并访问之</a:t>
            </a:r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en-US" altLang="zh-CN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若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结点有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右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孩子，将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其右孩子</a:t>
            </a:r>
            <a:r>
              <a:rPr lang="zh-CN" altLang="en-US" sz="20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； </a:t>
            </a:r>
            <a:endParaRPr lang="zh-CN" altLang="en-US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若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结点有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左</a:t>
            </a:r>
            <a:r>
              <a:rPr lang="zh-CN" altLang="en-US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孩子，将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其左孩子</a:t>
            </a:r>
            <a:r>
              <a:rPr lang="zh-CN" altLang="en-US" sz="2000" strike="noStrike" noProof="1">
                <a:solidFill>
                  <a:srgbClr val="C0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；</a:t>
            </a:r>
            <a:endParaRPr lang="zh-CN" altLang="en-US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0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20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2000" b="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11111E-6 L 4.44444E-6 0.58797 " pathEditMode="relative" ptsTypes="AA">
                                      <p:cBhvr>
                                        <p:cTn id="6" dur="2000" fill="hold"/>
                                        <p:tgtEl>
                                          <p:spTgt spid="396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.58287 C 0.01666 0.43797 0.0335 0.29352 0.05694 0.24051 C 0.08038 0.18727 0.11024 0.2257 0.14027 0.26436 " pathEditMode="fixed" rAng="0" ptsTypes="aaA">
                                      <p:cBhvr>
                                        <p:cTn id="10" dur="2000" fill="hold"/>
                                        <p:tgtEl>
                                          <p:spTgt spid="396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2000"/>
                                        <p:tgtEl>
                                          <p:spTgt spid="396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9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2662 L -0.06302 0.49907 " pathEditMode="relative" ptsTypes="AA">
                                      <p:cBhvr>
                                        <p:cTn id="22" dur="20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2662 L 0.05521 0.4361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21 0.42546 C 0.06302 0.29306 0.071 0.16088 0.11354 0.12014 C 0.15607 0.0794 0.23333 0.13009 0.31076 0.18102 " pathEditMode="fixed" rAng="0" ptsTypes="aaA">
                                      <p:cBhvr>
                                        <p:cTn id="30" dur="2000" fill="hold"/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0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20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9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12 2.59259E-6 C 0.03489 0.04236 0.07708 0.08495 0.09791 0.1419 C 0.11892 0.19884 0.1184 0.27014 0.11805 0.34166 " pathEditMode="relative" rAng="0" ptsTypes="aaA">
                                      <p:cBhvr>
                                        <p:cTn id="42" dur="2000" fill="hold"/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58 0.34143 C 0.12222 0.29282 0.10434 0.09467 0.15486 0.0493 C 0.20538 0.00393 0.36372 0.06505 0.41858 0.06921 " pathEditMode="fixed" rAng="0" ptsTypes="aaa">
                                      <p:cBhvr>
                                        <p:cTn id="46" dur="2000" fill="hold"/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0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20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9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22222E-6 L 0.05504 0.25208 " pathEditMode="relative" ptsTypes="AA">
                                      <p:cBhvr>
                                        <p:cTn id="58" dur="2000" fill="hold"/>
                                        <p:tgtEl>
                                          <p:spTgt spid="396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68 0.26667 C 0.07048 0.2169 0.0658 0.0081 0.12951 -0.03148 C 0.19323 -0.07107 0.37621 0.01667 0.44114 0.02917 " pathEditMode="fixed" rAng="0" ptsTypes="aaa">
                                      <p:cBhvr>
                                        <p:cTn id="62" dur="2000" fill="hold"/>
                                        <p:tgtEl>
                                          <p:spTgt spid="396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-10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20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2000"/>
                                        <p:tgtEl>
                                          <p:spTgt spid="396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9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407 0.48866 C -0.05539 0.43009 -0.09132 0.18796 -0.01233 0.13727 C 0.06666 0.08657 0.3217 0.17477 0.40955 0.18449 " pathEditMode="fixed" rAng="0" ptsTypes="aaa">
                                      <p:cBhvr>
                                        <p:cTn id="77" dur="20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-20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2000"/>
                                        <p:tgtEl>
                                          <p:spTgt spid="396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9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59259E-6 C -0.01302 0.01342 -0.06076 0.04398 -0.07864 0.08102 C -0.09652 0.11805 -0.10138 0.16643 -0.10781 0.22176 C -0.11423 0.27708 -0.11545 0.37268 -0.11753 0.4125 " pathEditMode="fixed" rAng="0" ptsTypes="aaaa">
                                      <p:cBhvr>
                                        <p:cTn id="89" dur="2000" fill="hold"/>
                                        <p:tgtEl>
                                          <p:spTgt spid="396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C 0.00521 0.04676 0.0099 0.0912 0.00972 0.14629 C 0.00955 0.20139 0.00139 0.29259 -0.00087 0.33102 " pathEditMode="relative" rAng="0" ptsTypes="aaa">
                                      <p:cBhvr>
                                        <p:cTn id="93" dur="2000" fill="hold"/>
                                        <p:tgtEl>
                                          <p:spTgt spid="396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87 0.34213 C 0.01354 0.29282 -0.00608 0.08912 0.08524 0.04768 C 0.17656 0.00625 0.45104 0.08403 0.54722 0.09352 " pathEditMode="fixed" rAng="0" ptsTypes="aaa">
                                      <p:cBhvr>
                                        <p:cTn id="97" dur="2000" fill="hold"/>
                                        <p:tgtEl>
                                          <p:spTgt spid="396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-10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2000"/>
                                        <p:tgtEl>
                                          <p:spTgt spid="396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9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065 0.41504 C -0.12083 0.37291 -0.13281 0.22268 -0.1217 0.1625 C -0.11059 0.10231 -0.09114 0.06944 -0.05364 0.05324 C -0.01614 0.03703 0.01181 0.05694 0.10348 0.06551 C 0.19514 0.07407 0.41424 0.09606 0.49601 0.10416 " pathEditMode="fixed" rAng="0" ptsTypes="aaaaa">
                                      <p:cBhvr>
                                        <p:cTn id="109" dur="2000" fill="hold"/>
                                        <p:tgtEl>
                                          <p:spTgt spid="396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" y="-100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2000"/>
                                        <p:tgtEl>
                                          <p:spTgt spid="396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39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315" grpId="0" bldLvl="0" animBg="1"/>
      <p:bldP spid="396315" grpId="1" bldLvl="0" animBg="1"/>
      <p:bldP spid="396315" grpId="2" bldLvl="0" animBg="1"/>
      <p:bldP spid="396316" grpId="0" bldLvl="0" animBg="1"/>
      <p:bldP spid="396316" grpId="1" bldLvl="0" animBg="1"/>
      <p:bldP spid="396316" grpId="2" bldLvl="0" animBg="1"/>
      <p:bldP spid="396317" grpId="0" bldLvl="0" animBg="1"/>
      <p:bldP spid="396317" grpId="1" bldLvl="0" animBg="1"/>
      <p:bldP spid="396317" grpId="2" bldLvl="0" animBg="1"/>
      <p:bldP spid="396318" grpId="0" bldLvl="0" animBg="1"/>
      <p:bldP spid="396318" grpId="1" bldLvl="0" animBg="1"/>
      <p:bldP spid="396318" grpId="2" bldLvl="0" animBg="1"/>
      <p:bldP spid="396318" grpId="3" bldLvl="0" animBg="1"/>
      <p:bldP spid="396319" grpId="0" bldLvl="0" animBg="1"/>
      <p:bldP spid="396319" grpId="1" bldLvl="0" animBg="1"/>
      <p:bldP spid="396319" grpId="2" bldLvl="0" animBg="1"/>
      <p:bldP spid="396320" grpId="0" bldLvl="0" animBg="1"/>
      <p:bldP spid="396320" grpId="1" bldLvl="0" animBg="1"/>
      <p:bldP spid="396320" grpId="2" bldLvl="0" animBg="1"/>
      <p:bldP spid="396321" grpId="0" bldLvl="0" animBg="1"/>
      <p:bldP spid="396321" grpId="1" bldLvl="0" animBg="1"/>
      <p:bldP spid="396321" grpId="2" bldLvl="0" animBg="1"/>
      <p:bldP spid="396323" grpId="0" bldLvl="0" animBg="1"/>
      <p:bldP spid="396324" grpId="0" bldLvl="0" animBg="1"/>
      <p:bldP spid="396325" grpId="0" bldLvl="0" animBg="1"/>
      <p:bldP spid="396326" grpId="0" bldLvl="0" animBg="1"/>
      <p:bldP spid="396327" grpId="0" bldLvl="0" animBg="1"/>
      <p:bldP spid="396328" grpId="0" bldLvl="0" animBg="1"/>
      <p:bldP spid="396329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Text Box 1026"/>
          <p:cNvSpPr txBox="1">
            <a:spLocks noChangeArrowheads="1"/>
          </p:cNvSpPr>
          <p:nvPr/>
        </p:nvSpPr>
        <p:spPr bwMode="auto">
          <a:xfrm>
            <a:off x="2063750" y="785495"/>
            <a:ext cx="8997950" cy="579120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5">
                        <a:tint val="50000"/>
                        <a:satMod val="300000"/>
                      </a:schemeClr>
                    </a:gs>
                    <a:gs pos="35000">
                      <a:schemeClr val="accent5">
                        <a:tint val="37000"/>
                        <a:satMod val="300000"/>
                      </a:schemeClr>
                    </a:gs>
                    <a:gs pos="100000">
                      <a:schemeClr val="accent5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44000" bIns="108000">
            <a:spAutoFit/>
          </a:bodyPr>
          <a:lstStyle/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void PreOrder1(BTNode *b)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BTNode *p;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SqStack *st;	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定义栈指针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InitStack(st);	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初始化栈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if (b!=NULL) 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Push(st，b);	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根结点进栈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while (!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StackEmpty(st)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栈不为空时循环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{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Pop(st，p);	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退栈结点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并访问它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printf("%c "，p-&gt;data);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if (p-&gt;rchild!=NULL)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有右孩子时将其进栈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Push(st，p-&gt;rchild);</a:t>
            </a:r>
            <a:endParaRPr lang="zh-CN" altLang="en-US" sz="2000" strike="noStrike" noProof="1" smtClean="0">
              <a:solidFill>
                <a:srgbClr val="FF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if (p-&gt;lchild!=NULL)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有左孩子时将其进栈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 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Push(st，p-&gt;lchild);</a:t>
            </a:r>
            <a:endParaRPr lang="zh-CN" altLang="en-US" sz="2000" strike="noStrike" noProof="1" smtClean="0">
              <a:solidFill>
                <a:srgbClr val="FF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}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printf("\n");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DestroyStack(st);	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销毁栈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kumimoji="1" lang="en-US" altLang="zh-CN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sp>
        <p:nvSpPr>
          <p:cNvPr id="145413" name="Rectangle 1029"/>
          <p:cNvSpPr txBox="1">
            <a:spLocks noChangeArrowheads="1"/>
          </p:cNvSpPr>
          <p:nvPr/>
        </p:nvSpPr>
        <p:spPr bwMode="auto">
          <a:xfrm>
            <a:off x="422910" y="142875"/>
            <a:ext cx="6316342" cy="64516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先序遍历非递归算法1如下：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9012" name="Text Box 4"/>
          <p:cNvSpPr txBox="1">
            <a:spLocks noChangeArrowheads="1"/>
          </p:cNvSpPr>
          <p:nvPr/>
        </p:nvSpPr>
        <p:spPr bwMode="auto">
          <a:xfrm>
            <a:off x="302260" y="42544"/>
            <a:ext cx="8540115" cy="76835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2. 先序遍历非递归算法2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9015" name="Oval 7"/>
          <p:cNvSpPr>
            <a:spLocks noChangeArrowheads="1"/>
          </p:cNvSpPr>
          <p:nvPr/>
        </p:nvSpPr>
        <p:spPr bwMode="auto">
          <a:xfrm>
            <a:off x="5519738" y="1989138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299016" name="Oval 8"/>
          <p:cNvSpPr>
            <a:spLocks noChangeArrowheads="1"/>
          </p:cNvSpPr>
          <p:nvPr/>
        </p:nvSpPr>
        <p:spPr bwMode="auto">
          <a:xfrm>
            <a:off x="5016500" y="2708275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299017" name="Oval 9"/>
          <p:cNvSpPr>
            <a:spLocks noChangeArrowheads="1"/>
          </p:cNvSpPr>
          <p:nvPr/>
        </p:nvSpPr>
        <p:spPr bwMode="auto">
          <a:xfrm>
            <a:off x="4583113" y="3429000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71685" name="Line 10"/>
          <p:cNvSpPr/>
          <p:nvPr/>
        </p:nvSpPr>
        <p:spPr>
          <a:xfrm flipH="1">
            <a:off x="5808663" y="1700213"/>
            <a:ext cx="215900" cy="288925"/>
          </a:xfrm>
          <a:prstGeom prst="line">
            <a:avLst/>
          </a:prstGeom>
          <a:ln w="38100" cap="flat" cmpd="sng">
            <a:solidFill>
              <a:srgbClr val="663300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9019" name="Freeform 11"/>
          <p:cNvSpPr/>
          <p:nvPr/>
        </p:nvSpPr>
        <p:spPr bwMode="auto">
          <a:xfrm>
            <a:off x="5334000" y="2324100"/>
            <a:ext cx="285750" cy="400050"/>
          </a:xfrm>
          <a:custGeom>
            <a:avLst/>
            <a:gdLst/>
            <a:ahLst/>
            <a:cxnLst>
              <a:cxn ang="0">
                <a:pos x="180" y="0"/>
              </a:cxn>
              <a:cxn ang="0">
                <a:pos x="0" y="252"/>
              </a:cxn>
            </a:cxnLst>
            <a:rect l="0" t="0" r="r" b="b"/>
            <a:pathLst>
              <a:path w="180" h="252">
                <a:moveTo>
                  <a:pt x="180" y="0"/>
                </a:moveTo>
                <a:lnTo>
                  <a:pt x="0" y="252"/>
                </a:lnTo>
              </a:path>
            </a:pathLst>
          </a:custGeom>
          <a:ln>
            <a:headEnd type="none" w="med" len="med"/>
            <a:tailEnd type="none" w="med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/>
          </a:p>
        </p:txBody>
      </p:sp>
      <p:sp>
        <p:nvSpPr>
          <p:cNvPr id="299020" name="Freeform 12"/>
          <p:cNvSpPr/>
          <p:nvPr/>
        </p:nvSpPr>
        <p:spPr bwMode="auto">
          <a:xfrm>
            <a:off x="4873625" y="3035300"/>
            <a:ext cx="250825" cy="393700"/>
          </a:xfrm>
          <a:custGeom>
            <a:avLst/>
            <a:gdLst>
              <a:gd name="connsiteX0" fmla="*/ 158 w 158"/>
              <a:gd name="connsiteY0" fmla="*/ 0 h 248"/>
              <a:gd name="connsiteX1" fmla="*/ 0 w 158"/>
              <a:gd name="connsiteY1" fmla="*/ 248 h 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8" h="248">
                <a:moveTo>
                  <a:pt x="158" y="0"/>
                </a:moveTo>
                <a:lnTo>
                  <a:pt x="0" y="248"/>
                </a:lnTo>
              </a:path>
            </a:pathLst>
          </a:custGeom>
          <a:ln>
            <a:headEnd type="none" w="med" len="med"/>
            <a:tailEnd type="none" w="med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/>
          </a:p>
        </p:txBody>
      </p:sp>
      <p:sp>
        <p:nvSpPr>
          <p:cNvPr id="299021" name="Freeform 13"/>
          <p:cNvSpPr/>
          <p:nvPr/>
        </p:nvSpPr>
        <p:spPr bwMode="auto">
          <a:xfrm>
            <a:off x="5886450" y="2311400"/>
            <a:ext cx="374650" cy="444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6" y="280"/>
              </a:cxn>
            </a:cxnLst>
            <a:rect l="0" t="0" r="r" b="b"/>
            <a:pathLst>
              <a:path w="236" h="280">
                <a:moveTo>
                  <a:pt x="0" y="0"/>
                </a:moveTo>
                <a:lnTo>
                  <a:pt x="236" y="280"/>
                </a:lnTo>
              </a:path>
            </a:pathLst>
          </a:custGeom>
          <a:ln>
            <a:headEnd type="none" w="med" len="med"/>
            <a:tailEnd type="none" w="med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/>
          </a:p>
        </p:txBody>
      </p:sp>
      <p:sp>
        <p:nvSpPr>
          <p:cNvPr id="299022" name="Line 14"/>
          <p:cNvSpPr>
            <a:spLocks noChangeShapeType="1"/>
          </p:cNvSpPr>
          <p:nvPr/>
        </p:nvSpPr>
        <p:spPr bwMode="auto">
          <a:xfrm>
            <a:off x="4943475" y="3716338"/>
            <a:ext cx="360363" cy="360363"/>
          </a:xfrm>
          <a:prstGeom prst="line">
            <a:avLst/>
          </a:prstGeom>
          <a:ln>
            <a:tailEnd type="none" w="med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/>
          </a:p>
        </p:txBody>
      </p:sp>
      <p:sp>
        <p:nvSpPr>
          <p:cNvPr id="299023" name="AutoShape 15"/>
          <p:cNvSpPr>
            <a:spLocks noChangeArrowheads="1"/>
          </p:cNvSpPr>
          <p:nvPr/>
        </p:nvSpPr>
        <p:spPr bwMode="auto">
          <a:xfrm>
            <a:off x="4943475" y="4076700"/>
            <a:ext cx="719138" cy="503238"/>
          </a:xfrm>
          <a:prstGeom prst="triangle">
            <a:avLst>
              <a:gd name="adj" fmla="val 50000"/>
            </a:avLst>
          </a:prstGeom>
          <a:ln>
            <a:tailEnd type="none" w="med" len="lg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299024" name="Freeform 16"/>
          <p:cNvSpPr/>
          <p:nvPr/>
        </p:nvSpPr>
        <p:spPr bwMode="auto">
          <a:xfrm>
            <a:off x="5375275" y="3019425"/>
            <a:ext cx="339725" cy="4222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66"/>
              </a:cxn>
            </a:cxnLst>
            <a:rect l="0" t="0" r="r" b="b"/>
            <a:pathLst>
              <a:path w="214" h="266">
                <a:moveTo>
                  <a:pt x="0" y="0"/>
                </a:moveTo>
                <a:lnTo>
                  <a:pt x="214" y="266"/>
                </a:lnTo>
              </a:path>
            </a:pathLst>
          </a:custGeom>
          <a:ln>
            <a:headEnd type="none" w="med" len="med"/>
            <a:tailEnd type="none" w="med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/>
          </a:p>
        </p:txBody>
      </p:sp>
      <p:sp>
        <p:nvSpPr>
          <p:cNvPr id="71692" name="Text Box 17"/>
          <p:cNvSpPr txBox="1"/>
          <p:nvPr/>
        </p:nvSpPr>
        <p:spPr>
          <a:xfrm>
            <a:off x="6024563" y="1484313"/>
            <a:ext cx="28733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99026" name="Text Box 18"/>
          <p:cNvSpPr txBox="1"/>
          <p:nvPr/>
        </p:nvSpPr>
        <p:spPr>
          <a:xfrm>
            <a:off x="2309813" y="3851275"/>
            <a:ext cx="2305050" cy="584200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重点：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</a:rPr>
              <a:t>这个最左下结点，没有左子树</a:t>
            </a:r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4656138" y="2786063"/>
            <a:ext cx="296862" cy="642937"/>
            <a:chOff x="1973" y="1755"/>
            <a:chExt cx="187" cy="405"/>
          </a:xfrm>
        </p:grpSpPr>
        <p:sp>
          <p:nvSpPr>
            <p:cNvPr id="71695" name="Line 19"/>
            <p:cNvSpPr/>
            <p:nvPr/>
          </p:nvSpPr>
          <p:spPr>
            <a:xfrm>
              <a:off x="1973" y="1979"/>
              <a:ext cx="45" cy="18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71696" name="Text Box 20"/>
            <p:cNvSpPr txBox="1"/>
            <p:nvPr/>
          </p:nvSpPr>
          <p:spPr>
            <a:xfrm>
              <a:off x="1979" y="1755"/>
              <a:ext cx="181" cy="21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0" i="1">
                  <a:latin typeface="Consolas" panose="020B0609020204030204" pitchFamily="49" charset="0"/>
                  <a:ea typeface="宋体" panose="02010600030101010101" pitchFamily="2" charset="-122"/>
                </a:rPr>
                <a:t>p</a:t>
              </a:r>
              <a:endParaRPr lang="en-US" altLang="zh-CN" sz="2200" i="1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4"/>
          <p:cNvGrpSpPr/>
          <p:nvPr/>
        </p:nvGrpSpPr>
        <p:grpSpPr>
          <a:xfrm>
            <a:off x="4437063" y="998538"/>
            <a:ext cx="1152525" cy="2482850"/>
            <a:chOff x="1835" y="629"/>
            <a:chExt cx="726" cy="1564"/>
          </a:xfrm>
        </p:grpSpPr>
        <p:sp>
          <p:nvSpPr>
            <p:cNvPr id="71698" name="Line 21"/>
            <p:cNvSpPr/>
            <p:nvPr/>
          </p:nvSpPr>
          <p:spPr>
            <a:xfrm flipH="1">
              <a:off x="1835" y="1071"/>
              <a:ext cx="726" cy="953"/>
            </a:xfrm>
            <a:prstGeom prst="line">
              <a:avLst/>
            </a:prstGeom>
            <a:ln w="38100" cap="flat" cmpd="sng">
              <a:solidFill>
                <a:srgbClr val="3366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699" name="Text Box 22"/>
            <p:cNvSpPr txBox="1"/>
            <p:nvPr/>
          </p:nvSpPr>
          <p:spPr>
            <a:xfrm rot="-3154569">
              <a:off x="1305" y="1295"/>
              <a:ext cx="1564" cy="23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①</a:t>
              </a:r>
              <a:r>
                <a:rPr lang="en-US" altLang="zh-CN" sz="1800">
                  <a:solidFill>
                    <a:srgbClr val="990099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 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charset="-122"/>
                </a:rPr>
                <a:t>边访问边进栈</a:t>
              </a:r>
              <a:endParaRPr lang="zh-CN" altLang="en-US" sz="180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grpSp>
        <p:nvGrpSpPr>
          <p:cNvPr id="4" name="Group 28"/>
          <p:cNvGrpSpPr/>
          <p:nvPr/>
        </p:nvGrpSpPr>
        <p:grpSpPr>
          <a:xfrm>
            <a:off x="5321300" y="3568700"/>
            <a:ext cx="2774950" cy="1135063"/>
            <a:chOff x="2392" y="2248"/>
            <a:chExt cx="1748" cy="715"/>
          </a:xfrm>
        </p:grpSpPr>
        <p:sp>
          <p:nvSpPr>
            <p:cNvPr id="71701" name="Text Box 23"/>
            <p:cNvSpPr txBox="1"/>
            <p:nvPr/>
          </p:nvSpPr>
          <p:spPr>
            <a:xfrm>
              <a:off x="2699" y="2614"/>
              <a:ext cx="1441" cy="34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②</a:t>
              </a:r>
              <a:r>
                <a:rPr lang="zh-CN" altLang="en-US" sz="1800">
                  <a:solidFill>
                    <a:srgbClr val="7030A0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 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=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1800">
                  <a:latin typeface="Consolas" panose="020B0609020204030204" pitchFamily="49" charset="0"/>
                  <a:ea typeface="宋体" panose="02010600030101010101" pitchFamily="2" charset="-122"/>
                </a:rPr>
                <a:t>-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&gt;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rchild</a:t>
              </a:r>
              <a:r>
                <a:rPr lang="zh-CN" altLang="en-US" sz="1800">
                  <a:latin typeface="Consolas" panose="020B0609020204030204" pitchFamily="49" charset="0"/>
                  <a:ea typeface="微软雅黑" panose="020B0503020204020204" charset="-122"/>
                </a:rPr>
                <a:t>转向右子树做相同的工作</a:t>
              </a:r>
              <a:endParaRPr lang="zh-CN" altLang="en-US" sz="18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71702" name="Freeform 25"/>
            <p:cNvSpPr/>
            <p:nvPr/>
          </p:nvSpPr>
          <p:spPr>
            <a:xfrm>
              <a:off x="2392" y="2342"/>
              <a:ext cx="80" cy="226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0" y="226"/>
                </a:cxn>
              </a:cxnLst>
              <a:pathLst>
                <a:path w="80" h="226">
                  <a:moveTo>
                    <a:pt x="80" y="0"/>
                  </a:moveTo>
                  <a:lnTo>
                    <a:pt x="0" y="226"/>
                  </a:lnTo>
                </a:path>
              </a:pathLst>
            </a:custGeom>
            <a:noFill/>
            <a:ln w="38100" cap="flat" cmpd="sng">
              <a:solidFill>
                <a:srgbClr val="66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03" name="Text Box 26"/>
            <p:cNvSpPr txBox="1"/>
            <p:nvPr/>
          </p:nvSpPr>
          <p:spPr>
            <a:xfrm>
              <a:off x="2517" y="2248"/>
              <a:ext cx="181" cy="21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0" i="1">
                  <a:latin typeface="Consolas" panose="020B0609020204030204" pitchFamily="49" charset="0"/>
                  <a:ea typeface="宋体" panose="02010600030101010101" pitchFamily="2" charset="-122"/>
                </a:rPr>
                <a:t>p</a:t>
              </a:r>
              <a:endParaRPr lang="en-US" altLang="zh-CN" sz="2200" i="1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704" name="Text Box 29"/>
          <p:cNvSpPr txBox="1"/>
          <p:nvPr/>
        </p:nvSpPr>
        <p:spPr>
          <a:xfrm>
            <a:off x="2952750" y="928688"/>
            <a:ext cx="4103688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用于结点遍历，初始时</a:t>
            </a: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en-US" altLang="zh-CN" sz="2000">
                <a:latin typeface="Consolas" panose="020B0609020204030204" pitchFamily="49" charset="0"/>
                <a:ea typeface="微软雅黑" panose="020B0503020204020204" charset="-122"/>
              </a:rPr>
              <a:t>=</a:t>
            </a: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b</a:t>
            </a:r>
            <a:endParaRPr lang="en-US" altLang="zh-CN" sz="2000" i="1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rot="16200000" flipH="1">
            <a:off x="4570413" y="3513138"/>
            <a:ext cx="785813" cy="785813"/>
          </a:xfrm>
          <a:prstGeom prst="straightConnector1">
            <a:avLst/>
          </a:prstGeom>
          <a:ln w="38100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095500" y="5143500"/>
            <a:ext cx="7715250" cy="809625"/>
            <a:chOff x="571472" y="5429264"/>
            <a:chExt cx="7715304" cy="808990"/>
          </a:xfrm>
        </p:grpSpPr>
        <p:sp>
          <p:nvSpPr>
            <p:cNvPr id="71707" name="TextBox 28"/>
            <p:cNvSpPr txBox="1"/>
            <p:nvPr/>
          </p:nvSpPr>
          <p:spPr>
            <a:xfrm>
              <a:off x="571472" y="5429264"/>
              <a:ext cx="3857652" cy="8089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栈中结点均已经访问</a:t>
              </a:r>
              <a:endParaRPr lang="en-US" altLang="zh-CN" sz="2000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指向刚刚出栈结点的右子树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71708" name="TextBox 29"/>
            <p:cNvSpPr txBox="1"/>
            <p:nvPr/>
          </p:nvSpPr>
          <p:spPr>
            <a:xfrm>
              <a:off x="5214942" y="5572140"/>
              <a:ext cx="3071834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栈空且</a:t>
              </a: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2000">
                  <a:latin typeface="Consolas" panose="020B0609020204030204" pitchFamily="49" charset="0"/>
                  <a:ea typeface="微软雅黑" panose="020B0503020204020204" charset="-122"/>
                </a:rPr>
                <a:t>=NULL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结束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31" name="右箭头 30"/>
            <p:cNvSpPr/>
            <p:nvPr/>
          </p:nvSpPr>
          <p:spPr>
            <a:xfrm>
              <a:off x="4643438" y="5643578"/>
              <a:ext cx="571504" cy="285752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9DC0BE1-E115-48B7-9F87-E40F8D1D1DD5}" type="slidenum">
              <a:rPr kumimoji="0" lang="en-US" altLang="zh-CN" sz="1200" b="1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299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26" grpId="0" bldLvl="0" animBg="1"/>
      <p:bldP spid="299026" grpId="1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1797050" y="698500"/>
            <a:ext cx="8597900" cy="5016500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88000" tIns="108000" bIns="108000">
            <a:spAutoFit/>
          </a:bodyPr>
          <a:lstStyle/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b;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while 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栈不空或者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p!=NULL)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(p!=NULL)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</a:t>
            </a:r>
            <a:r>
              <a:rPr lang="zh-CN" altLang="en-US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访问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所</a:t>
            </a:r>
            <a:r>
              <a:rPr lang="zh-CN" altLang="en-US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指结点</a:t>
            </a:r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将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进栈；</a:t>
            </a:r>
            <a:endParaRPr lang="zh-CN" altLang="en-US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</a:t>
            </a:r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p=p-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&gt;lchild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</a:t>
            </a:r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}</a:t>
            </a:r>
            <a:endParaRPr lang="en-US" altLang="zh-CN" sz="2400" strike="noStrike" noProof="1" smtClean="0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//</a:t>
            </a:r>
            <a:r>
              <a:rPr lang="zh-CN" altLang="en-US" sz="2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以下考虑栈顶结点</a:t>
            </a:r>
            <a:endParaRPr lang="en-US" altLang="zh-CN" sz="2400" strike="noStrike" noProof="1">
              <a:solidFill>
                <a:srgbClr val="FF000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</a:t>
            </a:r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if 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 </a:t>
            </a:r>
            <a:endParaRPr lang="en-US" altLang="zh-CN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；</a:t>
            </a:r>
            <a:endParaRPr lang="zh-CN" altLang="en-US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　</a:t>
            </a:r>
            <a:r>
              <a:rPr lang="zh-CN" altLang="en-US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</a:t>
            </a:r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p-&gt;rchild;</a:t>
            </a:r>
            <a:endParaRPr lang="en-US" altLang="zh-CN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en-US" altLang="zh-CN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2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sp>
        <p:nvSpPr>
          <p:cNvPr id="397317" name="Rectangle 5"/>
          <p:cNvSpPr txBox="1">
            <a:spLocks noChangeArrowheads="1"/>
          </p:cNvSpPr>
          <p:nvPr/>
        </p:nvSpPr>
        <p:spPr bwMode="auto">
          <a:xfrm>
            <a:off x="276225" y="-4447"/>
            <a:ext cx="9167495" cy="64516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先序遍历非递归过程2如下：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190750" y="5849938"/>
            <a:ext cx="7072313" cy="808037"/>
            <a:chOff x="571472" y="5429264"/>
            <a:chExt cx="7072362" cy="808990"/>
          </a:xfrm>
        </p:grpSpPr>
        <p:sp>
          <p:nvSpPr>
            <p:cNvPr id="72708" name="TextBox 3"/>
            <p:cNvSpPr txBox="1"/>
            <p:nvPr/>
          </p:nvSpPr>
          <p:spPr>
            <a:xfrm>
              <a:off x="571472" y="5429264"/>
              <a:ext cx="3857652" cy="8089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栈中结点均已经访问</a:t>
              </a:r>
              <a:endParaRPr lang="en-US" altLang="zh-CN" sz="2000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指向刚刚出栈结点的右子树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72709" name="TextBox 4"/>
            <p:cNvSpPr txBox="1"/>
            <p:nvPr/>
          </p:nvSpPr>
          <p:spPr>
            <a:xfrm>
              <a:off x="5214942" y="5572140"/>
              <a:ext cx="2428892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栈空且</a:t>
              </a: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2000">
                  <a:latin typeface="Consolas" panose="020B0609020204030204" pitchFamily="49" charset="0"/>
                  <a:ea typeface="微软雅黑" panose="020B0503020204020204" charset="-122"/>
                </a:rPr>
                <a:t>=NULL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结束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6" name="右箭头 5"/>
            <p:cNvSpPr/>
            <p:nvPr/>
          </p:nvSpPr>
          <p:spPr>
            <a:xfrm>
              <a:off x="4643438" y="5643578"/>
              <a:ext cx="571504" cy="285752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8" name="Line 2"/>
          <p:cNvSpPr>
            <a:spLocks noChangeShapeType="1"/>
          </p:cNvSpPr>
          <p:nvPr/>
        </p:nvSpPr>
        <p:spPr bwMode="auto">
          <a:xfrm>
            <a:off x="2671763" y="2452688"/>
            <a:ext cx="288925" cy="287338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39" name="Line 3"/>
          <p:cNvSpPr>
            <a:spLocks noChangeShapeType="1"/>
          </p:cNvSpPr>
          <p:nvPr/>
        </p:nvSpPr>
        <p:spPr bwMode="auto">
          <a:xfrm flipH="1">
            <a:off x="3214688" y="1290638"/>
            <a:ext cx="287338" cy="28733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0" name="Freeform 4"/>
          <p:cNvSpPr/>
          <p:nvPr/>
        </p:nvSpPr>
        <p:spPr bwMode="auto">
          <a:xfrm>
            <a:off x="3810000" y="1285875"/>
            <a:ext cx="296863" cy="327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ln w="1905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1" name="Line 5"/>
          <p:cNvSpPr>
            <a:spLocks noChangeShapeType="1"/>
          </p:cNvSpPr>
          <p:nvPr/>
        </p:nvSpPr>
        <p:spPr bwMode="auto">
          <a:xfrm flipH="1">
            <a:off x="2701925" y="1857375"/>
            <a:ext cx="322263" cy="31908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2" name="Line 6"/>
          <p:cNvSpPr>
            <a:spLocks noChangeShapeType="1"/>
          </p:cNvSpPr>
          <p:nvPr/>
        </p:nvSpPr>
        <p:spPr bwMode="auto">
          <a:xfrm flipH="1">
            <a:off x="3781425" y="1895475"/>
            <a:ext cx="287338" cy="28733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3" name="Line 7"/>
          <p:cNvSpPr>
            <a:spLocks noChangeShapeType="1"/>
          </p:cNvSpPr>
          <p:nvPr/>
        </p:nvSpPr>
        <p:spPr bwMode="auto">
          <a:xfrm>
            <a:off x="4310063" y="1857375"/>
            <a:ext cx="287338" cy="331788"/>
          </a:xfrm>
          <a:prstGeom prst="line">
            <a:avLst/>
          </a:prstGeom>
          <a:ln w="19050">
            <a:tailEnd type="arrow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4" name="Oval 8"/>
          <p:cNvSpPr>
            <a:spLocks noChangeArrowheads="1"/>
          </p:cNvSpPr>
          <p:nvPr/>
        </p:nvSpPr>
        <p:spPr bwMode="auto">
          <a:xfrm>
            <a:off x="3430588" y="100330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5" name="Oval 9"/>
          <p:cNvSpPr>
            <a:spLocks noChangeArrowheads="1"/>
          </p:cNvSpPr>
          <p:nvPr/>
        </p:nvSpPr>
        <p:spPr bwMode="auto">
          <a:xfrm>
            <a:off x="2925763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6" name="Oval 10"/>
          <p:cNvSpPr>
            <a:spLocks noChangeArrowheads="1"/>
          </p:cNvSpPr>
          <p:nvPr/>
        </p:nvSpPr>
        <p:spPr bwMode="auto">
          <a:xfrm>
            <a:off x="4006850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7" name="Oval 11"/>
          <p:cNvSpPr>
            <a:spLocks noChangeArrowheads="1"/>
          </p:cNvSpPr>
          <p:nvPr/>
        </p:nvSpPr>
        <p:spPr bwMode="auto">
          <a:xfrm>
            <a:off x="2351088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8" name="Oval 12"/>
          <p:cNvSpPr>
            <a:spLocks noChangeArrowheads="1"/>
          </p:cNvSpPr>
          <p:nvPr/>
        </p:nvSpPr>
        <p:spPr bwMode="auto">
          <a:xfrm>
            <a:off x="3432175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9" name="Oval 13"/>
          <p:cNvSpPr>
            <a:spLocks noChangeArrowheads="1"/>
          </p:cNvSpPr>
          <p:nvPr/>
        </p:nvSpPr>
        <p:spPr bwMode="auto">
          <a:xfrm>
            <a:off x="2925763" y="26590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0" name="Oval 14"/>
          <p:cNvSpPr>
            <a:spLocks noChangeArrowheads="1"/>
          </p:cNvSpPr>
          <p:nvPr/>
        </p:nvSpPr>
        <p:spPr bwMode="auto">
          <a:xfrm>
            <a:off x="4511675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1" name="Line 15"/>
          <p:cNvSpPr>
            <a:spLocks noChangeShapeType="1"/>
          </p:cNvSpPr>
          <p:nvPr/>
        </p:nvSpPr>
        <p:spPr bwMode="auto">
          <a:xfrm>
            <a:off x="3000375" y="3956050"/>
            <a:ext cx="0" cy="1800225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2" name="Line 16"/>
          <p:cNvSpPr>
            <a:spLocks noChangeShapeType="1"/>
          </p:cNvSpPr>
          <p:nvPr/>
        </p:nvSpPr>
        <p:spPr bwMode="auto">
          <a:xfrm>
            <a:off x="4152900" y="3956050"/>
            <a:ext cx="0" cy="1800225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3" name="Line 17"/>
          <p:cNvSpPr>
            <a:spLocks noChangeShapeType="1"/>
          </p:cNvSpPr>
          <p:nvPr/>
        </p:nvSpPr>
        <p:spPr bwMode="auto">
          <a:xfrm>
            <a:off x="3000375" y="5780088"/>
            <a:ext cx="1152525" cy="0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3745" name="Text Box 18"/>
          <p:cNvSpPr txBox="1"/>
          <p:nvPr/>
        </p:nvSpPr>
        <p:spPr>
          <a:xfrm>
            <a:off x="3000375" y="5995988"/>
            <a:ext cx="1152525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楷体" panose="02010609060101010101" pitchFamily="49" charset="-122"/>
              </a:rPr>
              <a:t>一个栈</a:t>
            </a:r>
            <a:endParaRPr lang="zh-CN" altLang="en-US" sz="20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8355" name="Oval 19"/>
          <p:cNvSpPr>
            <a:spLocks noChangeArrowheads="1"/>
          </p:cNvSpPr>
          <p:nvPr/>
        </p:nvSpPr>
        <p:spPr bwMode="auto">
          <a:xfrm>
            <a:off x="3430588" y="100330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6" name="Oval 20"/>
          <p:cNvSpPr>
            <a:spLocks noChangeArrowheads="1"/>
          </p:cNvSpPr>
          <p:nvPr/>
        </p:nvSpPr>
        <p:spPr bwMode="auto">
          <a:xfrm>
            <a:off x="2925763" y="15795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7" name="Oval 21"/>
          <p:cNvSpPr>
            <a:spLocks noChangeArrowheads="1"/>
          </p:cNvSpPr>
          <p:nvPr/>
        </p:nvSpPr>
        <p:spPr bwMode="auto">
          <a:xfrm>
            <a:off x="4006850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8" name="Oval 22"/>
          <p:cNvSpPr>
            <a:spLocks noChangeArrowheads="1"/>
          </p:cNvSpPr>
          <p:nvPr/>
        </p:nvSpPr>
        <p:spPr bwMode="auto">
          <a:xfrm>
            <a:off x="2351088" y="21558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9" name="Oval 23"/>
          <p:cNvSpPr>
            <a:spLocks noChangeArrowheads="1"/>
          </p:cNvSpPr>
          <p:nvPr/>
        </p:nvSpPr>
        <p:spPr bwMode="auto">
          <a:xfrm>
            <a:off x="3432175" y="21431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60" name="Oval 24"/>
          <p:cNvSpPr>
            <a:spLocks noChangeArrowheads="1"/>
          </p:cNvSpPr>
          <p:nvPr/>
        </p:nvSpPr>
        <p:spPr bwMode="auto">
          <a:xfrm>
            <a:off x="2925763" y="26590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61" name="Oval 25"/>
          <p:cNvSpPr>
            <a:spLocks noChangeArrowheads="1"/>
          </p:cNvSpPr>
          <p:nvPr/>
        </p:nvSpPr>
        <p:spPr bwMode="auto">
          <a:xfrm>
            <a:off x="4511675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3753" name="Text Box 26"/>
          <p:cNvSpPr txBox="1"/>
          <p:nvPr/>
        </p:nvSpPr>
        <p:spPr>
          <a:xfrm>
            <a:off x="5519738" y="2278063"/>
            <a:ext cx="1728787" cy="4302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200">
                <a:latin typeface="Consolas" panose="020B0609020204030204" pitchFamily="49" charset="0"/>
                <a:ea typeface="楷体" panose="02010609060101010101" pitchFamily="49" charset="-122"/>
              </a:rPr>
              <a:t>先序序列：</a:t>
            </a:r>
            <a:endParaRPr lang="zh-CN" altLang="en-US" sz="22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8363" name="Text Box 27"/>
          <p:cNvSpPr txBox="1"/>
          <p:nvPr/>
        </p:nvSpPr>
        <p:spPr>
          <a:xfrm>
            <a:off x="5537200" y="2921000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4" name="Text Box 28"/>
          <p:cNvSpPr txBox="1"/>
          <p:nvPr/>
        </p:nvSpPr>
        <p:spPr>
          <a:xfrm>
            <a:off x="6184900" y="2921000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5" name="Text Box 29"/>
          <p:cNvSpPr txBox="1"/>
          <p:nvPr/>
        </p:nvSpPr>
        <p:spPr>
          <a:xfrm>
            <a:off x="6832600" y="2921000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6" name="Text Box 30"/>
          <p:cNvSpPr txBox="1"/>
          <p:nvPr/>
        </p:nvSpPr>
        <p:spPr>
          <a:xfrm>
            <a:off x="7481888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G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7" name="Text Box 31"/>
          <p:cNvSpPr txBox="1"/>
          <p:nvPr/>
        </p:nvSpPr>
        <p:spPr>
          <a:xfrm>
            <a:off x="8037513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8" name="Text Box 32"/>
          <p:cNvSpPr txBox="1"/>
          <p:nvPr/>
        </p:nvSpPr>
        <p:spPr>
          <a:xfrm>
            <a:off x="8596313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9" name="Text Box 33"/>
          <p:cNvSpPr txBox="1"/>
          <p:nvPr/>
        </p:nvSpPr>
        <p:spPr>
          <a:xfrm>
            <a:off x="9167813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70" name="Text Box 34"/>
          <p:cNvSpPr txBox="1"/>
          <p:nvPr/>
        </p:nvSpPr>
        <p:spPr>
          <a:xfrm>
            <a:off x="6096000" y="4214813"/>
            <a:ext cx="2735263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先序遍历完毕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398377" name="Text Box 41"/>
          <p:cNvSpPr txBox="1">
            <a:spLocks noChangeArrowheads="1"/>
          </p:cNvSpPr>
          <p:nvPr/>
        </p:nvSpPr>
        <p:spPr bwMode="auto">
          <a:xfrm>
            <a:off x="96519" y="100327"/>
            <a:ext cx="9438641" cy="76835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先序非递归算法2动画演示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6" name="直接箭头连接符 55"/>
          <p:cNvCxnSpPr>
            <a:stCxn id="398360" idx="5"/>
          </p:cNvCxnSpPr>
          <p:nvPr/>
        </p:nvCxnSpPr>
        <p:spPr>
          <a:xfrm rot="16200000" flipH="1">
            <a:off x="3249613" y="3011488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398360" idx="3"/>
          </p:cNvCxnSpPr>
          <p:nvPr/>
        </p:nvCxnSpPr>
        <p:spPr>
          <a:xfrm rot="5400000">
            <a:off x="2847181" y="3001169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398360" idx="3"/>
          </p:cNvCxnSpPr>
          <p:nvPr/>
        </p:nvCxnSpPr>
        <p:spPr>
          <a:xfrm rot="16200000" flipH="1">
            <a:off x="3759200" y="25447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398360" idx="3"/>
          </p:cNvCxnSpPr>
          <p:nvPr/>
        </p:nvCxnSpPr>
        <p:spPr>
          <a:xfrm rot="5400000">
            <a:off x="3385344" y="2534444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398360" idx="3"/>
          </p:cNvCxnSpPr>
          <p:nvPr/>
        </p:nvCxnSpPr>
        <p:spPr>
          <a:xfrm rot="16200000" flipH="1">
            <a:off x="4821238" y="25447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98360" idx="3"/>
          </p:cNvCxnSpPr>
          <p:nvPr/>
        </p:nvCxnSpPr>
        <p:spPr>
          <a:xfrm rot="5400000">
            <a:off x="4453731" y="2553494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398360" idx="3"/>
          </p:cNvCxnSpPr>
          <p:nvPr/>
        </p:nvCxnSpPr>
        <p:spPr>
          <a:xfrm rot="5400000">
            <a:off x="2220913" y="2517775"/>
            <a:ext cx="214313" cy="179388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398360" idx="3"/>
          </p:cNvCxnSpPr>
          <p:nvPr/>
        </p:nvCxnSpPr>
        <p:spPr>
          <a:xfrm rot="16200000" flipH="1">
            <a:off x="3249613" y="19732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398360" idx="3"/>
          </p:cNvCxnSpPr>
          <p:nvPr/>
        </p:nvCxnSpPr>
        <p:spPr>
          <a:xfrm rot="16200000" flipH="1">
            <a:off x="3430588" y="838200"/>
            <a:ext cx="198438" cy="11271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3772" name="TextBox 68"/>
          <p:cNvSpPr txBox="1"/>
          <p:nvPr/>
        </p:nvSpPr>
        <p:spPr>
          <a:xfrm>
            <a:off x="3167063" y="642938"/>
            <a:ext cx="357187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zh-CN" altLang="en-US" sz="2000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310313" y="3671888"/>
            <a:ext cx="2286000" cy="398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栈空  且 </a:t>
            </a: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en-US" altLang="zh-CN" sz="2000">
                <a:latin typeface="Consolas" panose="020B0609020204030204" pitchFamily="49" charset="0"/>
                <a:ea typeface="微软雅黑" panose="020B0503020204020204" charset="-122"/>
              </a:rPr>
              <a:t>=NULL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48" name="灯片编号占位符 47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9DC0BE1-E115-48B7-9F87-E40F8D1D1DD5}" type="slidenum">
              <a:rPr kumimoji="0" lang="en-US" altLang="zh-CN" sz="1200" b="1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1">
              <a:solidFill>
                <a:schemeClr val="tx1">
                  <a:tint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7316" name="Text Box 4"/>
          <p:cNvSpPr txBox="1">
            <a:spLocks noChangeArrowheads="1"/>
          </p:cNvSpPr>
          <p:nvPr/>
        </p:nvSpPr>
        <p:spPr bwMode="auto">
          <a:xfrm>
            <a:off x="9169400" y="3795713"/>
            <a:ext cx="2930525" cy="3016250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88000" tIns="108000" bIns="108000">
            <a:spAutoFit/>
          </a:bodyPr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b;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while 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栈不空或者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p!=NULL)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(p!=NULL)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</a:t>
            </a:r>
            <a:r>
              <a:rPr lang="zh-CN" altLang="en-US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访问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所</a:t>
            </a:r>
            <a:r>
              <a:rPr lang="zh-CN" altLang="en-US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指结点</a:t>
            </a:r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将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进栈；</a:t>
            </a:r>
            <a:endParaRPr lang="zh-CN" altLang="en-US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</a:t>
            </a:r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p=p-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&gt;lchild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</a:t>
            </a:r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}</a:t>
            </a:r>
            <a:endParaRPr lang="en-US" altLang="zh-CN" sz="1400" strike="noStrike" noProof="1" smtClean="0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//</a:t>
            </a:r>
            <a:r>
              <a:rPr lang="zh-CN" alt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以下考虑栈顶结点</a:t>
            </a:r>
            <a:endParaRPr lang="en-US" altLang="zh-CN" sz="1400" strike="noStrike" noProof="1">
              <a:solidFill>
                <a:srgbClr val="FF000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</a:t>
            </a:r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if 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 </a:t>
            </a:r>
            <a:endParaRPr lang="en-US" altLang="zh-CN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；</a:t>
            </a:r>
            <a:endParaRPr lang="zh-CN" altLang="en-US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　</a:t>
            </a:r>
            <a:r>
              <a:rPr lang="zh-CN" altLang="en-US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</a:t>
            </a:r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p-&gt;rchild;</a:t>
            </a:r>
            <a:endParaRPr lang="en-US" altLang="zh-CN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en-US" altLang="zh-CN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98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C 0.00087 0.06111 0.00139 0.11852 1.94444E-6 0.22084 C -0.00139 0.32315 -0.00643 0.53172 -0.00816 0.61366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98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98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48148E-6 C -0.00208 -0.01111 -0.00399 -0.02222 0.00104 0.0125 C 0.00608 0.04722 0.02274 0.13472 0.03021 0.20833 C 0.03767 0.28195 0.04271 0.40324 0.04601 0.45463 " pathEditMode="relative" rAng="0" ptsTypes="aaaa">
                                      <p:cBhvr>
                                        <p:cTn id="25" dur="2000" fill="hold"/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983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398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C 0.00209 0.03634 0.00434 0.07268 0.01875 0.10139 C 0.03316 0.13009 0.07136 0.13889 0.08646 0.17222 C 0.10157 0.20555 0.10417 0.2743 0.10886 0.30116 " pathEditMode="relative" rAng="0" ptsTypes="aaaa">
                                      <p:cBhvr>
                                        <p:cTn id="40" dur="2000" fill="hold"/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398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398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11111E-6 C -0.0026 -0.01227 -0.00573 -0.02917 0.00208 0.00833 C 0.0099 0.04583 0.03767 0.17986 0.04705 0.225 " pathEditMode="relative" rAng="0" ptsTypes="aaa">
                                      <p:cBhvr>
                                        <p:cTn id="65" dur="2000" fill="hold"/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7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983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398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5.55112E-17 C -0.00747 0.02639 -0.01476 0.05301 -0.02604 0.11111 C -0.03733 0.16921 -0.06042 0.27986 -0.06771 0.34861 C -0.075 0.41736 -0.06962 0.48773 -0.07014 0.52431 " pathEditMode="relative" rAng="0" ptsTypes="aaaa">
                                      <p:cBhvr>
                                        <p:cTn id="110" dur="2000" fill="hold"/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398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398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C -0.00399 0.02361 -0.00781 0.04398 -0.00937 0.10555 C -0.01094 0.16713 -0.00937 0.31458 -0.00937 0.36967 " pathEditMode="relative" rAng="0" ptsTypes="aaa">
                                      <p:cBhvr>
                                        <p:cTn id="125" dur="2000" fill="hold"/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7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3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 tmFilter="0, 0; .2, .5; .8, .5; 1, 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3" dur="250" autoRev="1" fill="hold"/>
                                        <p:tgtEl>
                                          <p:spTgt spid="398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 tmFilter="0, 0; .2, .5; .8, .5; 1, 0"/>
                                        <p:tgtEl>
                                          <p:spTgt spid="398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6" dur="250" autoRev="1" fill="hold"/>
                                        <p:tgtEl>
                                          <p:spTgt spid="398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22222E-6 C -0.01563 0.00578 -0.03125 0.01157 -0.05 0.05833 C -0.06875 0.10509 -0.09931 0.21713 -0.1125 0.28055 C -0.1257 0.34398 -0.12604 0.40602 -0.12952 0.43889 " pathEditMode="relative" rAng="0" ptsTypes="aaaa">
                                      <p:cBhvr>
                                        <p:cTn id="160" dur="2000" fill="hold"/>
                                        <p:tgtEl>
                                          <p:spTgt spid="398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0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8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2" dur="500"/>
                                        <p:tgtEl>
                                          <p:spTgt spid="398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bldLvl="0" animBg="1"/>
      <p:bldP spid="398339" grpId="0" bldLvl="0" animBg="1"/>
      <p:bldP spid="398340" grpId="0" bldLvl="0" animBg="1"/>
      <p:bldP spid="398341" grpId="0" bldLvl="0" animBg="1"/>
      <p:bldP spid="398342" grpId="0" bldLvl="0" animBg="1"/>
      <p:bldP spid="398343" grpId="0" bldLvl="0" animBg="1"/>
      <p:bldP spid="398355" grpId="0" bldLvl="0" animBg="1"/>
      <p:bldP spid="398355" grpId="1" bldLvl="0" animBg="1"/>
      <p:bldP spid="398355" grpId="2" bldLvl="0" animBg="1"/>
      <p:bldP spid="398356" grpId="0" bldLvl="0" animBg="1"/>
      <p:bldP spid="398356" grpId="1" bldLvl="0" animBg="1"/>
      <p:bldP spid="398356" grpId="2" bldLvl="0" animBg="1"/>
      <p:bldP spid="398357" grpId="0" bldLvl="0" animBg="1"/>
      <p:bldP spid="398357" grpId="1" bldLvl="0" animBg="1"/>
      <p:bldP spid="398357" grpId="2" bldLvl="0" animBg="1"/>
      <p:bldP spid="398358" grpId="0" bldLvl="0" animBg="1"/>
      <p:bldP spid="398358" grpId="1" bldLvl="0" animBg="1"/>
      <p:bldP spid="398358" grpId="2" bldLvl="0" animBg="1"/>
      <p:bldP spid="398359" grpId="0" bldLvl="0" animBg="1"/>
      <p:bldP spid="398359" grpId="1" bldLvl="0" animBg="1"/>
      <p:bldP spid="398359" grpId="2" bldLvl="0" animBg="1"/>
      <p:bldP spid="398360" grpId="0" bldLvl="0" animBg="1"/>
      <p:bldP spid="398360" grpId="1" bldLvl="0" animBg="1"/>
      <p:bldP spid="398360" grpId="2" bldLvl="0" animBg="1"/>
      <p:bldP spid="398361" grpId="0" bldLvl="0" animBg="1"/>
      <p:bldP spid="398361" grpId="1" bldLvl="0" animBg="1"/>
      <p:bldP spid="398361" grpId="2" bldLvl="0" animBg="1"/>
      <p:bldP spid="398363" grpId="0" bldLvl="0" animBg="1"/>
      <p:bldP spid="398364" grpId="0" bldLvl="0" animBg="1"/>
      <p:bldP spid="398365" grpId="0" bldLvl="0" animBg="1"/>
      <p:bldP spid="398366" grpId="0" bldLvl="0" animBg="1"/>
      <p:bldP spid="398367" grpId="0" bldLvl="0" animBg="1"/>
      <p:bldP spid="398368" grpId="0" bldLvl="0" animBg="1"/>
      <p:bldP spid="398369" grpId="0" bldLvl="0" animBg="1"/>
      <p:bldP spid="398370" grpId="0" bldLvl="0" animBg="1"/>
      <p:bldP spid="7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0036" name="Text Box 4"/>
          <p:cNvSpPr txBox="1">
            <a:spLocks noChangeArrowheads="1"/>
          </p:cNvSpPr>
          <p:nvPr/>
        </p:nvSpPr>
        <p:spPr bwMode="auto">
          <a:xfrm>
            <a:off x="847725" y="632460"/>
            <a:ext cx="9820910" cy="617093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tIns="180000" bIns="144000">
            <a:spAutoFit/>
          </a:bodyPr>
          <a:lstStyle/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void PreOrder2(BTNode *b)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BTNode *p;  SqStack *st;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定义一个顺序栈指针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InitStack(st);	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初始化栈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p=b;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(!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StackEmpty(st)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|| p!=NULL)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while (p!=NULL)	 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访问结点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及其所有左下结点并进栈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{  printf("%c "，p-&gt;data);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访问结点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Push(st，p);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 p=p-&gt;lchild;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移动到左孩子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}</a:t>
            </a:r>
            <a:endParaRPr 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</a:t>
            </a:r>
            <a:r>
              <a:rPr lang="en-US" altLang="zh-CN" sz="20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以下考虑栈顶结点</a:t>
            </a:r>
            <a:endParaRPr lang="zh-CN" altLang="en-US" sz="2000" strike="noStrike" noProof="1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if (!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StackEmpty(st)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若栈不空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{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Pop(st，p);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出栈结点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 p=p-&gt;rchild;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转向处理其右子树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}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printf("\n");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DestroyStack(st);	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销毁栈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sp>
        <p:nvSpPr>
          <p:cNvPr id="300039" name="Rectangle 7"/>
          <p:cNvSpPr txBox="1">
            <a:spLocks noChangeArrowheads="1"/>
          </p:cNvSpPr>
          <p:nvPr/>
        </p:nvSpPr>
        <p:spPr bwMode="auto">
          <a:xfrm>
            <a:off x="285115" y="165100"/>
            <a:ext cx="6299835" cy="64516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先序遍历非递归算法2如下：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-1909" y="189227"/>
            <a:ext cx="9114159" cy="76835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2. 中序遍历非递归算法   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6455" name="Oval 23"/>
          <p:cNvSpPr>
            <a:spLocks noChangeArrowheads="1"/>
          </p:cNvSpPr>
          <p:nvPr/>
        </p:nvSpPr>
        <p:spPr bwMode="auto">
          <a:xfrm>
            <a:off x="6523038" y="2587625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146456" name="Oval 24"/>
          <p:cNvSpPr>
            <a:spLocks noChangeArrowheads="1"/>
          </p:cNvSpPr>
          <p:nvPr/>
        </p:nvSpPr>
        <p:spPr bwMode="auto">
          <a:xfrm>
            <a:off x="6019800" y="3306763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146457" name="Oval 25"/>
          <p:cNvSpPr>
            <a:spLocks noChangeArrowheads="1"/>
          </p:cNvSpPr>
          <p:nvPr/>
        </p:nvSpPr>
        <p:spPr bwMode="auto">
          <a:xfrm>
            <a:off x="5586413" y="4027488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75781" name="Line 26"/>
          <p:cNvSpPr/>
          <p:nvPr/>
        </p:nvSpPr>
        <p:spPr>
          <a:xfrm flipH="1">
            <a:off x="6811963" y="2298700"/>
            <a:ext cx="215900" cy="288925"/>
          </a:xfrm>
          <a:prstGeom prst="line">
            <a:avLst/>
          </a:prstGeom>
          <a:ln w="38100" cap="flat" cmpd="sng">
            <a:solidFill>
              <a:srgbClr val="663300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782" name="Freeform 27"/>
          <p:cNvSpPr/>
          <p:nvPr/>
        </p:nvSpPr>
        <p:spPr>
          <a:xfrm>
            <a:off x="6337300" y="2922588"/>
            <a:ext cx="285750" cy="400050"/>
          </a:xfrm>
          <a:custGeom>
            <a:avLst/>
            <a:gdLst/>
            <a:ahLst/>
            <a:cxnLst>
              <a:cxn ang="0">
                <a:pos x="180" y="0"/>
              </a:cxn>
              <a:cxn ang="0">
                <a:pos x="0" y="252"/>
              </a:cxn>
            </a:cxnLst>
            <a:pathLst>
              <a:path w="180" h="252">
                <a:moveTo>
                  <a:pt x="180" y="0"/>
                </a:moveTo>
                <a:lnTo>
                  <a:pt x="0" y="252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75783" name="Freeform 28"/>
          <p:cNvSpPr/>
          <p:nvPr/>
        </p:nvSpPr>
        <p:spPr>
          <a:xfrm>
            <a:off x="5876925" y="3633788"/>
            <a:ext cx="250825" cy="393700"/>
          </a:xfrm>
          <a:custGeom>
            <a:avLst/>
            <a:gdLst/>
            <a:ahLst/>
            <a:cxnLst>
              <a:cxn ang="0">
                <a:pos x="158" y="0"/>
              </a:cxn>
              <a:cxn ang="0">
                <a:pos x="0" y="248"/>
              </a:cxn>
            </a:cxnLst>
            <a:pathLst>
              <a:path w="158" h="248">
                <a:moveTo>
                  <a:pt x="158" y="0"/>
                </a:moveTo>
                <a:lnTo>
                  <a:pt x="0" y="248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75784" name="Freeform 29"/>
          <p:cNvSpPr/>
          <p:nvPr/>
        </p:nvSpPr>
        <p:spPr>
          <a:xfrm>
            <a:off x="6889750" y="2909888"/>
            <a:ext cx="374650" cy="444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6" y="280"/>
              </a:cxn>
            </a:cxnLst>
            <a:pathLst>
              <a:path w="236" h="280">
                <a:moveTo>
                  <a:pt x="0" y="0"/>
                </a:moveTo>
                <a:lnTo>
                  <a:pt x="236" y="28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75785" name="Line 30"/>
          <p:cNvSpPr/>
          <p:nvPr/>
        </p:nvSpPr>
        <p:spPr>
          <a:xfrm>
            <a:off x="5946775" y="4314825"/>
            <a:ext cx="360363" cy="3603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63" name="AutoShape 31"/>
          <p:cNvSpPr>
            <a:spLocks noChangeArrowheads="1"/>
          </p:cNvSpPr>
          <p:nvPr/>
        </p:nvSpPr>
        <p:spPr bwMode="auto">
          <a:xfrm>
            <a:off x="5946775" y="4675188"/>
            <a:ext cx="719138" cy="503238"/>
          </a:xfrm>
          <a:prstGeom prst="triangle">
            <a:avLst>
              <a:gd name="adj" fmla="val 50000"/>
            </a:avLst>
          </a:prstGeom>
          <a:ln>
            <a:tailEnd type="none" w="med" len="lg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75787" name="Freeform 32"/>
          <p:cNvSpPr/>
          <p:nvPr/>
        </p:nvSpPr>
        <p:spPr>
          <a:xfrm>
            <a:off x="6378575" y="3617913"/>
            <a:ext cx="339725" cy="4222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66"/>
              </a:cxn>
            </a:cxnLst>
            <a:pathLst>
              <a:path w="214" h="266">
                <a:moveTo>
                  <a:pt x="0" y="0"/>
                </a:moveTo>
                <a:lnTo>
                  <a:pt x="214" y="266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75788" name="Text Box 33"/>
          <p:cNvSpPr txBox="1"/>
          <p:nvPr/>
        </p:nvSpPr>
        <p:spPr>
          <a:xfrm>
            <a:off x="7027863" y="2082800"/>
            <a:ext cx="287337" cy="338138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200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2200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pSp>
        <p:nvGrpSpPr>
          <p:cNvPr id="2" name="Group 35"/>
          <p:cNvGrpSpPr/>
          <p:nvPr/>
        </p:nvGrpSpPr>
        <p:grpSpPr>
          <a:xfrm>
            <a:off x="5381625" y="3575050"/>
            <a:ext cx="349250" cy="452438"/>
            <a:chOff x="1798" y="1875"/>
            <a:chExt cx="220" cy="285"/>
          </a:xfrm>
        </p:grpSpPr>
        <p:sp>
          <p:nvSpPr>
            <p:cNvPr id="75790" name="Line 36"/>
            <p:cNvSpPr/>
            <p:nvPr/>
          </p:nvSpPr>
          <p:spPr>
            <a:xfrm>
              <a:off x="1973" y="1979"/>
              <a:ext cx="45" cy="181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75791" name="Text Box 37"/>
            <p:cNvSpPr txBox="1"/>
            <p:nvPr/>
          </p:nvSpPr>
          <p:spPr>
            <a:xfrm>
              <a:off x="1798" y="1875"/>
              <a:ext cx="181" cy="19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i="1">
                  <a:latin typeface="Consolas" panose="020B0609020204030204" pitchFamily="49" charset="0"/>
                  <a:ea typeface="宋体" panose="02010600030101010101" pitchFamily="2" charset="-122"/>
                </a:rPr>
                <a:t>p</a:t>
              </a:r>
              <a:endParaRPr lang="en-US" altLang="zh-CN" sz="2000" i="1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48"/>
          <p:cNvGrpSpPr/>
          <p:nvPr/>
        </p:nvGrpSpPr>
        <p:grpSpPr>
          <a:xfrm>
            <a:off x="5265738" y="1855788"/>
            <a:ext cx="1152525" cy="2035175"/>
            <a:chOff x="1882" y="1288"/>
            <a:chExt cx="726" cy="1282"/>
          </a:xfrm>
        </p:grpSpPr>
        <p:sp>
          <p:nvSpPr>
            <p:cNvPr id="75793" name="Line 39"/>
            <p:cNvSpPr/>
            <p:nvPr/>
          </p:nvSpPr>
          <p:spPr>
            <a:xfrm flipH="1">
              <a:off x="1882" y="1567"/>
              <a:ext cx="726" cy="953"/>
            </a:xfrm>
            <a:prstGeom prst="line">
              <a:avLst/>
            </a:prstGeom>
            <a:ln w="38100" cap="flat" cmpd="sng">
              <a:solidFill>
                <a:srgbClr val="3366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75794" name="Text Box 40"/>
            <p:cNvSpPr txBox="1"/>
            <p:nvPr/>
          </p:nvSpPr>
          <p:spPr>
            <a:xfrm rot="-3154569">
              <a:off x="1487" y="1813"/>
              <a:ext cx="1282" cy="23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990099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① 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charset="-122"/>
                </a:rPr>
                <a:t>进栈而不访问</a:t>
              </a:r>
              <a:endParaRPr lang="zh-CN" altLang="en-US" sz="180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sp>
        <p:nvSpPr>
          <p:cNvPr id="146474" name="Text Box 42"/>
          <p:cNvSpPr txBox="1"/>
          <p:nvPr/>
        </p:nvSpPr>
        <p:spPr>
          <a:xfrm>
            <a:off x="2595563" y="4446588"/>
            <a:ext cx="3071812" cy="255587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0" rIns="0" bIns="0" anchor="t" anchorCtr="0">
            <a:spAutoFit/>
          </a:bodyPr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</a:rPr>
              <a:t>这个最左下结点，没有左子树</a:t>
            </a:r>
            <a:endParaRPr lang="en-US" altLang="zh-CN" sz="18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75796" name="Text Box 45"/>
          <p:cNvSpPr txBox="1"/>
          <p:nvPr/>
        </p:nvSpPr>
        <p:spPr>
          <a:xfrm>
            <a:off x="2166938" y="1357313"/>
            <a:ext cx="7602537" cy="336550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用于结点遍历，初始时</a:t>
            </a: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en-US" altLang="zh-CN" sz="2000">
                <a:latin typeface="Consolas" panose="020B0609020204030204" pitchFamily="49" charset="0"/>
                <a:ea typeface="微软雅黑" panose="020B0503020204020204" charset="-122"/>
              </a:rPr>
              <a:t>=</a:t>
            </a: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b</a:t>
            </a: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，当</a:t>
            </a: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en-US" altLang="zh-CN" sz="2000">
                <a:latin typeface="Consolas" panose="020B0609020204030204" pitchFamily="49" charset="0"/>
                <a:ea typeface="微软雅黑" panose="020B0503020204020204" charset="-122"/>
              </a:rPr>
              <a:t>=NULL</a:t>
            </a: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并且栈为空结束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grpSp>
        <p:nvGrpSpPr>
          <p:cNvPr id="4" name="Group 49"/>
          <p:cNvGrpSpPr/>
          <p:nvPr/>
        </p:nvGrpSpPr>
        <p:grpSpPr>
          <a:xfrm>
            <a:off x="6324600" y="4167188"/>
            <a:ext cx="3057525" cy="995362"/>
            <a:chOff x="2619" y="2744"/>
            <a:chExt cx="1926" cy="627"/>
          </a:xfrm>
        </p:grpSpPr>
        <p:sp>
          <p:nvSpPr>
            <p:cNvPr id="75798" name="Freeform 43"/>
            <p:cNvSpPr/>
            <p:nvPr/>
          </p:nvSpPr>
          <p:spPr>
            <a:xfrm>
              <a:off x="2619" y="2838"/>
              <a:ext cx="80" cy="226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0" y="226"/>
                </a:cxn>
              </a:cxnLst>
              <a:pathLst>
                <a:path w="80" h="226">
                  <a:moveTo>
                    <a:pt x="80" y="0"/>
                  </a:moveTo>
                  <a:lnTo>
                    <a:pt x="0" y="226"/>
                  </a:lnTo>
                </a:path>
              </a:pathLst>
            </a:custGeom>
            <a:noFill/>
            <a:ln w="38100" cap="flat" cmpd="sng">
              <a:solidFill>
                <a:srgbClr val="66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5799" name="Text Box 44"/>
            <p:cNvSpPr txBox="1"/>
            <p:nvPr/>
          </p:nvSpPr>
          <p:spPr>
            <a:xfrm>
              <a:off x="2700" y="2744"/>
              <a:ext cx="181" cy="19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endParaRPr lang="en-US" altLang="zh-CN" sz="2000" i="1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75800" name="Text Box 47"/>
            <p:cNvSpPr txBox="1"/>
            <p:nvPr/>
          </p:nvSpPr>
          <p:spPr>
            <a:xfrm>
              <a:off x="2971" y="3022"/>
              <a:ext cx="1574" cy="34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990099"/>
                  </a:solidFill>
                  <a:latin typeface="Consolas" panose="020B0609020204030204" pitchFamily="49" charset="0"/>
                  <a:ea typeface="微软雅黑" panose="020B0503020204020204" charset="-122"/>
                </a:rPr>
                <a:t>③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 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=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1800">
                  <a:latin typeface="Consolas" panose="020B0609020204030204" pitchFamily="49" charset="0"/>
                  <a:ea typeface="宋体" panose="02010600030101010101" pitchFamily="2" charset="-122"/>
                </a:rPr>
                <a:t>-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&gt;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rchild</a:t>
              </a:r>
              <a:r>
                <a:rPr lang="zh-CN" altLang="en-US" sz="1800">
                  <a:latin typeface="Consolas" panose="020B0609020204030204" pitchFamily="49" charset="0"/>
                  <a:ea typeface="微软雅黑" panose="020B0503020204020204" charset="-122"/>
                </a:rPr>
                <a:t>转向右子树做相同的工作</a:t>
              </a:r>
              <a:endParaRPr lang="zh-CN" altLang="en-US" sz="18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</p:grpSp>
      <p:sp>
        <p:nvSpPr>
          <p:cNvPr id="27" name="Text Box 42"/>
          <p:cNvSpPr txBox="1"/>
          <p:nvPr/>
        </p:nvSpPr>
        <p:spPr>
          <a:xfrm>
            <a:off x="3452813" y="4811713"/>
            <a:ext cx="1785937" cy="255587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0" rIns="0" bIns="0" anchor="t" anchorCtr="0">
            <a:spAutoFit/>
          </a:bodyPr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990099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②</a:t>
            </a:r>
            <a:r>
              <a:rPr lang="en-US" altLang="zh-CN" sz="1800">
                <a:latin typeface="Times New Roman" panose="02020603050405020304" pitchFamily="18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Times New Roman" panose="02020603050405020304" pitchFamily="18" charset="0"/>
                <a:ea typeface="微软雅黑" panose="020B0503020204020204" charset="-122"/>
              </a:rPr>
              <a:t>访问栈顶结点</a:t>
            </a:r>
            <a:endParaRPr lang="zh-CN" altLang="en-US" sz="18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095500" y="5429250"/>
            <a:ext cx="7715250" cy="809625"/>
            <a:chOff x="571472" y="5429264"/>
            <a:chExt cx="7715304" cy="808990"/>
          </a:xfrm>
        </p:grpSpPr>
        <p:sp>
          <p:nvSpPr>
            <p:cNvPr id="75803" name="TextBox 28"/>
            <p:cNvSpPr txBox="1"/>
            <p:nvPr/>
          </p:nvSpPr>
          <p:spPr>
            <a:xfrm>
              <a:off x="571472" y="5429264"/>
              <a:ext cx="3857652" cy="8089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栈中结点均没有访问</a:t>
              </a:r>
              <a:endParaRPr lang="en-US" altLang="zh-CN" sz="2000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指向刚刚出栈结点的右子树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75804" name="TextBox 29"/>
            <p:cNvSpPr txBox="1"/>
            <p:nvPr/>
          </p:nvSpPr>
          <p:spPr>
            <a:xfrm>
              <a:off x="5214942" y="5572140"/>
              <a:ext cx="3071834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栈空且</a:t>
              </a: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2000">
                  <a:latin typeface="Consolas" panose="020B0609020204030204" pitchFamily="49" charset="0"/>
                  <a:ea typeface="微软雅黑" panose="020B0503020204020204" charset="-122"/>
                </a:rPr>
                <a:t>=NULL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结束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31" name="右箭头 30"/>
            <p:cNvSpPr/>
            <p:nvPr/>
          </p:nvSpPr>
          <p:spPr>
            <a:xfrm>
              <a:off x="4643438" y="5643578"/>
              <a:ext cx="571504" cy="285752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46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74" grpId="0" bldLvl="0" animBg="1"/>
      <p:bldP spid="146474" grpId="1" bldLvl="0" animBg="1"/>
      <p:bldP spid="27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0387" name="Rectangle 3"/>
          <p:cNvSpPr txBox="1">
            <a:spLocks noChangeArrowheads="1"/>
          </p:cNvSpPr>
          <p:nvPr/>
        </p:nvSpPr>
        <p:spPr bwMode="auto">
          <a:xfrm>
            <a:off x="62228" y="93344"/>
            <a:ext cx="7644767" cy="583566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2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中序遍历非递归过程如下：</a:t>
            </a:r>
            <a:endParaRPr kumimoji="1" lang="en-US" altLang="zh-CN" sz="32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00388" name="Text Box 4"/>
          <p:cNvSpPr txBox="1">
            <a:spLocks noChangeArrowheads="1"/>
          </p:cNvSpPr>
          <p:nvPr/>
        </p:nvSpPr>
        <p:spPr bwMode="auto">
          <a:xfrm>
            <a:off x="2063748" y="718819"/>
            <a:ext cx="7846060" cy="50882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44000" bIns="144000">
            <a:spAutoFit/>
          </a:bodyPr>
          <a:lstStyle/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b;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while 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栈不空或者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p!=NULL)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(p!=NULL)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将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进栈；</a:t>
            </a:r>
            <a:endParaRPr lang="zh-CN" altLang="en-US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</a:t>
            </a:r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p=p-</a:t>
            </a:r>
            <a:r>
              <a:rPr lang="en-US" altLang="zh-CN" sz="2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&gt;lchild;</a:t>
            </a:r>
            <a:endParaRPr lang="en-US" altLang="zh-CN" sz="2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en-US" altLang="zh-CN" sz="2400" strike="noStrike" noProof="1" smtClean="0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//</a:t>
            </a:r>
            <a:r>
              <a:rPr lang="zh-CN" altLang="en-US" sz="2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以下考虑栈顶结点</a:t>
            </a:r>
            <a:endParaRPr lang="en-US" altLang="zh-CN" sz="2400" strike="noStrike" noProof="1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if 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 </a:t>
            </a:r>
            <a:endParaRPr lang="en-US" altLang="zh-CN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出栈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并访问之；</a:t>
            </a:r>
            <a:endParaRPr lang="zh-CN" altLang="en-US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　</a:t>
            </a:r>
            <a:r>
              <a:rPr lang="zh-CN" altLang="en-US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p-&gt;rchild;</a:t>
            </a:r>
            <a:endParaRPr lang="en-US" altLang="zh-CN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2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2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2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63750" y="5807075"/>
            <a:ext cx="7715250" cy="808038"/>
            <a:chOff x="571472" y="5429264"/>
            <a:chExt cx="7715304" cy="808990"/>
          </a:xfrm>
        </p:grpSpPr>
        <p:sp>
          <p:nvSpPr>
            <p:cNvPr id="76804" name="TextBox 5"/>
            <p:cNvSpPr txBox="1"/>
            <p:nvPr/>
          </p:nvSpPr>
          <p:spPr>
            <a:xfrm>
              <a:off x="571472" y="5429264"/>
              <a:ext cx="3857652" cy="8089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栈中结点均没有访问</a:t>
              </a:r>
              <a:endParaRPr lang="en-US" altLang="zh-CN" sz="2000">
                <a:latin typeface="Consolas" panose="020B0609020204030204" pitchFamily="49" charset="0"/>
                <a:ea typeface="微软雅黑" panose="020B0503020204020204" charset="-122"/>
              </a:endParaRPr>
            </a:p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指向刚刚出栈结点的右子树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76805" name="TextBox 6"/>
            <p:cNvSpPr txBox="1"/>
            <p:nvPr/>
          </p:nvSpPr>
          <p:spPr>
            <a:xfrm>
              <a:off x="5214942" y="5572140"/>
              <a:ext cx="3071834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栈空且</a:t>
              </a:r>
              <a:r>
                <a:rPr lang="en-US" altLang="zh-CN" sz="20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2000">
                  <a:latin typeface="Consolas" panose="020B0609020204030204" pitchFamily="49" charset="0"/>
                  <a:ea typeface="微软雅黑" panose="020B0503020204020204" charset="-122"/>
                </a:rPr>
                <a:t>=NULL</a:t>
              </a:r>
              <a:r>
                <a:rPr lang="zh-CN" altLang="en-US" sz="2000">
                  <a:latin typeface="Consolas" panose="020B0609020204030204" pitchFamily="49" charset="0"/>
                  <a:ea typeface="微软雅黑" panose="020B0503020204020204" charset="-122"/>
                </a:rPr>
                <a:t>结束</a:t>
              </a:r>
              <a:endParaRPr lang="zh-CN" altLang="en-US" sz="20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  <p:sp>
          <p:nvSpPr>
            <p:cNvPr id="8" name="右箭头 7"/>
            <p:cNvSpPr/>
            <p:nvPr/>
          </p:nvSpPr>
          <p:spPr>
            <a:xfrm>
              <a:off x="4643438" y="5643578"/>
              <a:ext cx="571504" cy="285752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8" name="Line 2"/>
          <p:cNvSpPr>
            <a:spLocks noChangeShapeType="1"/>
          </p:cNvSpPr>
          <p:nvPr/>
        </p:nvSpPr>
        <p:spPr bwMode="auto">
          <a:xfrm>
            <a:off x="2671763" y="2452688"/>
            <a:ext cx="288925" cy="287338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39" name="Line 3"/>
          <p:cNvSpPr>
            <a:spLocks noChangeShapeType="1"/>
          </p:cNvSpPr>
          <p:nvPr/>
        </p:nvSpPr>
        <p:spPr bwMode="auto">
          <a:xfrm flipH="1">
            <a:off x="3214688" y="1290638"/>
            <a:ext cx="287338" cy="28733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0" name="Freeform 4"/>
          <p:cNvSpPr/>
          <p:nvPr/>
        </p:nvSpPr>
        <p:spPr bwMode="auto">
          <a:xfrm>
            <a:off x="3810000" y="1285875"/>
            <a:ext cx="296863" cy="327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ln w="1905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1" name="Line 5"/>
          <p:cNvSpPr>
            <a:spLocks noChangeShapeType="1"/>
          </p:cNvSpPr>
          <p:nvPr/>
        </p:nvSpPr>
        <p:spPr bwMode="auto">
          <a:xfrm flipH="1">
            <a:off x="2701925" y="1857375"/>
            <a:ext cx="322263" cy="31908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2" name="Line 6"/>
          <p:cNvSpPr>
            <a:spLocks noChangeShapeType="1"/>
          </p:cNvSpPr>
          <p:nvPr/>
        </p:nvSpPr>
        <p:spPr bwMode="auto">
          <a:xfrm flipH="1">
            <a:off x="3781425" y="1895475"/>
            <a:ext cx="287338" cy="28733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3" name="Line 7"/>
          <p:cNvSpPr>
            <a:spLocks noChangeShapeType="1"/>
          </p:cNvSpPr>
          <p:nvPr/>
        </p:nvSpPr>
        <p:spPr bwMode="auto">
          <a:xfrm>
            <a:off x="4310063" y="1857375"/>
            <a:ext cx="287338" cy="331788"/>
          </a:xfrm>
          <a:prstGeom prst="line">
            <a:avLst/>
          </a:prstGeom>
          <a:ln w="19050">
            <a:tailEnd type="arrow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4" name="Oval 8"/>
          <p:cNvSpPr>
            <a:spLocks noChangeArrowheads="1"/>
          </p:cNvSpPr>
          <p:nvPr/>
        </p:nvSpPr>
        <p:spPr bwMode="auto">
          <a:xfrm>
            <a:off x="3430588" y="100330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5" name="Oval 9"/>
          <p:cNvSpPr>
            <a:spLocks noChangeArrowheads="1"/>
          </p:cNvSpPr>
          <p:nvPr/>
        </p:nvSpPr>
        <p:spPr bwMode="auto">
          <a:xfrm>
            <a:off x="2925763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6" name="Oval 10"/>
          <p:cNvSpPr>
            <a:spLocks noChangeArrowheads="1"/>
          </p:cNvSpPr>
          <p:nvPr/>
        </p:nvSpPr>
        <p:spPr bwMode="auto">
          <a:xfrm>
            <a:off x="4006850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7" name="Oval 11"/>
          <p:cNvSpPr>
            <a:spLocks noChangeArrowheads="1"/>
          </p:cNvSpPr>
          <p:nvPr/>
        </p:nvSpPr>
        <p:spPr bwMode="auto">
          <a:xfrm>
            <a:off x="2351088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8" name="Oval 12"/>
          <p:cNvSpPr>
            <a:spLocks noChangeArrowheads="1"/>
          </p:cNvSpPr>
          <p:nvPr/>
        </p:nvSpPr>
        <p:spPr bwMode="auto">
          <a:xfrm>
            <a:off x="3432175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9" name="Oval 13"/>
          <p:cNvSpPr>
            <a:spLocks noChangeArrowheads="1"/>
          </p:cNvSpPr>
          <p:nvPr/>
        </p:nvSpPr>
        <p:spPr bwMode="auto">
          <a:xfrm>
            <a:off x="2925763" y="26590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0" name="Oval 14"/>
          <p:cNvSpPr>
            <a:spLocks noChangeArrowheads="1"/>
          </p:cNvSpPr>
          <p:nvPr/>
        </p:nvSpPr>
        <p:spPr bwMode="auto">
          <a:xfrm>
            <a:off x="4511675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1" name="Line 15"/>
          <p:cNvSpPr>
            <a:spLocks noChangeShapeType="1"/>
          </p:cNvSpPr>
          <p:nvPr/>
        </p:nvSpPr>
        <p:spPr bwMode="auto">
          <a:xfrm>
            <a:off x="3000375" y="3956050"/>
            <a:ext cx="0" cy="1800225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2" name="Line 16"/>
          <p:cNvSpPr>
            <a:spLocks noChangeShapeType="1"/>
          </p:cNvSpPr>
          <p:nvPr/>
        </p:nvSpPr>
        <p:spPr bwMode="auto">
          <a:xfrm>
            <a:off x="4152900" y="3956050"/>
            <a:ext cx="0" cy="1800225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3" name="Line 17"/>
          <p:cNvSpPr>
            <a:spLocks noChangeShapeType="1"/>
          </p:cNvSpPr>
          <p:nvPr/>
        </p:nvSpPr>
        <p:spPr bwMode="auto">
          <a:xfrm>
            <a:off x="3000375" y="5780088"/>
            <a:ext cx="1152525" cy="0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7841" name="Text Box 18"/>
          <p:cNvSpPr txBox="1"/>
          <p:nvPr/>
        </p:nvSpPr>
        <p:spPr>
          <a:xfrm>
            <a:off x="3000375" y="5995988"/>
            <a:ext cx="1152525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楷体" panose="02010609060101010101" pitchFamily="49" charset="-122"/>
              </a:rPr>
              <a:t>一个栈</a:t>
            </a:r>
            <a:endParaRPr lang="zh-CN" altLang="en-US" sz="20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8355" name="Oval 19"/>
          <p:cNvSpPr>
            <a:spLocks noChangeArrowheads="1"/>
          </p:cNvSpPr>
          <p:nvPr/>
        </p:nvSpPr>
        <p:spPr bwMode="auto">
          <a:xfrm>
            <a:off x="3430588" y="100330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6" name="Oval 20"/>
          <p:cNvSpPr>
            <a:spLocks noChangeArrowheads="1"/>
          </p:cNvSpPr>
          <p:nvPr/>
        </p:nvSpPr>
        <p:spPr bwMode="auto">
          <a:xfrm>
            <a:off x="2925763" y="15795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7" name="Oval 21"/>
          <p:cNvSpPr>
            <a:spLocks noChangeArrowheads="1"/>
          </p:cNvSpPr>
          <p:nvPr/>
        </p:nvSpPr>
        <p:spPr bwMode="auto">
          <a:xfrm>
            <a:off x="4006850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8" name="Oval 22"/>
          <p:cNvSpPr>
            <a:spLocks noChangeArrowheads="1"/>
          </p:cNvSpPr>
          <p:nvPr/>
        </p:nvSpPr>
        <p:spPr bwMode="auto">
          <a:xfrm>
            <a:off x="2351088" y="21558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9" name="Oval 23"/>
          <p:cNvSpPr>
            <a:spLocks noChangeArrowheads="1"/>
          </p:cNvSpPr>
          <p:nvPr/>
        </p:nvSpPr>
        <p:spPr bwMode="auto">
          <a:xfrm>
            <a:off x="3432175" y="21431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60" name="Oval 24"/>
          <p:cNvSpPr>
            <a:spLocks noChangeArrowheads="1"/>
          </p:cNvSpPr>
          <p:nvPr/>
        </p:nvSpPr>
        <p:spPr bwMode="auto">
          <a:xfrm>
            <a:off x="2925763" y="26590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61" name="Oval 25"/>
          <p:cNvSpPr>
            <a:spLocks noChangeArrowheads="1"/>
          </p:cNvSpPr>
          <p:nvPr/>
        </p:nvSpPr>
        <p:spPr bwMode="auto">
          <a:xfrm>
            <a:off x="4511675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7849" name="Text Box 26"/>
          <p:cNvSpPr txBox="1"/>
          <p:nvPr/>
        </p:nvSpPr>
        <p:spPr>
          <a:xfrm>
            <a:off x="5519738" y="2278063"/>
            <a:ext cx="1728787" cy="4302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200">
                <a:latin typeface="Consolas" panose="020B0609020204030204" pitchFamily="49" charset="0"/>
                <a:ea typeface="楷体" panose="02010609060101010101" pitchFamily="49" charset="-122"/>
              </a:rPr>
              <a:t>中序序列：</a:t>
            </a:r>
            <a:endParaRPr lang="zh-CN" altLang="en-US" sz="22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8363" name="Text Box 27"/>
          <p:cNvSpPr txBox="1"/>
          <p:nvPr/>
        </p:nvSpPr>
        <p:spPr>
          <a:xfrm>
            <a:off x="5537200" y="2921000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4" name="Text Box 28"/>
          <p:cNvSpPr txBox="1"/>
          <p:nvPr/>
        </p:nvSpPr>
        <p:spPr>
          <a:xfrm>
            <a:off x="6184900" y="2921000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G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5" name="Text Box 29"/>
          <p:cNvSpPr txBox="1"/>
          <p:nvPr/>
        </p:nvSpPr>
        <p:spPr>
          <a:xfrm>
            <a:off x="6832600" y="2921000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6" name="Text Box 30"/>
          <p:cNvSpPr txBox="1"/>
          <p:nvPr/>
        </p:nvSpPr>
        <p:spPr>
          <a:xfrm>
            <a:off x="7481888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7" name="Text Box 31"/>
          <p:cNvSpPr txBox="1"/>
          <p:nvPr/>
        </p:nvSpPr>
        <p:spPr>
          <a:xfrm>
            <a:off x="8037513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8" name="Text Box 32"/>
          <p:cNvSpPr txBox="1"/>
          <p:nvPr/>
        </p:nvSpPr>
        <p:spPr>
          <a:xfrm>
            <a:off x="8596313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69" name="Text Box 33"/>
          <p:cNvSpPr txBox="1"/>
          <p:nvPr/>
        </p:nvSpPr>
        <p:spPr>
          <a:xfrm>
            <a:off x="9167813" y="2921000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98370" name="Text Box 34"/>
          <p:cNvSpPr txBox="1"/>
          <p:nvPr/>
        </p:nvSpPr>
        <p:spPr>
          <a:xfrm>
            <a:off x="6096000" y="4214813"/>
            <a:ext cx="2735263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中序遍历完毕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398377" name="Text Box 41"/>
          <p:cNvSpPr txBox="1">
            <a:spLocks noChangeArrowheads="1"/>
          </p:cNvSpPr>
          <p:nvPr/>
        </p:nvSpPr>
        <p:spPr bwMode="auto">
          <a:xfrm>
            <a:off x="360680" y="26669"/>
            <a:ext cx="7875270" cy="76835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中序非递归算法动画演示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6" name="直接箭头连接符 55"/>
          <p:cNvCxnSpPr>
            <a:stCxn id="398360" idx="5"/>
          </p:cNvCxnSpPr>
          <p:nvPr/>
        </p:nvCxnSpPr>
        <p:spPr>
          <a:xfrm rot="16200000" flipH="1">
            <a:off x="3249613" y="3011488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398360" idx="3"/>
          </p:cNvCxnSpPr>
          <p:nvPr/>
        </p:nvCxnSpPr>
        <p:spPr>
          <a:xfrm rot="5400000">
            <a:off x="2847181" y="3001169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398360" idx="3"/>
          </p:cNvCxnSpPr>
          <p:nvPr/>
        </p:nvCxnSpPr>
        <p:spPr>
          <a:xfrm rot="16200000" flipH="1">
            <a:off x="3759200" y="25447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398360" idx="3"/>
          </p:cNvCxnSpPr>
          <p:nvPr/>
        </p:nvCxnSpPr>
        <p:spPr>
          <a:xfrm rot="5400000">
            <a:off x="3385344" y="2534444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398360" idx="3"/>
          </p:cNvCxnSpPr>
          <p:nvPr/>
        </p:nvCxnSpPr>
        <p:spPr>
          <a:xfrm rot="16200000" flipH="1">
            <a:off x="4821238" y="25447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98360" idx="3"/>
          </p:cNvCxnSpPr>
          <p:nvPr/>
        </p:nvCxnSpPr>
        <p:spPr>
          <a:xfrm rot="5400000">
            <a:off x="4453731" y="2553494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398360" idx="3"/>
          </p:cNvCxnSpPr>
          <p:nvPr/>
        </p:nvCxnSpPr>
        <p:spPr>
          <a:xfrm rot="5400000">
            <a:off x="2220913" y="2517775"/>
            <a:ext cx="214313" cy="179388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398360" idx="3"/>
          </p:cNvCxnSpPr>
          <p:nvPr/>
        </p:nvCxnSpPr>
        <p:spPr>
          <a:xfrm rot="16200000" flipH="1">
            <a:off x="3249613" y="19732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398360" idx="3"/>
          </p:cNvCxnSpPr>
          <p:nvPr/>
        </p:nvCxnSpPr>
        <p:spPr>
          <a:xfrm rot="16200000" flipH="1">
            <a:off x="3430588" y="838200"/>
            <a:ext cx="198438" cy="11271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7868" name="TextBox 68"/>
          <p:cNvSpPr txBox="1"/>
          <p:nvPr/>
        </p:nvSpPr>
        <p:spPr>
          <a:xfrm>
            <a:off x="3167063" y="642938"/>
            <a:ext cx="357187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zh-CN" altLang="en-US" sz="2000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310313" y="3671888"/>
            <a:ext cx="2286000" cy="3984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栈空  且 </a:t>
            </a:r>
            <a:r>
              <a:rPr lang="en-US" altLang="zh-CN" sz="20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en-US" altLang="zh-CN" sz="2000">
                <a:latin typeface="Consolas" panose="020B0609020204030204" pitchFamily="49" charset="0"/>
                <a:ea typeface="微软雅黑" panose="020B0503020204020204" charset="-122"/>
              </a:rPr>
              <a:t>=NULL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400388" name="Text Box 4"/>
          <p:cNvSpPr txBox="1">
            <a:spLocks noChangeArrowheads="1"/>
          </p:cNvSpPr>
          <p:nvPr/>
        </p:nvSpPr>
        <p:spPr bwMode="auto">
          <a:xfrm>
            <a:off x="8596630" y="3597910"/>
            <a:ext cx="3594735" cy="3087370"/>
          </a:xfrm>
          <a:prstGeom prst="rect">
            <a:avLst/>
          </a:prstGeom>
          <a:noFill/>
          <a:ln w="12700" cmpd="sng">
            <a:solidFill>
              <a:srgbClr val="1F497D"/>
            </a:solidFill>
            <a:prstDash val="solid"/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44000" bIns="144000">
            <a:spAutoFit/>
          </a:bodyPr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b;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while 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栈不空或者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p!=NULL)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(p!=NULL)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将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进栈；</a:t>
            </a:r>
            <a:endParaRPr lang="zh-CN" altLang="en-US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</a:t>
            </a:r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p=p-</a:t>
            </a:r>
            <a:r>
              <a:rPr lang="en-US" altLang="zh-CN" sz="1400" strike="noStrike" noProof="1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&gt;lchild;</a:t>
            </a:r>
            <a:endParaRPr lang="en-US" altLang="zh-CN" sz="1400" strike="noStrike" noProof="1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7030A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en-US" altLang="zh-CN" sz="1400" strike="noStrike" noProof="1" smtClean="0">
              <a:solidFill>
                <a:srgbClr val="7030A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//</a:t>
            </a:r>
            <a:r>
              <a:rPr lang="zh-CN" alt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以下考虑栈顶结点</a:t>
            </a:r>
            <a:endParaRPr lang="en-US" altLang="zh-CN" sz="1400" strike="noStrike" noProof="1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if 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 </a:t>
            </a:r>
            <a:endParaRPr lang="en-US" altLang="zh-CN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出栈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并访问之；</a:t>
            </a:r>
            <a:endParaRPr lang="zh-CN" altLang="en-US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　　</a:t>
            </a:r>
            <a:r>
              <a:rPr lang="zh-CN" altLang="en-US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＝</a:t>
            </a:r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p-&gt;rchild;</a:t>
            </a:r>
            <a:endParaRPr lang="en-US" altLang="zh-CN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altLang="zh-CN" sz="1400" strike="noStrike" noProof="1" smtClean="0">
                <a:solidFill>
                  <a:srgbClr val="00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1400" strike="noStrike" noProof="1">
              <a:solidFill>
                <a:srgbClr val="00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zh-CN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98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C 0.00104 0.06065 0.00191 0.11644 0.00139 0.22037 C 0.00087 0.32431 -0.00209 0.53982 -0.00295 0.62385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98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98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48148E-6 C 0.01111 0.05 0.0224 0.10023 0.03056 0.15 C 0.03872 0.19977 0.04497 0.24421 0.04861 0.29815 C 0.05226 0.35208 0.05156 0.43681 0.05226 0.47315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983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398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C 0.01094 0.03241 0.02205 0.06505 0.04028 0.1 C 0.05851 0.13495 0.09705 0.17199 0.10972 0.20926 C 0.1224 0.24653 0.11511 0.30023 0.1165 0.3243 " pathEditMode="relative" rAng="0" ptsTypes="aaaa">
                                      <p:cBhvr>
                                        <p:cTn id="34" dur="2000" fill="hold"/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398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398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11111E-6 C 0.00295 0.01412 0.00885 0.04305 0.01753 0.08426 C 0.02622 0.12546 0.04497 0.21319 0.05226 0.24722 " pathEditMode="relative" rAng="0" ptsTypes="aaa">
                                      <p:cBhvr>
                                        <p:cTn id="59" dur="2000" fill="hold"/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1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983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398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5.55112E-17 C 0.00347 0.03009 0.00712 0.06019 -0.00278 0.1037 C -0.01267 0.14722 -0.04896 0.18912 -0.05972 0.26111 C -0.07049 0.3331 -0.0658 0.47894 -0.06736 0.53634 " pathEditMode="relative" rAng="0" ptsTypes="aaaa">
                                      <p:cBhvr>
                                        <p:cTn id="110" dur="2000" fill="hold"/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398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398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C -0.00069 0.06412 -0.00364 0.30509 -0.00451 0.38541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1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 tmFilter="0, 0; .2, .5; .8, .5; 1, 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3" dur="250" autoRev="1" fill="hold"/>
                                        <p:tgtEl>
                                          <p:spTgt spid="398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 tmFilter="0, 0; .2, .5; .8, .5; 1, 0"/>
                                        <p:tgtEl>
                                          <p:spTgt spid="398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6" dur="250" autoRev="1" fill="hold"/>
                                        <p:tgtEl>
                                          <p:spTgt spid="398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22222E-6 C -0.00382 0.01828 -0.00174 0.07801 -0.02257 0.10972 C -0.04341 0.14143 -0.10816 0.13889 -0.125 0.19074 C -0.14184 0.24259 -0.12917 0.33032 -0.12361 0.42037 " pathEditMode="relative" rAng="0" ptsTypes="aaaa">
                                      <p:cBhvr>
                                        <p:cTn id="160" dur="2000" fill="hold"/>
                                        <p:tgtEl>
                                          <p:spTgt spid="398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5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9" dur="500"/>
                                        <p:tgtEl>
                                          <p:spTgt spid="398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bldLvl="0" animBg="1"/>
      <p:bldP spid="398339" grpId="0" bldLvl="0" animBg="1"/>
      <p:bldP spid="398340" grpId="0" bldLvl="0" animBg="1"/>
      <p:bldP spid="398341" grpId="0" bldLvl="0" animBg="1"/>
      <p:bldP spid="398342" grpId="0" bldLvl="0" animBg="1"/>
      <p:bldP spid="398343" grpId="0" bldLvl="0" animBg="1"/>
      <p:bldP spid="398355" grpId="0" bldLvl="0" animBg="1"/>
      <p:bldP spid="398355" grpId="1" bldLvl="0" animBg="1"/>
      <p:bldP spid="398355" grpId="2" bldLvl="0" animBg="1"/>
      <p:bldP spid="398356" grpId="0" bldLvl="0" animBg="1"/>
      <p:bldP spid="398356" grpId="1" bldLvl="0" animBg="1"/>
      <p:bldP spid="398356" grpId="2" bldLvl="0" animBg="1"/>
      <p:bldP spid="398357" grpId="0" bldLvl="0" animBg="1"/>
      <p:bldP spid="398357" grpId="1" bldLvl="0" animBg="1"/>
      <p:bldP spid="398357" grpId="2" bldLvl="0" animBg="1"/>
      <p:bldP spid="398358" grpId="0" bldLvl="0" animBg="1"/>
      <p:bldP spid="398358" grpId="1" bldLvl="0" animBg="1"/>
      <p:bldP spid="398358" grpId="2" bldLvl="0" animBg="1"/>
      <p:bldP spid="398359" grpId="0" bldLvl="0" animBg="1"/>
      <p:bldP spid="398359" grpId="1" bldLvl="0" animBg="1"/>
      <p:bldP spid="398359" grpId="2" bldLvl="0" animBg="1"/>
      <p:bldP spid="398360" grpId="0" bldLvl="0" animBg="1"/>
      <p:bldP spid="398360" grpId="1" bldLvl="0" animBg="1"/>
      <p:bldP spid="398360" grpId="2" bldLvl="0" animBg="1"/>
      <p:bldP spid="398361" grpId="0" bldLvl="0" animBg="1"/>
      <p:bldP spid="398361" grpId="1" bldLvl="0" animBg="1"/>
      <p:bldP spid="398361" grpId="2" bldLvl="0" animBg="1"/>
      <p:bldP spid="398363" grpId="0" bldLvl="0" animBg="1"/>
      <p:bldP spid="398364" grpId="0" bldLvl="0" animBg="1"/>
      <p:bldP spid="398365" grpId="0" bldLvl="0" animBg="1"/>
      <p:bldP spid="398366" grpId="0" bldLvl="0" animBg="1"/>
      <p:bldP spid="398367" grpId="0" bldLvl="0" animBg="1"/>
      <p:bldP spid="398368" grpId="0" bldLvl="0" animBg="1"/>
      <p:bldP spid="398369" grpId="0" bldLvl="0" animBg="1"/>
      <p:bldP spid="398370" grpId="0" bldLvl="0" animBg="1"/>
      <p:bldP spid="7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Text Box 2"/>
          <p:cNvSpPr txBox="1">
            <a:spLocks noChangeArrowheads="1"/>
          </p:cNvSpPr>
          <p:nvPr/>
        </p:nvSpPr>
        <p:spPr bwMode="auto">
          <a:xfrm>
            <a:off x="1881188" y="642938"/>
            <a:ext cx="9701213" cy="60277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08000" bIns="72000">
            <a:spAutoFit/>
          </a:bodyPr>
          <a:lstStyle/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void InOrder1(BTNode *b)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BTNode *p;  SqStack *st;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定义一个顺序栈指针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InitStack(st);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初始化栈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p=b;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(!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StackEmpty(st)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|| p!=NULL)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while (p!=NULL)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扫描结点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的所有左下结点并进栈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{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Push(st，p);	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p=p-&gt;lchild;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移动到左孩子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}</a:t>
            </a:r>
            <a:endParaRPr 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altLang="zh-CN" sz="20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//</a:t>
            </a:r>
            <a:r>
              <a:rPr lang="zh-CN" altLang="en-US" sz="20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以下考虑栈顶结点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if (!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StackEmpty(st)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若栈不空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{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Pop(st，p);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出栈结点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，访问结点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printf("%c "，p-&gt;data);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p=p-&gt;rchild;	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转向处理其右子树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}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printf("\n");</a:t>
            </a:r>
            <a:endParaRPr lang="zh-CN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20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DestroyStack(st);	</a:t>
            </a:r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</a:t>
            </a:r>
            <a:r>
              <a:rPr 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20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销毁栈</a:t>
            </a:r>
            <a:endParaRPr lang="zh-CN" altLang="en-US" sz="20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/>
            <a:r>
              <a:rPr lang="en-US" sz="20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en-US" altLang="en-US" sz="20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sp>
        <p:nvSpPr>
          <p:cNvPr id="147461" name="Rectangle 5"/>
          <p:cNvSpPr txBox="1">
            <a:spLocks noChangeArrowheads="1"/>
          </p:cNvSpPr>
          <p:nvPr/>
        </p:nvSpPr>
        <p:spPr bwMode="auto">
          <a:xfrm>
            <a:off x="254635" y="-65408"/>
            <a:ext cx="5812789" cy="64516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中序遍历非递归算法如下：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103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394" end="3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399" end="4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416" end="4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141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182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212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238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246" end="2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263" end="2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297" end="3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332" end="3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358" end="3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charRg st="386" end="3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3459" name="Oval 3"/>
          <p:cNvSpPr>
            <a:spLocks noChangeArrowheads="1"/>
          </p:cNvSpPr>
          <p:nvPr/>
        </p:nvSpPr>
        <p:spPr bwMode="auto">
          <a:xfrm>
            <a:off x="5160963" y="2112963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403460" name="Oval 4"/>
          <p:cNvSpPr>
            <a:spLocks noChangeArrowheads="1"/>
          </p:cNvSpPr>
          <p:nvPr/>
        </p:nvSpPr>
        <p:spPr bwMode="auto">
          <a:xfrm>
            <a:off x="4657725" y="2832100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403461" name="Oval 5"/>
          <p:cNvSpPr>
            <a:spLocks noChangeArrowheads="1"/>
          </p:cNvSpPr>
          <p:nvPr/>
        </p:nvSpPr>
        <p:spPr bwMode="auto">
          <a:xfrm>
            <a:off x="4224338" y="3552825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79876" name="Freeform 7"/>
          <p:cNvSpPr/>
          <p:nvPr/>
        </p:nvSpPr>
        <p:spPr>
          <a:xfrm>
            <a:off x="4975225" y="2447925"/>
            <a:ext cx="285750" cy="400050"/>
          </a:xfrm>
          <a:custGeom>
            <a:avLst/>
            <a:gdLst/>
            <a:ahLst/>
            <a:cxnLst>
              <a:cxn ang="0">
                <a:pos x="180" y="0"/>
              </a:cxn>
              <a:cxn ang="0">
                <a:pos x="0" y="252"/>
              </a:cxn>
            </a:cxnLst>
            <a:pathLst>
              <a:path w="180" h="252">
                <a:moveTo>
                  <a:pt x="180" y="0"/>
                </a:moveTo>
                <a:lnTo>
                  <a:pt x="0" y="252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79877" name="Freeform 8"/>
          <p:cNvSpPr/>
          <p:nvPr/>
        </p:nvSpPr>
        <p:spPr>
          <a:xfrm>
            <a:off x="4514850" y="3159125"/>
            <a:ext cx="250825" cy="393700"/>
          </a:xfrm>
          <a:custGeom>
            <a:avLst/>
            <a:gdLst/>
            <a:ahLst/>
            <a:cxnLst>
              <a:cxn ang="0">
                <a:pos x="158" y="0"/>
              </a:cxn>
              <a:cxn ang="0">
                <a:pos x="0" y="248"/>
              </a:cxn>
            </a:cxnLst>
            <a:pathLst>
              <a:path w="158" h="248">
                <a:moveTo>
                  <a:pt x="158" y="0"/>
                </a:moveTo>
                <a:lnTo>
                  <a:pt x="0" y="248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79878" name="Freeform 9"/>
          <p:cNvSpPr/>
          <p:nvPr/>
        </p:nvSpPr>
        <p:spPr>
          <a:xfrm>
            <a:off x="5527675" y="2435225"/>
            <a:ext cx="374650" cy="444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36" y="280"/>
              </a:cxn>
            </a:cxnLst>
            <a:pathLst>
              <a:path w="236" h="280">
                <a:moveTo>
                  <a:pt x="0" y="0"/>
                </a:moveTo>
                <a:lnTo>
                  <a:pt x="236" y="28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79879" name="Line 10"/>
          <p:cNvSpPr/>
          <p:nvPr/>
        </p:nvSpPr>
        <p:spPr>
          <a:xfrm>
            <a:off x="4584700" y="3840163"/>
            <a:ext cx="360363" cy="360362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3467" name="AutoShape 11"/>
          <p:cNvSpPr>
            <a:spLocks noChangeArrowheads="1"/>
          </p:cNvSpPr>
          <p:nvPr/>
        </p:nvSpPr>
        <p:spPr bwMode="auto">
          <a:xfrm>
            <a:off x="4584700" y="4352925"/>
            <a:ext cx="719138" cy="503238"/>
          </a:xfrm>
          <a:prstGeom prst="triangle">
            <a:avLst>
              <a:gd name="adj" fmla="val 50000"/>
            </a:avLst>
          </a:prstGeom>
          <a:ln>
            <a:tailEnd type="none" w="med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79881" name="Freeform 12"/>
          <p:cNvSpPr/>
          <p:nvPr/>
        </p:nvSpPr>
        <p:spPr>
          <a:xfrm>
            <a:off x="5016500" y="3143250"/>
            <a:ext cx="339725" cy="4222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66"/>
              </a:cxn>
            </a:cxnLst>
            <a:pathLst>
              <a:path w="214" h="266">
                <a:moveTo>
                  <a:pt x="0" y="0"/>
                </a:moveTo>
                <a:lnTo>
                  <a:pt x="214" y="266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lg"/>
          </a:ln>
        </p:spPr>
        <p:txBody>
          <a:bodyPr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4081463" y="2992438"/>
            <a:ext cx="287337" cy="566737"/>
            <a:chOff x="2557463" y="2065338"/>
            <a:chExt cx="287337" cy="566737"/>
          </a:xfrm>
        </p:grpSpPr>
        <p:sp>
          <p:nvSpPr>
            <p:cNvPr id="79883" name="Freeform 6"/>
            <p:cNvSpPr/>
            <p:nvPr/>
          </p:nvSpPr>
          <p:spPr>
            <a:xfrm>
              <a:off x="2757488" y="2416175"/>
              <a:ext cx="50800" cy="215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" y="136"/>
                </a:cxn>
              </a:cxnLst>
              <a:pathLst>
                <a:path w="32" h="136">
                  <a:moveTo>
                    <a:pt x="0" y="0"/>
                  </a:moveTo>
                  <a:lnTo>
                    <a:pt x="32" y="136"/>
                  </a:lnTo>
                </a:path>
              </a:pathLst>
            </a:custGeom>
            <a:noFill/>
            <a:ln w="38100" cap="flat" cmpd="sng">
              <a:solidFill>
                <a:srgbClr val="66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884" name="Text Box 13"/>
            <p:cNvSpPr txBox="1"/>
            <p:nvPr/>
          </p:nvSpPr>
          <p:spPr>
            <a:xfrm>
              <a:off x="2557463" y="2065338"/>
              <a:ext cx="287337" cy="33845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0" i="1">
                  <a:latin typeface="Consolas" panose="020B0609020204030204" pitchFamily="49" charset="0"/>
                  <a:ea typeface="宋体" panose="02010600030101010101" pitchFamily="2" charset="-122"/>
                </a:rPr>
                <a:t>p</a:t>
              </a:r>
              <a:endParaRPr lang="en-US" altLang="zh-CN" sz="2200" i="1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" name="Group 14"/>
          <p:cNvGrpSpPr/>
          <p:nvPr/>
        </p:nvGrpSpPr>
        <p:grpSpPr>
          <a:xfrm>
            <a:off x="3865563" y="1130300"/>
            <a:ext cx="1152525" cy="2593975"/>
            <a:chOff x="1882" y="1130"/>
            <a:chExt cx="726" cy="1634"/>
          </a:xfrm>
        </p:grpSpPr>
        <p:sp>
          <p:nvSpPr>
            <p:cNvPr id="79886" name="Line 15"/>
            <p:cNvSpPr/>
            <p:nvPr/>
          </p:nvSpPr>
          <p:spPr>
            <a:xfrm flipH="1">
              <a:off x="1882" y="1567"/>
              <a:ext cx="726" cy="953"/>
            </a:xfrm>
            <a:prstGeom prst="line">
              <a:avLst/>
            </a:prstGeom>
            <a:ln w="38100" cap="flat" cmpd="sng">
              <a:solidFill>
                <a:srgbClr val="3366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887" name="Text Box 16"/>
            <p:cNvSpPr txBox="1"/>
            <p:nvPr/>
          </p:nvSpPr>
          <p:spPr>
            <a:xfrm rot="-3154569">
              <a:off x="1251" y="1831"/>
              <a:ext cx="1634" cy="23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990099"/>
                  </a:solidFill>
                  <a:latin typeface="Times New Roman" panose="02020603050405020304" pitchFamily="18" charset="0"/>
                  <a:ea typeface="微软雅黑" panose="020B0503020204020204" charset="-122"/>
                </a:rPr>
                <a:t>①</a:t>
              </a:r>
              <a:r>
                <a:rPr lang="zh-CN" altLang="en-US" sz="1800">
                  <a:latin typeface="Times New Roman" panose="02020603050405020304" pitchFamily="18" charset="0"/>
                  <a:ea typeface="微软雅黑" panose="020B0503020204020204" charset="-122"/>
                </a:rPr>
                <a:t>进栈而不访问</a:t>
              </a:r>
              <a:endParaRPr lang="zh-CN" altLang="en-US" sz="180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</p:grpSp>
      <p:sp>
        <p:nvSpPr>
          <p:cNvPr id="403473" name="Text Box 17"/>
          <p:cNvSpPr txBox="1"/>
          <p:nvPr/>
        </p:nvSpPr>
        <p:spPr>
          <a:xfrm>
            <a:off x="2809875" y="3946525"/>
            <a:ext cx="1714500" cy="554038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990099"/>
                </a:solidFill>
                <a:latin typeface="Consolas" panose="020B0609020204030204" pitchFamily="49" charset="0"/>
                <a:ea typeface="微软雅黑" panose="020B0503020204020204" charset="-122"/>
              </a:rPr>
              <a:t>②</a:t>
            </a:r>
            <a:r>
              <a:rPr lang="en-US" altLang="zh-CN" sz="1800">
                <a:latin typeface="Consolas" panose="020B0609020204030204" pitchFamily="49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Consolas" panose="020B0609020204030204" pitchFamily="49" charset="0"/>
                <a:ea typeface="微软雅黑" panose="020B0503020204020204" charset="-122"/>
              </a:rPr>
              <a:t>若</a:t>
            </a:r>
            <a:r>
              <a:rPr lang="en-US" altLang="zh-CN" sz="1800" i="1">
                <a:latin typeface="Consolas" panose="020B0609020204030204" pitchFamily="49" charset="0"/>
                <a:ea typeface="微软雅黑" panose="020B0503020204020204" charset="-122"/>
              </a:rPr>
              <a:t>p</a:t>
            </a:r>
            <a:r>
              <a:rPr lang="zh-CN" altLang="en-US" sz="1800">
                <a:latin typeface="Consolas" panose="020B0609020204030204" pitchFamily="49" charset="0"/>
                <a:ea typeface="微软雅黑" panose="020B0503020204020204" charset="-122"/>
              </a:rPr>
              <a:t>结点可以访问，则访问它</a:t>
            </a:r>
            <a:endParaRPr lang="zh-CN" altLang="en-US" sz="18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403474" name="Text Box 18"/>
          <p:cNvSpPr txBox="1"/>
          <p:nvPr/>
        </p:nvSpPr>
        <p:spPr>
          <a:xfrm>
            <a:off x="6738938" y="2143125"/>
            <a:ext cx="5059362" cy="80962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ts val="2800"/>
              </a:lnSpc>
              <a:buBlip>
                <a:blip r:embed="rId1"/>
              </a:buBlip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栈中结点均没有访问</a:t>
            </a:r>
            <a:endParaRPr lang="en-US" altLang="zh-CN" sz="200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57200" indent="-457200">
              <a:lnSpc>
                <a:spcPts val="2800"/>
              </a:lnSpc>
              <a:buBlip>
                <a:blip r:embed="rId1"/>
              </a:buBlip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当栈为空（所有结点已访问）结束</a:t>
            </a:r>
            <a:endParaRPr lang="zh-CN" altLang="en-US" sz="20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089525" y="3568700"/>
            <a:ext cx="2863850" cy="1117600"/>
            <a:chOff x="3565525" y="2641600"/>
            <a:chExt cx="2863863" cy="1118870"/>
          </a:xfrm>
        </p:grpSpPr>
        <p:sp>
          <p:nvSpPr>
            <p:cNvPr id="79891" name="Freeform 20"/>
            <p:cNvSpPr/>
            <p:nvPr/>
          </p:nvSpPr>
          <p:spPr>
            <a:xfrm>
              <a:off x="3565525" y="2790825"/>
              <a:ext cx="127000" cy="358775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0" y="226"/>
                </a:cxn>
              </a:cxnLst>
              <a:pathLst>
                <a:path w="80" h="226">
                  <a:moveTo>
                    <a:pt x="80" y="0"/>
                  </a:moveTo>
                  <a:lnTo>
                    <a:pt x="0" y="226"/>
                  </a:lnTo>
                </a:path>
              </a:pathLst>
            </a:custGeom>
            <a:noFill/>
            <a:ln w="38100" cap="flat" cmpd="sng">
              <a:solidFill>
                <a:srgbClr val="6633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892" name="Text Box 21"/>
            <p:cNvSpPr txBox="1"/>
            <p:nvPr/>
          </p:nvSpPr>
          <p:spPr>
            <a:xfrm>
              <a:off x="3763963" y="2641600"/>
              <a:ext cx="287337" cy="338455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200" i="1">
                  <a:latin typeface="Consolas" panose="020B0609020204030204" pitchFamily="49" charset="0"/>
                  <a:ea typeface="宋体" panose="02010600030101010101" pitchFamily="2" charset="-122"/>
                </a:rPr>
                <a:t>p</a:t>
              </a:r>
              <a:endParaRPr lang="en-US" altLang="zh-CN" sz="2200" i="1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79893" name="Text Box 22"/>
            <p:cNvSpPr txBox="1"/>
            <p:nvPr/>
          </p:nvSpPr>
          <p:spPr>
            <a:xfrm>
              <a:off x="3997325" y="3206750"/>
              <a:ext cx="2432063" cy="55372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990099"/>
                  </a:solidFill>
                  <a:latin typeface="Consolas" panose="020B0609020204030204" pitchFamily="49" charset="0"/>
                  <a:ea typeface="微软雅黑" panose="020B0503020204020204" charset="-122"/>
                </a:rPr>
                <a:t>③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 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=</a:t>
              </a:r>
              <a:r>
                <a:rPr lang="en-US" altLang="zh-CN" sz="1800" i="1">
                  <a:latin typeface="Consolas" panose="020B0609020204030204" pitchFamily="49" charset="0"/>
                  <a:ea typeface="微软雅黑" panose="020B0503020204020204" charset="-122"/>
                </a:rPr>
                <a:t>p</a:t>
              </a:r>
              <a:r>
                <a:rPr lang="en-US" altLang="zh-CN" sz="1800">
                  <a:latin typeface="Consolas" panose="020B0609020204030204" pitchFamily="49" charset="0"/>
                  <a:ea typeface="宋体" panose="02010600030101010101" pitchFamily="2" charset="-122"/>
                </a:rPr>
                <a:t>-</a:t>
              </a:r>
              <a:r>
                <a:rPr lang="en-US" altLang="zh-CN" sz="1800">
                  <a:latin typeface="Consolas" panose="020B0609020204030204" pitchFamily="49" charset="0"/>
                  <a:ea typeface="微软雅黑" panose="020B0503020204020204" charset="-122"/>
                </a:rPr>
                <a:t>&gt;rchild</a:t>
              </a:r>
              <a:r>
                <a:rPr lang="zh-CN" altLang="en-US" sz="1800">
                  <a:latin typeface="Consolas" panose="020B0609020204030204" pitchFamily="49" charset="0"/>
                  <a:ea typeface="微软雅黑" panose="020B0503020204020204" charset="-122"/>
                </a:rPr>
                <a:t>，转向右子树做相同的工作</a:t>
              </a:r>
              <a:endParaRPr lang="zh-CN" altLang="en-US" sz="1800">
                <a:latin typeface="Consolas" panose="020B0609020204030204" pitchFamily="49" charset="0"/>
                <a:ea typeface="微软雅黑" panose="020B0503020204020204" charset="-122"/>
              </a:endParaRPr>
            </a:p>
          </p:txBody>
        </p:sp>
      </p:grpSp>
      <p:sp>
        <p:nvSpPr>
          <p:cNvPr id="403479" name="Oval 23"/>
          <p:cNvSpPr>
            <a:spLocks noChangeArrowheads="1"/>
          </p:cNvSpPr>
          <p:nvPr/>
        </p:nvSpPr>
        <p:spPr bwMode="auto">
          <a:xfrm>
            <a:off x="4729163" y="4051300"/>
            <a:ext cx="431800" cy="360363"/>
          </a:xfrm>
          <a:prstGeom prst="ellipse">
            <a:avLst/>
          </a:prstGeom>
          <a:ln>
            <a:tailEnd type="none" w="med" len="lg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79895" name="Text Box 26"/>
          <p:cNvSpPr txBox="1"/>
          <p:nvPr/>
        </p:nvSpPr>
        <p:spPr>
          <a:xfrm>
            <a:off x="1881188" y="1212850"/>
            <a:ext cx="7288212" cy="520700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</a:rPr>
              <a:t>用</a:t>
            </a:r>
            <a:r>
              <a:rPr lang="en-US" altLang="zh-CN" sz="2800" i="1"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</a:rPr>
              <a:t>遍历结点，初始指向根结点</a:t>
            </a:r>
            <a:endParaRPr lang="zh-CN" altLang="en-US" sz="280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167063" y="4572000"/>
            <a:ext cx="5715000" cy="1492250"/>
            <a:chOff x="1643042" y="4572008"/>
            <a:chExt cx="5715040" cy="1492573"/>
          </a:xfrm>
        </p:grpSpPr>
        <p:sp>
          <p:nvSpPr>
            <p:cNvPr id="79897" name="Line 24"/>
            <p:cNvSpPr/>
            <p:nvPr/>
          </p:nvSpPr>
          <p:spPr>
            <a:xfrm flipV="1">
              <a:off x="2428860" y="4572008"/>
              <a:ext cx="0" cy="72000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ysDot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79898" name="Text Box 25"/>
            <p:cNvSpPr txBox="1"/>
            <p:nvPr/>
          </p:nvSpPr>
          <p:spPr>
            <a:xfrm>
              <a:off x="1643042" y="5357826"/>
              <a:ext cx="2571768" cy="7067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ts val="1800"/>
                </a:lnSpc>
                <a:spcBef>
                  <a:spcPct val="50000"/>
                </a:spcBef>
              </a:pPr>
              <a:r>
                <a:rPr lang="zh-CN" altLang="en-US" sz="2000">
                  <a:latin typeface="Consolas" panose="020B0609020204030204" pitchFamily="49" charset="0"/>
                  <a:ea typeface="楷体" panose="02010609060101010101" pitchFamily="49" charset="-122"/>
                </a:rPr>
                <a:t>用</a:t>
              </a:r>
              <a:r>
                <a:rPr lang="en-US" altLang="zh-CN" sz="2000">
                  <a:latin typeface="Consolas" panose="020B0609020204030204" pitchFamily="49" charset="0"/>
                  <a:ea typeface="楷体" panose="02010609060101010101" pitchFamily="49" charset="-122"/>
                </a:rPr>
                <a:t>flag=true</a:t>
              </a:r>
              <a:r>
                <a:rPr lang="zh-CN" altLang="en-US" sz="2000">
                  <a:latin typeface="Consolas" panose="020B0609020204030204" pitchFamily="49" charset="0"/>
                  <a:ea typeface="楷体" panose="02010609060101010101" pitchFamily="49" charset="-122"/>
                </a:rPr>
                <a:t>标识</a:t>
              </a:r>
              <a:endParaRPr lang="en-US" altLang="zh-CN" sz="2000">
                <a:latin typeface="Consolas" panose="020B0609020204030204" pitchFamily="49" charset="0"/>
                <a:ea typeface="楷体" panose="02010609060101010101" pitchFamily="49" charset="-122"/>
              </a:endParaRPr>
            </a:p>
            <a:p>
              <a:pPr>
                <a:lnSpc>
                  <a:spcPts val="1800"/>
                </a:lnSpc>
                <a:spcBef>
                  <a:spcPct val="50000"/>
                </a:spcBef>
              </a:pPr>
              <a:r>
                <a:rPr lang="zh-CN" altLang="en-US" sz="2000">
                  <a:latin typeface="Consolas" panose="020B0609020204030204" pitchFamily="49" charset="0"/>
                  <a:ea typeface="楷体" panose="02010609060101010101" pitchFamily="49" charset="-122"/>
                </a:rPr>
                <a:t>正在处理栈顶结点</a:t>
              </a:r>
              <a:endParaRPr lang="zh-CN" altLang="en-US" sz="2000">
                <a:latin typeface="Consolas" panose="020B0609020204030204" pitchFamily="49" charset="0"/>
                <a:ea typeface="楷体" panose="02010609060101010101" pitchFamily="49" charset="-122"/>
              </a:endParaRPr>
            </a:p>
          </p:txBody>
        </p:sp>
        <p:sp>
          <p:nvSpPr>
            <p:cNvPr id="79899" name="Text Box 25"/>
            <p:cNvSpPr txBox="1"/>
            <p:nvPr/>
          </p:nvSpPr>
          <p:spPr>
            <a:xfrm>
              <a:off x="4500562" y="5357826"/>
              <a:ext cx="2857520" cy="7067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ts val="1800"/>
                </a:lnSpc>
                <a:spcBef>
                  <a:spcPct val="50000"/>
                </a:spcBef>
              </a:pPr>
              <a:r>
                <a:rPr lang="zh-CN" altLang="en-US" sz="2000">
                  <a:latin typeface="Consolas" panose="020B0609020204030204" pitchFamily="49" charset="0"/>
                  <a:ea typeface="楷体" panose="02010609060101010101" pitchFamily="49" charset="-122"/>
                </a:rPr>
                <a:t>用</a:t>
              </a:r>
              <a:r>
                <a:rPr lang="en-US" altLang="zh-CN" sz="2000">
                  <a:latin typeface="Consolas" panose="020B0609020204030204" pitchFamily="49" charset="0"/>
                  <a:ea typeface="楷体" panose="02010609060101010101" pitchFamily="49" charset="-122"/>
                </a:rPr>
                <a:t>flag=false</a:t>
              </a:r>
              <a:r>
                <a:rPr lang="zh-CN" altLang="en-US" sz="2000">
                  <a:latin typeface="Consolas" panose="020B0609020204030204" pitchFamily="49" charset="0"/>
                  <a:ea typeface="楷体" panose="02010609060101010101" pitchFamily="49" charset="-122"/>
                </a:rPr>
                <a:t>标识</a:t>
              </a:r>
              <a:endParaRPr lang="en-US" altLang="zh-CN" sz="2000">
                <a:latin typeface="Consolas" panose="020B0609020204030204" pitchFamily="49" charset="0"/>
                <a:ea typeface="楷体" panose="02010609060101010101" pitchFamily="49" charset="-122"/>
              </a:endParaRPr>
            </a:p>
            <a:p>
              <a:pPr>
                <a:lnSpc>
                  <a:spcPts val="1800"/>
                </a:lnSpc>
                <a:spcBef>
                  <a:spcPct val="50000"/>
                </a:spcBef>
              </a:pPr>
              <a:r>
                <a:rPr lang="zh-CN" altLang="en-US" sz="2000">
                  <a:latin typeface="Consolas" panose="020B0609020204030204" pitchFamily="49" charset="0"/>
                  <a:ea typeface="楷体" panose="02010609060101010101" pitchFamily="49" charset="-122"/>
                </a:rPr>
                <a:t>正在处理右子树结点</a:t>
              </a:r>
              <a:endParaRPr lang="zh-CN" altLang="en-US" sz="2000">
                <a:latin typeface="Consolas" panose="020B0609020204030204" pitchFamily="49" charset="0"/>
                <a:ea typeface="楷体" panose="02010609060101010101" pitchFamily="49" charset="-122"/>
              </a:endParaRPr>
            </a:p>
          </p:txBody>
        </p:sp>
        <p:sp>
          <p:nvSpPr>
            <p:cNvPr id="79900" name="Line 24"/>
            <p:cNvSpPr/>
            <p:nvPr/>
          </p:nvSpPr>
          <p:spPr>
            <a:xfrm flipH="1" flipV="1">
              <a:off x="5357817" y="4714884"/>
              <a:ext cx="0" cy="58331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ysDot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298450" y="71119"/>
            <a:ext cx="7560945" cy="76835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3. 后序遍历非递归算法 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9902" name="Text Box 25"/>
          <p:cNvSpPr txBox="1"/>
          <p:nvPr/>
        </p:nvSpPr>
        <p:spPr>
          <a:xfrm>
            <a:off x="1881188" y="714375"/>
            <a:ext cx="8313737" cy="522288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在中序遍历非递归算法的基础上改进而来的</a:t>
            </a:r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09750" y="4962525"/>
            <a:ext cx="1357313" cy="13223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问题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：</a:t>
            </a:r>
            <a:endParaRPr lang="en-US" altLang="zh-CN" sz="200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如何区分正在处理栈顶结点？</a:t>
            </a:r>
            <a:endParaRPr lang="zh-CN" altLang="en-US" sz="20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73" grpId="0" bldLvl="0" animBg="1"/>
      <p:bldP spid="403474" grpId="0" bldLvl="0" animBg="1"/>
      <p:bldP spid="3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514" name="Text Box 34"/>
          <p:cNvSpPr txBox="1"/>
          <p:nvPr/>
        </p:nvSpPr>
        <p:spPr>
          <a:xfrm>
            <a:off x="765175" y="1516063"/>
            <a:ext cx="10817225" cy="911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ts val="3200"/>
              </a:lnSpc>
              <a:buFontTx/>
              <a:buBlip>
                <a:blip r:embed="rId1"/>
              </a:buBlip>
            </a:pP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</a:rPr>
              <a:t>在后序遍历中，一棵二叉树或子树的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根结点最后访问</a:t>
            </a:r>
            <a:endParaRPr lang="zh-CN" altLang="en-US" sz="240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57200" indent="-457200">
              <a:lnSpc>
                <a:spcPts val="3200"/>
              </a:lnSpc>
              <a:buFontTx/>
              <a:buBlip>
                <a:blip r:embed="rId1"/>
              </a:buBlip>
            </a:pP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</a:rPr>
              <a:t>在后序遍历中，一个结点的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右孩子</a:t>
            </a:r>
            <a:r>
              <a:rPr lang="zh-CN" altLang="en-US" sz="2400">
                <a:latin typeface="Times New Roman" panose="02020603050405020304" pitchFamily="18" charset="0"/>
                <a:ea typeface="微软雅黑" panose="020B0503020204020204" charset="-122"/>
              </a:rPr>
              <a:t>刚访问，则马上可以访问该结点</a:t>
            </a:r>
            <a:endParaRPr lang="zh-CN" altLang="en-US" sz="24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148515" name="Text Box 35"/>
          <p:cNvSpPr txBox="1"/>
          <p:nvPr/>
        </p:nvSpPr>
        <p:spPr>
          <a:xfrm>
            <a:off x="8285163" y="260350"/>
            <a:ext cx="3532187" cy="1444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后序遍历：左 右 根</a:t>
            </a: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881313" y="2643188"/>
            <a:ext cx="2308225" cy="2154237"/>
            <a:chOff x="1357290" y="3357562"/>
            <a:chExt cx="2308225" cy="2154238"/>
          </a:xfrm>
        </p:grpSpPr>
        <p:sp>
          <p:nvSpPr>
            <p:cNvPr id="80900" name="Freeform 37"/>
            <p:cNvSpPr/>
            <p:nvPr/>
          </p:nvSpPr>
          <p:spPr>
            <a:xfrm>
              <a:off x="2281215" y="3619500"/>
              <a:ext cx="428625" cy="530225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0" y="334"/>
                </a:cxn>
              </a:cxnLst>
              <a:pathLst>
                <a:path w="270" h="334">
                  <a:moveTo>
                    <a:pt x="270" y="0"/>
                  </a:moveTo>
                  <a:lnTo>
                    <a:pt x="0" y="33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0901" name="Line 38"/>
            <p:cNvSpPr/>
            <p:nvPr/>
          </p:nvSpPr>
          <p:spPr>
            <a:xfrm>
              <a:off x="2398690" y="4298950"/>
              <a:ext cx="287338" cy="215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519" name="Oval 39"/>
            <p:cNvSpPr>
              <a:spLocks noChangeArrowheads="1"/>
            </p:cNvSpPr>
            <p:nvPr/>
          </p:nvSpPr>
          <p:spPr bwMode="auto">
            <a:xfrm>
              <a:off x="2641578" y="3357562"/>
              <a:ext cx="360362" cy="360363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148520" name="Oval 40"/>
            <p:cNvSpPr>
              <a:spLocks noChangeArrowheads="1"/>
            </p:cNvSpPr>
            <p:nvPr/>
          </p:nvSpPr>
          <p:spPr bwMode="auto">
            <a:xfrm>
              <a:off x="2065315" y="4076700"/>
              <a:ext cx="360363" cy="360362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148521" name="Oval 41"/>
            <p:cNvSpPr>
              <a:spLocks noChangeArrowheads="1"/>
            </p:cNvSpPr>
            <p:nvPr/>
          </p:nvSpPr>
          <p:spPr bwMode="auto">
            <a:xfrm>
              <a:off x="2641578" y="4437062"/>
              <a:ext cx="360362" cy="360363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80905" name="Line 42"/>
            <p:cNvSpPr/>
            <p:nvPr/>
          </p:nvSpPr>
          <p:spPr>
            <a:xfrm>
              <a:off x="1693840" y="4259262"/>
              <a:ext cx="360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06" name="Line 43"/>
            <p:cNvSpPr/>
            <p:nvPr/>
          </p:nvSpPr>
          <p:spPr>
            <a:xfrm flipH="1">
              <a:off x="3001940" y="4581525"/>
              <a:ext cx="2873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stealth" w="med" len="med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524" name="AutoShape 44"/>
            <p:cNvSpPr>
              <a:spLocks noChangeArrowheads="1"/>
            </p:cNvSpPr>
            <p:nvPr/>
          </p:nvSpPr>
          <p:spPr bwMode="auto">
            <a:xfrm>
              <a:off x="2343128" y="4791075"/>
              <a:ext cx="1008062" cy="720725"/>
            </a:xfrm>
            <a:prstGeom prst="triangle">
              <a:avLst>
                <a:gd name="adj" fmla="val 50000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80908" name="Text Box 45"/>
            <p:cNvSpPr txBox="1"/>
            <p:nvPr/>
          </p:nvSpPr>
          <p:spPr>
            <a:xfrm>
              <a:off x="3233715" y="4325937"/>
              <a:ext cx="431800" cy="7683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i="1">
                  <a:solidFill>
                    <a:srgbClr val="FF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i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09" name="Text Box 46"/>
            <p:cNvSpPr txBox="1"/>
            <p:nvPr/>
          </p:nvSpPr>
          <p:spPr>
            <a:xfrm>
              <a:off x="1357290" y="4032250"/>
              <a:ext cx="504825" cy="7683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667375" y="3286125"/>
            <a:ext cx="4214813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50000"/>
              </a:lnSpc>
              <a:buBlip>
                <a:blip r:embed="rId2"/>
              </a:buBlip>
            </a:pPr>
            <a:r>
              <a:rPr lang="en-US" altLang="zh-CN" sz="2000" i="1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r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指向刚刚访问的结点</a:t>
            </a:r>
            <a:endParaRPr lang="en-US" altLang="zh-CN" sz="200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Blip>
                <a:blip r:embed="rId2"/>
              </a:buBlip>
            </a:pP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若</a:t>
            </a:r>
            <a:r>
              <a:rPr lang="en-US" altLang="zh-CN" sz="2000" i="1">
                <a:latin typeface="Times New Roman" panose="02020603050405020304" pitchFamily="18" charset="0"/>
                <a:ea typeface="微软雅黑" panose="020B0503020204020204" charset="-122"/>
              </a:rPr>
              <a:t>p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000">
                <a:latin typeface="Times New Roman" panose="02020603050405020304" pitchFamily="18" charset="0"/>
                <a:ea typeface="微软雅黑" panose="020B0503020204020204" charset="-122"/>
              </a:rPr>
              <a:t>&gt;rchild==</a:t>
            </a:r>
            <a:r>
              <a:rPr lang="en-US" altLang="zh-CN" sz="2000" i="1">
                <a:solidFill>
                  <a:srgbClr val="FF00FF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r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，便访问</a:t>
            </a:r>
            <a:r>
              <a:rPr lang="en-US" altLang="zh-CN" sz="2000" i="1">
                <a:latin typeface="Times New Roman" panose="02020603050405020304" pitchFamily="18" charset="0"/>
                <a:ea typeface="微软雅黑" panose="020B0503020204020204" charset="-122"/>
              </a:rPr>
              <a:t>p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</a:rPr>
              <a:t>结点</a:t>
            </a:r>
            <a:endParaRPr lang="zh-CN" altLang="en-US" sz="20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80911" name="TextBox 17"/>
          <p:cNvSpPr txBox="1"/>
          <p:nvPr/>
        </p:nvSpPr>
        <p:spPr>
          <a:xfrm>
            <a:off x="2095500" y="357188"/>
            <a:ext cx="571500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问题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2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：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charset="-122"/>
              </a:rPr>
              <a:t>如何判断一个结点可以访问？</a:t>
            </a:r>
            <a:endParaRPr lang="zh-CN" altLang="en-US" sz="280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514" grpId="0" bldLvl="0" animBg="1"/>
      <p:bldP spid="148515" grpId="0" bldLvl="0" animBg="1"/>
      <p:bldP spid="1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2435" name="Rectangle 3"/>
          <p:cNvSpPr txBox="1">
            <a:spLocks noChangeArrowheads="1"/>
          </p:cNvSpPr>
          <p:nvPr/>
        </p:nvSpPr>
        <p:spPr bwMode="auto">
          <a:xfrm>
            <a:off x="34925" y="112394"/>
            <a:ext cx="6999601" cy="645158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后序遍历非递归过程如下：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2095469" y="714673"/>
            <a:ext cx="7175523" cy="4729480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5">
                        <a:tint val="50000"/>
                        <a:satMod val="300000"/>
                      </a:schemeClr>
                    </a:gs>
                    <a:gs pos="35000">
                      <a:schemeClr val="accent5">
                        <a:tint val="37000"/>
                        <a:satMod val="300000"/>
                      </a:schemeClr>
                    </a:gs>
                    <a:gs pos="100000">
                      <a:schemeClr val="accent5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08000" bIns="108000">
            <a:spAutoFit/>
          </a:bodyPr>
          <a:lstStyle/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p=b;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do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while (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有左孩子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将结点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p=p-&gt;lchild;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18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8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此时栈顶结点</a:t>
            </a:r>
            <a:r>
              <a:rPr lang="en-US" sz="18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18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尚未访问</a:t>
            </a:r>
            <a:r>
              <a:rPr lang="en-US" sz="18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r>
              <a:rPr lang="zh-CN" altLang="en-US" sz="18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没有左孩子或左子树已遍历过</a:t>
            </a:r>
            <a:endParaRPr lang="zh-CN" altLang="en-US" sz="1800" strike="noStrike" noProof="1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(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栈不空且结点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是栈顶结点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取栈顶结点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p;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if (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的右子树已访问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{  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访问结点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p;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退栈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}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else p=p-&gt;rchild;     </a:t>
            </a:r>
            <a:r>
              <a:rPr lang="en-US" sz="1800" strike="noStrike" noProof="1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800" strike="noStrike" noProof="1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转向处理其右子树</a:t>
            </a:r>
            <a:endParaRPr lang="zh-CN" altLang="en-US" sz="1800" strike="noStrike" noProof="1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22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 while (</a:t>
            </a:r>
            <a:r>
              <a:rPr lang="zh-CN" alt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);</a:t>
            </a:r>
            <a:endParaRPr lang="zh-CN" altLang="en-US" sz="1800" strike="noStrike" noProof="1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95500" y="5500688"/>
            <a:ext cx="7429500" cy="1168400"/>
            <a:chOff x="571472" y="5500702"/>
            <a:chExt cx="7429552" cy="1168400"/>
          </a:xfrm>
        </p:grpSpPr>
        <p:sp>
          <p:nvSpPr>
            <p:cNvPr id="81924" name="TextBox 3"/>
            <p:cNvSpPr txBox="1"/>
            <p:nvPr/>
          </p:nvSpPr>
          <p:spPr>
            <a:xfrm>
              <a:off x="571472" y="5500702"/>
              <a:ext cx="4643470" cy="1168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zh-CN" altLang="en-US" sz="2000">
                  <a:latin typeface="Times New Roman" panose="02020603050405020304" pitchFamily="18" charset="0"/>
                  <a:ea typeface="微软雅黑" panose="020B0503020204020204" charset="-122"/>
                </a:rPr>
                <a:t>栈中结点均没有访问，并且左右子树都没有遍历</a:t>
              </a:r>
              <a:endParaRPr lang="en-US" altLang="zh-CN" sz="2000">
                <a:latin typeface="Times New Roman" panose="02020603050405020304" pitchFamily="18" charset="0"/>
                <a:ea typeface="微软雅黑" panose="020B0503020204020204" charset="-122"/>
              </a:endParaRPr>
            </a:p>
            <a:p>
              <a:pPr marL="457200" indent="-457200">
                <a:lnSpc>
                  <a:spcPts val="2800"/>
                </a:lnSpc>
                <a:buBlip>
                  <a:blip r:embed="rId1"/>
                </a:buBlip>
              </a:pPr>
              <a:r>
                <a:rPr lang="zh-CN" altLang="en-US" sz="2000">
                  <a:latin typeface="Times New Roman" panose="02020603050405020304" pitchFamily="18" charset="0"/>
                  <a:ea typeface="微软雅黑" panose="020B0503020204020204" charset="-122"/>
                </a:rPr>
                <a:t>用</a:t>
              </a:r>
              <a:r>
                <a:rPr lang="en-US" altLang="zh-CN" sz="2000">
                  <a:latin typeface="Times New Roman" panose="02020603050405020304" pitchFamily="18" charset="0"/>
                  <a:ea typeface="微软雅黑" panose="020B0503020204020204" charset="-122"/>
                </a:rPr>
                <a:t>do-while</a:t>
              </a:r>
              <a:r>
                <a:rPr lang="zh-CN" altLang="en-US" sz="2000">
                  <a:latin typeface="Times New Roman" panose="02020603050405020304" pitchFamily="18" charset="0"/>
                  <a:ea typeface="微软雅黑" panose="020B0503020204020204" charset="-122"/>
                </a:rPr>
                <a:t>循环，后判断条件</a:t>
              </a:r>
              <a:endParaRPr lang="zh-CN" altLang="en-US" sz="200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81925" name="TextBox 4"/>
            <p:cNvSpPr txBox="1"/>
            <p:nvPr/>
          </p:nvSpPr>
          <p:spPr>
            <a:xfrm>
              <a:off x="6286512" y="5857892"/>
              <a:ext cx="1714512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>
                  <a:latin typeface="Times New Roman" panose="02020603050405020304" pitchFamily="18" charset="0"/>
                  <a:ea typeface="微软雅黑" panose="020B0503020204020204" charset="-122"/>
                </a:rPr>
                <a:t>栈空结束</a:t>
              </a:r>
              <a:endParaRPr lang="zh-CN" altLang="en-US" sz="2000">
                <a:latin typeface="Times New Roman" panose="02020603050405020304" pitchFamily="18" charset="0"/>
                <a:ea typeface="微软雅黑" panose="020B0503020204020204" charset="-122"/>
              </a:endParaRPr>
            </a:p>
          </p:txBody>
        </p:sp>
        <p:sp>
          <p:nvSpPr>
            <p:cNvPr id="6" name="右箭头 5"/>
            <p:cNvSpPr/>
            <p:nvPr/>
          </p:nvSpPr>
          <p:spPr>
            <a:xfrm>
              <a:off x="5429256" y="5929330"/>
              <a:ext cx="571504" cy="285752"/>
            </a:xfrm>
            <a:prstGeom prst="rightArrow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8338" name="Line 2"/>
          <p:cNvSpPr>
            <a:spLocks noChangeShapeType="1"/>
          </p:cNvSpPr>
          <p:nvPr/>
        </p:nvSpPr>
        <p:spPr bwMode="auto">
          <a:xfrm>
            <a:off x="1595438" y="2452688"/>
            <a:ext cx="288925" cy="287338"/>
          </a:xfrm>
          <a:prstGeom prst="line">
            <a:avLst/>
          </a:prstGeom>
          <a:ln w="19050">
            <a:tailEnd type="arrow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39" name="Line 3"/>
          <p:cNvSpPr>
            <a:spLocks noChangeShapeType="1"/>
          </p:cNvSpPr>
          <p:nvPr/>
        </p:nvSpPr>
        <p:spPr bwMode="auto">
          <a:xfrm flipH="1">
            <a:off x="2138363" y="1290638"/>
            <a:ext cx="287338" cy="28733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0" name="Freeform 4"/>
          <p:cNvSpPr/>
          <p:nvPr/>
        </p:nvSpPr>
        <p:spPr bwMode="auto">
          <a:xfrm>
            <a:off x="2733675" y="1285875"/>
            <a:ext cx="296863" cy="3270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" y="245"/>
              </a:cxn>
            </a:cxnLst>
            <a:rect l="0" t="0" r="r" b="b"/>
            <a:pathLst>
              <a:path w="190" h="245">
                <a:moveTo>
                  <a:pt x="0" y="0"/>
                </a:moveTo>
                <a:lnTo>
                  <a:pt x="190" y="245"/>
                </a:lnTo>
              </a:path>
            </a:pathLst>
          </a:custGeom>
          <a:ln w="19050"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1" name="Line 5"/>
          <p:cNvSpPr>
            <a:spLocks noChangeShapeType="1"/>
          </p:cNvSpPr>
          <p:nvPr/>
        </p:nvSpPr>
        <p:spPr bwMode="auto">
          <a:xfrm flipH="1">
            <a:off x="1625600" y="1857375"/>
            <a:ext cx="322263" cy="31908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2" name="Line 6"/>
          <p:cNvSpPr>
            <a:spLocks noChangeShapeType="1"/>
          </p:cNvSpPr>
          <p:nvPr/>
        </p:nvSpPr>
        <p:spPr bwMode="auto">
          <a:xfrm flipH="1">
            <a:off x="2705100" y="1895475"/>
            <a:ext cx="287338" cy="287338"/>
          </a:xfrm>
          <a:prstGeom prst="line">
            <a:avLst/>
          </a:prstGeom>
          <a:ln w="19050">
            <a:tailEnd type="arrow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3" name="Line 7"/>
          <p:cNvSpPr>
            <a:spLocks noChangeShapeType="1"/>
          </p:cNvSpPr>
          <p:nvPr/>
        </p:nvSpPr>
        <p:spPr bwMode="auto">
          <a:xfrm>
            <a:off x="3233738" y="1857375"/>
            <a:ext cx="287338" cy="331788"/>
          </a:xfrm>
          <a:prstGeom prst="line">
            <a:avLst/>
          </a:prstGeom>
          <a:ln w="19050">
            <a:tailEnd type="arrow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4" name="Oval 8"/>
          <p:cNvSpPr>
            <a:spLocks noChangeArrowheads="1"/>
          </p:cNvSpPr>
          <p:nvPr/>
        </p:nvSpPr>
        <p:spPr bwMode="auto">
          <a:xfrm>
            <a:off x="2354263" y="100330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5" name="Oval 9"/>
          <p:cNvSpPr>
            <a:spLocks noChangeArrowheads="1"/>
          </p:cNvSpPr>
          <p:nvPr/>
        </p:nvSpPr>
        <p:spPr bwMode="auto">
          <a:xfrm>
            <a:off x="1849438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6" name="Oval 10"/>
          <p:cNvSpPr>
            <a:spLocks noChangeArrowheads="1"/>
          </p:cNvSpPr>
          <p:nvPr/>
        </p:nvSpPr>
        <p:spPr bwMode="auto">
          <a:xfrm>
            <a:off x="2930525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7" name="Oval 11"/>
          <p:cNvSpPr>
            <a:spLocks noChangeArrowheads="1"/>
          </p:cNvSpPr>
          <p:nvPr/>
        </p:nvSpPr>
        <p:spPr bwMode="auto">
          <a:xfrm>
            <a:off x="1274763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8" name="Oval 12"/>
          <p:cNvSpPr>
            <a:spLocks noChangeArrowheads="1"/>
          </p:cNvSpPr>
          <p:nvPr/>
        </p:nvSpPr>
        <p:spPr bwMode="auto">
          <a:xfrm>
            <a:off x="2355850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49" name="Oval 13"/>
          <p:cNvSpPr>
            <a:spLocks noChangeArrowheads="1"/>
          </p:cNvSpPr>
          <p:nvPr/>
        </p:nvSpPr>
        <p:spPr bwMode="auto">
          <a:xfrm>
            <a:off x="1849438" y="26590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0" name="Oval 14"/>
          <p:cNvSpPr>
            <a:spLocks noChangeArrowheads="1"/>
          </p:cNvSpPr>
          <p:nvPr/>
        </p:nvSpPr>
        <p:spPr bwMode="auto">
          <a:xfrm>
            <a:off x="3435350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1" name="Line 15"/>
          <p:cNvSpPr>
            <a:spLocks noChangeShapeType="1"/>
          </p:cNvSpPr>
          <p:nvPr/>
        </p:nvSpPr>
        <p:spPr bwMode="auto">
          <a:xfrm>
            <a:off x="1924050" y="3733800"/>
            <a:ext cx="0" cy="2052638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2" name="Line 16"/>
          <p:cNvSpPr>
            <a:spLocks noChangeShapeType="1"/>
          </p:cNvSpPr>
          <p:nvPr/>
        </p:nvSpPr>
        <p:spPr bwMode="auto">
          <a:xfrm>
            <a:off x="3076575" y="3733800"/>
            <a:ext cx="0" cy="2052638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3" name="Line 17"/>
          <p:cNvSpPr>
            <a:spLocks noChangeShapeType="1"/>
          </p:cNvSpPr>
          <p:nvPr/>
        </p:nvSpPr>
        <p:spPr bwMode="auto">
          <a:xfrm>
            <a:off x="1924050" y="5780088"/>
            <a:ext cx="1152525" cy="0"/>
          </a:xfrm>
          <a:prstGeom prst="line">
            <a:avLst/>
          </a:prstGeom>
          <a:ln>
            <a:tailEnd type="none" w="med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none"/>
          <a:lstStyle/>
          <a:p>
            <a:pPr fontAlgn="base"/>
            <a:endParaRPr lang="zh-CN" altLang="en-US" strike="noStrike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2961" name="Text Box 18"/>
          <p:cNvSpPr txBox="1"/>
          <p:nvPr/>
        </p:nvSpPr>
        <p:spPr>
          <a:xfrm>
            <a:off x="1924050" y="5995988"/>
            <a:ext cx="1152525" cy="3984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楷体" panose="02010609060101010101" pitchFamily="49" charset="-122"/>
              </a:rPr>
              <a:t>一个栈</a:t>
            </a:r>
            <a:endParaRPr lang="zh-CN" altLang="en-US" sz="20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8355" name="Oval 19"/>
          <p:cNvSpPr>
            <a:spLocks noChangeArrowheads="1"/>
          </p:cNvSpPr>
          <p:nvPr/>
        </p:nvSpPr>
        <p:spPr bwMode="auto">
          <a:xfrm>
            <a:off x="2354263" y="1003300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6" name="Oval 20"/>
          <p:cNvSpPr>
            <a:spLocks noChangeArrowheads="1"/>
          </p:cNvSpPr>
          <p:nvPr/>
        </p:nvSpPr>
        <p:spPr bwMode="auto">
          <a:xfrm>
            <a:off x="1849438" y="15795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7" name="Oval 21"/>
          <p:cNvSpPr>
            <a:spLocks noChangeArrowheads="1"/>
          </p:cNvSpPr>
          <p:nvPr/>
        </p:nvSpPr>
        <p:spPr bwMode="auto">
          <a:xfrm>
            <a:off x="2930525" y="157797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8" name="Oval 22"/>
          <p:cNvSpPr>
            <a:spLocks noChangeArrowheads="1"/>
          </p:cNvSpPr>
          <p:nvPr/>
        </p:nvSpPr>
        <p:spPr bwMode="auto">
          <a:xfrm>
            <a:off x="1274763" y="21558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59" name="Oval 23"/>
          <p:cNvSpPr>
            <a:spLocks noChangeArrowheads="1"/>
          </p:cNvSpPr>
          <p:nvPr/>
        </p:nvSpPr>
        <p:spPr bwMode="auto">
          <a:xfrm>
            <a:off x="2355850" y="2143125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60" name="Oval 24"/>
          <p:cNvSpPr>
            <a:spLocks noChangeArrowheads="1"/>
          </p:cNvSpPr>
          <p:nvPr/>
        </p:nvSpPr>
        <p:spPr bwMode="auto">
          <a:xfrm>
            <a:off x="1849438" y="2659063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98361" name="Oval 25"/>
          <p:cNvSpPr>
            <a:spLocks noChangeArrowheads="1"/>
          </p:cNvSpPr>
          <p:nvPr/>
        </p:nvSpPr>
        <p:spPr bwMode="auto">
          <a:xfrm>
            <a:off x="3435350" y="2154238"/>
            <a:ext cx="431800" cy="360363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fontAlgn="base"/>
            <a:r>
              <a:rPr lang="en-US" altLang="zh-CN" sz="2000" i="1" strike="noStrike" noProof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endParaRPr lang="en-US" altLang="zh-CN" sz="2000" i="1" strike="noStrike" noProof="1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2969" name="Text Box 26"/>
          <p:cNvSpPr txBox="1"/>
          <p:nvPr/>
        </p:nvSpPr>
        <p:spPr>
          <a:xfrm>
            <a:off x="4657725" y="1463675"/>
            <a:ext cx="1728788" cy="4302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200">
                <a:latin typeface="Consolas" panose="020B0609020204030204" pitchFamily="49" charset="0"/>
                <a:ea typeface="楷体" panose="02010609060101010101" pitchFamily="49" charset="-122"/>
              </a:rPr>
              <a:t>后序序列：</a:t>
            </a:r>
            <a:endParaRPr lang="zh-CN" altLang="en-US" sz="220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398370" name="Text Box 34"/>
          <p:cNvSpPr txBox="1"/>
          <p:nvPr/>
        </p:nvSpPr>
        <p:spPr>
          <a:xfrm>
            <a:off x="5233988" y="3400425"/>
            <a:ext cx="2735262" cy="39846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后序遍历完毕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398377" name="Text Box 41"/>
          <p:cNvSpPr txBox="1">
            <a:spLocks noChangeArrowheads="1"/>
          </p:cNvSpPr>
          <p:nvPr/>
        </p:nvSpPr>
        <p:spPr bwMode="auto">
          <a:xfrm>
            <a:off x="190500" y="26669"/>
            <a:ext cx="7924165" cy="76835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后序非递归算法动画演示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56" name="直接箭头连接符 55"/>
          <p:cNvCxnSpPr>
            <a:stCxn id="398360" idx="5"/>
          </p:cNvCxnSpPr>
          <p:nvPr/>
        </p:nvCxnSpPr>
        <p:spPr>
          <a:xfrm rot="16200000" flipH="1">
            <a:off x="2101850" y="3011488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398360" idx="3"/>
          </p:cNvCxnSpPr>
          <p:nvPr/>
        </p:nvCxnSpPr>
        <p:spPr>
          <a:xfrm rot="5400000">
            <a:off x="1699419" y="3001169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398360" idx="3"/>
          </p:cNvCxnSpPr>
          <p:nvPr/>
        </p:nvCxnSpPr>
        <p:spPr>
          <a:xfrm rot="16200000" flipH="1">
            <a:off x="2682875" y="25447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398360" idx="3"/>
          </p:cNvCxnSpPr>
          <p:nvPr/>
        </p:nvCxnSpPr>
        <p:spPr>
          <a:xfrm rot="5400000">
            <a:off x="2309019" y="2534444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398360" idx="3"/>
          </p:cNvCxnSpPr>
          <p:nvPr/>
        </p:nvCxnSpPr>
        <p:spPr>
          <a:xfrm rot="16200000" flipH="1">
            <a:off x="3744913" y="25447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398360" idx="3"/>
          </p:cNvCxnSpPr>
          <p:nvPr/>
        </p:nvCxnSpPr>
        <p:spPr>
          <a:xfrm rot="5400000">
            <a:off x="3377406" y="2553494"/>
            <a:ext cx="176213" cy="107950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398360" idx="3"/>
          </p:cNvCxnSpPr>
          <p:nvPr/>
        </p:nvCxnSpPr>
        <p:spPr>
          <a:xfrm rot="5400000">
            <a:off x="1144588" y="2517775"/>
            <a:ext cx="214313" cy="179388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398360" idx="3"/>
          </p:cNvCxnSpPr>
          <p:nvPr/>
        </p:nvCxnSpPr>
        <p:spPr>
          <a:xfrm rot="16200000" flipH="1">
            <a:off x="2173288" y="1973263"/>
            <a:ext cx="176213" cy="87313"/>
          </a:xfrm>
          <a:prstGeom prst="straightConnector1">
            <a:avLst/>
          </a:prstGeom>
          <a:ln w="28575">
            <a:solidFill>
              <a:srgbClr val="33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398360" idx="3"/>
          </p:cNvCxnSpPr>
          <p:nvPr/>
        </p:nvCxnSpPr>
        <p:spPr>
          <a:xfrm rot="16200000" flipH="1">
            <a:off x="2354263" y="838200"/>
            <a:ext cx="198438" cy="11271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2981" name="TextBox 68"/>
          <p:cNvSpPr txBox="1"/>
          <p:nvPr/>
        </p:nvSpPr>
        <p:spPr>
          <a:xfrm>
            <a:off x="2090738" y="642938"/>
            <a:ext cx="357187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zh-CN" altLang="en-US" sz="2000" i="1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162675" y="2857500"/>
            <a:ext cx="928688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栈空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47" name="Text Box 27"/>
          <p:cNvSpPr txBox="1"/>
          <p:nvPr/>
        </p:nvSpPr>
        <p:spPr>
          <a:xfrm>
            <a:off x="4772025" y="2185988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G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8" name="Text Box 28"/>
          <p:cNvSpPr txBox="1"/>
          <p:nvPr/>
        </p:nvSpPr>
        <p:spPr>
          <a:xfrm>
            <a:off x="5419725" y="2185988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9" name="Text Box 29"/>
          <p:cNvSpPr txBox="1"/>
          <p:nvPr/>
        </p:nvSpPr>
        <p:spPr>
          <a:xfrm>
            <a:off x="6067425" y="2185988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0" name="Text Box 30"/>
          <p:cNvSpPr txBox="1"/>
          <p:nvPr/>
        </p:nvSpPr>
        <p:spPr>
          <a:xfrm>
            <a:off x="6716713" y="2185988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E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1" name="Text Box 31"/>
          <p:cNvSpPr txBox="1"/>
          <p:nvPr/>
        </p:nvSpPr>
        <p:spPr>
          <a:xfrm>
            <a:off x="7361238" y="2185988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2" name="Text Box 32"/>
          <p:cNvSpPr txBox="1"/>
          <p:nvPr/>
        </p:nvSpPr>
        <p:spPr>
          <a:xfrm>
            <a:off x="8008938" y="2185988"/>
            <a:ext cx="433387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3" name="Text Box 33"/>
          <p:cNvSpPr txBox="1"/>
          <p:nvPr/>
        </p:nvSpPr>
        <p:spPr>
          <a:xfrm>
            <a:off x="8658225" y="2185988"/>
            <a:ext cx="433388" cy="676275"/>
          </a:xfrm>
          <a:prstGeom prst="rect">
            <a:avLst/>
          </a:prstGeom>
          <a:noFill/>
          <a:ln w="38100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i="1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013950" y="166688"/>
            <a:ext cx="1397000" cy="16303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注意：由于</a:t>
            </a:r>
            <a:r>
              <a:rPr lang="en-US" altLang="zh-CN" sz="2000" i="1">
                <a:solidFill>
                  <a:srgbClr val="FF00FF"/>
                </a:solidFill>
                <a:latin typeface="Consolas" panose="020B0609020204030204" pitchFamily="49" charset="0"/>
                <a:ea typeface="微软雅黑" panose="020B0503020204020204" charset="-122"/>
              </a:rPr>
              <a:t>r</a:t>
            </a:r>
            <a:r>
              <a:rPr lang="zh-CN" altLang="en-US" sz="2000">
                <a:latin typeface="Consolas" panose="020B0609020204030204" pitchFamily="49" charset="0"/>
                <a:ea typeface="微软雅黑" panose="020B0503020204020204" charset="-122"/>
              </a:rPr>
              <a:t>指针变化复杂，这里没有考虑</a:t>
            </a:r>
            <a:endParaRPr lang="zh-CN" altLang="en-US" sz="2000">
              <a:latin typeface="Consolas" panose="020B0609020204030204" pitchFamily="49" charset="0"/>
              <a:ea typeface="微软雅黑" panose="020B0503020204020204" charset="-122"/>
            </a:endParaRPr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7361238" y="3019425"/>
            <a:ext cx="4989513" cy="387826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5">
                        <a:tint val="50000"/>
                        <a:satMod val="300000"/>
                      </a:schemeClr>
                    </a:gs>
                    <a:gs pos="35000">
                      <a:schemeClr val="accent5">
                        <a:tint val="37000"/>
                        <a:satMod val="300000"/>
                      </a:schemeClr>
                    </a:gs>
                    <a:gs pos="100000">
                      <a:schemeClr val="accent5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08000" bIns="108000">
            <a:spAutoFit/>
          </a:bodyPr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p=b;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do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{  while (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有左孩子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将结点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进栈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p=p-&gt;lchild;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此时栈顶结点</a:t>
            </a:r>
            <a:r>
              <a:rPr 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(</a:t>
            </a:r>
            <a:r>
              <a:rPr lang="zh-CN" alt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尚未访问</a:t>
            </a:r>
            <a:r>
              <a:rPr 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r>
              <a:rPr lang="zh-CN" altLang="en-US" sz="1400" strike="noStrike" noProof="1" smtClean="0">
                <a:solidFill>
                  <a:srgbClr val="FF000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没有左孩子或左子树已遍历过</a:t>
            </a:r>
            <a:endParaRPr lang="zh-CN" altLang="en-US" sz="1400" strike="noStrike" noProof="1" smtClean="0">
              <a:solidFill>
                <a:srgbClr val="FF000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while (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栈不空且结点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是栈顶结点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{  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取栈顶结点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p;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if (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结点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的右子树已访问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{  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访问结点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p;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退栈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;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}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else p=p-&gt;rchild;     </a:t>
            </a:r>
            <a:r>
              <a:rPr lang="en-US" sz="1400" strike="noStrike" noProof="1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400" strike="noStrike" noProof="1" smtClean="0">
                <a:solidFill>
                  <a:srgbClr val="00B0F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转向处理其右子树</a:t>
            </a:r>
            <a:endParaRPr lang="zh-CN" altLang="en-US" sz="1400" strike="noStrike" noProof="1" smtClean="0">
              <a:solidFill>
                <a:srgbClr val="00B0F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</a:t>
            </a:r>
            <a:endParaRPr lang="zh-CN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 while (</a:t>
            </a:r>
            <a:r>
              <a:rPr lang="zh-CN" alt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</a:t>
            </a:r>
            <a:r>
              <a:rPr lang="en-US" sz="14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);</a:t>
            </a:r>
            <a:endParaRPr lang="en-US" altLang="en-US" sz="14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98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7037E-6 C 0.00069 0.01945 0.00173 0.03473 1.94444E-6 0.13889 C -0.00174 0.24306 -0.00834 0.52431 -0.01042 0.6257 " pathEditMode="relative" rAng="0" ptsTypes="aaa">
                                      <p:cBhvr>
                                        <p:cTn id="11" dur="2000" fill="hold"/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98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98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48148E-6 C 0.00729 0.01713 0.01458 0.03426 0.01493 0.06134 C 0.01528 0.08843 -0.0026 0.09514 0.0026 0.16227 C 0.00781 0.2294 0.03698 0.40139 0.04601 0.46435 " pathEditMode="relative" rAng="0" ptsTypes="aaaa">
                                      <p:cBhvr>
                                        <p:cTn id="23" dur="2000" fill="hold"/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3983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398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7.40741E-7 C -0.00347 -0.00602 -0.00694 -0.01181 0.00122 0.0125 C 0.00938 0.0368 0.03108 0.11528 0.04861 0.14583 C 0.06615 0.17639 0.0967 0.17083 0.10677 0.1963 C 0.11684 0.22176 0.10851 0.27778 0.10886 0.29907 " pathEditMode="relative" rAng="0" ptsTypes="aaaaa">
                                      <p:cBhvr>
                                        <p:cTn id="35" dur="2000" fill="hold"/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398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398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11111E-6 C 0.00764 0.02616 0.03646 0.12454 0.04601 0.15717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398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398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3983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398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5.55112E-17 C -0.00104 0.05301 -0.00191 0.10602 -0.01354 0.16227 C -0.02517 0.21852 -0.06059 0.28727 -0.07031 0.33704 C -0.08004 0.38681 -0.07188 0.43519 -0.07222 0.46088 " pathEditMode="relative" rAng="0" ptsTypes="aaaa">
                                      <p:cBhvr>
                                        <p:cTn id="98" dur="2000" fill="hold"/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98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398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C 0.0033 0.00231 0.00729 0.00023 0.00538 0.04861 C 0.00347 0.09699 -0.00833 0.24004 -0.01198 0.29028 " pathEditMode="relative" rAng="0" ptsTypes="aaa">
                                      <p:cBhvr>
                                        <p:cTn id="110" dur="2000" fill="hold"/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398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398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398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22222E-6 C -0.02969 0.01805 -0.05573 0.03287 -0.07709 0.08125 C -0.09844 0.12963 -0.11788 0.24676 -0.12865 0.29028 " pathEditMode="relative" rAng="0" ptsTypes="aaa">
                                      <p:cBhvr>
                                        <p:cTn id="140" dur="2000" fill="hold"/>
                                        <p:tgtEl>
                                          <p:spTgt spid="398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5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4" dur="500"/>
                                        <p:tgtEl>
                                          <p:spTgt spid="398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0" dur="500"/>
                                        <p:tgtEl>
                                          <p:spTgt spid="398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bldLvl="0" animBg="1"/>
      <p:bldP spid="398339" grpId="0" bldLvl="0" animBg="1"/>
      <p:bldP spid="398340" grpId="0" bldLvl="0" animBg="1"/>
      <p:bldP spid="398341" grpId="0" bldLvl="0" animBg="1"/>
      <p:bldP spid="398342" grpId="0" bldLvl="0" animBg="1"/>
      <p:bldP spid="398343" grpId="0" bldLvl="0" animBg="1"/>
      <p:bldP spid="398355" grpId="0" bldLvl="0" animBg="1"/>
      <p:bldP spid="398355" grpId="1" bldLvl="0" animBg="1"/>
      <p:bldP spid="398355" grpId="2" bldLvl="0" animBg="1"/>
      <p:bldP spid="398356" grpId="0" bldLvl="0" animBg="1"/>
      <p:bldP spid="398356" grpId="1" bldLvl="0" animBg="1"/>
      <p:bldP spid="398356" grpId="2" bldLvl="0" animBg="1"/>
      <p:bldP spid="398357" grpId="0" bldLvl="0" animBg="1"/>
      <p:bldP spid="398357" grpId="1" bldLvl="0" animBg="1"/>
      <p:bldP spid="398357" grpId="2" bldLvl="0" animBg="1"/>
      <p:bldP spid="398358" grpId="0" bldLvl="0" animBg="1"/>
      <p:bldP spid="398358" grpId="1" bldLvl="0" animBg="1"/>
      <p:bldP spid="398358" grpId="2" bldLvl="0" animBg="1"/>
      <p:bldP spid="398359" grpId="0" bldLvl="0" animBg="1"/>
      <p:bldP spid="398359" grpId="1" bldLvl="0" animBg="1"/>
      <p:bldP spid="398359" grpId="2" bldLvl="0" animBg="1"/>
      <p:bldP spid="398360" grpId="0" bldLvl="0" animBg="1"/>
      <p:bldP spid="398360" grpId="1" bldLvl="0" animBg="1"/>
      <p:bldP spid="398360" grpId="2" bldLvl="0" animBg="1"/>
      <p:bldP spid="398361" grpId="0" bldLvl="0" animBg="1"/>
      <p:bldP spid="398361" grpId="1" bldLvl="0" animBg="1"/>
      <p:bldP spid="398361" grpId="2" bldLvl="0" animBg="1"/>
      <p:bldP spid="398370" grpId="0" bldLvl="0" animBg="1"/>
      <p:bldP spid="70" grpId="0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7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Text Box 1026"/>
          <p:cNvSpPr txBox="1">
            <a:spLocks noChangeArrowheads="1"/>
          </p:cNvSpPr>
          <p:nvPr/>
        </p:nvSpPr>
        <p:spPr bwMode="auto">
          <a:xfrm>
            <a:off x="1489710" y="481328"/>
            <a:ext cx="10391140" cy="53968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5">
                        <a:tint val="50000"/>
                        <a:satMod val="300000"/>
                      </a:schemeClr>
                    </a:gs>
                    <a:gs pos="35000">
                      <a:schemeClr val="accent5">
                        <a:tint val="37000"/>
                        <a:satMod val="300000"/>
                      </a:schemeClr>
                    </a:gs>
                    <a:gs pos="100000">
                      <a:schemeClr val="accent5">
                        <a:tint val="15000"/>
                        <a:satMod val="350000"/>
                      </a:schemeClr>
                    </a:gs>
                  </a:gsLst>
                  <a:lin ang="16200000" scaled="1"/>
                </a:gradFill>
              </a14:hiddenFill>
            </a:ext>
          </a:ex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288000" bIns="108000">
            <a:spAutoFit/>
          </a:bodyPr>
          <a:lstStyle/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void PostOrder1(BTNode *b)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后序非递归遍历算法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  BTNode *p，*r;</a:t>
            </a:r>
            <a:endParaRPr lang="zh-CN" altLang="en-US" sz="2400" strike="noStrike" noProof="1" smtClean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bool flag;</a:t>
            </a:r>
            <a:endParaRPr lang="zh-CN" altLang="en-US" sz="2400" strike="noStrike" noProof="1" smtClean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SqStack *st;	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定义一个顺序栈指针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sz="2400" strike="noStrike" noProof="1" smtClean="0">
                <a:solidFill>
                  <a:srgbClr val="FF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InitStack(st);</a:t>
            </a: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初始化栈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p=b;</a:t>
            </a:r>
            <a:endParaRPr lang="zh-CN" altLang="en-US" sz="2400" strike="noStrike" noProof="1" smtClean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do</a:t>
            </a:r>
            <a:endParaRPr lang="zh-CN" altLang="en-US" sz="2400" strike="noStrike" noProof="1" smtClean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{  while (p!=NULL)	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扫描结点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的所有左下结点并进栈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{  </a:t>
            </a:r>
            <a:r>
              <a:rPr lang="en-US" sz="2400" strike="noStrike" noProof="1" smtClean="0">
                <a:solidFill>
                  <a:srgbClr val="FF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Push(st，p);</a:t>
            </a: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结点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进栈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p=p-&gt;lchild;	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移动到左孩子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}</a:t>
            </a:r>
            <a:endParaRPr lang="zh-CN" altLang="en-US" sz="2400" strike="noStrike" noProof="1" smtClean="0">
              <a:solidFill>
                <a:srgbClr val="3333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r=NULL;		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//r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指向刚刚访问的结点，初始时为空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base">
              <a:lnSpc>
                <a:spcPts val="30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flag=true;		</a:t>
            </a:r>
            <a:r>
              <a:rPr 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//flag</a:t>
            </a:r>
            <a:r>
              <a:rPr lang="zh-CN" altLang="en-US" sz="2400" strike="noStrike" noProof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为真表示正在处理栈顶结点</a:t>
            </a:r>
            <a:endParaRPr lang="zh-CN" altLang="en-US" sz="2400" strike="noStrike" noProof="1" smtClean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508" name="Rectangle 1028"/>
          <p:cNvSpPr txBox="1">
            <a:spLocks noChangeArrowheads="1"/>
          </p:cNvSpPr>
          <p:nvPr/>
        </p:nvSpPr>
        <p:spPr bwMode="auto">
          <a:xfrm>
            <a:off x="83819" y="5715"/>
            <a:ext cx="6584316" cy="645160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>
              <a:spcBef>
                <a:spcPct val="50000"/>
              </a:spcBef>
              <a:buClrTx/>
              <a:buSzTx/>
              <a:buFontTx/>
            </a:pPr>
            <a:r>
              <a:rPr kumimoji="1" lang="en-US" altLang="zh-CN" sz="36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后序遍历非递归算法如下：</a:t>
            </a:r>
            <a:endParaRPr kumimoji="1" lang="en-US" altLang="zh-CN" sz="36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1666844" y="214288"/>
            <a:ext cx="8858280" cy="641731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44000" tIns="216000" rIns="144000">
            <a:spAutoFit/>
          </a:bodyPr>
          <a:lstStyle/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while (!StackEmpty(st) &amp;&amp; flag)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{  </a:t>
            </a:r>
            <a:r>
              <a:rPr lang="en-US" sz="18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GetTop(st，p);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      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//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取出当前的栈顶结点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endParaRPr lang="zh-CN" altLang="en-US" sz="18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if (p-&gt;rchild==r)      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若结点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的右孩子为空或者为刚访问结点</a:t>
            </a:r>
            <a:r>
              <a:rPr lang="en-US" altLang="zh-CN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</a:t>
            </a:r>
            <a:endParaRPr lang="en-US" altLang="zh-CN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{  printf("%c "，p-&gt;data);    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//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访问结点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</a:t>
            </a:r>
            <a:endParaRPr lang="zh-CN" altLang="en-US" sz="18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  </a:t>
            </a:r>
            <a:r>
              <a:rPr lang="en-US" sz="18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Pop(st，p);</a:t>
            </a:r>
            <a:endParaRPr lang="zh-CN" altLang="en-US" sz="1800" strike="noStrike" noProof="1" smtClean="0">
              <a:solidFill>
                <a:srgbClr val="FF00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  r=p;		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//r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指向刚访问过的结点</a:t>
            </a:r>
            <a:endParaRPr lang="zh-CN" altLang="en-US" sz="18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}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else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{  p=p-&gt;rchild;	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转向处理其右子树</a:t>
            </a:r>
            <a:endParaRPr lang="zh-CN" altLang="en-US" sz="18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    flag=false;	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表示当前不是处理栈顶结点</a:t>
            </a:r>
            <a:endParaRPr lang="zh-CN" altLang="en-US" sz="18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   }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  }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} while (!</a:t>
            </a:r>
            <a:r>
              <a:rPr lang="en-US" sz="18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StackEmpty(st)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);	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栈不空循环</a:t>
            </a:r>
            <a:endParaRPr lang="zh-CN" altLang="en-US" sz="18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printf("\n");</a:t>
            </a:r>
            <a:endParaRPr lang="zh-CN" altLang="en-US" sz="1800" strike="noStrike" noProof="1" smtClean="0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   </a:t>
            </a:r>
            <a:r>
              <a:rPr lang="en-US" sz="1800" strike="noStrike" noProof="1" smtClean="0">
                <a:solidFill>
                  <a:srgbClr val="FF00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DestroyStack(st);	</a:t>
            </a: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	</a:t>
            </a:r>
            <a:r>
              <a:rPr 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//</a:t>
            </a:r>
            <a:r>
              <a:rPr lang="zh-CN" altLang="en-US" sz="1800" strike="noStrike" noProof="1" smtClean="0">
                <a:solidFill>
                  <a:srgbClr val="00B050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销毁栈</a:t>
            </a:r>
            <a:endParaRPr lang="zh-CN" altLang="en-US" sz="1800" strike="noStrike" noProof="1" smtClean="0">
              <a:solidFill>
                <a:srgbClr val="00B050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  <a:p>
            <a:pPr algn="l" fontAlgn="base">
              <a:lnSpc>
                <a:spcPts val="3000"/>
              </a:lnSpc>
            </a:pPr>
            <a:r>
              <a:rPr lang="en-US" sz="1800" strike="noStrike" noProof="1" smtClean="0">
                <a:solidFill>
                  <a:srgbClr val="3333FF"/>
                </a:solidFill>
                <a:latin typeface="Consolas" panose="020B0609020204030204" pitchFamily="49" charset="0"/>
                <a:ea typeface="仿宋" panose="02010609060101010101" charset="-122"/>
                <a:cs typeface="Consolas" panose="020B0609020204030204" pitchFamily="49" charset="0"/>
              </a:rPr>
              <a:t>}</a:t>
            </a:r>
            <a:endParaRPr lang="zh-CN" altLang="en-US" sz="1800" strike="noStrike" noProof="1">
              <a:solidFill>
                <a:srgbClr val="3333FF"/>
              </a:solidFill>
              <a:latin typeface="Consolas" panose="020B0609020204030204" pitchFamily="49" charset="0"/>
              <a:ea typeface="仿宋" panose="02010609060101010101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Text Box 2"/>
          <p:cNvSpPr txBox="1"/>
          <p:nvPr/>
        </p:nvSpPr>
        <p:spPr>
          <a:xfrm>
            <a:off x="4505325" y="225425"/>
            <a:ext cx="4267200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按层次遍历二叉树</a:t>
            </a:r>
            <a:endParaRPr lang="zh-CN" altLang="en-US" sz="40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905000" y="303213"/>
            <a:ext cx="3124200" cy="3098800"/>
            <a:chOff x="3312" y="1074"/>
            <a:chExt cx="2208" cy="1952"/>
          </a:xfrm>
        </p:grpSpPr>
        <p:grpSp>
          <p:nvGrpSpPr>
            <p:cNvPr id="86019" name="Group 4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86020" name="Line 5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6021" name="Line 6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6022" name="Line 7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6023" name="Line 8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6024" name="Line 9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6025" name="Line 10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7563" name="Oval 11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4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7564" name="Oval 12"/>
              <p:cNvSpPr>
                <a:spLocks noChangeArrowheads="1"/>
              </p:cNvSpPr>
              <p:nvPr/>
            </p:nvSpPr>
            <p:spPr bwMode="auto">
              <a:xfrm>
                <a:off x="3984" y="220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7565" name="Oval 13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9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7566" name="Oval 14"/>
              <p:cNvSpPr>
                <a:spLocks noChangeArrowheads="1"/>
              </p:cNvSpPr>
              <p:nvPr/>
            </p:nvSpPr>
            <p:spPr bwMode="auto">
              <a:xfrm>
                <a:off x="4751" y="1632"/>
                <a:ext cx="337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7567" name="Oval 15"/>
              <p:cNvSpPr>
                <a:spLocks noChangeArrowheads="1"/>
              </p:cNvSpPr>
              <p:nvPr/>
            </p:nvSpPr>
            <p:spPr bwMode="auto">
              <a:xfrm>
                <a:off x="4656" y="2688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7568" name="Oval 16"/>
              <p:cNvSpPr>
                <a:spLocks noChangeArrowheads="1"/>
              </p:cNvSpPr>
              <p:nvPr/>
            </p:nvSpPr>
            <p:spPr bwMode="auto">
              <a:xfrm>
                <a:off x="3312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7569" name="Oval 17"/>
              <p:cNvSpPr>
                <a:spLocks noChangeArrowheads="1"/>
              </p:cNvSpPr>
              <p:nvPr/>
            </p:nvSpPr>
            <p:spPr bwMode="auto">
              <a:xfrm>
                <a:off x="5185" y="2160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07570" name="Text Box 18"/>
            <p:cNvSpPr txBox="1">
              <a:spLocks noChangeArrowheads="1"/>
            </p:cNvSpPr>
            <p:nvPr/>
          </p:nvSpPr>
          <p:spPr bwMode="auto">
            <a:xfrm>
              <a:off x="3729" y="1602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07571" name="Text Box 19"/>
            <p:cNvSpPr txBox="1">
              <a:spLocks noChangeArrowheads="1"/>
            </p:cNvSpPr>
            <p:nvPr/>
          </p:nvSpPr>
          <p:spPr bwMode="auto">
            <a:xfrm>
              <a:off x="4258" y="1074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07572" name="Text Box 20"/>
            <p:cNvSpPr txBox="1">
              <a:spLocks noChangeArrowheads="1"/>
            </p:cNvSpPr>
            <p:nvPr/>
          </p:nvSpPr>
          <p:spPr bwMode="auto">
            <a:xfrm>
              <a:off x="3347" y="2130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07573" name="Text Box 21"/>
            <p:cNvSpPr txBox="1">
              <a:spLocks noChangeArrowheads="1"/>
            </p:cNvSpPr>
            <p:nvPr/>
          </p:nvSpPr>
          <p:spPr bwMode="auto">
            <a:xfrm>
              <a:off x="4025" y="2178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07574" name="Text Box 22"/>
            <p:cNvSpPr txBox="1">
              <a:spLocks noChangeArrowheads="1"/>
            </p:cNvSpPr>
            <p:nvPr/>
          </p:nvSpPr>
          <p:spPr bwMode="auto">
            <a:xfrm>
              <a:off x="4793" y="1602"/>
              <a:ext cx="257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07575" name="Text Box 23"/>
            <p:cNvSpPr txBox="1">
              <a:spLocks noChangeArrowheads="1"/>
            </p:cNvSpPr>
            <p:nvPr/>
          </p:nvSpPr>
          <p:spPr bwMode="auto">
            <a:xfrm>
              <a:off x="5216" y="2159"/>
              <a:ext cx="225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07576" name="Text Box 24"/>
            <p:cNvSpPr txBox="1">
              <a:spLocks noChangeArrowheads="1"/>
            </p:cNvSpPr>
            <p:nvPr/>
          </p:nvSpPr>
          <p:spPr bwMode="auto">
            <a:xfrm>
              <a:off x="4690" y="2658"/>
              <a:ext cx="273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407578" name="Text Box 26"/>
          <p:cNvSpPr txBox="1"/>
          <p:nvPr/>
        </p:nvSpPr>
        <p:spPr>
          <a:xfrm>
            <a:off x="1522413" y="6096000"/>
            <a:ext cx="3759200" cy="522288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注：利用队列保存结点</a:t>
            </a:r>
            <a:endParaRPr lang="zh-CN" altLang="en-US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82" name="Rectangle 30"/>
          <p:cNvSpPr/>
          <p:nvPr/>
        </p:nvSpPr>
        <p:spPr>
          <a:xfrm>
            <a:off x="1524000" y="3505200"/>
            <a:ext cx="3810000" cy="2514600"/>
          </a:xfrm>
          <a:prstGeom prst="rect">
            <a:avLst/>
          </a:prstGeom>
          <a:solidFill>
            <a:srgbClr val="FFFF99"/>
          </a:solidFill>
          <a:ln w="38100">
            <a:noFill/>
          </a:ln>
        </p:spPr>
        <p:txBody>
          <a:bodyPr wrap="none" anchor="ctr" anchorCtr="0"/>
          <a:p>
            <a:pPr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83" name="Line 31"/>
          <p:cNvSpPr/>
          <p:nvPr/>
        </p:nvSpPr>
        <p:spPr>
          <a:xfrm>
            <a:off x="2209800" y="4648200"/>
            <a:ext cx="2490788" cy="1588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7584" name="Line 32"/>
          <p:cNvSpPr/>
          <p:nvPr/>
        </p:nvSpPr>
        <p:spPr>
          <a:xfrm>
            <a:off x="2209800" y="5105400"/>
            <a:ext cx="2490788" cy="1588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7586" name="Text Box 34"/>
          <p:cNvSpPr txBox="1"/>
          <p:nvPr/>
        </p:nvSpPr>
        <p:spPr>
          <a:xfrm>
            <a:off x="1530350" y="5334000"/>
            <a:ext cx="3630613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遍历序列：</a:t>
            </a:r>
            <a:r>
              <a:rPr lang="en-US" altLang="zh-CN" sz="3200" i="1" dirty="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b c d e f g</a:t>
            </a:r>
            <a:endParaRPr lang="en-US" altLang="zh-CN" sz="2400" dirty="0">
              <a:solidFill>
                <a:srgbClr val="9900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80" name="Text Box 28"/>
          <p:cNvSpPr txBox="1"/>
          <p:nvPr/>
        </p:nvSpPr>
        <p:spPr>
          <a:xfrm>
            <a:off x="2286000" y="4602163"/>
            <a:ext cx="373063" cy="584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88" name="Text Box 36"/>
          <p:cNvSpPr txBox="1"/>
          <p:nvPr/>
        </p:nvSpPr>
        <p:spPr>
          <a:xfrm>
            <a:off x="3048000" y="5334000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81" name="Text Box 29"/>
          <p:cNvSpPr txBox="1"/>
          <p:nvPr/>
        </p:nvSpPr>
        <p:spPr>
          <a:xfrm>
            <a:off x="2279650" y="4602163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3200" i="1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89" name="Text Box 37"/>
          <p:cNvSpPr txBox="1"/>
          <p:nvPr/>
        </p:nvSpPr>
        <p:spPr>
          <a:xfrm>
            <a:off x="2660650" y="4602163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0" name="Text Box 38"/>
          <p:cNvSpPr txBox="1"/>
          <p:nvPr/>
        </p:nvSpPr>
        <p:spPr>
          <a:xfrm>
            <a:off x="2660650" y="4602163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3200" i="1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1" name="Text Box 39"/>
          <p:cNvSpPr txBox="1"/>
          <p:nvPr/>
        </p:nvSpPr>
        <p:spPr>
          <a:xfrm>
            <a:off x="3352800" y="5334000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2" name="Text Box 40"/>
          <p:cNvSpPr txBox="1"/>
          <p:nvPr/>
        </p:nvSpPr>
        <p:spPr>
          <a:xfrm>
            <a:off x="2967038" y="4602163"/>
            <a:ext cx="3619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3" name="Text Box 41"/>
          <p:cNvSpPr txBox="1"/>
          <p:nvPr/>
        </p:nvSpPr>
        <p:spPr>
          <a:xfrm>
            <a:off x="2967038" y="4602163"/>
            <a:ext cx="3619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i="1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4" name="Text Box 42"/>
          <p:cNvSpPr txBox="1"/>
          <p:nvPr/>
        </p:nvSpPr>
        <p:spPr>
          <a:xfrm>
            <a:off x="3659188" y="5334000"/>
            <a:ext cx="3619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5" name="Text Box 43"/>
          <p:cNvSpPr txBox="1"/>
          <p:nvPr/>
        </p:nvSpPr>
        <p:spPr>
          <a:xfrm>
            <a:off x="3194050" y="4602163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6" name="Text Box 44"/>
          <p:cNvSpPr txBox="1"/>
          <p:nvPr/>
        </p:nvSpPr>
        <p:spPr>
          <a:xfrm>
            <a:off x="3194050" y="4602163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3200" i="1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7" name="Text Box 45"/>
          <p:cNvSpPr txBox="1"/>
          <p:nvPr/>
        </p:nvSpPr>
        <p:spPr>
          <a:xfrm>
            <a:off x="3962400" y="5334000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8" name="Text Box 46"/>
          <p:cNvSpPr txBox="1"/>
          <p:nvPr/>
        </p:nvSpPr>
        <p:spPr>
          <a:xfrm>
            <a:off x="3500438" y="4602163"/>
            <a:ext cx="3619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599" name="Text Box 47"/>
          <p:cNvSpPr txBox="1"/>
          <p:nvPr/>
        </p:nvSpPr>
        <p:spPr>
          <a:xfrm>
            <a:off x="3500438" y="4602163"/>
            <a:ext cx="3619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200" i="1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0" name="Text Box 48"/>
          <p:cNvSpPr txBox="1"/>
          <p:nvPr/>
        </p:nvSpPr>
        <p:spPr>
          <a:xfrm>
            <a:off x="4268788" y="5334000"/>
            <a:ext cx="3619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1" name="Text Box 49"/>
          <p:cNvSpPr txBox="1"/>
          <p:nvPr/>
        </p:nvSpPr>
        <p:spPr>
          <a:xfrm>
            <a:off x="3698875" y="4602163"/>
            <a:ext cx="420688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 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2" name="Text Box 50"/>
          <p:cNvSpPr txBox="1"/>
          <p:nvPr/>
        </p:nvSpPr>
        <p:spPr>
          <a:xfrm>
            <a:off x="3698875" y="4602163"/>
            <a:ext cx="420688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 </a:t>
            </a:r>
            <a:endParaRPr lang="en-US" altLang="zh-CN" sz="3200" i="1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3" name="Text Box 51"/>
          <p:cNvSpPr txBox="1"/>
          <p:nvPr/>
        </p:nvSpPr>
        <p:spPr>
          <a:xfrm>
            <a:off x="4470400" y="5334000"/>
            <a:ext cx="420688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 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4" name="Text Box 52"/>
          <p:cNvSpPr txBox="1"/>
          <p:nvPr/>
        </p:nvSpPr>
        <p:spPr>
          <a:xfrm>
            <a:off x="3956050" y="4602163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5" name="Text Box 53"/>
          <p:cNvSpPr txBox="1"/>
          <p:nvPr/>
        </p:nvSpPr>
        <p:spPr>
          <a:xfrm>
            <a:off x="3956050" y="4602163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3200" i="1" dirty="0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6" name="Text Box 54"/>
          <p:cNvSpPr txBox="1"/>
          <p:nvPr/>
        </p:nvSpPr>
        <p:spPr>
          <a:xfrm>
            <a:off x="4800600" y="5334000"/>
            <a:ext cx="387350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7" name="Text Box 55"/>
          <p:cNvSpPr txBox="1"/>
          <p:nvPr/>
        </p:nvSpPr>
        <p:spPr>
          <a:xfrm>
            <a:off x="2006600" y="3608388"/>
            <a:ext cx="2684463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按层次遍历过程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8" name="Text Box 56"/>
          <p:cNvSpPr txBox="1"/>
          <p:nvPr/>
        </p:nvSpPr>
        <p:spPr>
          <a:xfrm>
            <a:off x="2800350" y="4144963"/>
            <a:ext cx="1000125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3200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队列</a:t>
            </a:r>
            <a:endParaRPr lang="zh-CN" altLang="en-US" sz="3200" dirty="0">
              <a:solidFill>
                <a:srgbClr val="0099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07579" name="Text Box 27"/>
          <p:cNvSpPr txBox="1"/>
          <p:nvPr/>
        </p:nvSpPr>
        <p:spPr>
          <a:xfrm>
            <a:off x="1524000" y="3505200"/>
            <a:ext cx="3810000" cy="3046413"/>
          </a:xfrm>
          <a:prstGeom prst="rect">
            <a:avLst/>
          </a:prstGeom>
          <a:solidFill>
            <a:srgbClr val="CCECFF"/>
          </a:solidFill>
          <a:ln w="38100">
            <a:noFill/>
          </a:ln>
        </p:spPr>
        <p:txBody>
          <a:bodyPr anchor="t" anchorCtr="0">
            <a:spAutoFit/>
          </a:bodyPr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队头：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当前访问的结点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队尾：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保存当前访问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的孩子结点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操作过程：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取出队头作为当前结点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访问当前结点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若有左孩子，则入队列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若有右孩子，则入队列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7609" name="Text Box 57"/>
          <p:cNvSpPr txBox="1"/>
          <p:nvPr/>
        </p:nvSpPr>
        <p:spPr>
          <a:xfrm>
            <a:off x="5334000" y="1214438"/>
            <a:ext cx="5334000" cy="5692775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void layer(BTNode *b)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BTNode *p;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init(Q);           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队列初始化*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enqueue(Q,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while(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!empty(Q)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{  p=dequeue(Q); 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取对头*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visite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(p);  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/*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访问当前结点*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if (p-&gt;lchild!=NULL)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enqueue(Q,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p-&gt;lchild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 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if (p-&gt;rchild!=NULL)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enqueue(Q,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p-rchild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  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0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0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0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0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0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7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7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07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07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7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07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07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7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07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07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07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07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07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07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7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7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07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07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07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07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07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07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7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7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7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07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07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07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0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0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07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07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7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7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07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07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07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07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07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07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7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7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0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0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07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07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07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07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1" dur="500"/>
                                        <p:tgtEl>
                                          <p:spTgt spid="40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6" dur="500"/>
                                        <p:tgtEl>
                                          <p:spTgt spid="407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78" grpId="0"/>
      <p:bldP spid="407582" grpId="0" bldLvl="0" animBg="1"/>
      <p:bldP spid="407586" grpId="0"/>
      <p:bldP spid="407580" grpId="0"/>
      <p:bldP spid="407588" grpId="0"/>
      <p:bldP spid="407581" grpId="0"/>
      <p:bldP spid="407589" grpId="0"/>
      <p:bldP spid="407590" grpId="0"/>
      <p:bldP spid="407591" grpId="0"/>
      <p:bldP spid="407592" grpId="0"/>
      <p:bldP spid="407593" grpId="0"/>
      <p:bldP spid="407594" grpId="0"/>
      <p:bldP spid="407595" grpId="0"/>
      <p:bldP spid="407596" grpId="0"/>
      <p:bldP spid="407597" grpId="0"/>
      <p:bldP spid="407598" grpId="0"/>
      <p:bldP spid="407599" grpId="0"/>
      <p:bldP spid="407600" grpId="0"/>
      <p:bldP spid="407601" grpId="0"/>
      <p:bldP spid="407602" grpId="0"/>
      <p:bldP spid="407603" grpId="0"/>
      <p:bldP spid="407604" grpId="0"/>
      <p:bldP spid="407605" grpId="0"/>
      <p:bldP spid="407606" grpId="0"/>
      <p:bldP spid="407607" grpId="0"/>
      <p:bldP spid="407608" grpId="0"/>
      <p:bldP spid="407579" grpId="0" bldLvl="0" animBg="1"/>
      <p:bldP spid="40760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Text Box 3"/>
          <p:cNvSpPr txBox="1"/>
          <p:nvPr/>
        </p:nvSpPr>
        <p:spPr>
          <a:xfrm>
            <a:off x="723900" y="1857375"/>
            <a:ext cx="11109325" cy="1600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同一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棵二叉树（假设每个结点值唯一）具有</a:t>
            </a:r>
            <a:r>
              <a:rPr lang="zh-CN" altLang="en-US" sz="28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唯一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先序序列、中序序列和后序序列。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　　但</a:t>
            </a:r>
            <a:r>
              <a:rPr lang="zh-CN" altLang="en-US" sz="2800" dirty="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不同的二叉树可能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具有相同的先序序列、中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序序列或后序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序列。　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　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7042" name="Text Box 4"/>
          <p:cNvSpPr txBox="1"/>
          <p:nvPr/>
        </p:nvSpPr>
        <p:spPr>
          <a:xfrm>
            <a:off x="1744663" y="1092200"/>
            <a:ext cx="1008062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回顾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381250" y="3929063"/>
            <a:ext cx="8143875" cy="2357437"/>
            <a:chOff x="857224" y="3929066"/>
            <a:chExt cx="8143932" cy="2357454"/>
          </a:xfrm>
        </p:grpSpPr>
        <p:sp>
          <p:nvSpPr>
            <p:cNvPr id="7" name="椭圆 6"/>
            <p:cNvSpPr/>
            <p:nvPr/>
          </p:nvSpPr>
          <p:spPr>
            <a:xfrm>
              <a:off x="1714480" y="4500570"/>
              <a:ext cx="428628" cy="42862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4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4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071538" y="5214950"/>
              <a:ext cx="428628" cy="42862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4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4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714480" y="5857892"/>
              <a:ext cx="428628" cy="42862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4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4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3428992" y="4786322"/>
              <a:ext cx="428628" cy="42862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4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4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2786050" y="5500702"/>
              <a:ext cx="428628" cy="42862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4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4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4143372" y="5500702"/>
              <a:ext cx="428628" cy="428628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ase"/>
              <a:r>
                <a:rPr lang="en-US" altLang="zh-CN" sz="24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4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接连接符 13"/>
            <p:cNvCxnSpPr>
              <a:stCxn id="7" idx="3"/>
              <a:endCxn id="8" idx="7"/>
            </p:cNvCxnSpPr>
            <p:nvPr/>
          </p:nvCxnSpPr>
          <p:spPr>
            <a:xfrm rot="5400000">
              <a:off x="1401676" y="4902146"/>
              <a:ext cx="411294" cy="33985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8" idx="5"/>
              <a:endCxn id="9" idx="1"/>
            </p:cNvCxnSpPr>
            <p:nvPr/>
          </p:nvCxnSpPr>
          <p:spPr>
            <a:xfrm rot="16200000" flipH="1">
              <a:off x="1437395" y="5580807"/>
              <a:ext cx="339856" cy="33985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0" idx="3"/>
              <a:endCxn id="11" idx="7"/>
            </p:cNvCxnSpPr>
            <p:nvPr/>
          </p:nvCxnSpPr>
          <p:spPr>
            <a:xfrm rot="5400000">
              <a:off x="3116188" y="5187898"/>
              <a:ext cx="411294" cy="33985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0" idx="5"/>
              <a:endCxn id="12" idx="1"/>
            </p:cNvCxnSpPr>
            <p:nvPr/>
          </p:nvCxnSpPr>
          <p:spPr>
            <a:xfrm rot="16200000" flipH="1">
              <a:off x="3794849" y="5152179"/>
              <a:ext cx="411294" cy="411294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右箭头 20"/>
            <p:cNvSpPr/>
            <p:nvPr/>
          </p:nvSpPr>
          <p:spPr>
            <a:xfrm>
              <a:off x="5000628" y="5214950"/>
              <a:ext cx="571504" cy="285752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2400" strike="noStrike" noProof="1"/>
            </a:p>
          </p:txBody>
        </p:sp>
        <p:sp>
          <p:nvSpPr>
            <p:cNvPr id="87055" name="TextBox 21"/>
            <p:cNvSpPr txBox="1"/>
            <p:nvPr/>
          </p:nvSpPr>
          <p:spPr>
            <a:xfrm>
              <a:off x="5857884" y="5141253"/>
              <a:ext cx="3143272" cy="460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400">
                  <a:latin typeface="Times New Roman" panose="02020603050405020304" pitchFamily="18" charset="0"/>
                  <a:ea typeface="楷体" panose="02010609060101010101" pitchFamily="49" charset="-122"/>
                </a:rPr>
                <a:t>先序序列均为</a:t>
              </a:r>
              <a:r>
                <a:rPr lang="en-US" altLang="zh-CN" sz="2400" i="1">
                  <a:latin typeface="Times New Roman" panose="02020603050405020304" pitchFamily="18" charset="0"/>
                  <a:ea typeface="楷体" panose="02010609060101010101" pitchFamily="49" charset="-122"/>
                </a:rPr>
                <a:t>ABC</a:t>
              </a:r>
              <a:endParaRPr lang="zh-CN" altLang="en-US" sz="2400" i="1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7056" name="TextBox 22"/>
            <p:cNvSpPr txBox="1"/>
            <p:nvPr/>
          </p:nvSpPr>
          <p:spPr>
            <a:xfrm>
              <a:off x="857224" y="3929066"/>
              <a:ext cx="1500198" cy="460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400">
                  <a:latin typeface="楷体" panose="02010609060101010101" pitchFamily="49" charset="-122"/>
                  <a:ea typeface="楷体" panose="02010609060101010101" pitchFamily="49" charset="-122"/>
                </a:rPr>
                <a:t>例如</a:t>
              </a:r>
              <a:endParaRPr lang="zh-CN" alt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87057" name="文本框 1"/>
          <p:cNvSpPr txBox="1"/>
          <p:nvPr/>
        </p:nvSpPr>
        <p:spPr>
          <a:xfrm>
            <a:off x="4030663" y="323850"/>
            <a:ext cx="3551237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二叉树的构造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0884" name="Text Box 4"/>
          <p:cNvSpPr txBox="1">
            <a:spLocks noChangeArrowheads="1"/>
          </p:cNvSpPr>
          <p:nvPr/>
        </p:nvSpPr>
        <p:spPr bwMode="auto">
          <a:xfrm>
            <a:off x="269875" y="1155700"/>
            <a:ext cx="11728450" cy="452278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</a:pPr>
            <a:r>
              <a:rPr kumimoji="1" lang="zh-CN" altLang="en-US" sz="3200" strike="noStrike" noProof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　 </a:t>
            </a:r>
            <a:r>
              <a:rPr kumimoji="1" lang="zh-CN" altLang="en-US" sz="320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同时给定一棵二叉树的</a:t>
            </a:r>
            <a:r>
              <a:rPr kumimoji="1" lang="zh-CN" altLang="en-US" sz="3200" strike="noStrike" noProof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先序序列和中序序列</a:t>
            </a:r>
            <a:r>
              <a:rPr kumimoji="1" lang="zh-CN" altLang="en-US" sz="320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就能唯一确定这棵二叉树。</a:t>
            </a:r>
            <a:r>
              <a:rPr kumimoji="1" lang="zh-CN" altLang="en-US" sz="3200" b="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kumimoji="1" lang="zh-CN" altLang="en-US" sz="3200" b="0" strike="noStrike" noProof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fontAlgn="base">
              <a:lnSpc>
                <a:spcPct val="150000"/>
              </a:lnSpc>
            </a:pPr>
            <a:r>
              <a:rPr kumimoji="1" lang="zh-CN" altLang="en-US" sz="320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　 同时给定一棵二叉树的</a:t>
            </a:r>
            <a:r>
              <a:rPr kumimoji="1" lang="zh-CN" altLang="en-US" sz="3200" strike="noStrike" noProof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中序序列和后序序列</a:t>
            </a:r>
            <a:r>
              <a:rPr kumimoji="1" lang="zh-CN" altLang="en-US" sz="320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就能唯一确定这棵二叉树。</a:t>
            </a:r>
            <a:r>
              <a:rPr kumimoji="1" lang="zh-CN" altLang="en-US" sz="3200" b="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3200" b="0" strike="noStrike" noProof="1" dirty="0">
              <a:solidFill>
                <a:srgbClr val="3333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fontAlgn="base">
              <a:lnSpc>
                <a:spcPct val="150000"/>
              </a:lnSpc>
            </a:pPr>
            <a:r>
              <a:rPr kumimoji="1" lang="zh-CN" altLang="en-US" sz="320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　 同时给定一棵二叉树的</a:t>
            </a:r>
            <a:r>
              <a:rPr kumimoji="1" lang="zh-CN" altLang="en-US" sz="3200" strike="noStrike" noProof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先序序列和后序序列</a:t>
            </a:r>
            <a:r>
              <a:rPr kumimoji="1" lang="zh-CN" altLang="en-US" sz="3200" strike="noStrike" noProof="1" dirty="0">
                <a:solidFill>
                  <a:srgbClr val="33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就能唯一确定这棵二叉树。</a:t>
            </a:r>
            <a:r>
              <a:rPr kumimoji="1" lang="zh-CN" altLang="en-US" sz="3200" b="0" strike="noStrike" noProof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kumimoji="1" lang="zh-CN" altLang="en-US" sz="3200" b="0" strike="noStrike" noProof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50888" name="Group 8"/>
          <p:cNvGrpSpPr/>
          <p:nvPr/>
        </p:nvGrpSpPr>
        <p:grpSpPr>
          <a:xfrm>
            <a:off x="6372225" y="2141538"/>
            <a:ext cx="731838" cy="3106738"/>
            <a:chOff x="1700" y="1010"/>
            <a:chExt cx="461" cy="1957"/>
          </a:xfrm>
        </p:grpSpPr>
        <p:sp>
          <p:nvSpPr>
            <p:cNvPr id="88067" name="Text Box 5"/>
            <p:cNvSpPr txBox="1"/>
            <p:nvPr/>
          </p:nvSpPr>
          <p:spPr>
            <a:xfrm>
              <a:off x="1700" y="1010"/>
              <a:ext cx="45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 b="0" dirty="0">
                  <a:solidFill>
                    <a:srgbClr val="FF0000"/>
                  </a:solidFill>
                  <a:latin typeface="Verdana" panose="020B0604030504040204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</a:t>
              </a:r>
              <a:r>
                <a:rPr lang="en-US" altLang="zh-CN" sz="1800" b="0" dirty="0">
                  <a:solidFill>
                    <a:srgbClr val="FF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1800" b="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068" name="Text Box 6"/>
            <p:cNvSpPr txBox="1"/>
            <p:nvPr/>
          </p:nvSpPr>
          <p:spPr>
            <a:xfrm>
              <a:off x="1707" y="1912"/>
              <a:ext cx="45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 b="0">
                  <a:solidFill>
                    <a:srgbClr val="FF0000"/>
                  </a:solidFill>
                  <a:latin typeface="Verdana" panose="020B0604030504040204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</a:t>
              </a:r>
              <a:r>
                <a:rPr lang="en-US" altLang="zh-CN" sz="1800" b="0">
                  <a:solidFill>
                    <a:srgbClr val="FF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1800" b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069" name="Text Box 7"/>
            <p:cNvSpPr txBox="1"/>
            <p:nvPr/>
          </p:nvSpPr>
          <p:spPr>
            <a:xfrm>
              <a:off x="1707" y="2638"/>
              <a:ext cx="45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>
                  <a:solidFill>
                    <a:srgbClr val="FF0000"/>
                  </a:solidFill>
                  <a:latin typeface="Verdana" panose="020B0604030504040204" pitchFamily="34" charset="0"/>
                  <a:ea typeface="宋体" panose="02010600030101010101" pitchFamily="2" charset="-122"/>
                  <a:sym typeface="Wingdings" panose="05000000000000000000" pitchFamily="2" charset="2"/>
                </a:rPr>
                <a:t> </a:t>
              </a:r>
              <a:r>
                <a:rPr lang="en-US" altLang="zh-CN" sz="2800" b="0">
                  <a:solidFill>
                    <a:srgbClr val="FF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1800" b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070" name="TextBox 6"/>
          <p:cNvSpPr txBox="1"/>
          <p:nvPr/>
        </p:nvSpPr>
        <p:spPr>
          <a:xfrm>
            <a:off x="2286000" y="211138"/>
            <a:ext cx="4414838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以下命题</a:t>
            </a:r>
            <a:r>
              <a:rPr lang="zh-CN" altLang="en-US" sz="3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成立否？</a:t>
            </a:r>
            <a:endParaRPr lang="zh-CN" altLang="en-US" sz="3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Text Box 2"/>
          <p:cNvSpPr txBox="1"/>
          <p:nvPr/>
        </p:nvSpPr>
        <p:spPr>
          <a:xfrm>
            <a:off x="527050" y="285750"/>
            <a:ext cx="11218863" cy="1384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7.1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任何</a:t>
            </a:r>
            <a:r>
              <a:rPr lang="en-US" altLang="zh-CN" sz="28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8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n&gt;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</a:rPr>
              <a:t>个不同结点的二叉树，都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可由它的中序序列和先序序列唯一地确定。     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9090" name="Text Box 8"/>
          <p:cNvSpPr txBox="1"/>
          <p:nvPr/>
        </p:nvSpPr>
        <p:spPr>
          <a:xfrm>
            <a:off x="1847850" y="2417763"/>
            <a:ext cx="1368425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先序序列：</a:t>
            </a:r>
            <a:endParaRPr lang="zh-CN" altLang="en-US" sz="2000" dirty="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9091" name="Text Box 9"/>
          <p:cNvSpPr txBox="1"/>
          <p:nvPr/>
        </p:nvSpPr>
        <p:spPr>
          <a:xfrm>
            <a:off x="3144838" y="2435225"/>
            <a:ext cx="2879725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en-US" sz="20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227388" y="2855913"/>
            <a:ext cx="1368425" cy="1073150"/>
            <a:chOff x="1500166" y="3141661"/>
            <a:chExt cx="1368425" cy="1072745"/>
          </a:xfrm>
        </p:grpSpPr>
        <p:sp>
          <p:nvSpPr>
            <p:cNvPr id="89093" name="Text Box 6"/>
            <p:cNvSpPr txBox="1"/>
            <p:nvPr/>
          </p:nvSpPr>
          <p:spPr>
            <a:xfrm>
              <a:off x="1500166" y="3383821"/>
              <a:ext cx="1368425" cy="83058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左子树先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9094" name="AutoShape 10"/>
            <p:cNvSpPr/>
            <p:nvPr/>
          </p:nvSpPr>
          <p:spPr>
            <a:xfrm rot="-5400000">
              <a:off x="2123282" y="2782092"/>
              <a:ext cx="144462" cy="863600"/>
            </a:xfrm>
            <a:prstGeom prst="leftBrace">
              <a:avLst>
                <a:gd name="adj1" fmla="val 49291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727575" y="2855913"/>
            <a:ext cx="1439863" cy="1073150"/>
            <a:chOff x="3203576" y="3141661"/>
            <a:chExt cx="1439862" cy="1072745"/>
          </a:xfrm>
        </p:grpSpPr>
        <p:sp>
          <p:nvSpPr>
            <p:cNvPr id="89096" name="Text Box 7"/>
            <p:cNvSpPr txBox="1"/>
            <p:nvPr/>
          </p:nvSpPr>
          <p:spPr>
            <a:xfrm>
              <a:off x="3203576" y="3383821"/>
              <a:ext cx="1439862" cy="83058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右子树先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n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1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9097" name="AutoShape 11"/>
            <p:cNvSpPr/>
            <p:nvPr/>
          </p:nvSpPr>
          <p:spPr>
            <a:xfrm rot="-5400000">
              <a:off x="3853655" y="2782092"/>
              <a:ext cx="144462" cy="863600"/>
            </a:xfrm>
            <a:prstGeom prst="leftBrace">
              <a:avLst>
                <a:gd name="adj1" fmla="val 49291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9098" name="Text Box 14"/>
          <p:cNvSpPr txBox="1"/>
          <p:nvPr/>
        </p:nvSpPr>
        <p:spPr>
          <a:xfrm>
            <a:off x="6096000" y="2435225"/>
            <a:ext cx="1368425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中序序列：</a:t>
            </a:r>
            <a:endParaRPr lang="zh-CN" altLang="en-US" sz="200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89099" name="Text Box 15"/>
          <p:cNvSpPr txBox="1"/>
          <p:nvPr/>
        </p:nvSpPr>
        <p:spPr>
          <a:xfrm>
            <a:off x="7392988" y="2452688"/>
            <a:ext cx="2846387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en-US" sz="20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239000" y="2855913"/>
            <a:ext cx="1368425" cy="1073150"/>
            <a:chOff x="5775343" y="3141651"/>
            <a:chExt cx="1368425" cy="1072756"/>
          </a:xfrm>
        </p:grpSpPr>
        <p:sp>
          <p:nvSpPr>
            <p:cNvPr id="89101" name="Text Box 12"/>
            <p:cNvSpPr txBox="1"/>
            <p:nvPr/>
          </p:nvSpPr>
          <p:spPr>
            <a:xfrm>
              <a:off x="5775343" y="3383821"/>
              <a:ext cx="1368425" cy="83058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左子树中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9102" name="AutoShape 16"/>
            <p:cNvSpPr/>
            <p:nvPr/>
          </p:nvSpPr>
          <p:spPr>
            <a:xfrm rot="-5400000">
              <a:off x="6371412" y="2782073"/>
              <a:ext cx="144463" cy="863600"/>
            </a:xfrm>
            <a:prstGeom prst="leftBrace">
              <a:avLst>
                <a:gd name="adj1" fmla="val 4931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870950" y="2855913"/>
            <a:ext cx="1439863" cy="1073150"/>
            <a:chOff x="7286644" y="3141651"/>
            <a:chExt cx="1439862" cy="1072756"/>
          </a:xfrm>
        </p:grpSpPr>
        <p:sp>
          <p:nvSpPr>
            <p:cNvPr id="89104" name="Text Box 13"/>
            <p:cNvSpPr txBox="1"/>
            <p:nvPr/>
          </p:nvSpPr>
          <p:spPr>
            <a:xfrm>
              <a:off x="7286644" y="3383821"/>
              <a:ext cx="1439862" cy="83058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右子树中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n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1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9105" name="AutoShape 17"/>
            <p:cNvSpPr/>
            <p:nvPr/>
          </p:nvSpPr>
          <p:spPr>
            <a:xfrm rot="-5400000">
              <a:off x="7925601" y="2782073"/>
              <a:ext cx="144463" cy="863600"/>
            </a:xfrm>
            <a:prstGeom prst="leftBrace">
              <a:avLst>
                <a:gd name="adj1" fmla="val 4931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216275" y="1714500"/>
            <a:ext cx="5522913" cy="777875"/>
            <a:chOff x="1692275" y="2000240"/>
            <a:chExt cx="5522931" cy="777875"/>
          </a:xfrm>
        </p:grpSpPr>
        <p:sp>
          <p:nvSpPr>
            <p:cNvPr id="89107" name="Line 18"/>
            <p:cNvSpPr/>
            <p:nvPr/>
          </p:nvSpPr>
          <p:spPr>
            <a:xfrm>
              <a:off x="1692275" y="2454265"/>
              <a:ext cx="0" cy="32385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108" name="Line 19"/>
            <p:cNvSpPr/>
            <p:nvPr/>
          </p:nvSpPr>
          <p:spPr>
            <a:xfrm flipV="1">
              <a:off x="1692275" y="2433946"/>
              <a:ext cx="5522931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109" name="Line 20"/>
            <p:cNvSpPr/>
            <p:nvPr/>
          </p:nvSpPr>
          <p:spPr>
            <a:xfrm>
              <a:off x="7215206" y="2444740"/>
              <a:ext cx="0" cy="32385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110" name="Text Box 22"/>
            <p:cNvSpPr txBox="1"/>
            <p:nvPr/>
          </p:nvSpPr>
          <p:spPr>
            <a:xfrm>
              <a:off x="2339975" y="2000240"/>
              <a:ext cx="3889375" cy="3073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通过根结点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0</a:t>
              </a:r>
              <a:r>
                <a:rPr lang="zh-CN" altLang="en-US" sz="20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在中序序列中找到</a:t>
              </a:r>
              <a:r>
                <a:rPr lang="en-US" altLang="zh-CN" sz="2000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b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endPara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605213" y="4638675"/>
            <a:ext cx="5848350" cy="1862138"/>
            <a:chOff x="2081487" y="4638950"/>
            <a:chExt cx="5848100" cy="1861884"/>
          </a:xfrm>
        </p:grpSpPr>
        <p:sp>
          <p:nvSpPr>
            <p:cNvPr id="26" name="椭圆 25"/>
            <p:cNvSpPr/>
            <p:nvPr/>
          </p:nvSpPr>
          <p:spPr>
            <a:xfrm>
              <a:off x="4567504" y="4638950"/>
              <a:ext cx="576000" cy="576000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 fontAlgn="base"/>
              <a:r>
                <a:rPr lang="en-US" altLang="zh-CN" sz="20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strike="noStrike" baseline="-25000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000" strike="noStrike" baseline="-25000" noProof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571736" y="5507196"/>
              <a:ext cx="2000264" cy="70665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先序：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altLang="zh-CN" sz="2000" i="1" strike="noStrike" baseline="-25000" noProof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  <a:endParaRPr lang="zh-CN" altLang="en-US" sz="2000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14" name="TextBox 27"/>
            <p:cNvSpPr txBox="1"/>
            <p:nvPr/>
          </p:nvSpPr>
          <p:spPr>
            <a:xfrm>
              <a:off x="2081487" y="5286388"/>
              <a:ext cx="490250" cy="121444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 anchor="t" anchorCtr="0">
              <a:spAutoFit/>
            </a:bodyPr>
            <a:p>
              <a:r>
                <a:rPr lang="zh-CN" altLang="en-US" sz="2000">
                  <a:latin typeface="楷体" panose="02010609060101010101" pitchFamily="49" charset="-122"/>
                  <a:ea typeface="楷体" panose="02010609060101010101" pitchFamily="49" charset="-122"/>
                </a:rPr>
                <a:t>左子树</a:t>
              </a:r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214942" y="5507196"/>
              <a:ext cx="2206955" cy="70665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先序：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altLang="zh-CN" sz="2000" i="1" strike="noStrike" baseline="-25000" noProof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altLang="en-US" sz="2000" strike="noStrike" baseline="-25000" noProof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116" name="TextBox 29"/>
            <p:cNvSpPr txBox="1"/>
            <p:nvPr/>
          </p:nvSpPr>
          <p:spPr>
            <a:xfrm>
              <a:off x="7439337" y="5286388"/>
              <a:ext cx="490250" cy="121444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 anchor="t" anchorCtr="0">
              <a:spAutoFit/>
            </a:bodyPr>
            <a:p>
              <a:r>
                <a:rPr lang="zh-CN" altLang="en-US" sz="2000">
                  <a:latin typeface="楷体" panose="02010609060101010101" pitchFamily="49" charset="-122"/>
                  <a:ea typeface="楷体" panose="02010609060101010101" pitchFamily="49" charset="-122"/>
                </a:rPr>
                <a:t>右子树</a:t>
              </a:r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32" name="直接连接符 31"/>
            <p:cNvCxnSpPr>
              <a:stCxn id="26" idx="2"/>
              <a:endCxn id="27" idx="0"/>
            </p:cNvCxnSpPr>
            <p:nvPr/>
          </p:nvCxnSpPr>
          <p:spPr>
            <a:xfrm flipH="1">
              <a:off x="3571764" y="4926950"/>
              <a:ext cx="995740" cy="58031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6" idx="6"/>
              <a:endCxn id="29" idx="0"/>
            </p:cNvCxnSpPr>
            <p:nvPr/>
          </p:nvCxnSpPr>
          <p:spPr>
            <a:xfrm>
              <a:off x="5143504" y="4926950"/>
              <a:ext cx="1175456" cy="58031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下箭头 35"/>
          <p:cNvSpPr/>
          <p:nvPr/>
        </p:nvSpPr>
        <p:spPr>
          <a:xfrm>
            <a:off x="6238875" y="3929063"/>
            <a:ext cx="285750" cy="500063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357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774700" y="228600"/>
            <a:ext cx="11007725" cy="2209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</a:t>
            </a:r>
            <a:r>
              <a:rPr kumimoji="1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建立二叉树 </a:t>
            </a:r>
            <a:r>
              <a:rPr kumimoji="1" lang="zh-CN" altLang="en-US" sz="40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由二叉树的前序序列和中序序列可唯一地确定一棵二叉树。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493572" name="Text Box 4"/>
          <p:cNvSpPr txBox="1"/>
          <p:nvPr/>
        </p:nvSpPr>
        <p:spPr>
          <a:xfrm>
            <a:off x="1327150" y="2759075"/>
            <a:ext cx="6715125" cy="10763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建立二叉树立的基本思想：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建立根结点，分别建立左、右子树。</a:t>
            </a:r>
            <a:endParaRPr lang="zh-CN" altLang="en-US" sz="32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9357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charRg st="13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93572">
                                            <p:txEl>
                                              <p:charRg st="13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2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5506" name="Text Box 2"/>
          <p:cNvSpPr txBox="1">
            <a:spLocks noChangeArrowheads="1"/>
          </p:cNvSpPr>
          <p:nvPr/>
        </p:nvSpPr>
        <p:spPr bwMode="auto">
          <a:xfrm>
            <a:off x="4084638" y="301625"/>
            <a:ext cx="3994150" cy="952500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前序序列</a:t>
            </a:r>
            <a:r>
              <a:rPr kumimoji="1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ABHFDECKG</a:t>
            </a:r>
            <a:endParaRPr kumimoji="1" lang="en-US" altLang="zh-CN" sz="2800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algn="ctr" defTabSz="914400">
              <a:buClrTx/>
              <a:buSzTx/>
              <a:defRPr/>
            </a:pP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中序序列</a:t>
            </a:r>
            <a:r>
              <a:rPr kumimoji="1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HBDFAEKCG </a:t>
            </a:r>
            <a:endParaRPr kumimoji="1" lang="en-US" altLang="zh-CN" sz="2800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1828800" y="1522413"/>
            <a:ext cx="2743200" cy="1373187"/>
            <a:chOff x="576" y="2351"/>
            <a:chExt cx="1728" cy="865"/>
          </a:xfrm>
        </p:grpSpPr>
        <p:sp>
          <p:nvSpPr>
            <p:cNvPr id="91139" name="Line 4"/>
            <p:cNvSpPr/>
            <p:nvPr/>
          </p:nvSpPr>
          <p:spPr>
            <a:xfrm>
              <a:off x="1536" y="2640"/>
              <a:ext cx="288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40" name="Line 5"/>
            <p:cNvSpPr/>
            <p:nvPr/>
          </p:nvSpPr>
          <p:spPr>
            <a:xfrm flipH="1">
              <a:off x="1056" y="2640"/>
              <a:ext cx="288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41" name="Oval 6"/>
            <p:cNvSpPr/>
            <p:nvPr/>
          </p:nvSpPr>
          <p:spPr>
            <a:xfrm>
              <a:off x="1296" y="240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42" name="Oval 7"/>
            <p:cNvSpPr/>
            <p:nvPr/>
          </p:nvSpPr>
          <p:spPr>
            <a:xfrm>
              <a:off x="576" y="2832"/>
              <a:ext cx="816" cy="384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43" name="Oval 8"/>
            <p:cNvSpPr/>
            <p:nvPr/>
          </p:nvSpPr>
          <p:spPr>
            <a:xfrm>
              <a:off x="1440" y="2832"/>
              <a:ext cx="864" cy="384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44" name="Text Box 9"/>
            <p:cNvSpPr txBox="1"/>
            <p:nvPr/>
          </p:nvSpPr>
          <p:spPr>
            <a:xfrm>
              <a:off x="606" y="2840"/>
              <a:ext cx="73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HBDF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45" name="Text Box 10"/>
            <p:cNvSpPr txBox="1"/>
            <p:nvPr/>
          </p:nvSpPr>
          <p:spPr>
            <a:xfrm>
              <a:off x="1481" y="2840"/>
              <a:ext cx="77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EKCG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46" name="Text Box 11"/>
            <p:cNvSpPr txBox="1"/>
            <p:nvPr/>
          </p:nvSpPr>
          <p:spPr>
            <a:xfrm>
              <a:off x="1307" y="235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4724400" y="1522413"/>
            <a:ext cx="2819400" cy="2060575"/>
            <a:chOff x="2928" y="2351"/>
            <a:chExt cx="1776" cy="1298"/>
          </a:xfrm>
        </p:grpSpPr>
        <p:sp>
          <p:nvSpPr>
            <p:cNvPr id="91148" name="Line 13"/>
            <p:cNvSpPr/>
            <p:nvPr/>
          </p:nvSpPr>
          <p:spPr>
            <a:xfrm>
              <a:off x="3504" y="3120"/>
              <a:ext cx="96" cy="24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49" name="Line 14"/>
            <p:cNvSpPr/>
            <p:nvPr/>
          </p:nvSpPr>
          <p:spPr>
            <a:xfrm flipH="1">
              <a:off x="3120" y="3120"/>
              <a:ext cx="192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50" name="Line 15"/>
            <p:cNvSpPr/>
            <p:nvPr/>
          </p:nvSpPr>
          <p:spPr>
            <a:xfrm flipH="1">
              <a:off x="3456" y="2640"/>
              <a:ext cx="288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51" name="Line 16"/>
            <p:cNvSpPr/>
            <p:nvPr/>
          </p:nvSpPr>
          <p:spPr>
            <a:xfrm>
              <a:off x="3936" y="2640"/>
              <a:ext cx="288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52" name="Oval 17"/>
            <p:cNvSpPr/>
            <p:nvPr/>
          </p:nvSpPr>
          <p:spPr>
            <a:xfrm>
              <a:off x="3696" y="240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3" name="Oval 18"/>
            <p:cNvSpPr/>
            <p:nvPr/>
          </p:nvSpPr>
          <p:spPr>
            <a:xfrm>
              <a:off x="3840" y="2832"/>
              <a:ext cx="864" cy="384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4" name="Text Box 19"/>
            <p:cNvSpPr txBox="1"/>
            <p:nvPr/>
          </p:nvSpPr>
          <p:spPr>
            <a:xfrm>
              <a:off x="3881" y="2840"/>
              <a:ext cx="77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EKCG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5" name="Text Box 20"/>
            <p:cNvSpPr txBox="1"/>
            <p:nvPr/>
          </p:nvSpPr>
          <p:spPr>
            <a:xfrm>
              <a:off x="3707" y="235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6" name="Oval 21"/>
            <p:cNvSpPr/>
            <p:nvPr/>
          </p:nvSpPr>
          <p:spPr>
            <a:xfrm>
              <a:off x="3264" y="288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7" name="Text Box 22"/>
            <p:cNvSpPr txBox="1"/>
            <p:nvPr/>
          </p:nvSpPr>
          <p:spPr>
            <a:xfrm>
              <a:off x="3280" y="2840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8" name="Oval 23"/>
            <p:cNvSpPr/>
            <p:nvPr/>
          </p:nvSpPr>
          <p:spPr>
            <a:xfrm>
              <a:off x="2928" y="336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59" name="Text Box 24"/>
            <p:cNvSpPr txBox="1"/>
            <p:nvPr/>
          </p:nvSpPr>
          <p:spPr>
            <a:xfrm>
              <a:off x="2932" y="3320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60" name="Oval 25"/>
            <p:cNvSpPr/>
            <p:nvPr/>
          </p:nvSpPr>
          <p:spPr>
            <a:xfrm>
              <a:off x="3402" y="3351"/>
              <a:ext cx="43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61" name="Text Box 26"/>
            <p:cNvSpPr txBox="1"/>
            <p:nvPr/>
          </p:nvSpPr>
          <p:spPr>
            <a:xfrm>
              <a:off x="3406" y="3320"/>
              <a:ext cx="43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5531" name="Text Box 27"/>
          <p:cNvSpPr txBox="1">
            <a:spLocks noChangeArrowheads="1"/>
          </p:cNvSpPr>
          <p:nvPr/>
        </p:nvSpPr>
        <p:spPr bwMode="auto">
          <a:xfrm>
            <a:off x="5607050" y="301625"/>
            <a:ext cx="2474913" cy="952500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A</a:t>
            </a:r>
            <a:r>
              <a:rPr kumimoji="1" lang="en-US" altLang="zh-CN" sz="28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BHFD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ECKG</a:t>
            </a:r>
            <a:endParaRPr kumimoji="1" lang="en-US" altLang="zh-CN" sz="2800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algn="ctr" defTabSz="914400">
              <a:buClrTx/>
              <a:buSzTx/>
              <a:defRPr/>
            </a:pPr>
            <a:r>
              <a:rPr kumimoji="1" lang="en-US" altLang="zh-CN" sz="28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HBDF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A</a:t>
            </a:r>
            <a:r>
              <a:rPr kumimoji="1" lang="en-US" altLang="zh-CN" sz="28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EKCG</a:t>
            </a:r>
            <a:r>
              <a:rPr kumimoji="1" lang="en-US" altLang="zh-CN" sz="28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endParaRPr kumimoji="1" lang="en-US" altLang="zh-CN" sz="2800" kern="1200" cap="none" spc="0" normalizeH="0" baseline="0" noProof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405532" name="Text Box 28"/>
          <p:cNvSpPr txBox="1"/>
          <p:nvPr/>
        </p:nvSpPr>
        <p:spPr>
          <a:xfrm>
            <a:off x="8229600" y="300038"/>
            <a:ext cx="2176463" cy="954087"/>
          </a:xfrm>
          <a:prstGeom prst="rect">
            <a:avLst/>
          </a:prstGeom>
          <a:solidFill>
            <a:srgbClr val="FFCCFF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ECKG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EKCG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533" name="Text Box 29"/>
          <p:cNvSpPr txBox="1"/>
          <p:nvPr/>
        </p:nvSpPr>
        <p:spPr>
          <a:xfrm>
            <a:off x="8229600" y="300038"/>
            <a:ext cx="2176463" cy="954087"/>
          </a:xfrm>
          <a:prstGeom prst="rect">
            <a:avLst/>
          </a:prstGeom>
          <a:solidFill>
            <a:srgbClr val="FFCCFF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CKG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KCG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30"/>
          <p:cNvGrpSpPr/>
          <p:nvPr/>
        </p:nvGrpSpPr>
        <p:grpSpPr>
          <a:xfrm>
            <a:off x="7543800" y="1598613"/>
            <a:ext cx="2590800" cy="2746375"/>
            <a:chOff x="1968" y="719"/>
            <a:chExt cx="1632" cy="1730"/>
          </a:xfrm>
        </p:grpSpPr>
        <p:sp>
          <p:nvSpPr>
            <p:cNvPr id="91166" name="Line 31"/>
            <p:cNvSpPr/>
            <p:nvPr/>
          </p:nvSpPr>
          <p:spPr>
            <a:xfrm>
              <a:off x="2448" y="1440"/>
              <a:ext cx="144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67" name="Line 32"/>
            <p:cNvSpPr/>
            <p:nvPr/>
          </p:nvSpPr>
          <p:spPr>
            <a:xfrm flipH="1">
              <a:off x="2160" y="1440"/>
              <a:ext cx="192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68" name="Line 33"/>
            <p:cNvSpPr/>
            <p:nvPr/>
          </p:nvSpPr>
          <p:spPr>
            <a:xfrm flipH="1">
              <a:off x="2448" y="1008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69" name="Line 34"/>
            <p:cNvSpPr/>
            <p:nvPr/>
          </p:nvSpPr>
          <p:spPr>
            <a:xfrm>
              <a:off x="2880" y="1008"/>
              <a:ext cx="288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70" name="Oval 35"/>
            <p:cNvSpPr/>
            <p:nvPr/>
          </p:nvSpPr>
          <p:spPr>
            <a:xfrm>
              <a:off x="2640" y="768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1" name="Oval 36"/>
            <p:cNvSpPr/>
            <p:nvPr/>
          </p:nvSpPr>
          <p:spPr>
            <a:xfrm>
              <a:off x="2736" y="1152"/>
              <a:ext cx="864" cy="384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2" name="Text Box 37"/>
            <p:cNvSpPr txBox="1"/>
            <p:nvPr/>
          </p:nvSpPr>
          <p:spPr>
            <a:xfrm>
              <a:off x="2777" y="1160"/>
              <a:ext cx="77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EKCG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3" name="Text Box 38"/>
            <p:cNvSpPr txBox="1"/>
            <p:nvPr/>
          </p:nvSpPr>
          <p:spPr>
            <a:xfrm>
              <a:off x="2651" y="71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4" name="Oval 39"/>
            <p:cNvSpPr/>
            <p:nvPr/>
          </p:nvSpPr>
          <p:spPr>
            <a:xfrm>
              <a:off x="2256" y="120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5" name="Text Box 40"/>
            <p:cNvSpPr txBox="1"/>
            <p:nvPr/>
          </p:nvSpPr>
          <p:spPr>
            <a:xfrm>
              <a:off x="2272" y="1160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6" name="Oval 41"/>
            <p:cNvSpPr/>
            <p:nvPr/>
          </p:nvSpPr>
          <p:spPr>
            <a:xfrm>
              <a:off x="1968" y="1671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7" name="Text Box 42"/>
            <p:cNvSpPr txBox="1"/>
            <p:nvPr/>
          </p:nvSpPr>
          <p:spPr>
            <a:xfrm>
              <a:off x="1972" y="1631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8" name="Oval 43"/>
            <p:cNvSpPr/>
            <p:nvPr/>
          </p:nvSpPr>
          <p:spPr>
            <a:xfrm>
              <a:off x="2496" y="1662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79" name="Text Box 44"/>
            <p:cNvSpPr txBox="1"/>
            <p:nvPr/>
          </p:nvSpPr>
          <p:spPr>
            <a:xfrm>
              <a:off x="2446" y="1631"/>
              <a:ext cx="43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80" name="Line 45"/>
            <p:cNvSpPr/>
            <p:nvPr/>
          </p:nvSpPr>
          <p:spPr>
            <a:xfrm flipH="1">
              <a:off x="2448" y="1920"/>
              <a:ext cx="144" cy="29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81" name="Oval 46"/>
            <p:cNvSpPr/>
            <p:nvPr/>
          </p:nvSpPr>
          <p:spPr>
            <a:xfrm>
              <a:off x="2256" y="216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82" name="Text Box 47"/>
            <p:cNvSpPr txBox="1"/>
            <p:nvPr/>
          </p:nvSpPr>
          <p:spPr>
            <a:xfrm>
              <a:off x="2267" y="2120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48"/>
          <p:cNvGrpSpPr/>
          <p:nvPr/>
        </p:nvGrpSpPr>
        <p:grpSpPr>
          <a:xfrm>
            <a:off x="1905000" y="3579813"/>
            <a:ext cx="2819400" cy="2746375"/>
            <a:chOff x="3504" y="719"/>
            <a:chExt cx="1776" cy="1730"/>
          </a:xfrm>
        </p:grpSpPr>
        <p:sp>
          <p:nvSpPr>
            <p:cNvPr id="91184" name="Line 49"/>
            <p:cNvSpPr/>
            <p:nvPr/>
          </p:nvSpPr>
          <p:spPr>
            <a:xfrm>
              <a:off x="4704" y="1392"/>
              <a:ext cx="240" cy="38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85" name="Oval 50"/>
            <p:cNvSpPr/>
            <p:nvPr/>
          </p:nvSpPr>
          <p:spPr>
            <a:xfrm>
              <a:off x="4608" y="1632"/>
              <a:ext cx="672" cy="336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86" name="Text Box 51"/>
            <p:cNvSpPr txBox="1"/>
            <p:nvPr/>
          </p:nvSpPr>
          <p:spPr>
            <a:xfrm>
              <a:off x="4627" y="1631"/>
              <a:ext cx="626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KCG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87" name="Line 52"/>
            <p:cNvSpPr/>
            <p:nvPr/>
          </p:nvSpPr>
          <p:spPr>
            <a:xfrm>
              <a:off x="3984" y="1440"/>
              <a:ext cx="144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88" name="Line 53"/>
            <p:cNvSpPr/>
            <p:nvPr/>
          </p:nvSpPr>
          <p:spPr>
            <a:xfrm flipH="1">
              <a:off x="3696" y="1440"/>
              <a:ext cx="192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89" name="Line 54"/>
            <p:cNvSpPr/>
            <p:nvPr/>
          </p:nvSpPr>
          <p:spPr>
            <a:xfrm flipH="1">
              <a:off x="3984" y="1008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90" name="Line 55"/>
            <p:cNvSpPr/>
            <p:nvPr/>
          </p:nvSpPr>
          <p:spPr>
            <a:xfrm>
              <a:off x="4368" y="960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91" name="Oval 56"/>
            <p:cNvSpPr/>
            <p:nvPr/>
          </p:nvSpPr>
          <p:spPr>
            <a:xfrm>
              <a:off x="4176" y="768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2" name="Oval 57"/>
            <p:cNvSpPr/>
            <p:nvPr/>
          </p:nvSpPr>
          <p:spPr>
            <a:xfrm>
              <a:off x="4512" y="120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3" name="Text Box 58"/>
            <p:cNvSpPr txBox="1"/>
            <p:nvPr/>
          </p:nvSpPr>
          <p:spPr>
            <a:xfrm>
              <a:off x="4520" y="1160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4" name="Text Box 59"/>
            <p:cNvSpPr txBox="1"/>
            <p:nvPr/>
          </p:nvSpPr>
          <p:spPr>
            <a:xfrm>
              <a:off x="4187" y="71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5" name="Oval 60"/>
            <p:cNvSpPr/>
            <p:nvPr/>
          </p:nvSpPr>
          <p:spPr>
            <a:xfrm>
              <a:off x="3792" y="120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6" name="Text Box 61"/>
            <p:cNvSpPr txBox="1"/>
            <p:nvPr/>
          </p:nvSpPr>
          <p:spPr>
            <a:xfrm>
              <a:off x="3808" y="1160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7" name="Oval 62"/>
            <p:cNvSpPr/>
            <p:nvPr/>
          </p:nvSpPr>
          <p:spPr>
            <a:xfrm>
              <a:off x="3504" y="1671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8" name="Text Box 63"/>
            <p:cNvSpPr txBox="1"/>
            <p:nvPr/>
          </p:nvSpPr>
          <p:spPr>
            <a:xfrm>
              <a:off x="3508" y="1631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199" name="Oval 64"/>
            <p:cNvSpPr/>
            <p:nvPr/>
          </p:nvSpPr>
          <p:spPr>
            <a:xfrm>
              <a:off x="4032" y="1662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00" name="Text Box 65"/>
            <p:cNvSpPr txBox="1"/>
            <p:nvPr/>
          </p:nvSpPr>
          <p:spPr>
            <a:xfrm>
              <a:off x="3982" y="1631"/>
              <a:ext cx="43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01" name="Line 66"/>
            <p:cNvSpPr/>
            <p:nvPr/>
          </p:nvSpPr>
          <p:spPr>
            <a:xfrm flipH="1">
              <a:off x="3984" y="1920"/>
              <a:ext cx="144" cy="29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02" name="Oval 67"/>
            <p:cNvSpPr/>
            <p:nvPr/>
          </p:nvSpPr>
          <p:spPr>
            <a:xfrm>
              <a:off x="3792" y="216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03" name="Text Box 68"/>
            <p:cNvSpPr txBox="1"/>
            <p:nvPr/>
          </p:nvSpPr>
          <p:spPr>
            <a:xfrm>
              <a:off x="3803" y="2120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5573" name="Text Box 69"/>
          <p:cNvSpPr txBox="1"/>
          <p:nvPr/>
        </p:nvSpPr>
        <p:spPr>
          <a:xfrm>
            <a:off x="8383588" y="684213"/>
            <a:ext cx="692150" cy="400050"/>
          </a:xfrm>
          <a:prstGeom prst="rect">
            <a:avLst/>
          </a:prstGeom>
          <a:solidFill>
            <a:srgbClr val="6699FF"/>
          </a:solidFill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无左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70"/>
          <p:cNvGrpSpPr/>
          <p:nvPr/>
        </p:nvGrpSpPr>
        <p:grpSpPr>
          <a:xfrm>
            <a:off x="5105400" y="3656013"/>
            <a:ext cx="3051175" cy="2746375"/>
            <a:chOff x="816" y="2159"/>
            <a:chExt cx="1922" cy="1730"/>
          </a:xfrm>
        </p:grpSpPr>
        <p:sp>
          <p:nvSpPr>
            <p:cNvPr id="91206" name="Line 71"/>
            <p:cNvSpPr/>
            <p:nvPr/>
          </p:nvSpPr>
          <p:spPr>
            <a:xfrm>
              <a:off x="2016" y="2832"/>
              <a:ext cx="240" cy="384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07" name="Line 72"/>
            <p:cNvSpPr/>
            <p:nvPr/>
          </p:nvSpPr>
          <p:spPr>
            <a:xfrm>
              <a:off x="1296" y="2880"/>
              <a:ext cx="144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08" name="Line 73"/>
            <p:cNvSpPr/>
            <p:nvPr/>
          </p:nvSpPr>
          <p:spPr>
            <a:xfrm flipH="1">
              <a:off x="1008" y="2880"/>
              <a:ext cx="192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09" name="Line 74"/>
            <p:cNvSpPr/>
            <p:nvPr/>
          </p:nvSpPr>
          <p:spPr>
            <a:xfrm flipH="1">
              <a:off x="1296" y="2448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10" name="Line 75"/>
            <p:cNvSpPr/>
            <p:nvPr/>
          </p:nvSpPr>
          <p:spPr>
            <a:xfrm>
              <a:off x="1680" y="2400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11" name="Oval 76"/>
            <p:cNvSpPr/>
            <p:nvPr/>
          </p:nvSpPr>
          <p:spPr>
            <a:xfrm>
              <a:off x="1488" y="2208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2" name="Oval 77"/>
            <p:cNvSpPr/>
            <p:nvPr/>
          </p:nvSpPr>
          <p:spPr>
            <a:xfrm>
              <a:off x="1824" y="264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3" name="Text Box 78"/>
            <p:cNvSpPr txBox="1"/>
            <p:nvPr/>
          </p:nvSpPr>
          <p:spPr>
            <a:xfrm>
              <a:off x="1832" y="2600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4" name="Text Box 79"/>
            <p:cNvSpPr txBox="1"/>
            <p:nvPr/>
          </p:nvSpPr>
          <p:spPr>
            <a:xfrm>
              <a:off x="1499" y="2159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5" name="Oval 80"/>
            <p:cNvSpPr/>
            <p:nvPr/>
          </p:nvSpPr>
          <p:spPr>
            <a:xfrm>
              <a:off x="1104" y="264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6" name="Text Box 81"/>
            <p:cNvSpPr txBox="1"/>
            <p:nvPr/>
          </p:nvSpPr>
          <p:spPr>
            <a:xfrm>
              <a:off x="1120" y="2600"/>
              <a:ext cx="265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7" name="Oval 82"/>
            <p:cNvSpPr/>
            <p:nvPr/>
          </p:nvSpPr>
          <p:spPr>
            <a:xfrm>
              <a:off x="816" y="3111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8" name="Text Box 83"/>
            <p:cNvSpPr txBox="1"/>
            <p:nvPr/>
          </p:nvSpPr>
          <p:spPr>
            <a:xfrm>
              <a:off x="820" y="3071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19" name="Oval 84"/>
            <p:cNvSpPr/>
            <p:nvPr/>
          </p:nvSpPr>
          <p:spPr>
            <a:xfrm>
              <a:off x="1344" y="3102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20" name="Text Box 85"/>
            <p:cNvSpPr txBox="1"/>
            <p:nvPr/>
          </p:nvSpPr>
          <p:spPr>
            <a:xfrm>
              <a:off x="1294" y="3071"/>
              <a:ext cx="43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21" name="Line 86"/>
            <p:cNvSpPr/>
            <p:nvPr/>
          </p:nvSpPr>
          <p:spPr>
            <a:xfrm flipH="1">
              <a:off x="1296" y="3360"/>
              <a:ext cx="144" cy="29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22" name="Oval 87"/>
            <p:cNvSpPr/>
            <p:nvPr/>
          </p:nvSpPr>
          <p:spPr>
            <a:xfrm>
              <a:off x="1104" y="3600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23" name="Text Box 88"/>
            <p:cNvSpPr txBox="1"/>
            <p:nvPr/>
          </p:nvSpPr>
          <p:spPr>
            <a:xfrm>
              <a:off x="1115" y="3560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24" name="Line 89"/>
            <p:cNvSpPr/>
            <p:nvPr/>
          </p:nvSpPr>
          <p:spPr>
            <a:xfrm>
              <a:off x="2304" y="3312"/>
              <a:ext cx="192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25" name="Line 90"/>
            <p:cNvSpPr/>
            <p:nvPr/>
          </p:nvSpPr>
          <p:spPr>
            <a:xfrm flipH="1">
              <a:off x="2016" y="3351"/>
              <a:ext cx="192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226" name="Oval 91"/>
            <p:cNvSpPr/>
            <p:nvPr/>
          </p:nvSpPr>
          <p:spPr>
            <a:xfrm>
              <a:off x="2112" y="3111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27" name="Text Box 92"/>
            <p:cNvSpPr txBox="1"/>
            <p:nvPr/>
          </p:nvSpPr>
          <p:spPr>
            <a:xfrm>
              <a:off x="2123" y="3071"/>
              <a:ext cx="27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28" name="Oval 93"/>
            <p:cNvSpPr/>
            <p:nvPr/>
          </p:nvSpPr>
          <p:spPr>
            <a:xfrm>
              <a:off x="1824" y="3582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29" name="Text Box 94"/>
            <p:cNvSpPr txBox="1"/>
            <p:nvPr/>
          </p:nvSpPr>
          <p:spPr>
            <a:xfrm>
              <a:off x="1828" y="3542"/>
              <a:ext cx="29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30" name="Oval 95"/>
            <p:cNvSpPr/>
            <p:nvPr/>
          </p:nvSpPr>
          <p:spPr>
            <a:xfrm>
              <a:off x="2400" y="3573"/>
              <a:ext cx="288" cy="288"/>
            </a:xfrm>
            <a:prstGeom prst="ellipse">
              <a:avLst/>
            </a:prstGeom>
            <a:solidFill>
              <a:srgbClr val="FFFFCC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231" name="Text Box 96"/>
            <p:cNvSpPr txBox="1"/>
            <p:nvPr/>
          </p:nvSpPr>
          <p:spPr>
            <a:xfrm>
              <a:off x="2304" y="3542"/>
              <a:ext cx="434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5601" name="Text Box 97"/>
          <p:cNvSpPr txBox="1"/>
          <p:nvPr/>
        </p:nvSpPr>
        <p:spPr>
          <a:xfrm>
            <a:off x="1752600" y="300038"/>
            <a:ext cx="2125663" cy="954087"/>
          </a:xfrm>
          <a:prstGeom prst="rect">
            <a:avLst/>
          </a:prstGeom>
          <a:solidFill>
            <a:srgbClr val="FFFF99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BHFD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HBDF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602" name="Text Box 98"/>
          <p:cNvSpPr txBox="1"/>
          <p:nvPr/>
        </p:nvSpPr>
        <p:spPr>
          <a:xfrm>
            <a:off x="1752600" y="300038"/>
            <a:ext cx="2125663" cy="954087"/>
          </a:xfrm>
          <a:prstGeom prst="rect">
            <a:avLst/>
          </a:prstGeom>
          <a:solidFill>
            <a:srgbClr val="FFFF99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FD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603" name="Line 99"/>
          <p:cNvSpPr/>
          <p:nvPr/>
        </p:nvSpPr>
        <p:spPr>
          <a:xfrm>
            <a:off x="3429000" y="228600"/>
            <a:ext cx="0" cy="3048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05604" name="Text Box 100"/>
          <p:cNvSpPr txBox="1"/>
          <p:nvPr/>
        </p:nvSpPr>
        <p:spPr>
          <a:xfrm>
            <a:off x="3201988" y="1065213"/>
            <a:ext cx="4889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605" name="Line 101"/>
          <p:cNvSpPr/>
          <p:nvPr/>
        </p:nvSpPr>
        <p:spPr>
          <a:xfrm flipV="1">
            <a:off x="3657600" y="1143000"/>
            <a:ext cx="0" cy="3048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05606" name="Line 102"/>
          <p:cNvSpPr/>
          <p:nvPr/>
        </p:nvSpPr>
        <p:spPr>
          <a:xfrm>
            <a:off x="9753600" y="228600"/>
            <a:ext cx="0" cy="3048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05607" name="Text Box 103"/>
          <p:cNvSpPr txBox="1"/>
          <p:nvPr/>
        </p:nvSpPr>
        <p:spPr>
          <a:xfrm>
            <a:off x="9450388" y="1065213"/>
            <a:ext cx="4889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608" name="Line 104"/>
          <p:cNvSpPr/>
          <p:nvPr/>
        </p:nvSpPr>
        <p:spPr>
          <a:xfrm flipV="1">
            <a:off x="9982200" y="1143000"/>
            <a:ext cx="0" cy="30480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05609" name="Text Box 105"/>
          <p:cNvSpPr txBox="1"/>
          <p:nvPr/>
        </p:nvSpPr>
        <p:spPr>
          <a:xfrm>
            <a:off x="9983788" y="1065213"/>
            <a:ext cx="488950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610" name="Text Box 106"/>
          <p:cNvSpPr txBox="1"/>
          <p:nvPr/>
        </p:nvSpPr>
        <p:spPr>
          <a:xfrm>
            <a:off x="8435975" y="5100638"/>
            <a:ext cx="2224088" cy="10763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前序确定根</a:t>
            </a:r>
            <a:endParaRPr lang="zh-CN" altLang="en-US" sz="32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中序分左右</a:t>
            </a:r>
            <a:endParaRPr lang="zh-CN" altLang="en-US" sz="32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612" name="Text Box 108"/>
          <p:cNvSpPr txBox="1"/>
          <p:nvPr/>
        </p:nvSpPr>
        <p:spPr>
          <a:xfrm>
            <a:off x="3813175" y="608013"/>
            <a:ext cx="4675188" cy="582612"/>
          </a:xfrm>
          <a:prstGeom prst="rect">
            <a:avLst/>
          </a:prstGeom>
          <a:solidFill>
            <a:srgbClr val="66FF66"/>
          </a:solidFill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利用递归方法建立二叉树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5613" name="Text Box 109"/>
          <p:cNvSpPr txBox="1"/>
          <p:nvPr/>
        </p:nvSpPr>
        <p:spPr>
          <a:xfrm>
            <a:off x="9223375" y="3502025"/>
            <a:ext cx="1101725" cy="8286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参数？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出口？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1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561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10">
                                            <p:txEl>
                                              <p:charRg st="6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05610">
                                            <p:txEl>
                                              <p:charRg st="6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0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40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0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40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0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0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0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0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0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40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9" dur="500"/>
                                        <p:tgtEl>
                                          <p:spTgt spid="40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9" dur="500"/>
                                        <p:tgtEl>
                                          <p:spTgt spid="40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0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0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31" grpId="0" bldLvl="0" animBg="1"/>
      <p:bldP spid="405532" grpId="0" bldLvl="0" animBg="1"/>
      <p:bldP spid="405533" grpId="0" bldLvl="0" animBg="1"/>
      <p:bldP spid="405573" grpId="0" bldLvl="0" animBg="1"/>
      <p:bldP spid="405601" grpId="0" bldLvl="0" animBg="1"/>
      <p:bldP spid="405602" grpId="0" bldLvl="0" animBg="1"/>
      <p:bldP spid="405604" grpId="0"/>
      <p:bldP spid="405607" grpId="0"/>
      <p:bldP spid="405609" grpId="0"/>
      <p:bldP spid="405610" grpId="0" build="p"/>
      <p:bldP spid="405612" grpId="0" bldLvl="0" animBg="1"/>
      <p:bldP spid="40561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1952625" y="1214438"/>
            <a:ext cx="8001000" cy="49561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*</a:t>
            </a:r>
            <a:r>
              <a:rPr kumimoji="1" lang="en-US" altLang="zh-CN" sz="2800" strike="noStrike" noProof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CreateBT1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(char </a:t>
            </a:r>
            <a:r>
              <a:rPr kumimoji="1" lang="en-US" altLang="zh-CN" sz="28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</a:t>
            </a:r>
            <a:r>
              <a:rPr kumimoji="1" lang="zh-CN" alt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char </a:t>
            </a:r>
            <a:r>
              <a:rPr kumimoji="1" lang="en-US" altLang="zh-CN" sz="28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kumimoji="1" lang="zh-CN" alt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n)</a:t>
            </a:r>
            <a:endParaRPr kumimoji="1" lang="en-US" altLang="zh-CN" sz="28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strike="noStrike" noProof="1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*s;  char *p;  </a:t>
            </a: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k;</a:t>
            </a:r>
            <a:endParaRPr kumimoji="1" lang="en-US" altLang="zh-CN" sz="28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if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(n&lt;=0) return NULL;</a:t>
            </a:r>
            <a:endParaRPr kumimoji="1" lang="en-US" altLang="zh-CN" sz="28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s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=(</a:t>
            </a:r>
            <a:r>
              <a:rPr kumimoji="1" lang="en-US" altLang="zh-CN" sz="28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*)</a:t>
            </a:r>
            <a:r>
              <a:rPr kumimoji="1" lang="en-US" altLang="zh-CN" sz="2800" strike="noStrike" noProof="1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malloc</a:t>
            </a:r>
            <a:r>
              <a:rPr kumimoji="1" lang="en-US" altLang="zh-CN" sz="28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strike="noStrike" noProof="1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sizeof</a:t>
            </a:r>
            <a:r>
              <a:rPr kumimoji="1" lang="en-US" altLang="zh-CN" sz="28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strike="noStrike" noProof="1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BTNode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));     </a:t>
            </a:r>
            <a:endParaRPr kumimoji="1" lang="en-US" altLang="zh-CN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//</a:t>
            </a:r>
            <a:r>
              <a:rPr kumimoji="1"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创建根结点</a:t>
            </a:r>
            <a:endParaRPr kumimoji="1" lang="zh-CN" altLang="en-US" sz="28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zh-CN" altLang="en-US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s-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&gt;data=*pre;</a:t>
            </a:r>
            <a:endParaRPr kumimoji="1" lang="en-US" altLang="zh-CN" sz="28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strike="noStrike" noProof="1" dirty="0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for </a:t>
            </a:r>
            <a:r>
              <a:rPr kumimoji="1" lang="en-US" altLang="zh-CN" sz="2800" strike="noStrike" noProof="1" dirty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(p=</a:t>
            </a:r>
            <a:r>
              <a:rPr kumimoji="1" lang="en-US" altLang="zh-CN" sz="2800" strike="noStrike" noProof="1" dirty="0" err="1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in;p</a:t>
            </a:r>
            <a:r>
              <a:rPr kumimoji="1" lang="en-US" altLang="zh-CN" sz="2800" strike="noStrike" noProof="1" dirty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800" strike="noStrike" noProof="1" dirty="0" err="1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in+n;p</a:t>
            </a:r>
            <a:r>
              <a:rPr kumimoji="1" lang="en-US" altLang="zh-CN" sz="2800" strike="noStrike" noProof="1" dirty="0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++)</a:t>
            </a:r>
            <a:r>
              <a:rPr kumimoji="1" lang="en-US" altLang="zh-CN" sz="2800" strike="noStrike" noProof="1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        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en-US" altLang="zh-CN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kumimoji="1"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kumimoji="1" lang="zh-CN" altLang="en-US" sz="28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找为</a:t>
            </a:r>
            <a:r>
              <a:rPr kumimoji="1" lang="zh-CN" altLang="en-US" sz="2800" strike="noStrike" noProof="1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</a:t>
            </a:r>
            <a:r>
              <a:rPr kumimoji="1"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位置</a:t>
            </a:r>
            <a:r>
              <a:rPr kumimoji="1" lang="en-US" altLang="zh-CN" sz="28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endParaRPr kumimoji="1" lang="en-US" altLang="zh-CN" sz="28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if (*p==*pre)</a:t>
            </a:r>
            <a:endParaRPr kumimoji="1" lang="en-US" altLang="zh-CN" sz="2800" strike="noStrike" noProof="1" dirty="0">
              <a:solidFill>
                <a:srgbClr val="CC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strike="noStrike" noProof="1" dirty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  break;</a:t>
            </a:r>
            <a:endParaRPr kumimoji="1" lang="en-US" altLang="zh-CN" sz="2800" strike="noStrike" noProof="1" dirty="0">
              <a:solidFill>
                <a:srgbClr val="CC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strike="noStrike" noProof="1" dirty="0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strike="noStrike" noProof="1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k=p-in; </a:t>
            </a:r>
            <a:endParaRPr kumimoji="1" lang="en-US" altLang="zh-CN" sz="2800" strike="noStrike" noProof="1" dirty="0" smtClean="0">
              <a:solidFill>
                <a:srgbClr val="CC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2162" name="Text Box 4"/>
          <p:cNvSpPr txBox="1"/>
          <p:nvPr/>
        </p:nvSpPr>
        <p:spPr>
          <a:xfrm>
            <a:off x="2095500" y="642938"/>
            <a:ext cx="6769100" cy="434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由上述定理得到以下构造二叉树的算法：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8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11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158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172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193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236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258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274" end="2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289" end="3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1017905" y="5000625"/>
            <a:ext cx="11012170" cy="148209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08000" rIns="144000" bIns="144000">
            <a:spAutoFit/>
          </a:bodyPr>
          <a:lstStyle/>
          <a:p>
            <a:pPr algn="just" fontAlgn="base">
              <a:lnSpc>
                <a:spcPts val="2400"/>
              </a:lnSpc>
              <a:spcBef>
                <a:spcPts val="0"/>
              </a:spcBef>
            </a:pP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s-</a:t>
            </a:r>
            <a:r>
              <a:rPr kumimoji="1" lang="en-US" altLang="zh-CN" sz="28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lchild=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CreateBT1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(pre+1</a:t>
            </a:r>
            <a:r>
              <a:rPr kumimoji="1" lang="zh-CN" alt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kumimoji="1" lang="zh-CN" alt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</a:t>
            </a:r>
            <a:r>
              <a:rPr kumimoji="1" lang="en-US" altLang="zh-CN" sz="28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kumimoji="1" lang="en-US" altLang="zh-CN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//</a:t>
            </a:r>
            <a:r>
              <a:rPr kumimoji="1" lang="zh-CN" altLang="en-US" sz="28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构造左子树</a:t>
            </a:r>
            <a:endParaRPr kumimoji="1" lang="zh-CN" altLang="en-US" sz="28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400"/>
              </a:lnSpc>
              <a:spcBef>
                <a:spcPts val="0"/>
              </a:spcBef>
            </a:pPr>
            <a:r>
              <a:rPr kumimoji="1" lang="zh-CN" altLang="en-US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s-</a:t>
            </a:r>
            <a:r>
              <a:rPr kumimoji="1" lang="en-US" altLang="zh-CN" sz="2800" strike="noStrike" noProof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rchild=</a:t>
            </a:r>
            <a:r>
              <a:rPr kumimoji="1" lang="en-US" altLang="zh-CN" sz="2800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CreateBT1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(pre+k+1</a:t>
            </a:r>
            <a:r>
              <a:rPr kumimoji="1" lang="zh-CN" alt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p+1</a:t>
            </a:r>
            <a:r>
              <a:rPr kumimoji="1" lang="zh-CN" alt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n-k-1); </a:t>
            </a:r>
            <a:r>
              <a:rPr kumimoji="1" lang="en-US" altLang="zh-CN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//</a:t>
            </a:r>
            <a:r>
              <a:rPr kumimoji="1"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构造右子树</a:t>
            </a:r>
            <a:endParaRPr kumimoji="1" lang="en-US" altLang="zh-CN" sz="28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4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return </a:t>
            </a: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s;</a:t>
            </a:r>
            <a:endParaRPr kumimoji="1" lang="en-US" altLang="zh-CN" sz="28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  <a:spcBef>
                <a:spcPts val="0"/>
              </a:spcBef>
            </a:pPr>
            <a:r>
              <a:rPr kumimoji="1" lang="en-US" altLang="zh-CN" sz="2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 </a:t>
            </a:r>
            <a:endParaRPr kumimoji="1" lang="en-US" altLang="zh-CN" sz="28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3186" name="TextBox 6"/>
          <p:cNvSpPr txBox="1"/>
          <p:nvPr/>
        </p:nvSpPr>
        <p:spPr>
          <a:xfrm>
            <a:off x="10017125" y="3214688"/>
            <a:ext cx="490538" cy="257175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 anchorCtr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先序遍历的思路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187" name="TextBox 4"/>
          <p:cNvSpPr txBox="1"/>
          <p:nvPr/>
        </p:nvSpPr>
        <p:spPr>
          <a:xfrm>
            <a:off x="3157538" y="547688"/>
            <a:ext cx="4929187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先序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pre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baseline="-2500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en-US" altLang="zh-CN" sz="200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…  </a:t>
            </a:r>
            <a:r>
              <a:rPr lang="en-US" altLang="zh-CN" sz="2000" i="1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i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2000" baseline="-2500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-1</a:t>
            </a:r>
            <a:r>
              <a:rPr lang="en-US" altLang="zh-CN" sz="2000" i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</a:t>
            </a:r>
            <a:r>
              <a:rPr lang="en-US" altLang="zh-CN" sz="200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i="1" baseline="-25000">
                <a:solidFill>
                  <a:srgbClr val="0033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  </a:t>
            </a:r>
            <a:r>
              <a:rPr lang="en-US" altLang="zh-CN" sz="2000" i="1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i="1" baseline="-2500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k</a:t>
            </a:r>
            <a:r>
              <a:rPr lang="en-US" altLang="zh-CN" sz="2000" baseline="-2500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+1 </a:t>
            </a:r>
            <a:r>
              <a:rPr lang="en-US" altLang="zh-CN" sz="200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…  </a:t>
            </a:r>
            <a:r>
              <a:rPr lang="en-US" altLang="zh-CN" sz="2000" i="1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i="1" baseline="-2500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sz="2000" baseline="-2500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-2   </a:t>
            </a:r>
            <a:r>
              <a:rPr lang="en-US" altLang="zh-CN" sz="2000" i="1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i="1" baseline="-2500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en-US" altLang="zh-CN" sz="2000" baseline="-2500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-1</a:t>
            </a:r>
            <a:endParaRPr lang="zh-CN" altLang="en-US" sz="2000">
              <a:solidFill>
                <a:srgbClr val="CC00FF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93188" name="TextBox 5"/>
          <p:cNvSpPr txBox="1"/>
          <p:nvPr/>
        </p:nvSpPr>
        <p:spPr>
          <a:xfrm>
            <a:off x="3255963" y="1108075"/>
            <a:ext cx="48577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in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：   </a:t>
            </a:r>
            <a:r>
              <a:rPr lang="en-US" altLang="zh-CN" sz="2000" i="1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aseline="-25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aseline="-25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 </a:t>
            </a:r>
            <a:r>
              <a:rPr lang="en-US" altLang="zh-CN" sz="2000" i="1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i="1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CN" sz="2000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000">
                <a:solidFill>
                  <a:srgbClr val="CC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000" i="1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baseline="-25000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en-US" sz="2000" baseline="-25000" dirty="0">
              <a:solidFill>
                <a:srgbClr val="CC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rot="5400000" flipH="1" flipV="1">
            <a:off x="5882481" y="1559719"/>
            <a:ext cx="285750" cy="158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90" name="TextBox 9"/>
          <p:cNvSpPr txBox="1"/>
          <p:nvPr/>
        </p:nvSpPr>
        <p:spPr>
          <a:xfrm>
            <a:off x="5772150" y="1668463"/>
            <a:ext cx="500063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 p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rot="5400000">
            <a:off x="4693444" y="605631"/>
            <a:ext cx="285750" cy="158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92" name="TextBox 12"/>
          <p:cNvSpPr txBox="1"/>
          <p:nvPr/>
        </p:nvSpPr>
        <p:spPr>
          <a:xfrm>
            <a:off x="4452938" y="168275"/>
            <a:ext cx="714375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pre+1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rot="5400000">
            <a:off x="6336506" y="580231"/>
            <a:ext cx="285750" cy="158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94" name="TextBox 14"/>
          <p:cNvSpPr txBox="1"/>
          <p:nvPr/>
        </p:nvSpPr>
        <p:spPr>
          <a:xfrm>
            <a:off x="5953125" y="142875"/>
            <a:ext cx="1000125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pre+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rot="5400000" flipH="1" flipV="1">
            <a:off x="6382544" y="1547019"/>
            <a:ext cx="285750" cy="158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96" name="TextBox 16"/>
          <p:cNvSpPr txBox="1"/>
          <p:nvPr/>
        </p:nvSpPr>
        <p:spPr>
          <a:xfrm>
            <a:off x="6310313" y="1655763"/>
            <a:ext cx="5000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p+1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rot="5400000" flipH="1" flipV="1">
            <a:off x="4415631" y="1547019"/>
            <a:ext cx="285750" cy="158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98" name="TextBox 19"/>
          <p:cNvSpPr txBox="1"/>
          <p:nvPr/>
        </p:nvSpPr>
        <p:spPr>
          <a:xfrm>
            <a:off x="4343400" y="1655763"/>
            <a:ext cx="500063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  in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67000" y="2357438"/>
            <a:ext cx="6072188" cy="212248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左子树：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先序序列为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pre+1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中序序列为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右子树：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先序序列为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pre+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中序序列为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p+1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j-ea"/>
                <a:ea typeface="+mj-ea"/>
                <a:cs typeface="Times New Roman" panose="02020603050405020304" pitchFamily="18" charset="0"/>
              </a:rPr>
              <a:t>-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j-ea"/>
                <a:ea typeface="+mj-ea"/>
                <a:cs typeface="Times New Roman" panose="02020603050405020304" pitchFamily="18" charset="0"/>
              </a:rPr>
              <a:t>-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lang="zh-CN" altLang="en-US" sz="2200" strike="noStrike" noProof="1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5381625" y="1857375"/>
            <a:ext cx="285750" cy="428625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Text Box 3"/>
          <p:cNvSpPr txBox="1"/>
          <p:nvPr/>
        </p:nvSpPr>
        <p:spPr>
          <a:xfrm>
            <a:off x="519113" y="71438"/>
            <a:ext cx="11380787" cy="1211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　　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7.2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任何</a:t>
            </a:r>
            <a:r>
              <a:rPr lang="en-US" altLang="zh-CN" sz="28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28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＞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</a:rPr>
              <a:t>个不同结点的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二</a:t>
            </a:r>
            <a:r>
              <a:rPr lang="zh-CN" altLang="en-US" sz="2800">
                <a:latin typeface="Times New Roman" panose="02020603050405020304" pitchFamily="18" charset="0"/>
                <a:ea typeface="楷体" panose="02010609060101010101" pitchFamily="49" charset="-122"/>
              </a:rPr>
              <a:t>又树，都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</a:rPr>
              <a:t>可由它的中序序列和后序序列唯一地确定。</a:t>
            </a:r>
            <a:endParaRPr lang="zh-CN" altLang="en-US" sz="28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94210" name="Text Box 8"/>
          <p:cNvSpPr txBox="1"/>
          <p:nvPr/>
        </p:nvSpPr>
        <p:spPr>
          <a:xfrm>
            <a:off x="1524000" y="2154238"/>
            <a:ext cx="1368425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后序序列：</a:t>
            </a:r>
            <a:endParaRPr lang="zh-CN" altLang="en-US" sz="2000" dirty="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94211" name="Text Box 9"/>
          <p:cNvSpPr txBox="1"/>
          <p:nvPr/>
        </p:nvSpPr>
        <p:spPr>
          <a:xfrm>
            <a:off x="2820988" y="2171700"/>
            <a:ext cx="3346450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-2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en-US" sz="2000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809875" y="2593975"/>
            <a:ext cx="1285875" cy="1073150"/>
            <a:chOff x="1285851" y="3143248"/>
            <a:chExt cx="1285885" cy="1072745"/>
          </a:xfrm>
        </p:grpSpPr>
        <p:sp>
          <p:nvSpPr>
            <p:cNvPr id="94213" name="Text Box 6"/>
            <p:cNvSpPr txBox="1"/>
            <p:nvPr/>
          </p:nvSpPr>
          <p:spPr>
            <a:xfrm>
              <a:off x="1285851" y="3385408"/>
              <a:ext cx="1285885" cy="8305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左子树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后序序列，有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4214" name="AutoShape 10"/>
            <p:cNvSpPr/>
            <p:nvPr/>
          </p:nvSpPr>
          <p:spPr>
            <a:xfrm rot="-5400000">
              <a:off x="1914497" y="2657479"/>
              <a:ext cx="144462" cy="1116000"/>
            </a:xfrm>
            <a:prstGeom prst="leftBrace">
              <a:avLst>
                <a:gd name="adj1" fmla="val 49176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427538" y="2592388"/>
            <a:ext cx="1439862" cy="1073150"/>
            <a:chOff x="2903526" y="3141661"/>
            <a:chExt cx="1439862" cy="1072745"/>
          </a:xfrm>
        </p:grpSpPr>
        <p:sp>
          <p:nvSpPr>
            <p:cNvPr id="94216" name="Text Box 7"/>
            <p:cNvSpPr txBox="1"/>
            <p:nvPr/>
          </p:nvSpPr>
          <p:spPr>
            <a:xfrm>
              <a:off x="2903526" y="3383821"/>
              <a:ext cx="1439862" cy="83058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右子树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后序序列，有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n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1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4217" name="AutoShape 11"/>
            <p:cNvSpPr/>
            <p:nvPr/>
          </p:nvSpPr>
          <p:spPr>
            <a:xfrm rot="-5400000">
              <a:off x="3553605" y="2782092"/>
              <a:ext cx="144462" cy="863600"/>
            </a:xfrm>
            <a:prstGeom prst="leftBrace">
              <a:avLst>
                <a:gd name="adj1" fmla="val 4931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4218" name="Text Box 14"/>
          <p:cNvSpPr txBox="1"/>
          <p:nvPr/>
        </p:nvSpPr>
        <p:spPr>
          <a:xfrm>
            <a:off x="6096000" y="2171700"/>
            <a:ext cx="1368425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B05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中序序列：</a:t>
            </a:r>
            <a:endParaRPr lang="zh-CN" altLang="en-US" sz="2000">
              <a:solidFill>
                <a:srgbClr val="00B05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94219" name="Text Box 15"/>
          <p:cNvSpPr txBox="1"/>
          <p:nvPr/>
        </p:nvSpPr>
        <p:spPr>
          <a:xfrm>
            <a:off x="7392988" y="2189163"/>
            <a:ext cx="2846387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en-US" altLang="en-US" sz="20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7239000" y="2592388"/>
            <a:ext cx="1368425" cy="1073150"/>
            <a:chOff x="5775343" y="3141652"/>
            <a:chExt cx="1368425" cy="1072755"/>
          </a:xfrm>
        </p:grpSpPr>
        <p:sp>
          <p:nvSpPr>
            <p:cNvPr id="94221" name="Text Box 12"/>
            <p:cNvSpPr txBox="1"/>
            <p:nvPr/>
          </p:nvSpPr>
          <p:spPr>
            <a:xfrm>
              <a:off x="5775343" y="3383821"/>
              <a:ext cx="1368425" cy="83058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左子树中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4222" name="AutoShape 16"/>
            <p:cNvSpPr/>
            <p:nvPr/>
          </p:nvSpPr>
          <p:spPr>
            <a:xfrm rot="-5400000">
              <a:off x="6371413" y="2782074"/>
              <a:ext cx="144463" cy="863600"/>
            </a:xfrm>
            <a:prstGeom prst="leftBrace">
              <a:avLst>
                <a:gd name="adj1" fmla="val 49346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870950" y="2592388"/>
            <a:ext cx="1439863" cy="1073150"/>
            <a:chOff x="7286644" y="3141652"/>
            <a:chExt cx="1439862" cy="1072755"/>
          </a:xfrm>
        </p:grpSpPr>
        <p:sp>
          <p:nvSpPr>
            <p:cNvPr id="94224" name="Text Box 13"/>
            <p:cNvSpPr txBox="1"/>
            <p:nvPr/>
          </p:nvSpPr>
          <p:spPr>
            <a:xfrm>
              <a:off x="7286644" y="3383821"/>
              <a:ext cx="1439862" cy="83058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右子树中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序序列，有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n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 i="1"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en-US" altLang="zh-CN" sz="180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1</a:t>
              </a:r>
              <a:r>
                <a:rPr lang="zh-CN" altLang="en-US" sz="1800">
                  <a:latin typeface="Times New Roman" panose="02020603050405020304" pitchFamily="18" charset="0"/>
                  <a:ea typeface="楷体" panose="02010609060101010101" pitchFamily="49" charset="-122"/>
                </a:rPr>
                <a:t>个结点</a:t>
              </a:r>
              <a:endParaRPr lang="zh-CN" altLang="en-US" sz="18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4225" name="AutoShape 17"/>
            <p:cNvSpPr/>
            <p:nvPr/>
          </p:nvSpPr>
          <p:spPr>
            <a:xfrm rot="-5400000">
              <a:off x="7925602" y="2782074"/>
              <a:ext cx="144463" cy="863600"/>
            </a:xfrm>
            <a:prstGeom prst="leftBrace">
              <a:avLst>
                <a:gd name="adj1" fmla="val 49346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ctr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310188" y="1450975"/>
            <a:ext cx="4232275" cy="777875"/>
            <a:chOff x="3786182" y="2000240"/>
            <a:chExt cx="4232289" cy="777875"/>
          </a:xfrm>
        </p:grpSpPr>
        <p:sp>
          <p:nvSpPr>
            <p:cNvPr id="94227" name="Line 18"/>
            <p:cNvSpPr/>
            <p:nvPr/>
          </p:nvSpPr>
          <p:spPr>
            <a:xfrm>
              <a:off x="4286248" y="2454265"/>
              <a:ext cx="0" cy="32385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228" name="Line 19"/>
            <p:cNvSpPr/>
            <p:nvPr/>
          </p:nvSpPr>
          <p:spPr>
            <a:xfrm flipV="1">
              <a:off x="4286248" y="2454264"/>
              <a:ext cx="2928958" cy="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229" name="Line 20"/>
            <p:cNvSpPr/>
            <p:nvPr/>
          </p:nvSpPr>
          <p:spPr>
            <a:xfrm>
              <a:off x="7215206" y="2444740"/>
              <a:ext cx="0" cy="323850"/>
            </a:xfrm>
            <a:prstGeom prst="line">
              <a:avLst/>
            </a:prstGeom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230" name="Text Box 22"/>
            <p:cNvSpPr txBox="1"/>
            <p:nvPr/>
          </p:nvSpPr>
          <p:spPr>
            <a:xfrm>
              <a:off x="3786182" y="2000240"/>
              <a:ext cx="4232289" cy="3073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通过根结点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n</a:t>
              </a:r>
              <a:r>
                <a:rPr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-1</a:t>
              </a:r>
              <a:r>
                <a:rPr lang="zh-CN" altLang="en-US" sz="20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在中序序列中找到</a:t>
              </a:r>
              <a:r>
                <a:rPr lang="en-US" altLang="zh-CN" sz="2000" i="1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b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endParaRPr lang="en-US" altLang="zh-CN" sz="2000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605213" y="4424363"/>
            <a:ext cx="5848350" cy="1862137"/>
            <a:chOff x="2081487" y="4638950"/>
            <a:chExt cx="5848100" cy="1861884"/>
          </a:xfrm>
        </p:grpSpPr>
        <p:sp>
          <p:nvSpPr>
            <p:cNvPr id="27" name="椭圆 26"/>
            <p:cNvSpPr/>
            <p:nvPr/>
          </p:nvSpPr>
          <p:spPr>
            <a:xfrm>
              <a:off x="4567504" y="4638950"/>
              <a:ext cx="576000" cy="576000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 fontAlgn="base"/>
              <a:r>
                <a:rPr lang="en-US" altLang="zh-CN" sz="2000" i="1" strike="noStrike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strike="noStrike" baseline="-25000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 strike="noStrike" baseline="-25000" noProof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zh-CN" altLang="en-US" sz="2000" strike="noStrike" baseline="-25000" noProof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571736" y="5507196"/>
              <a:ext cx="2143140" cy="70665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后序：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altLang="zh-CN" sz="2000" strike="noStrike" baseline="-25000" noProof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  <a:endParaRPr lang="zh-CN" altLang="en-US" sz="2000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234" name="TextBox 47"/>
            <p:cNvSpPr txBox="1"/>
            <p:nvPr/>
          </p:nvSpPr>
          <p:spPr>
            <a:xfrm>
              <a:off x="2081487" y="5286388"/>
              <a:ext cx="490250" cy="121444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 anchor="t" anchorCtr="0">
              <a:spAutoFit/>
            </a:bodyPr>
            <a:p>
              <a:r>
                <a:rPr lang="zh-CN" altLang="en-US" sz="2000">
                  <a:latin typeface="楷体" panose="02010609060101010101" pitchFamily="49" charset="-122"/>
                  <a:ea typeface="楷体" panose="02010609060101010101" pitchFamily="49" charset="-122"/>
                </a:rPr>
                <a:t>左子树</a:t>
              </a:r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214942" y="5507196"/>
              <a:ext cx="2206955" cy="70665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后序：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endParaRPr lang="en-US" altLang="zh-CN" sz="2000" i="1" strike="noStrike" baseline="-25000" noProof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 fontAlgn="base"/>
              <a:r>
                <a:rPr lang="zh-CN" altLang="en-US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中序：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r>
                <a:rPr lang="en-US" altLang="zh-CN" sz="2000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strike="noStrike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i="1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000" strike="noStrike" baseline="-25000" noProof="1" smtClean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endParaRPr lang="en-US" altLang="en-US" sz="2000" strike="noStrike" baseline="-25000" noProof="1" smtClean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236" name="TextBox 49"/>
            <p:cNvSpPr txBox="1"/>
            <p:nvPr/>
          </p:nvSpPr>
          <p:spPr>
            <a:xfrm>
              <a:off x="7439337" y="5286388"/>
              <a:ext cx="490250" cy="121444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square" anchor="t" anchorCtr="0">
              <a:spAutoFit/>
            </a:bodyPr>
            <a:p>
              <a:r>
                <a:rPr lang="zh-CN" altLang="en-US" sz="2000">
                  <a:latin typeface="楷体" panose="02010609060101010101" pitchFamily="49" charset="-122"/>
                  <a:ea typeface="楷体" panose="02010609060101010101" pitchFamily="49" charset="-122"/>
                </a:rPr>
                <a:t>右子树</a:t>
              </a:r>
              <a:endParaRPr lang="zh-CN" altLang="en-US" sz="20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51" name="直接连接符 50"/>
            <p:cNvCxnSpPr>
              <a:stCxn id="27" idx="2"/>
              <a:endCxn id="41" idx="0"/>
            </p:cNvCxnSpPr>
            <p:nvPr/>
          </p:nvCxnSpPr>
          <p:spPr>
            <a:xfrm flipH="1">
              <a:off x="3643523" y="4927585"/>
              <a:ext cx="923981" cy="57967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27" idx="6"/>
              <a:endCxn id="49" idx="0"/>
            </p:cNvCxnSpPr>
            <p:nvPr/>
          </p:nvCxnSpPr>
          <p:spPr>
            <a:xfrm>
              <a:off x="5143504" y="4927585"/>
              <a:ext cx="1175456" cy="579676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下箭头 52"/>
          <p:cNvSpPr/>
          <p:nvPr/>
        </p:nvSpPr>
        <p:spPr>
          <a:xfrm>
            <a:off x="6238875" y="3714750"/>
            <a:ext cx="285750" cy="500063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Text Box 2"/>
          <p:cNvSpPr txBox="1"/>
          <p:nvPr/>
        </p:nvSpPr>
        <p:spPr>
          <a:xfrm>
            <a:off x="1774825" y="642938"/>
            <a:ext cx="8686800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例如，已知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中序序列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为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DGBAECF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，后序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序列为</a:t>
            </a:r>
            <a:r>
              <a:rPr lang="en-US" altLang="zh-CN" sz="2000" i="1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GDBEFCA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。对应的构造二叉树的过程如下所示。 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20854" name="Text Box 22"/>
          <p:cNvSpPr txBox="1"/>
          <p:nvPr/>
        </p:nvSpPr>
        <p:spPr>
          <a:xfrm>
            <a:off x="5024438" y="6143625"/>
            <a:ext cx="2376487" cy="3984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CC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二叉树构造完毕</a:t>
            </a:r>
            <a:endParaRPr lang="zh-CN" altLang="en-US" sz="2000" dirty="0">
              <a:solidFill>
                <a:srgbClr val="CC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5235" name="Text Box 24"/>
          <p:cNvSpPr txBox="1"/>
          <p:nvPr/>
        </p:nvSpPr>
        <p:spPr>
          <a:xfrm>
            <a:off x="1919288" y="115888"/>
            <a:ext cx="6034087" cy="398462"/>
          </a:xfrm>
          <a:prstGeom prst="rect">
            <a:avLst/>
          </a:prstGeom>
          <a:solidFill>
            <a:srgbClr val="CC00FF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由后序和中序序列构造二叉树示例的演示</a:t>
            </a:r>
            <a:endParaRPr lang="zh-CN" altLang="en-US" sz="20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37150" y="1066800"/>
            <a:ext cx="2000250" cy="13223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后序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GDBEFC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DGB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A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ECF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953125" y="2286000"/>
            <a:ext cx="428625" cy="4286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en-US" altLang="zh-CN" sz="20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i="1" strike="noStrike" noProof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953000" y="3500438"/>
            <a:ext cx="428625" cy="4286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en-US" altLang="zh-CN" sz="20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000" i="1" strike="noStrike" noProof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7167563" y="3500438"/>
            <a:ext cx="428625" cy="4286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en-US" altLang="zh-CN" sz="20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CN" sz="2000" i="1" strike="noStrike" noProof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6596063" y="4429125"/>
            <a:ext cx="428625" cy="4286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en-US" altLang="zh-CN" sz="20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000" i="1" strike="noStrike" noProof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096250" y="4429125"/>
            <a:ext cx="428625" cy="4286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en-US" altLang="zh-CN" sz="20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000" i="1" strike="noStrike" noProof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4024313" y="4429125"/>
            <a:ext cx="428625" cy="4286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en-US" altLang="zh-CN" sz="20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000" i="1" strike="noStrike" noProof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810125" y="5357813"/>
            <a:ext cx="428625" cy="42862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r>
              <a:rPr lang="en-US" altLang="zh-CN" sz="2000" i="1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altLang="zh-CN" sz="2000" i="1" strike="noStrike" noProof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直接连接符 36"/>
          <p:cNvCxnSpPr>
            <a:stCxn id="24" idx="3"/>
            <a:endCxn id="26" idx="0"/>
          </p:cNvCxnSpPr>
          <p:nvPr/>
        </p:nvCxnSpPr>
        <p:spPr>
          <a:xfrm rot="5400000">
            <a:off x="5167313" y="2651125"/>
            <a:ext cx="849313" cy="84931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24" idx="5"/>
            <a:endCxn id="28" idx="0"/>
          </p:cNvCxnSpPr>
          <p:nvPr/>
        </p:nvCxnSpPr>
        <p:spPr>
          <a:xfrm rot="16200000" flipH="1">
            <a:off x="6425406" y="2543969"/>
            <a:ext cx="849313" cy="106362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26" idx="3"/>
            <a:endCxn id="34" idx="7"/>
          </p:cNvCxnSpPr>
          <p:nvPr/>
        </p:nvCxnSpPr>
        <p:spPr>
          <a:xfrm rot="5400000">
            <a:off x="4389438" y="3865563"/>
            <a:ext cx="627063" cy="62706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4" idx="5"/>
            <a:endCxn id="36" idx="1"/>
          </p:cNvCxnSpPr>
          <p:nvPr/>
        </p:nvCxnSpPr>
        <p:spPr>
          <a:xfrm rot="16200000" flipH="1">
            <a:off x="4318000" y="4865688"/>
            <a:ext cx="627063" cy="48418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28" idx="3"/>
            <a:endCxn id="36" idx="1"/>
          </p:cNvCxnSpPr>
          <p:nvPr/>
        </p:nvCxnSpPr>
        <p:spPr>
          <a:xfrm rot="5400000">
            <a:off x="6738938" y="3937000"/>
            <a:ext cx="563563" cy="42068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28" idx="5"/>
            <a:endCxn id="32" idx="1"/>
          </p:cNvCxnSpPr>
          <p:nvPr/>
        </p:nvCxnSpPr>
        <p:spPr>
          <a:xfrm rot="16200000" flipH="1">
            <a:off x="7532688" y="3865563"/>
            <a:ext cx="627063" cy="62706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8563" y="2997200"/>
            <a:ext cx="1285875" cy="13223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后序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GD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DG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B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24750" y="2997200"/>
            <a:ext cx="1428750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后序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EF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E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38438" y="4354513"/>
            <a:ext cx="1214437" cy="706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后序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G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D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G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95875" y="5211763"/>
            <a:ext cx="1071563" cy="706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后序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G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G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05463" y="4354513"/>
            <a:ext cx="1062037" cy="706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后序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62963" y="4354513"/>
            <a:ext cx="1062037" cy="7064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后序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en-US" altLang="zh-CN" sz="2000">
                <a:latin typeface="Times New Roman" panose="02020603050405020304" pitchFamily="18" charset="0"/>
                <a:ea typeface="楷体" panose="02010609060101010101" pitchFamily="49" charset="-122"/>
              </a:rPr>
              <a:t>:</a:t>
            </a:r>
            <a:r>
              <a:rPr lang="en-US" altLang="zh-CN" sz="2000" i="1"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F</a:t>
            </a:r>
            <a:endParaRPr lang="en-US" altLang="zh-CN" sz="2000" i="1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4" grpId="0" bldLvl="0" animBg="1"/>
      <p:bldP spid="23" grpId="0"/>
      <p:bldP spid="24" grpId="0" bldLvl="0" animBg="1"/>
      <p:bldP spid="26" grpId="0" bldLvl="0" animBg="1"/>
      <p:bldP spid="28" grpId="0" bldLvl="0" animBg="1"/>
      <p:bldP spid="30" grpId="0" bldLvl="0" animBg="1"/>
      <p:bldP spid="32" grpId="0" bldLvl="0" animBg="1"/>
      <p:bldP spid="34" grpId="0" bldLvl="0" animBg="1"/>
      <p:bldP spid="36" grpId="0" bldLvl="0" animBg="1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2095500" y="1214438"/>
            <a:ext cx="8286750" cy="545782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44000" rIns="144000" bIns="144000">
            <a:spAutoFit/>
          </a:bodyPr>
          <a:lstStyle/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BTNode *</a:t>
            </a:r>
            <a:r>
              <a:rPr lang="en-US" sz="2800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CreateBT2</a:t>
            </a: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(char *post，char *in，int n)</a:t>
            </a:r>
            <a:endParaRPr lang="zh-CN" altLang="en-US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     BTNode *b;  char r，*p;  int k;</a:t>
            </a:r>
            <a:endParaRPr lang="zh-CN" altLang="en-US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if (n&lt;=0) return NULL;</a:t>
            </a:r>
            <a:endParaRPr lang="zh-CN" altLang="en-US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r=*(post+n-1);			    </a:t>
            </a: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//</a:t>
            </a:r>
            <a:r>
              <a:rPr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根结点值</a:t>
            </a:r>
            <a:endParaRPr lang="zh-CN" altLang="en-US" sz="2800" strike="noStrike" noProof="1" smtClean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b=(BTNode *)malloc(sizeof(BTNode));   </a:t>
            </a:r>
            <a:endParaRPr lang="en-US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创建二叉树结点</a:t>
            </a: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*b</a:t>
            </a:r>
            <a:endParaRPr lang="zh-CN" altLang="en-US" sz="2800" strike="noStrike" noProof="1" smtClean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b-&gt;data=r;</a:t>
            </a:r>
            <a:endParaRPr lang="zh-CN" altLang="en-US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sz="2800" strike="noStrike" noProof="1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for (p=in;p&lt;in+n;p++)		   </a:t>
            </a: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//</a:t>
            </a:r>
            <a:r>
              <a:rPr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中查找根结点</a:t>
            </a:r>
            <a:endParaRPr lang="zh-CN" altLang="en-US" sz="2800" strike="noStrike" noProof="1" smtClean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if (*p==r)  break;</a:t>
            </a:r>
            <a:endParaRPr lang="zh-CN" altLang="en-US" sz="2800" strike="noStrike" noProof="1" smtClean="0">
              <a:solidFill>
                <a:srgbClr val="CC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CC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k=p-in;	</a:t>
            </a:r>
            <a:r>
              <a:rPr lang="en-US" sz="28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	     </a:t>
            </a:r>
            <a:endParaRPr lang="en-US" sz="28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100000"/>
              </a:lnSpc>
            </a:pP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//k</a:t>
            </a:r>
            <a:r>
              <a:rPr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为根结点在</a:t>
            </a: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lang="zh-CN" alt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中的下标</a:t>
            </a:r>
            <a:r>
              <a:rPr lang="en-US" sz="28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endParaRPr lang="en-US" altLang="en-US" sz="2800" strike="noStrike" noProof="1" smtClean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258" name="Text Box 3"/>
          <p:cNvSpPr txBox="1"/>
          <p:nvPr/>
        </p:nvSpPr>
        <p:spPr>
          <a:xfrm>
            <a:off x="2024063" y="428625"/>
            <a:ext cx="7561262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由上述定理得到以下构造二叉树的算法：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83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113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149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195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209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227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262" end="2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275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295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>
                                            <p:txEl>
                                              <p:charRg st="319" end="3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1828800" y="4649788"/>
            <a:ext cx="8001000" cy="206216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08000" rIns="144000" bIns="108000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b-&gt;lchild=</a:t>
            </a:r>
            <a:r>
              <a:rPr lang="en-US" sz="2400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CreateBT2</a:t>
            </a:r>
            <a:r>
              <a:rPr 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(post，in，k);	        </a:t>
            </a:r>
            <a:endParaRPr lang="en-US" sz="24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</a:pPr>
            <a:r>
              <a:rPr 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递归构造左子树</a:t>
            </a:r>
            <a:endParaRPr lang="zh-CN" altLang="en-US" sz="2400" strike="noStrike" noProof="1" smtClean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b-&gt;rchild=</a:t>
            </a:r>
            <a:r>
              <a:rPr lang="en-US" sz="2400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CreateBT2</a:t>
            </a:r>
            <a:r>
              <a:rPr 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(post+k，p+1，n-k-1);</a:t>
            </a:r>
            <a:r>
              <a:rPr 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endParaRPr lang="en-US" sz="2400" strike="noStrike" noProof="1" smtClean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</a:pPr>
            <a:r>
              <a:rPr 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递归构造右子树</a:t>
            </a:r>
            <a:endParaRPr lang="zh-CN" altLang="en-US" sz="2400" strike="noStrike" noProof="1" smtClean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return b;</a:t>
            </a:r>
            <a:endParaRPr lang="zh-CN" altLang="en-US" sz="24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400"/>
              </a:lnSpc>
            </a:pPr>
            <a:r>
              <a:rPr 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en-US" altLang="en-US" sz="24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282" name="TextBox 4"/>
          <p:cNvSpPr txBox="1"/>
          <p:nvPr/>
        </p:nvSpPr>
        <p:spPr>
          <a:xfrm>
            <a:off x="9945688" y="4000500"/>
            <a:ext cx="490537" cy="257175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 anchor="t" anchorCtr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先序遍历的思路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7283" name="组合 18"/>
          <p:cNvGrpSpPr/>
          <p:nvPr/>
        </p:nvGrpSpPr>
        <p:grpSpPr>
          <a:xfrm>
            <a:off x="3381375" y="142875"/>
            <a:ext cx="5072063" cy="1833563"/>
            <a:chOff x="2214546" y="4881773"/>
            <a:chExt cx="5072098" cy="1832906"/>
          </a:xfrm>
        </p:grpSpPr>
        <p:sp>
          <p:nvSpPr>
            <p:cNvPr id="97284" name="TextBox 6"/>
            <p:cNvSpPr txBox="1"/>
            <p:nvPr/>
          </p:nvSpPr>
          <p:spPr>
            <a:xfrm>
              <a:off x="2214546" y="5357826"/>
              <a:ext cx="5072098" cy="3987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后序</a:t>
              </a:r>
              <a:r>
                <a:rPr lang="en-US" altLang="zh-CN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post</a:t>
              </a: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：</a:t>
              </a:r>
              <a:r>
                <a:rPr lang="en-US" altLang="zh-CN" sz="2000" i="1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0</a:t>
              </a:r>
              <a:r>
                <a:rPr lang="en-US" altLang="zh-CN" sz="2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</a:t>
              </a:r>
              <a:r>
                <a:rPr lang="en-US" altLang="zh-CN" sz="2000" i="1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1</a:t>
              </a:r>
              <a:r>
                <a:rPr lang="en-US" altLang="zh-CN" sz="2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 …  </a:t>
              </a:r>
              <a:r>
                <a:rPr lang="en-US" altLang="zh-CN" sz="2000" i="1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en-US" altLang="zh-CN" sz="2000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-1</a:t>
              </a:r>
              <a:r>
                <a:rPr lang="en-US" altLang="zh-CN" sz="2000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 </a:t>
              </a:r>
              <a:r>
                <a:rPr lang="en-US" altLang="zh-CN" sz="2000">
                  <a:solidFill>
                    <a:srgbClr val="0033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</a:t>
              </a:r>
              <a:r>
                <a:rPr lang="en-US" altLang="zh-CN" sz="2000" i="1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i="1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en-US" altLang="zh-CN" sz="2000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 </a:t>
              </a:r>
              <a:r>
                <a:rPr lang="en-US" altLang="zh-CN" sz="2000" i="1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i="1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k</a:t>
              </a:r>
              <a:r>
                <a:rPr lang="en-US" altLang="zh-CN" sz="2000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+1 </a:t>
              </a:r>
              <a:r>
                <a:rPr lang="en-US" altLang="zh-CN" sz="2000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…  </a:t>
              </a:r>
              <a:r>
                <a:rPr lang="en-US" altLang="zh-CN" sz="2000" i="1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i="1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n</a:t>
              </a:r>
              <a:r>
                <a:rPr lang="en-US" altLang="zh-CN" sz="2000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-2   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a</a:t>
              </a:r>
              <a:r>
                <a:rPr lang="en-US" altLang="zh-CN" sz="200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n</a:t>
              </a:r>
              <a:r>
                <a:rPr lang="en-US" altLang="zh-CN" sz="2000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-1</a:t>
              </a:r>
              <a:endParaRPr lang="en-US" altLang="zh-CN" sz="2000" baseline="-2500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97285" name="TextBox 7"/>
            <p:cNvSpPr txBox="1"/>
            <p:nvPr/>
          </p:nvSpPr>
          <p:spPr>
            <a:xfrm>
              <a:off x="2214546" y="5743534"/>
              <a:ext cx="5072098" cy="3987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中序</a:t>
              </a:r>
              <a:r>
                <a:rPr lang="en-US" altLang="zh-CN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in</a:t>
              </a:r>
              <a:r>
                <a:rPr lang="zh-CN" altLang="en-US" sz="2000">
                  <a:latin typeface="Times New Roman" panose="02020603050405020304" pitchFamily="18" charset="0"/>
                  <a:ea typeface="楷体" panose="02010609060101010101" pitchFamily="49" charset="-122"/>
                </a:rPr>
                <a:t>：    </a:t>
              </a:r>
              <a:r>
                <a:rPr lang="en-US" altLang="zh-CN" sz="2000" i="1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00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000" i="1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00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sz="2000">
                  <a:solidFill>
                    <a:srgbClr val="0033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… </a:t>
              </a:r>
              <a:r>
                <a:rPr lang="en-US" altLang="zh-CN" sz="2000" i="1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i="1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2000" baseline="-2500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sz="2000" i="1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i="1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2000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r>
                <a:rPr lang="en-US" altLang="zh-CN" sz="2000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2000">
                  <a:solidFill>
                    <a:srgbClr val="CC00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…</a:t>
              </a:r>
              <a:r>
                <a:rPr lang="en-US" altLang="zh-CN" sz="2000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en-US" altLang="zh-CN" sz="2000" i="1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000" i="1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000" baseline="-25000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endParaRPr lang="en-US" altLang="en-US" sz="2000" baseline="-25000" dirty="0">
                <a:solidFill>
                  <a:srgbClr val="CC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rot="5400000" flipH="1" flipV="1">
              <a:off x="4968084" y="6298426"/>
              <a:ext cx="285752" cy="158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287" name="TextBox 9"/>
            <p:cNvSpPr txBox="1"/>
            <p:nvPr/>
          </p:nvSpPr>
          <p:spPr>
            <a:xfrm>
              <a:off x="4857752" y="6407371"/>
              <a:ext cx="500066" cy="307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rot="5400000">
              <a:off x="3526624" y="5344332"/>
              <a:ext cx="285752" cy="158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289" name="TextBox 11"/>
            <p:cNvSpPr txBox="1"/>
            <p:nvPr/>
          </p:nvSpPr>
          <p:spPr>
            <a:xfrm>
              <a:off x="3286116" y="4907173"/>
              <a:ext cx="714380" cy="307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post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rot="5400000">
              <a:off x="4955384" y="5318932"/>
              <a:ext cx="285752" cy="158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291" name="TextBox 13"/>
            <p:cNvSpPr txBox="1"/>
            <p:nvPr/>
          </p:nvSpPr>
          <p:spPr>
            <a:xfrm>
              <a:off x="4643438" y="4881773"/>
              <a:ext cx="857256" cy="307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post+</a:t>
              </a:r>
              <a:r>
                <a:rPr lang="en-US" altLang="zh-CN" sz="2000" i="1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rot="5400000" flipH="1" flipV="1">
              <a:off x="5468150" y="6285726"/>
              <a:ext cx="285752" cy="158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293" name="TextBox 15"/>
            <p:cNvSpPr txBox="1"/>
            <p:nvPr/>
          </p:nvSpPr>
          <p:spPr>
            <a:xfrm>
              <a:off x="5395918" y="6394671"/>
              <a:ext cx="500066" cy="307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p+1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 rot="5400000" flipH="1" flipV="1">
              <a:off x="3501224" y="6285726"/>
              <a:ext cx="285752" cy="1588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295" name="TextBox 17"/>
            <p:cNvSpPr txBox="1"/>
            <p:nvPr/>
          </p:nvSpPr>
          <p:spPr>
            <a:xfrm>
              <a:off x="3428992" y="6394671"/>
              <a:ext cx="500066" cy="307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in</a:t>
              </a:r>
              <a:endParaRPr lang="zh-CN" altLang="en-US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667000" y="2357438"/>
            <a:ext cx="6072188" cy="212248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左子树：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后序序列为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post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中序序列为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右子树：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后序序列为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post+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kumimoji="1" lang="en-US" altLang="zh-CN" sz="2200" strike="noStrike" noProof="1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/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中序序列为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p+1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开始的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j-ea"/>
                <a:ea typeface="+mj-ea"/>
                <a:cs typeface="Times New Roman" panose="02020603050405020304" pitchFamily="18" charset="0"/>
              </a:rPr>
              <a:t>-</a:t>
            </a:r>
            <a:r>
              <a:rPr kumimoji="1" lang="en-US" altLang="zh-CN" sz="2200" i="1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+mj-ea"/>
                <a:ea typeface="+mj-ea"/>
                <a:cs typeface="Times New Roman" panose="02020603050405020304" pitchFamily="18" charset="0"/>
              </a:rPr>
              <a:t>-</a:t>
            </a:r>
            <a:r>
              <a:rPr kumimoji="1" lang="en-US" altLang="zh-CN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2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个字符</a:t>
            </a:r>
            <a:endParaRPr lang="zh-CN" altLang="en-US" sz="2200" strike="noStrike" noProof="1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5381625" y="1857375"/>
            <a:ext cx="285750" cy="428625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</p:spTree>
  </p:cSld>
  <p:clrMapOvr>
    <a:masterClrMapping/>
  </p:clrMapOvr>
  <p:transition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3352800" y="152400"/>
            <a:ext cx="5105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 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线索二叉树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  <a:sym typeface="+mn-ea"/>
            </a:endParaRPr>
          </a:p>
        </p:txBody>
      </p:sp>
      <p:grpSp>
        <p:nvGrpSpPr>
          <p:cNvPr id="2" name="Group 63"/>
          <p:cNvGrpSpPr/>
          <p:nvPr/>
        </p:nvGrpSpPr>
        <p:grpSpPr>
          <a:xfrm>
            <a:off x="1828800" y="2665413"/>
            <a:ext cx="4360863" cy="3846512"/>
            <a:chOff x="1104" y="1199"/>
            <a:chExt cx="2747" cy="2423"/>
          </a:xfrm>
        </p:grpSpPr>
        <p:grpSp>
          <p:nvGrpSpPr>
            <p:cNvPr id="98307" name="Group 3"/>
            <p:cNvGrpSpPr/>
            <p:nvPr/>
          </p:nvGrpSpPr>
          <p:grpSpPr>
            <a:xfrm>
              <a:off x="1968" y="1670"/>
              <a:ext cx="768" cy="368"/>
              <a:chOff x="2928" y="2082"/>
              <a:chExt cx="624" cy="368"/>
            </a:xfrm>
          </p:grpSpPr>
          <p:sp>
            <p:nvSpPr>
              <p:cNvPr id="98308" name="Rectangle 4" descr="羊皮纸"/>
              <p:cNvSpPr/>
              <p:nvPr/>
            </p:nvSpPr>
            <p:spPr>
              <a:xfrm>
                <a:off x="2928" y="2141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09" name="Line 5"/>
              <p:cNvSpPr/>
              <p:nvPr/>
            </p:nvSpPr>
            <p:spPr>
              <a:xfrm>
                <a:off x="3120" y="2141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10" name="Line 6"/>
              <p:cNvSpPr/>
              <p:nvPr/>
            </p:nvSpPr>
            <p:spPr>
              <a:xfrm>
                <a:off x="3360" y="2141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11" name="Text Box 7"/>
              <p:cNvSpPr txBox="1"/>
              <p:nvPr/>
            </p:nvSpPr>
            <p:spPr>
              <a:xfrm>
                <a:off x="3101" y="2082"/>
                <a:ext cx="244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8312" name="Group 8"/>
            <p:cNvGrpSpPr/>
            <p:nvPr/>
          </p:nvGrpSpPr>
          <p:grpSpPr>
            <a:xfrm>
              <a:off x="1104" y="2726"/>
              <a:ext cx="768" cy="368"/>
              <a:chOff x="2208" y="3167"/>
              <a:chExt cx="624" cy="368"/>
            </a:xfrm>
          </p:grpSpPr>
          <p:sp>
            <p:nvSpPr>
              <p:cNvPr id="98313" name="Rectangle 9" descr="羊皮纸"/>
              <p:cNvSpPr/>
              <p:nvPr/>
            </p:nvSpPr>
            <p:spPr>
              <a:xfrm>
                <a:off x="2208" y="3197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14" name="Line 10"/>
              <p:cNvSpPr/>
              <p:nvPr/>
            </p:nvSpPr>
            <p:spPr>
              <a:xfrm flipH="1">
                <a:off x="2400" y="3197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15" name="Line 11"/>
              <p:cNvSpPr/>
              <p:nvPr/>
            </p:nvSpPr>
            <p:spPr>
              <a:xfrm>
                <a:off x="2640" y="3197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16" name="Text Box 12"/>
              <p:cNvSpPr txBox="1"/>
              <p:nvPr/>
            </p:nvSpPr>
            <p:spPr>
              <a:xfrm>
                <a:off x="2386" y="3167"/>
                <a:ext cx="232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8317" name="Group 13"/>
            <p:cNvGrpSpPr/>
            <p:nvPr/>
          </p:nvGrpSpPr>
          <p:grpSpPr>
            <a:xfrm>
              <a:off x="1968" y="2707"/>
              <a:ext cx="816" cy="368"/>
              <a:chOff x="2928" y="3148"/>
              <a:chExt cx="624" cy="368"/>
            </a:xfrm>
          </p:grpSpPr>
          <p:sp>
            <p:nvSpPr>
              <p:cNvPr id="98318" name="Rectangle 14" descr="羊皮纸"/>
              <p:cNvSpPr/>
              <p:nvPr/>
            </p:nvSpPr>
            <p:spPr>
              <a:xfrm>
                <a:off x="2928" y="3197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19" name="Line 15"/>
              <p:cNvSpPr/>
              <p:nvPr/>
            </p:nvSpPr>
            <p:spPr>
              <a:xfrm>
                <a:off x="3120" y="3197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20" name="Line 16"/>
              <p:cNvSpPr/>
              <p:nvPr/>
            </p:nvSpPr>
            <p:spPr>
              <a:xfrm>
                <a:off x="3360" y="3197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21" name="Text Box 17"/>
              <p:cNvSpPr txBox="1"/>
              <p:nvPr/>
            </p:nvSpPr>
            <p:spPr>
              <a:xfrm>
                <a:off x="3118" y="3148"/>
                <a:ext cx="208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8322" name="Group 18"/>
            <p:cNvGrpSpPr/>
            <p:nvPr/>
          </p:nvGrpSpPr>
          <p:grpSpPr>
            <a:xfrm>
              <a:off x="2304" y="3254"/>
              <a:ext cx="864" cy="368"/>
              <a:chOff x="3264" y="3695"/>
              <a:chExt cx="624" cy="368"/>
            </a:xfrm>
          </p:grpSpPr>
          <p:sp>
            <p:nvSpPr>
              <p:cNvPr id="98323" name="Rectangle 19" descr="羊皮纸"/>
              <p:cNvSpPr/>
              <p:nvPr/>
            </p:nvSpPr>
            <p:spPr>
              <a:xfrm>
                <a:off x="3264" y="3725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24" name="Line 20"/>
              <p:cNvSpPr/>
              <p:nvPr/>
            </p:nvSpPr>
            <p:spPr>
              <a:xfrm>
                <a:off x="345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25" name="Line 21"/>
              <p:cNvSpPr/>
              <p:nvPr/>
            </p:nvSpPr>
            <p:spPr>
              <a:xfrm>
                <a:off x="369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26" name="Text Box 22"/>
              <p:cNvSpPr txBox="1"/>
              <p:nvPr/>
            </p:nvSpPr>
            <p:spPr>
              <a:xfrm>
                <a:off x="3472" y="3695"/>
                <a:ext cx="176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J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8327" name="Group 23"/>
            <p:cNvGrpSpPr/>
            <p:nvPr/>
          </p:nvGrpSpPr>
          <p:grpSpPr>
            <a:xfrm>
              <a:off x="1440" y="3254"/>
              <a:ext cx="768" cy="368"/>
              <a:chOff x="2544" y="3695"/>
              <a:chExt cx="624" cy="368"/>
            </a:xfrm>
          </p:grpSpPr>
          <p:sp>
            <p:nvSpPr>
              <p:cNvPr id="98328" name="Rectangle 24" descr="羊皮纸"/>
              <p:cNvSpPr/>
              <p:nvPr/>
            </p:nvSpPr>
            <p:spPr>
              <a:xfrm>
                <a:off x="2544" y="3725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29" name="Line 25"/>
              <p:cNvSpPr/>
              <p:nvPr/>
            </p:nvSpPr>
            <p:spPr>
              <a:xfrm>
                <a:off x="273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30" name="Line 26"/>
              <p:cNvSpPr/>
              <p:nvPr/>
            </p:nvSpPr>
            <p:spPr>
              <a:xfrm>
                <a:off x="297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31" name="Text Box 27"/>
              <p:cNvSpPr txBox="1"/>
              <p:nvPr/>
            </p:nvSpPr>
            <p:spPr>
              <a:xfrm>
                <a:off x="2744" y="3695"/>
                <a:ext cx="175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8332" name="Group 28"/>
            <p:cNvGrpSpPr/>
            <p:nvPr/>
          </p:nvGrpSpPr>
          <p:grpSpPr>
            <a:xfrm>
              <a:off x="1584" y="1199"/>
              <a:ext cx="624" cy="472"/>
              <a:chOff x="2544" y="1640"/>
              <a:chExt cx="624" cy="472"/>
            </a:xfrm>
          </p:grpSpPr>
          <p:sp>
            <p:nvSpPr>
              <p:cNvPr id="98333" name="Line 29"/>
              <p:cNvSpPr/>
              <p:nvPr/>
            </p:nvSpPr>
            <p:spPr>
              <a:xfrm>
                <a:off x="2928" y="1968"/>
                <a:ext cx="240" cy="144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98334" name="Text Box 30"/>
              <p:cNvSpPr txBox="1"/>
              <p:nvPr/>
            </p:nvSpPr>
            <p:spPr>
              <a:xfrm>
                <a:off x="2544" y="1640"/>
                <a:ext cx="571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rgbClr val="8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root</a:t>
                </a:r>
                <a:endParaRPr lang="en-US" altLang="zh-CN" sz="2400" b="0" dirty="0">
                  <a:solidFill>
                    <a:srgbClr val="80008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8335" name="Line 31"/>
            <p:cNvSpPr/>
            <p:nvPr/>
          </p:nvSpPr>
          <p:spPr>
            <a:xfrm flipH="1">
              <a:off x="1872" y="1863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pSp>
          <p:nvGrpSpPr>
            <p:cNvPr id="98336" name="Group 33"/>
            <p:cNvGrpSpPr/>
            <p:nvPr/>
          </p:nvGrpSpPr>
          <p:grpSpPr>
            <a:xfrm>
              <a:off x="1488" y="2179"/>
              <a:ext cx="768" cy="368"/>
              <a:chOff x="2592" y="2620"/>
              <a:chExt cx="624" cy="368"/>
            </a:xfrm>
          </p:grpSpPr>
          <p:sp>
            <p:nvSpPr>
              <p:cNvPr id="98337" name="Rectangle 34" descr="羊皮纸"/>
              <p:cNvSpPr/>
              <p:nvPr/>
            </p:nvSpPr>
            <p:spPr>
              <a:xfrm>
                <a:off x="2592" y="2669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38" name="Line 35"/>
              <p:cNvSpPr/>
              <p:nvPr/>
            </p:nvSpPr>
            <p:spPr>
              <a:xfrm>
                <a:off x="2784" y="2669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39" name="Line 36"/>
              <p:cNvSpPr/>
              <p:nvPr/>
            </p:nvSpPr>
            <p:spPr>
              <a:xfrm>
                <a:off x="3024" y="2669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40" name="Text Box 37"/>
              <p:cNvSpPr txBox="1"/>
              <p:nvPr/>
            </p:nvSpPr>
            <p:spPr>
              <a:xfrm>
                <a:off x="2763" y="2620"/>
                <a:ext cx="232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8341" name="Line 38"/>
            <p:cNvSpPr/>
            <p:nvPr/>
          </p:nvSpPr>
          <p:spPr>
            <a:xfrm flipH="1">
              <a:off x="1392" y="2391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8342" name="Line 39"/>
            <p:cNvSpPr/>
            <p:nvPr/>
          </p:nvSpPr>
          <p:spPr>
            <a:xfrm>
              <a:off x="2160" y="2391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8343" name="Text Box 40"/>
            <p:cNvSpPr txBox="1"/>
            <p:nvPr/>
          </p:nvSpPr>
          <p:spPr>
            <a:xfrm>
              <a:off x="1104" y="2726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44" name="Text Box 41"/>
            <p:cNvSpPr txBox="1"/>
            <p:nvPr/>
          </p:nvSpPr>
          <p:spPr>
            <a:xfrm>
              <a:off x="1632" y="2726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45" name="Line 42"/>
            <p:cNvSpPr/>
            <p:nvPr/>
          </p:nvSpPr>
          <p:spPr>
            <a:xfrm flipH="1">
              <a:off x="1872" y="2919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8346" name="Line 43"/>
            <p:cNvSpPr/>
            <p:nvPr/>
          </p:nvSpPr>
          <p:spPr>
            <a:xfrm>
              <a:off x="2640" y="2919"/>
              <a:ext cx="144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8347" name="Text Box 44"/>
            <p:cNvSpPr txBox="1"/>
            <p:nvPr/>
          </p:nvSpPr>
          <p:spPr>
            <a:xfrm>
              <a:off x="1440" y="3254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48" name="Text Box 45"/>
            <p:cNvSpPr txBox="1"/>
            <p:nvPr/>
          </p:nvSpPr>
          <p:spPr>
            <a:xfrm>
              <a:off x="1968" y="3254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49" name="Text Box 46"/>
            <p:cNvSpPr txBox="1"/>
            <p:nvPr/>
          </p:nvSpPr>
          <p:spPr>
            <a:xfrm>
              <a:off x="2304" y="3254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50" name="Text Box 47"/>
            <p:cNvSpPr txBox="1"/>
            <p:nvPr/>
          </p:nvSpPr>
          <p:spPr>
            <a:xfrm>
              <a:off x="2928" y="3254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8351" name="Group 49"/>
            <p:cNvGrpSpPr/>
            <p:nvPr/>
          </p:nvGrpSpPr>
          <p:grpSpPr>
            <a:xfrm>
              <a:off x="2400" y="2207"/>
              <a:ext cx="864" cy="368"/>
              <a:chOff x="3264" y="3695"/>
              <a:chExt cx="624" cy="368"/>
            </a:xfrm>
          </p:grpSpPr>
          <p:sp>
            <p:nvSpPr>
              <p:cNvPr id="98352" name="Rectangle 50" descr="羊皮纸"/>
              <p:cNvSpPr/>
              <p:nvPr/>
            </p:nvSpPr>
            <p:spPr>
              <a:xfrm>
                <a:off x="3264" y="3725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53" name="Line 51"/>
              <p:cNvSpPr/>
              <p:nvPr/>
            </p:nvSpPr>
            <p:spPr>
              <a:xfrm>
                <a:off x="345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54" name="Line 52"/>
              <p:cNvSpPr/>
              <p:nvPr/>
            </p:nvSpPr>
            <p:spPr>
              <a:xfrm>
                <a:off x="369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55" name="Text Box 53"/>
              <p:cNvSpPr txBox="1"/>
              <p:nvPr/>
            </p:nvSpPr>
            <p:spPr>
              <a:xfrm>
                <a:off x="3452" y="3695"/>
                <a:ext cx="217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8356" name="Group 54"/>
            <p:cNvGrpSpPr/>
            <p:nvPr/>
          </p:nvGrpSpPr>
          <p:grpSpPr>
            <a:xfrm>
              <a:off x="2976" y="2735"/>
              <a:ext cx="864" cy="368"/>
              <a:chOff x="3264" y="3695"/>
              <a:chExt cx="624" cy="368"/>
            </a:xfrm>
          </p:grpSpPr>
          <p:sp>
            <p:nvSpPr>
              <p:cNvPr id="98357" name="Rectangle 55" descr="羊皮纸"/>
              <p:cNvSpPr/>
              <p:nvPr/>
            </p:nvSpPr>
            <p:spPr>
              <a:xfrm>
                <a:off x="3264" y="3725"/>
                <a:ext cx="624" cy="288"/>
              </a:xfrm>
              <a:prstGeom prst="rect">
                <a:avLst/>
              </a:prstGeom>
              <a:blipFill rotWithShape="0">
                <a:blip r:embed="rId1"/>
              </a:blipFill>
              <a:ln w="38100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358" name="Line 56"/>
              <p:cNvSpPr/>
              <p:nvPr/>
            </p:nvSpPr>
            <p:spPr>
              <a:xfrm>
                <a:off x="345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59" name="Line 57"/>
              <p:cNvSpPr/>
              <p:nvPr/>
            </p:nvSpPr>
            <p:spPr>
              <a:xfrm>
                <a:off x="3696" y="3725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8360" name="Text Box 58"/>
              <p:cNvSpPr txBox="1"/>
              <p:nvPr/>
            </p:nvSpPr>
            <p:spPr>
              <a:xfrm>
                <a:off x="3447" y="3695"/>
                <a:ext cx="227" cy="36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8361" name="Line 59"/>
            <p:cNvSpPr/>
            <p:nvPr/>
          </p:nvSpPr>
          <p:spPr>
            <a:xfrm>
              <a:off x="2640" y="1872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98362" name="Text Box 32"/>
            <p:cNvSpPr txBox="1"/>
            <p:nvPr/>
          </p:nvSpPr>
          <p:spPr>
            <a:xfrm>
              <a:off x="2400" y="2207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63" name="Text Box 60"/>
            <p:cNvSpPr txBox="1"/>
            <p:nvPr/>
          </p:nvSpPr>
          <p:spPr>
            <a:xfrm>
              <a:off x="2976" y="2735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64" name="Text Box 61"/>
            <p:cNvSpPr txBox="1"/>
            <p:nvPr/>
          </p:nvSpPr>
          <p:spPr>
            <a:xfrm>
              <a:off x="3600" y="2687"/>
              <a:ext cx="251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99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b="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365" name="Line 62"/>
            <p:cNvSpPr/>
            <p:nvPr/>
          </p:nvSpPr>
          <p:spPr>
            <a:xfrm>
              <a:off x="3168" y="2400"/>
              <a:ext cx="192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sp>
        <p:nvSpPr>
          <p:cNvPr id="410689" name="Text Box 65"/>
          <p:cNvSpPr txBox="1"/>
          <p:nvPr/>
        </p:nvSpPr>
        <p:spPr>
          <a:xfrm>
            <a:off x="1676400" y="990600"/>
            <a:ext cx="5608638" cy="144462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问题</a:t>
            </a:r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个结点的二叉链表中，</a:t>
            </a:r>
            <a:endParaRPr lang="zh-CN" altLang="en-US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每个结点有两个指针域 ，</a:t>
            </a:r>
            <a:endParaRPr lang="zh-CN" altLang="en-US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共</a:t>
            </a:r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2n</a:t>
            </a:r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个指针域，空指针域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691" name="Text Box 67"/>
          <p:cNvSpPr txBox="1"/>
          <p:nvPr/>
        </p:nvSpPr>
        <p:spPr>
          <a:xfrm>
            <a:off x="7010400" y="5715000"/>
            <a:ext cx="2590800" cy="830263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n=8 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共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个指针域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空指针域：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693" name="Text Box 69"/>
          <p:cNvSpPr txBox="1"/>
          <p:nvPr/>
        </p:nvSpPr>
        <p:spPr>
          <a:xfrm>
            <a:off x="6781800" y="1828800"/>
            <a:ext cx="844550" cy="584200"/>
          </a:xfrm>
          <a:prstGeom prst="rect">
            <a:avLst/>
          </a:prstGeom>
          <a:solidFill>
            <a:srgbClr val="CCECFF"/>
          </a:solidFill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694" name="Text Box 70"/>
          <p:cNvSpPr txBox="1"/>
          <p:nvPr/>
        </p:nvSpPr>
        <p:spPr>
          <a:xfrm>
            <a:off x="5724525" y="3073400"/>
            <a:ext cx="4448175" cy="1198563"/>
          </a:xfrm>
          <a:prstGeom prst="rect">
            <a:avLst/>
          </a:prstGeom>
          <a:solidFill>
            <a:srgbClr val="CCECFF"/>
          </a:solidFill>
          <a:ln w="38100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个结点中只有根结点没有被有效指针域指向，则共有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2n-(n-1)=n+1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个空链域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695" name="Text Box 71"/>
          <p:cNvSpPr txBox="1"/>
          <p:nvPr/>
        </p:nvSpPr>
        <p:spPr>
          <a:xfrm>
            <a:off x="5573713" y="2476500"/>
            <a:ext cx="5018087" cy="2676525"/>
          </a:xfrm>
          <a:prstGeom prst="rect">
            <a:avLst/>
          </a:prstGeom>
          <a:solidFill>
            <a:srgbClr val="FFFFCC"/>
          </a:solidFill>
          <a:ln w="38100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为了提高便利过程效率，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在空指针域填上线索，即：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*若无左孩子，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lchild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指向某种遍历的前驱；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*若无右孩子，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rchild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指向某种遍历的后继；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696" name="Text Box 72"/>
          <p:cNvSpPr txBox="1"/>
          <p:nvPr/>
        </p:nvSpPr>
        <p:spPr>
          <a:xfrm>
            <a:off x="5572125" y="5867400"/>
            <a:ext cx="5095875" cy="584200"/>
          </a:xfrm>
          <a:prstGeom prst="rect">
            <a:avLst/>
          </a:prstGeom>
          <a:solidFill>
            <a:srgbClr val="FF9933"/>
          </a:solidFill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中序遍历序列：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EBIFJACG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697" name="Line 73"/>
          <p:cNvSpPr/>
          <p:nvPr/>
        </p:nvSpPr>
        <p:spPr>
          <a:xfrm flipV="1">
            <a:off x="2895600" y="4724400"/>
            <a:ext cx="76200" cy="609600"/>
          </a:xfrm>
          <a:prstGeom prst="line">
            <a:avLst/>
          </a:prstGeom>
          <a:ln w="38100" cap="flat" cmpd="sng">
            <a:solidFill>
              <a:srgbClr val="00FF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10698" name="Line 74"/>
          <p:cNvSpPr/>
          <p:nvPr/>
        </p:nvSpPr>
        <p:spPr>
          <a:xfrm flipV="1">
            <a:off x="2590800" y="4724400"/>
            <a:ext cx="685800" cy="1447800"/>
          </a:xfrm>
          <a:prstGeom prst="line">
            <a:avLst/>
          </a:prstGeom>
          <a:ln w="38100" cap="flat" cmpd="sng">
            <a:solidFill>
              <a:srgbClr val="00FF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10699" name="Line 75"/>
          <p:cNvSpPr/>
          <p:nvPr/>
        </p:nvSpPr>
        <p:spPr>
          <a:xfrm flipV="1">
            <a:off x="3429000" y="5562600"/>
            <a:ext cx="304800" cy="685800"/>
          </a:xfrm>
          <a:prstGeom prst="line">
            <a:avLst/>
          </a:prstGeom>
          <a:ln w="38100" cap="flat" cmpd="sng">
            <a:solidFill>
              <a:srgbClr val="00FF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10700" name="Line 76"/>
          <p:cNvSpPr/>
          <p:nvPr/>
        </p:nvSpPr>
        <p:spPr>
          <a:xfrm flipH="1" flipV="1">
            <a:off x="3886200" y="5638800"/>
            <a:ext cx="76200" cy="533400"/>
          </a:xfrm>
          <a:prstGeom prst="line">
            <a:avLst/>
          </a:prstGeom>
          <a:ln w="38100" cap="flat" cmpd="sng">
            <a:solidFill>
              <a:srgbClr val="00FF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10701" name="Line 77"/>
          <p:cNvSpPr/>
          <p:nvPr/>
        </p:nvSpPr>
        <p:spPr>
          <a:xfrm flipH="1" flipV="1">
            <a:off x="3810000" y="3962400"/>
            <a:ext cx="1066800" cy="2209800"/>
          </a:xfrm>
          <a:prstGeom prst="line">
            <a:avLst/>
          </a:prstGeom>
          <a:ln w="38100" cap="flat" cmpd="sng">
            <a:solidFill>
              <a:srgbClr val="00FF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10702" name="Line 78"/>
          <p:cNvSpPr/>
          <p:nvPr/>
        </p:nvSpPr>
        <p:spPr>
          <a:xfrm flipH="1" flipV="1">
            <a:off x="3962400" y="3962400"/>
            <a:ext cx="228600" cy="533400"/>
          </a:xfrm>
          <a:prstGeom prst="line">
            <a:avLst/>
          </a:prstGeom>
          <a:ln w="38100" cap="flat" cmpd="sng">
            <a:solidFill>
              <a:srgbClr val="00FFFF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410703" name="Line 79"/>
          <p:cNvSpPr/>
          <p:nvPr/>
        </p:nvSpPr>
        <p:spPr>
          <a:xfrm flipH="1" flipV="1">
            <a:off x="4648200" y="4800600"/>
            <a:ext cx="304800" cy="609600"/>
          </a:xfrm>
          <a:prstGeom prst="line">
            <a:avLst/>
          </a:prstGeom>
          <a:ln w="38100" cap="flat" cmpd="sng">
            <a:solidFill>
              <a:srgbClr val="00FFFF"/>
            </a:solidFill>
            <a:prstDash val="solid"/>
            <a:round/>
            <a:headEnd type="none" w="med" len="med"/>
            <a:tailEnd type="triangle" w="sm" len="lg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068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9">
                                            <p:txEl>
                                              <p:charRg st="1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0689">
                                            <p:txEl>
                                              <p:charRg st="15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9">
                                            <p:txEl>
                                              <p:charRg st="4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0689">
                                            <p:txEl>
                                              <p:charRg st="40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1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0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1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1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4106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5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410695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5">
                                            <p:txEl>
                                              <p:charRg st="25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410695">
                                            <p:txEl>
                                              <p:charRg st="25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5">
                                            <p:txEl>
                                              <p:charRg st="33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410695">
                                            <p:txEl>
                                              <p:charRg st="33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5">
                                            <p:txEl>
                                              <p:charRg st="5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410695">
                                            <p:txEl>
                                              <p:charRg st="51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5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10695">
                                            <p:txEl>
                                              <p:charRg st="5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41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10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10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10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10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0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10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0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0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0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0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10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10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10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10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10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10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10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10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10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10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0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10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10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10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10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10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10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10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89" grpId="0" build="p"/>
      <p:bldP spid="410691" grpId="0"/>
      <p:bldP spid="410693" grpId="0" bldLvl="0" animBg="1"/>
      <p:bldP spid="410694" grpId="0" bldLvl="0" animBg="1"/>
      <p:bldP spid="410695" grpId="0" animBg="1" build="p"/>
      <p:bldP spid="410696" grpId="0" bldLvl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38"/>
          <p:cNvGrpSpPr/>
          <p:nvPr/>
        </p:nvGrpSpPr>
        <p:grpSpPr>
          <a:xfrm>
            <a:off x="5143500" y="4724400"/>
            <a:ext cx="647700" cy="609600"/>
            <a:chOff x="2280" y="2976"/>
            <a:chExt cx="408" cy="384"/>
          </a:xfrm>
        </p:grpSpPr>
        <p:sp>
          <p:nvSpPr>
            <p:cNvPr id="99330" name="Freeform 121"/>
            <p:cNvSpPr/>
            <p:nvPr/>
          </p:nvSpPr>
          <p:spPr>
            <a:xfrm>
              <a:off x="2280" y="2976"/>
              <a:ext cx="264" cy="336"/>
            </a:xfrm>
            <a:custGeom>
              <a:avLst/>
              <a:gdLst/>
              <a:ahLst/>
              <a:cxnLst>
                <a:cxn ang="0">
                  <a:pos x="120" y="0"/>
                </a:cxn>
                <a:cxn ang="0">
                  <a:pos x="24" y="192"/>
                </a:cxn>
                <a:cxn ang="0">
                  <a:pos x="264" y="336"/>
                </a:cxn>
              </a:cxnLst>
              <a:pathLst>
                <a:path w="264" h="336">
                  <a:moveTo>
                    <a:pt x="120" y="0"/>
                  </a:moveTo>
                  <a:cubicBezTo>
                    <a:pt x="60" y="68"/>
                    <a:pt x="0" y="136"/>
                    <a:pt x="24" y="192"/>
                  </a:cubicBezTo>
                  <a:cubicBezTo>
                    <a:pt x="48" y="248"/>
                    <a:pt x="224" y="312"/>
                    <a:pt x="264" y="336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31" name="Line 122"/>
            <p:cNvSpPr/>
            <p:nvPr/>
          </p:nvSpPr>
          <p:spPr>
            <a:xfrm>
              <a:off x="2544" y="3312"/>
              <a:ext cx="144" cy="4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Group 137"/>
          <p:cNvGrpSpPr/>
          <p:nvPr/>
        </p:nvGrpSpPr>
        <p:grpSpPr>
          <a:xfrm>
            <a:off x="5638800" y="4648200"/>
            <a:ext cx="800100" cy="939800"/>
            <a:chOff x="2592" y="2928"/>
            <a:chExt cx="504" cy="592"/>
          </a:xfrm>
        </p:grpSpPr>
        <p:sp>
          <p:nvSpPr>
            <p:cNvPr id="99333" name="Freeform 130"/>
            <p:cNvSpPr/>
            <p:nvPr/>
          </p:nvSpPr>
          <p:spPr>
            <a:xfrm>
              <a:off x="2784" y="3072"/>
              <a:ext cx="312" cy="448"/>
            </a:xfrm>
            <a:custGeom>
              <a:avLst/>
              <a:gdLst/>
              <a:ahLst/>
              <a:cxnLst>
                <a:cxn ang="0">
                  <a:pos x="96" y="384"/>
                </a:cxn>
                <a:cxn ang="0">
                  <a:pos x="144" y="432"/>
                </a:cxn>
                <a:cxn ang="0">
                  <a:pos x="288" y="288"/>
                </a:cxn>
                <a:cxn ang="0">
                  <a:pos x="0" y="0"/>
                </a:cxn>
              </a:cxnLst>
              <a:pathLst>
                <a:path w="312" h="448">
                  <a:moveTo>
                    <a:pt x="96" y="384"/>
                  </a:moveTo>
                  <a:cubicBezTo>
                    <a:pt x="104" y="416"/>
                    <a:pt x="112" y="448"/>
                    <a:pt x="144" y="432"/>
                  </a:cubicBezTo>
                  <a:cubicBezTo>
                    <a:pt x="176" y="416"/>
                    <a:pt x="312" y="360"/>
                    <a:pt x="288" y="288"/>
                  </a:cubicBezTo>
                  <a:cubicBezTo>
                    <a:pt x="264" y="216"/>
                    <a:pt x="48" y="48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34" name="Line 131"/>
            <p:cNvSpPr/>
            <p:nvPr/>
          </p:nvSpPr>
          <p:spPr>
            <a:xfrm flipH="1" flipV="1">
              <a:off x="2592" y="2928"/>
              <a:ext cx="192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12674" name="Text Box 2"/>
          <p:cNvSpPr txBox="1"/>
          <p:nvPr/>
        </p:nvSpPr>
        <p:spPr>
          <a:xfrm>
            <a:off x="10134600" y="4114800"/>
            <a:ext cx="368300" cy="460375"/>
          </a:xfrm>
          <a:prstGeom prst="rect">
            <a:avLst/>
          </a:prstGeom>
          <a:solidFill>
            <a:srgbClr val="FFFFCC"/>
          </a:solidFill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2675" name="Text Box 3"/>
          <p:cNvSpPr txBox="1"/>
          <p:nvPr/>
        </p:nvSpPr>
        <p:spPr>
          <a:xfrm>
            <a:off x="6858000" y="4114800"/>
            <a:ext cx="368300" cy="460375"/>
          </a:xfrm>
          <a:prstGeom prst="rect">
            <a:avLst/>
          </a:prstGeom>
          <a:solidFill>
            <a:srgbClr val="FFFFCC"/>
          </a:solidFill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696200" y="4114800"/>
            <a:ext cx="304800" cy="914400"/>
            <a:chOff x="624" y="2832"/>
            <a:chExt cx="192" cy="576"/>
          </a:xfrm>
        </p:grpSpPr>
        <p:sp>
          <p:nvSpPr>
            <p:cNvPr id="99338" name="Freeform 5"/>
            <p:cNvSpPr/>
            <p:nvPr/>
          </p:nvSpPr>
          <p:spPr>
            <a:xfrm>
              <a:off x="624" y="2976"/>
              <a:ext cx="192" cy="43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96" y="384"/>
                </a:cxn>
                <a:cxn ang="0">
                  <a:pos x="192" y="0"/>
                </a:cxn>
              </a:cxnLst>
              <a:pathLst>
                <a:path w="192" h="432">
                  <a:moveTo>
                    <a:pt x="0" y="288"/>
                  </a:moveTo>
                  <a:cubicBezTo>
                    <a:pt x="32" y="360"/>
                    <a:pt x="64" y="432"/>
                    <a:pt x="96" y="384"/>
                  </a:cubicBezTo>
                  <a:cubicBezTo>
                    <a:pt x="128" y="336"/>
                    <a:pt x="176" y="64"/>
                    <a:pt x="192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39" name="Line 6"/>
            <p:cNvSpPr/>
            <p:nvPr/>
          </p:nvSpPr>
          <p:spPr>
            <a:xfrm flipV="1">
              <a:off x="816" y="2832"/>
              <a:ext cx="0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5" name="Group 7"/>
          <p:cNvGrpSpPr/>
          <p:nvPr/>
        </p:nvGrpSpPr>
        <p:grpSpPr>
          <a:xfrm>
            <a:off x="8153400" y="4114800"/>
            <a:ext cx="165100" cy="927100"/>
            <a:chOff x="912" y="2832"/>
            <a:chExt cx="104" cy="584"/>
          </a:xfrm>
        </p:grpSpPr>
        <p:sp>
          <p:nvSpPr>
            <p:cNvPr id="99341" name="Freeform 8"/>
            <p:cNvSpPr/>
            <p:nvPr/>
          </p:nvSpPr>
          <p:spPr>
            <a:xfrm>
              <a:off x="912" y="3024"/>
              <a:ext cx="104" cy="392"/>
            </a:xfrm>
            <a:custGeom>
              <a:avLst/>
              <a:gdLst/>
              <a:ahLst/>
              <a:cxnLst>
                <a:cxn ang="0">
                  <a:pos x="104" y="288"/>
                </a:cxn>
                <a:cxn ang="0">
                  <a:pos x="56" y="336"/>
                </a:cxn>
                <a:cxn ang="0">
                  <a:pos x="8" y="336"/>
                </a:cxn>
                <a:cxn ang="0">
                  <a:pos x="8" y="0"/>
                </a:cxn>
              </a:cxnLst>
              <a:pathLst>
                <a:path w="104" h="392">
                  <a:moveTo>
                    <a:pt x="104" y="288"/>
                  </a:moveTo>
                  <a:cubicBezTo>
                    <a:pt x="88" y="308"/>
                    <a:pt x="72" y="328"/>
                    <a:pt x="56" y="336"/>
                  </a:cubicBezTo>
                  <a:cubicBezTo>
                    <a:pt x="40" y="344"/>
                    <a:pt x="16" y="392"/>
                    <a:pt x="8" y="336"/>
                  </a:cubicBezTo>
                  <a:cubicBezTo>
                    <a:pt x="0" y="280"/>
                    <a:pt x="8" y="56"/>
                    <a:pt x="8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42" name="Line 9"/>
            <p:cNvSpPr/>
            <p:nvPr/>
          </p:nvSpPr>
          <p:spPr>
            <a:xfrm flipH="1" flipV="1">
              <a:off x="912" y="2832"/>
              <a:ext cx="0" cy="192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6" name="Group 10"/>
          <p:cNvGrpSpPr/>
          <p:nvPr/>
        </p:nvGrpSpPr>
        <p:grpSpPr>
          <a:xfrm>
            <a:off x="8534400" y="3429000"/>
            <a:ext cx="228600" cy="1638300"/>
            <a:chOff x="1152" y="2400"/>
            <a:chExt cx="144" cy="1032"/>
          </a:xfrm>
        </p:grpSpPr>
        <p:sp>
          <p:nvSpPr>
            <p:cNvPr id="99344" name="Freeform 11"/>
            <p:cNvSpPr/>
            <p:nvPr/>
          </p:nvSpPr>
          <p:spPr>
            <a:xfrm>
              <a:off x="1152" y="2544"/>
              <a:ext cx="144" cy="888"/>
            </a:xfrm>
            <a:custGeom>
              <a:avLst/>
              <a:gdLst/>
              <a:ahLst/>
              <a:cxnLst>
                <a:cxn ang="0">
                  <a:pos x="0" y="768"/>
                </a:cxn>
                <a:cxn ang="0">
                  <a:pos x="96" y="816"/>
                </a:cxn>
                <a:cxn ang="0">
                  <a:pos x="144" y="336"/>
                </a:cxn>
                <a:cxn ang="0">
                  <a:pos x="96" y="0"/>
                </a:cxn>
              </a:cxnLst>
              <a:pathLst>
                <a:path w="144" h="888">
                  <a:moveTo>
                    <a:pt x="0" y="768"/>
                  </a:moveTo>
                  <a:cubicBezTo>
                    <a:pt x="36" y="828"/>
                    <a:pt x="72" y="888"/>
                    <a:pt x="96" y="816"/>
                  </a:cubicBezTo>
                  <a:cubicBezTo>
                    <a:pt x="120" y="744"/>
                    <a:pt x="144" y="472"/>
                    <a:pt x="144" y="336"/>
                  </a:cubicBezTo>
                  <a:cubicBezTo>
                    <a:pt x="144" y="200"/>
                    <a:pt x="104" y="56"/>
                    <a:pt x="96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45" name="Line 12"/>
            <p:cNvSpPr/>
            <p:nvPr/>
          </p:nvSpPr>
          <p:spPr>
            <a:xfrm flipH="1" flipV="1">
              <a:off x="1248" y="2400"/>
              <a:ext cx="0" cy="192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Group 13"/>
          <p:cNvGrpSpPr/>
          <p:nvPr/>
        </p:nvGrpSpPr>
        <p:grpSpPr>
          <a:xfrm>
            <a:off x="8839200" y="3429000"/>
            <a:ext cx="457200" cy="914400"/>
            <a:chOff x="1344" y="2400"/>
            <a:chExt cx="288" cy="576"/>
          </a:xfrm>
        </p:grpSpPr>
        <p:sp>
          <p:nvSpPr>
            <p:cNvPr id="99347" name="Freeform 14"/>
            <p:cNvSpPr/>
            <p:nvPr/>
          </p:nvSpPr>
          <p:spPr>
            <a:xfrm>
              <a:off x="1392" y="2544"/>
              <a:ext cx="240" cy="432"/>
            </a:xfrm>
            <a:custGeom>
              <a:avLst/>
              <a:gdLst/>
              <a:ahLst/>
              <a:cxnLst>
                <a:cxn ang="0">
                  <a:pos x="27" y="288"/>
                </a:cxn>
                <a:cxn ang="0">
                  <a:pos x="13" y="384"/>
                </a:cxn>
                <a:cxn ang="0">
                  <a:pos x="0" y="0"/>
                </a:cxn>
              </a:cxnLst>
              <a:pathLst>
                <a:path w="288" h="432">
                  <a:moveTo>
                    <a:pt x="288" y="288"/>
                  </a:moveTo>
                  <a:cubicBezTo>
                    <a:pt x="240" y="360"/>
                    <a:pt x="192" y="432"/>
                    <a:pt x="144" y="384"/>
                  </a:cubicBezTo>
                  <a:cubicBezTo>
                    <a:pt x="96" y="336"/>
                    <a:pt x="24" y="64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48" name="Line 15"/>
            <p:cNvSpPr/>
            <p:nvPr/>
          </p:nvSpPr>
          <p:spPr>
            <a:xfrm flipH="1" flipV="1">
              <a:off x="1344" y="2400"/>
              <a:ext cx="48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" name="Group 16"/>
          <p:cNvGrpSpPr/>
          <p:nvPr/>
        </p:nvGrpSpPr>
        <p:grpSpPr>
          <a:xfrm>
            <a:off x="8915400" y="4114800"/>
            <a:ext cx="469900" cy="1562100"/>
            <a:chOff x="1392" y="2832"/>
            <a:chExt cx="296" cy="984"/>
          </a:xfrm>
        </p:grpSpPr>
        <p:sp>
          <p:nvSpPr>
            <p:cNvPr id="99350" name="Freeform 17"/>
            <p:cNvSpPr/>
            <p:nvPr/>
          </p:nvSpPr>
          <p:spPr>
            <a:xfrm>
              <a:off x="1392" y="2976"/>
              <a:ext cx="296" cy="840"/>
            </a:xfrm>
            <a:custGeom>
              <a:avLst/>
              <a:gdLst/>
              <a:ahLst/>
              <a:cxnLst>
                <a:cxn ang="0">
                  <a:pos x="10" y="768"/>
                </a:cxn>
                <a:cxn ang="0">
                  <a:pos x="6" y="816"/>
                </a:cxn>
                <a:cxn ang="0">
                  <a:pos x="2" y="624"/>
                </a:cxn>
                <a:cxn ang="0">
                  <a:pos x="14" y="192"/>
                </a:cxn>
                <a:cxn ang="0">
                  <a:pos x="17" y="0"/>
                </a:cxn>
              </a:cxnLst>
              <a:pathLst>
                <a:path w="376" h="840">
                  <a:moveTo>
                    <a:pt x="224" y="768"/>
                  </a:moveTo>
                  <a:cubicBezTo>
                    <a:pt x="192" y="804"/>
                    <a:pt x="160" y="840"/>
                    <a:pt x="128" y="816"/>
                  </a:cubicBezTo>
                  <a:cubicBezTo>
                    <a:pt x="96" y="792"/>
                    <a:pt x="0" y="728"/>
                    <a:pt x="32" y="624"/>
                  </a:cubicBezTo>
                  <a:cubicBezTo>
                    <a:pt x="64" y="520"/>
                    <a:pt x="264" y="296"/>
                    <a:pt x="320" y="192"/>
                  </a:cubicBezTo>
                  <a:cubicBezTo>
                    <a:pt x="376" y="88"/>
                    <a:pt x="360" y="32"/>
                    <a:pt x="368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51" name="Line 18"/>
            <p:cNvSpPr/>
            <p:nvPr/>
          </p:nvSpPr>
          <p:spPr>
            <a:xfrm flipV="1">
              <a:off x="1680" y="2832"/>
              <a:ext cx="0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9" name="Group 19"/>
          <p:cNvGrpSpPr/>
          <p:nvPr/>
        </p:nvGrpSpPr>
        <p:grpSpPr>
          <a:xfrm>
            <a:off x="9372600" y="4876800"/>
            <a:ext cx="533400" cy="914400"/>
            <a:chOff x="1680" y="3312"/>
            <a:chExt cx="336" cy="576"/>
          </a:xfrm>
        </p:grpSpPr>
        <p:sp>
          <p:nvSpPr>
            <p:cNvPr id="99353" name="Freeform 20"/>
            <p:cNvSpPr/>
            <p:nvPr/>
          </p:nvSpPr>
          <p:spPr>
            <a:xfrm>
              <a:off x="1680" y="3456"/>
              <a:ext cx="288" cy="43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96" y="384"/>
                </a:cxn>
                <a:cxn ang="0">
                  <a:pos x="288" y="0"/>
                </a:cxn>
              </a:cxnLst>
              <a:pathLst>
                <a:path w="288" h="432">
                  <a:moveTo>
                    <a:pt x="0" y="288"/>
                  </a:moveTo>
                  <a:cubicBezTo>
                    <a:pt x="24" y="360"/>
                    <a:pt x="48" y="432"/>
                    <a:pt x="96" y="384"/>
                  </a:cubicBezTo>
                  <a:cubicBezTo>
                    <a:pt x="144" y="336"/>
                    <a:pt x="256" y="64"/>
                    <a:pt x="288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54" name="Line 21"/>
            <p:cNvSpPr/>
            <p:nvPr/>
          </p:nvSpPr>
          <p:spPr>
            <a:xfrm flipV="1">
              <a:off x="1968" y="3312"/>
              <a:ext cx="48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0" name="Group 22"/>
          <p:cNvGrpSpPr/>
          <p:nvPr/>
        </p:nvGrpSpPr>
        <p:grpSpPr>
          <a:xfrm>
            <a:off x="7086600" y="4495800"/>
            <a:ext cx="381000" cy="482600"/>
            <a:chOff x="240" y="3072"/>
            <a:chExt cx="240" cy="304"/>
          </a:xfrm>
        </p:grpSpPr>
        <p:sp>
          <p:nvSpPr>
            <p:cNvPr id="99356" name="Freeform 23"/>
            <p:cNvSpPr/>
            <p:nvPr/>
          </p:nvSpPr>
          <p:spPr>
            <a:xfrm>
              <a:off x="288" y="3168"/>
              <a:ext cx="192" cy="208"/>
            </a:xfrm>
            <a:custGeom>
              <a:avLst/>
              <a:gdLst/>
              <a:ahLst/>
              <a:cxnLst>
                <a:cxn ang="0">
                  <a:pos x="192" y="96"/>
                </a:cxn>
                <a:cxn ang="0">
                  <a:pos x="96" y="192"/>
                </a:cxn>
                <a:cxn ang="0">
                  <a:pos x="0" y="0"/>
                </a:cxn>
              </a:cxnLst>
              <a:pathLst>
                <a:path w="192" h="208">
                  <a:moveTo>
                    <a:pt x="192" y="96"/>
                  </a:moveTo>
                  <a:cubicBezTo>
                    <a:pt x="160" y="152"/>
                    <a:pt x="128" y="208"/>
                    <a:pt x="96" y="192"/>
                  </a:cubicBezTo>
                  <a:cubicBezTo>
                    <a:pt x="64" y="176"/>
                    <a:pt x="16" y="32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57" name="Line 24"/>
            <p:cNvSpPr/>
            <p:nvPr/>
          </p:nvSpPr>
          <p:spPr>
            <a:xfrm flipH="1" flipV="1">
              <a:off x="240" y="3072"/>
              <a:ext cx="48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1" name="Group 25"/>
          <p:cNvGrpSpPr/>
          <p:nvPr/>
        </p:nvGrpSpPr>
        <p:grpSpPr>
          <a:xfrm>
            <a:off x="10058400" y="4495800"/>
            <a:ext cx="381000" cy="482600"/>
            <a:chOff x="2112" y="3072"/>
            <a:chExt cx="240" cy="304"/>
          </a:xfrm>
        </p:grpSpPr>
        <p:sp>
          <p:nvSpPr>
            <p:cNvPr id="99359" name="Freeform 26"/>
            <p:cNvSpPr/>
            <p:nvPr/>
          </p:nvSpPr>
          <p:spPr>
            <a:xfrm>
              <a:off x="2112" y="3168"/>
              <a:ext cx="192" cy="208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96" y="192"/>
                </a:cxn>
                <a:cxn ang="0">
                  <a:pos x="192" y="0"/>
                </a:cxn>
              </a:cxnLst>
              <a:pathLst>
                <a:path w="192" h="208">
                  <a:moveTo>
                    <a:pt x="0" y="96"/>
                  </a:moveTo>
                  <a:cubicBezTo>
                    <a:pt x="32" y="152"/>
                    <a:pt x="64" y="208"/>
                    <a:pt x="96" y="192"/>
                  </a:cubicBezTo>
                  <a:cubicBezTo>
                    <a:pt x="128" y="176"/>
                    <a:pt x="176" y="32"/>
                    <a:pt x="192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360" name="Line 27"/>
            <p:cNvSpPr/>
            <p:nvPr/>
          </p:nvSpPr>
          <p:spPr>
            <a:xfrm flipV="1">
              <a:off x="2304" y="3072"/>
              <a:ext cx="48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2" name="Group 28"/>
          <p:cNvGrpSpPr/>
          <p:nvPr/>
        </p:nvGrpSpPr>
        <p:grpSpPr>
          <a:xfrm>
            <a:off x="7391400" y="2892425"/>
            <a:ext cx="2740025" cy="2789238"/>
            <a:chOff x="3312" y="1048"/>
            <a:chExt cx="2208" cy="2003"/>
          </a:xfrm>
        </p:grpSpPr>
        <p:grpSp>
          <p:nvGrpSpPr>
            <p:cNvPr id="99362" name="Group 29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99363" name="Line 30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4" name="Line 31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5" name="Line 32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6" name="Line 33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7" name="Line 34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68" name="Line 35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2708" name="Oval 36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09" name="Oval 37"/>
              <p:cNvSpPr>
                <a:spLocks noChangeArrowheads="1"/>
              </p:cNvSpPr>
              <p:nvPr/>
            </p:nvSpPr>
            <p:spPr bwMode="auto">
              <a:xfrm>
                <a:off x="3984" y="2206"/>
                <a:ext cx="336" cy="333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10" name="Oval 38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11" name="Oval 39"/>
              <p:cNvSpPr>
                <a:spLocks noChangeArrowheads="1"/>
              </p:cNvSpPr>
              <p:nvPr/>
            </p:nvSpPr>
            <p:spPr bwMode="auto">
              <a:xfrm>
                <a:off x="4752" y="1632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12" name="Oval 40"/>
              <p:cNvSpPr>
                <a:spLocks noChangeArrowheads="1"/>
              </p:cNvSpPr>
              <p:nvPr/>
            </p:nvSpPr>
            <p:spPr bwMode="auto">
              <a:xfrm>
                <a:off x="4657" y="2686"/>
                <a:ext cx="335" cy="333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13" name="Oval 41"/>
              <p:cNvSpPr>
                <a:spLocks noChangeArrowheads="1"/>
              </p:cNvSpPr>
              <p:nvPr/>
            </p:nvSpPr>
            <p:spPr bwMode="auto">
              <a:xfrm>
                <a:off x="3312" y="2157"/>
                <a:ext cx="336" cy="33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14" name="Oval 42"/>
              <p:cNvSpPr>
                <a:spLocks noChangeArrowheads="1"/>
              </p:cNvSpPr>
              <p:nvPr/>
            </p:nvSpPr>
            <p:spPr bwMode="auto">
              <a:xfrm>
                <a:off x="5184" y="2157"/>
                <a:ext cx="336" cy="33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2715" name="Text Box 43"/>
            <p:cNvSpPr txBox="1">
              <a:spLocks noChangeArrowheads="1"/>
            </p:cNvSpPr>
            <p:nvPr/>
          </p:nvSpPr>
          <p:spPr bwMode="auto">
            <a:xfrm>
              <a:off x="3710" y="1576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16" name="Text Box 44"/>
            <p:cNvSpPr txBox="1">
              <a:spLocks noChangeArrowheads="1"/>
            </p:cNvSpPr>
            <p:nvPr/>
          </p:nvSpPr>
          <p:spPr bwMode="auto">
            <a:xfrm>
              <a:off x="4238" y="1048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17" name="Text Box 45"/>
            <p:cNvSpPr txBox="1">
              <a:spLocks noChangeArrowheads="1"/>
            </p:cNvSpPr>
            <p:nvPr/>
          </p:nvSpPr>
          <p:spPr bwMode="auto">
            <a:xfrm>
              <a:off x="3326" y="2104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18" name="Text Box 46"/>
            <p:cNvSpPr txBox="1">
              <a:spLocks noChangeArrowheads="1"/>
            </p:cNvSpPr>
            <p:nvPr/>
          </p:nvSpPr>
          <p:spPr bwMode="auto">
            <a:xfrm>
              <a:off x="4006" y="2152"/>
              <a:ext cx="293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19" name="Text Box 47"/>
            <p:cNvSpPr txBox="1">
              <a:spLocks noChangeArrowheads="1"/>
            </p:cNvSpPr>
            <p:nvPr/>
          </p:nvSpPr>
          <p:spPr bwMode="auto">
            <a:xfrm>
              <a:off x="4774" y="1576"/>
              <a:ext cx="293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20" name="Text Box 48"/>
            <p:cNvSpPr txBox="1">
              <a:spLocks noChangeArrowheads="1"/>
            </p:cNvSpPr>
            <p:nvPr/>
          </p:nvSpPr>
          <p:spPr bwMode="auto">
            <a:xfrm>
              <a:off x="5200" y="2134"/>
              <a:ext cx="256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21" name="Text Box 49"/>
            <p:cNvSpPr txBox="1">
              <a:spLocks noChangeArrowheads="1"/>
            </p:cNvSpPr>
            <p:nvPr/>
          </p:nvSpPr>
          <p:spPr bwMode="auto">
            <a:xfrm>
              <a:off x="4671" y="2632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412722" name="Text Box 50"/>
          <p:cNvSpPr txBox="1"/>
          <p:nvPr/>
        </p:nvSpPr>
        <p:spPr>
          <a:xfrm>
            <a:off x="7316788" y="1981200"/>
            <a:ext cx="2325687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线索二叉树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2723" name="Text Box 51"/>
          <p:cNvSpPr txBox="1"/>
          <p:nvPr/>
        </p:nvSpPr>
        <p:spPr>
          <a:xfrm>
            <a:off x="7848600" y="2362200"/>
            <a:ext cx="1600200" cy="584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dbeacgf 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" name="Group 52"/>
          <p:cNvGrpSpPr/>
          <p:nvPr/>
        </p:nvGrpSpPr>
        <p:grpSpPr>
          <a:xfrm>
            <a:off x="2971800" y="301625"/>
            <a:ext cx="2740025" cy="2789238"/>
            <a:chOff x="3312" y="1048"/>
            <a:chExt cx="2208" cy="2003"/>
          </a:xfrm>
        </p:grpSpPr>
        <p:grpSp>
          <p:nvGrpSpPr>
            <p:cNvPr id="99386" name="Group 53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99387" name="Line 54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88" name="Line 55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89" name="Line 56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90" name="Line 57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91" name="Line 58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392" name="Line 59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2732" name="Oval 60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33" name="Oval 61"/>
              <p:cNvSpPr>
                <a:spLocks noChangeArrowheads="1"/>
              </p:cNvSpPr>
              <p:nvPr/>
            </p:nvSpPr>
            <p:spPr bwMode="auto">
              <a:xfrm>
                <a:off x="3984" y="2206"/>
                <a:ext cx="336" cy="333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34" name="Oval 62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35" name="Oval 63"/>
              <p:cNvSpPr>
                <a:spLocks noChangeArrowheads="1"/>
              </p:cNvSpPr>
              <p:nvPr/>
            </p:nvSpPr>
            <p:spPr bwMode="auto">
              <a:xfrm>
                <a:off x="4752" y="1632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36" name="Oval 64"/>
              <p:cNvSpPr>
                <a:spLocks noChangeArrowheads="1"/>
              </p:cNvSpPr>
              <p:nvPr/>
            </p:nvSpPr>
            <p:spPr bwMode="auto">
              <a:xfrm>
                <a:off x="4657" y="2686"/>
                <a:ext cx="335" cy="333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37" name="Oval 65"/>
              <p:cNvSpPr>
                <a:spLocks noChangeArrowheads="1"/>
              </p:cNvSpPr>
              <p:nvPr/>
            </p:nvSpPr>
            <p:spPr bwMode="auto">
              <a:xfrm>
                <a:off x="3312" y="2157"/>
                <a:ext cx="336" cy="33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38" name="Oval 66"/>
              <p:cNvSpPr>
                <a:spLocks noChangeArrowheads="1"/>
              </p:cNvSpPr>
              <p:nvPr/>
            </p:nvSpPr>
            <p:spPr bwMode="auto">
              <a:xfrm>
                <a:off x="5184" y="2157"/>
                <a:ext cx="336" cy="33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2739" name="Text Box 67"/>
            <p:cNvSpPr txBox="1">
              <a:spLocks noChangeArrowheads="1"/>
            </p:cNvSpPr>
            <p:nvPr/>
          </p:nvSpPr>
          <p:spPr bwMode="auto">
            <a:xfrm>
              <a:off x="3710" y="1576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40" name="Text Box 68"/>
            <p:cNvSpPr txBox="1">
              <a:spLocks noChangeArrowheads="1"/>
            </p:cNvSpPr>
            <p:nvPr/>
          </p:nvSpPr>
          <p:spPr bwMode="auto">
            <a:xfrm>
              <a:off x="4238" y="1048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41" name="Text Box 69"/>
            <p:cNvSpPr txBox="1">
              <a:spLocks noChangeArrowheads="1"/>
            </p:cNvSpPr>
            <p:nvPr/>
          </p:nvSpPr>
          <p:spPr bwMode="auto">
            <a:xfrm>
              <a:off x="3326" y="2104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42" name="Text Box 70"/>
            <p:cNvSpPr txBox="1">
              <a:spLocks noChangeArrowheads="1"/>
            </p:cNvSpPr>
            <p:nvPr/>
          </p:nvSpPr>
          <p:spPr bwMode="auto">
            <a:xfrm>
              <a:off x="4006" y="2152"/>
              <a:ext cx="293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43" name="Text Box 71"/>
            <p:cNvSpPr txBox="1">
              <a:spLocks noChangeArrowheads="1"/>
            </p:cNvSpPr>
            <p:nvPr/>
          </p:nvSpPr>
          <p:spPr bwMode="auto">
            <a:xfrm>
              <a:off x="4774" y="1576"/>
              <a:ext cx="293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44" name="Text Box 72"/>
            <p:cNvSpPr txBox="1">
              <a:spLocks noChangeArrowheads="1"/>
            </p:cNvSpPr>
            <p:nvPr/>
          </p:nvSpPr>
          <p:spPr bwMode="auto">
            <a:xfrm>
              <a:off x="5200" y="2134"/>
              <a:ext cx="256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45" name="Text Box 73"/>
            <p:cNvSpPr txBox="1">
              <a:spLocks noChangeArrowheads="1"/>
            </p:cNvSpPr>
            <p:nvPr/>
          </p:nvSpPr>
          <p:spPr bwMode="auto">
            <a:xfrm>
              <a:off x="4671" y="2632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412746" name="Text Box 74"/>
          <p:cNvSpPr txBox="1"/>
          <p:nvPr/>
        </p:nvSpPr>
        <p:spPr>
          <a:xfrm>
            <a:off x="1525588" y="152400"/>
            <a:ext cx="2325687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线索二叉树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2747" name="Text Box 75"/>
          <p:cNvSpPr txBox="1"/>
          <p:nvPr/>
        </p:nvSpPr>
        <p:spPr>
          <a:xfrm>
            <a:off x="1905000" y="533400"/>
            <a:ext cx="1600200" cy="584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abdecfg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" name="Group 76"/>
          <p:cNvGrpSpPr/>
          <p:nvPr/>
        </p:nvGrpSpPr>
        <p:grpSpPr>
          <a:xfrm>
            <a:off x="3429000" y="3578225"/>
            <a:ext cx="2740025" cy="2789238"/>
            <a:chOff x="3312" y="1048"/>
            <a:chExt cx="2208" cy="2003"/>
          </a:xfrm>
        </p:grpSpPr>
        <p:grpSp>
          <p:nvGrpSpPr>
            <p:cNvPr id="99410" name="Group 77"/>
            <p:cNvGrpSpPr/>
            <p:nvPr/>
          </p:nvGrpSpPr>
          <p:grpSpPr>
            <a:xfrm>
              <a:off x="3312" y="1104"/>
              <a:ext cx="2208" cy="1920"/>
              <a:chOff x="3312" y="1104"/>
              <a:chExt cx="2208" cy="1920"/>
            </a:xfrm>
          </p:grpSpPr>
          <p:sp>
            <p:nvSpPr>
              <p:cNvPr id="99411" name="Line 78"/>
              <p:cNvSpPr/>
              <p:nvPr/>
            </p:nvSpPr>
            <p:spPr>
              <a:xfrm>
                <a:off x="3888" y="1872"/>
                <a:ext cx="240" cy="432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412" name="Line 79"/>
              <p:cNvSpPr/>
              <p:nvPr/>
            </p:nvSpPr>
            <p:spPr>
              <a:xfrm flipH="1">
                <a:off x="4896" y="2448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413" name="Line 80"/>
              <p:cNvSpPr/>
              <p:nvPr/>
            </p:nvSpPr>
            <p:spPr>
              <a:xfrm>
                <a:off x="4992" y="1920"/>
                <a:ext cx="288" cy="288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414" name="Line 81"/>
              <p:cNvSpPr/>
              <p:nvPr/>
            </p:nvSpPr>
            <p:spPr>
              <a:xfrm flipH="1">
                <a:off x="3504" y="1920"/>
                <a:ext cx="288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415" name="Line 82"/>
              <p:cNvSpPr/>
              <p:nvPr/>
            </p:nvSpPr>
            <p:spPr>
              <a:xfrm>
                <a:off x="4416" y="1344"/>
                <a:ext cx="432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9416" name="Line 83"/>
              <p:cNvSpPr/>
              <p:nvPr/>
            </p:nvSpPr>
            <p:spPr>
              <a:xfrm flipH="1">
                <a:off x="3984" y="1344"/>
                <a:ext cx="336" cy="384"/>
              </a:xfrm>
              <a:prstGeom prst="line">
                <a:avLst/>
              </a:prstGeom>
              <a:ln w="381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2756" name="Oval 84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57" name="Oval 85"/>
              <p:cNvSpPr>
                <a:spLocks noChangeArrowheads="1"/>
              </p:cNvSpPr>
              <p:nvPr/>
            </p:nvSpPr>
            <p:spPr bwMode="auto">
              <a:xfrm>
                <a:off x="3984" y="2206"/>
                <a:ext cx="336" cy="333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58" name="Oval 86"/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336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59" name="Oval 87"/>
              <p:cNvSpPr>
                <a:spLocks noChangeArrowheads="1"/>
              </p:cNvSpPr>
              <p:nvPr/>
            </p:nvSpPr>
            <p:spPr bwMode="auto">
              <a:xfrm>
                <a:off x="4752" y="1632"/>
                <a:ext cx="335" cy="336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60" name="Oval 88"/>
              <p:cNvSpPr>
                <a:spLocks noChangeArrowheads="1"/>
              </p:cNvSpPr>
              <p:nvPr/>
            </p:nvSpPr>
            <p:spPr bwMode="auto">
              <a:xfrm>
                <a:off x="4657" y="2686"/>
                <a:ext cx="335" cy="333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61" name="Oval 89"/>
              <p:cNvSpPr>
                <a:spLocks noChangeArrowheads="1"/>
              </p:cNvSpPr>
              <p:nvPr/>
            </p:nvSpPr>
            <p:spPr bwMode="auto">
              <a:xfrm>
                <a:off x="3312" y="2157"/>
                <a:ext cx="336" cy="33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12762" name="Oval 90"/>
              <p:cNvSpPr>
                <a:spLocks noChangeArrowheads="1"/>
              </p:cNvSpPr>
              <p:nvPr/>
            </p:nvSpPr>
            <p:spPr bwMode="auto">
              <a:xfrm>
                <a:off x="5184" y="2157"/>
                <a:ext cx="336" cy="33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rect">
                  <a:fillToRect r="100000" b="100000"/>
                </a:path>
              </a:gradFill>
              <a:ln w="38100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4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12763" name="Text Box 91"/>
            <p:cNvSpPr txBox="1">
              <a:spLocks noChangeArrowheads="1"/>
            </p:cNvSpPr>
            <p:nvPr/>
          </p:nvSpPr>
          <p:spPr bwMode="auto">
            <a:xfrm>
              <a:off x="3710" y="1576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64" name="Text Box 92"/>
            <p:cNvSpPr txBox="1">
              <a:spLocks noChangeArrowheads="1"/>
            </p:cNvSpPr>
            <p:nvPr/>
          </p:nvSpPr>
          <p:spPr bwMode="auto">
            <a:xfrm>
              <a:off x="4238" y="1048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65" name="Text Box 93"/>
            <p:cNvSpPr txBox="1">
              <a:spLocks noChangeArrowheads="1"/>
            </p:cNvSpPr>
            <p:nvPr/>
          </p:nvSpPr>
          <p:spPr bwMode="auto">
            <a:xfrm>
              <a:off x="3326" y="2104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66" name="Text Box 94"/>
            <p:cNvSpPr txBox="1">
              <a:spLocks noChangeArrowheads="1"/>
            </p:cNvSpPr>
            <p:nvPr/>
          </p:nvSpPr>
          <p:spPr bwMode="auto">
            <a:xfrm>
              <a:off x="4006" y="2152"/>
              <a:ext cx="293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67" name="Text Box 95"/>
            <p:cNvSpPr txBox="1">
              <a:spLocks noChangeArrowheads="1"/>
            </p:cNvSpPr>
            <p:nvPr/>
          </p:nvSpPr>
          <p:spPr bwMode="auto">
            <a:xfrm>
              <a:off x="4774" y="1576"/>
              <a:ext cx="293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68" name="Text Box 96"/>
            <p:cNvSpPr txBox="1">
              <a:spLocks noChangeArrowheads="1"/>
            </p:cNvSpPr>
            <p:nvPr/>
          </p:nvSpPr>
          <p:spPr bwMode="auto">
            <a:xfrm>
              <a:off x="5200" y="2134"/>
              <a:ext cx="256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12769" name="Text Box 97"/>
            <p:cNvSpPr txBox="1">
              <a:spLocks noChangeArrowheads="1"/>
            </p:cNvSpPr>
            <p:nvPr/>
          </p:nvSpPr>
          <p:spPr bwMode="auto">
            <a:xfrm>
              <a:off x="4671" y="2632"/>
              <a:ext cx="311" cy="41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412770" name="Text Box 98"/>
          <p:cNvSpPr txBox="1"/>
          <p:nvPr/>
        </p:nvSpPr>
        <p:spPr>
          <a:xfrm>
            <a:off x="1525588" y="3657600"/>
            <a:ext cx="2325687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后序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线索二叉树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2771" name="Text Box 99"/>
          <p:cNvSpPr txBox="1"/>
          <p:nvPr/>
        </p:nvSpPr>
        <p:spPr>
          <a:xfrm>
            <a:off x="1981200" y="4038600"/>
            <a:ext cx="1600200" cy="584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debgfca</a:t>
            </a:r>
            <a:r>
              <a:rPr lang="en-US" altLang="zh-CN" sz="3200" i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3200" i="1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" name="Group 132"/>
          <p:cNvGrpSpPr/>
          <p:nvPr/>
        </p:nvGrpSpPr>
        <p:grpSpPr>
          <a:xfrm>
            <a:off x="2743200" y="1371600"/>
            <a:ext cx="685800" cy="1054100"/>
            <a:chOff x="768" y="864"/>
            <a:chExt cx="432" cy="664"/>
          </a:xfrm>
        </p:grpSpPr>
        <p:sp>
          <p:nvSpPr>
            <p:cNvPr id="99434" name="Freeform 100"/>
            <p:cNvSpPr/>
            <p:nvPr/>
          </p:nvSpPr>
          <p:spPr>
            <a:xfrm>
              <a:off x="768" y="960"/>
              <a:ext cx="288" cy="568"/>
            </a:xfrm>
            <a:custGeom>
              <a:avLst/>
              <a:gdLst/>
              <a:ahLst/>
              <a:cxnLst>
                <a:cxn ang="0">
                  <a:pos x="33" y="167"/>
                </a:cxn>
                <a:cxn ang="0">
                  <a:pos x="7" y="201"/>
                </a:cxn>
                <a:cxn ang="0">
                  <a:pos x="7" y="83"/>
                </a:cxn>
                <a:cxn ang="0">
                  <a:pos x="46" y="0"/>
                </a:cxn>
              </a:cxnLst>
              <a:pathLst>
                <a:path w="336" h="616">
                  <a:moveTo>
                    <a:pt x="240" y="480"/>
                  </a:moveTo>
                  <a:cubicBezTo>
                    <a:pt x="160" y="548"/>
                    <a:pt x="80" y="616"/>
                    <a:pt x="48" y="576"/>
                  </a:cubicBezTo>
                  <a:cubicBezTo>
                    <a:pt x="16" y="536"/>
                    <a:pt x="0" y="336"/>
                    <a:pt x="48" y="240"/>
                  </a:cubicBezTo>
                  <a:cubicBezTo>
                    <a:pt x="96" y="144"/>
                    <a:pt x="288" y="40"/>
                    <a:pt x="336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435" name="Line 101"/>
            <p:cNvSpPr/>
            <p:nvPr/>
          </p:nvSpPr>
          <p:spPr>
            <a:xfrm flipV="1">
              <a:off x="1056" y="864"/>
              <a:ext cx="144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12774" name="Line 102"/>
          <p:cNvSpPr/>
          <p:nvPr/>
        </p:nvSpPr>
        <p:spPr>
          <a:xfrm>
            <a:off x="3352800" y="2286000"/>
            <a:ext cx="5334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12775" name="Line 103"/>
          <p:cNvSpPr/>
          <p:nvPr/>
        </p:nvSpPr>
        <p:spPr>
          <a:xfrm flipH="1">
            <a:off x="3352800" y="2057400"/>
            <a:ext cx="457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12776" name="Line 104"/>
          <p:cNvSpPr/>
          <p:nvPr/>
        </p:nvSpPr>
        <p:spPr>
          <a:xfrm flipV="1">
            <a:off x="4191000" y="1600200"/>
            <a:ext cx="685800" cy="5334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12777" name="Line 105"/>
          <p:cNvSpPr/>
          <p:nvPr/>
        </p:nvSpPr>
        <p:spPr>
          <a:xfrm flipH="1">
            <a:off x="4114800" y="1447800"/>
            <a:ext cx="609600" cy="53340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19" name="Group 134"/>
          <p:cNvGrpSpPr/>
          <p:nvPr/>
        </p:nvGrpSpPr>
        <p:grpSpPr>
          <a:xfrm>
            <a:off x="4406900" y="2057400"/>
            <a:ext cx="850900" cy="977900"/>
            <a:chOff x="1816" y="1296"/>
            <a:chExt cx="536" cy="616"/>
          </a:xfrm>
        </p:grpSpPr>
        <p:sp>
          <p:nvSpPr>
            <p:cNvPr id="99441" name="Freeform 106"/>
            <p:cNvSpPr/>
            <p:nvPr/>
          </p:nvSpPr>
          <p:spPr>
            <a:xfrm>
              <a:off x="1816" y="1344"/>
              <a:ext cx="392" cy="568"/>
            </a:xfrm>
            <a:custGeom>
              <a:avLst/>
              <a:gdLst/>
              <a:ahLst/>
              <a:cxnLst>
                <a:cxn ang="0">
                  <a:pos x="152" y="480"/>
                </a:cxn>
                <a:cxn ang="0">
                  <a:pos x="56" y="528"/>
                </a:cxn>
                <a:cxn ang="0">
                  <a:pos x="56" y="240"/>
                </a:cxn>
                <a:cxn ang="0">
                  <a:pos x="392" y="0"/>
                </a:cxn>
              </a:cxnLst>
              <a:pathLst>
                <a:path w="392" h="568">
                  <a:moveTo>
                    <a:pt x="152" y="480"/>
                  </a:moveTo>
                  <a:cubicBezTo>
                    <a:pt x="112" y="524"/>
                    <a:pt x="72" y="568"/>
                    <a:pt x="56" y="528"/>
                  </a:cubicBezTo>
                  <a:cubicBezTo>
                    <a:pt x="40" y="488"/>
                    <a:pt x="0" y="328"/>
                    <a:pt x="56" y="240"/>
                  </a:cubicBezTo>
                  <a:cubicBezTo>
                    <a:pt x="112" y="152"/>
                    <a:pt x="252" y="76"/>
                    <a:pt x="392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442" name="Line 107"/>
            <p:cNvSpPr/>
            <p:nvPr/>
          </p:nvSpPr>
          <p:spPr>
            <a:xfrm flipV="1">
              <a:off x="2208" y="1296"/>
              <a:ext cx="144" cy="4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0" name="Group 133"/>
          <p:cNvGrpSpPr/>
          <p:nvPr/>
        </p:nvGrpSpPr>
        <p:grpSpPr>
          <a:xfrm>
            <a:off x="5105400" y="2286000"/>
            <a:ext cx="812800" cy="533400"/>
            <a:chOff x="2256" y="1440"/>
            <a:chExt cx="512" cy="336"/>
          </a:xfrm>
        </p:grpSpPr>
        <p:sp>
          <p:nvSpPr>
            <p:cNvPr id="99444" name="Freeform 108"/>
            <p:cNvSpPr/>
            <p:nvPr/>
          </p:nvSpPr>
          <p:spPr>
            <a:xfrm>
              <a:off x="2400" y="1440"/>
              <a:ext cx="368" cy="288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336" y="48"/>
                </a:cxn>
                <a:cxn ang="0">
                  <a:pos x="0" y="288"/>
                </a:cxn>
              </a:cxnLst>
              <a:pathLst>
                <a:path w="368" h="288">
                  <a:moveTo>
                    <a:pt x="192" y="0"/>
                  </a:moveTo>
                  <a:cubicBezTo>
                    <a:pt x="280" y="0"/>
                    <a:pt x="368" y="0"/>
                    <a:pt x="336" y="48"/>
                  </a:cubicBezTo>
                  <a:cubicBezTo>
                    <a:pt x="304" y="96"/>
                    <a:pt x="56" y="248"/>
                    <a:pt x="0" y="288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445" name="Line 109"/>
            <p:cNvSpPr/>
            <p:nvPr/>
          </p:nvSpPr>
          <p:spPr>
            <a:xfrm flipH="1">
              <a:off x="2256" y="1728"/>
              <a:ext cx="144" cy="48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1" name="Group 135"/>
          <p:cNvGrpSpPr/>
          <p:nvPr/>
        </p:nvGrpSpPr>
        <p:grpSpPr>
          <a:xfrm>
            <a:off x="5029200" y="2667000"/>
            <a:ext cx="823913" cy="546100"/>
            <a:chOff x="2208" y="1680"/>
            <a:chExt cx="519" cy="344"/>
          </a:xfrm>
        </p:grpSpPr>
        <p:sp>
          <p:nvSpPr>
            <p:cNvPr id="99447" name="Text Box 112"/>
            <p:cNvSpPr txBox="1"/>
            <p:nvPr/>
          </p:nvSpPr>
          <p:spPr>
            <a:xfrm>
              <a:off x="2496" y="1680"/>
              <a:ext cx="231" cy="290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9448" name="Freeform 110"/>
            <p:cNvSpPr/>
            <p:nvPr/>
          </p:nvSpPr>
          <p:spPr>
            <a:xfrm>
              <a:off x="2208" y="1872"/>
              <a:ext cx="240" cy="1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144"/>
                </a:cxn>
                <a:cxn ang="0">
                  <a:pos x="240" y="48"/>
                </a:cxn>
              </a:cxnLst>
              <a:pathLst>
                <a:path w="240" h="152">
                  <a:moveTo>
                    <a:pt x="0" y="0"/>
                  </a:moveTo>
                  <a:cubicBezTo>
                    <a:pt x="28" y="68"/>
                    <a:pt x="56" y="136"/>
                    <a:pt x="96" y="144"/>
                  </a:cubicBezTo>
                  <a:cubicBezTo>
                    <a:pt x="136" y="152"/>
                    <a:pt x="216" y="64"/>
                    <a:pt x="240" y="48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449" name="Line 111"/>
            <p:cNvSpPr/>
            <p:nvPr/>
          </p:nvSpPr>
          <p:spPr>
            <a:xfrm flipV="1">
              <a:off x="2448" y="1824"/>
              <a:ext cx="96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2" name="Group 136"/>
          <p:cNvGrpSpPr/>
          <p:nvPr/>
        </p:nvGrpSpPr>
        <p:grpSpPr>
          <a:xfrm>
            <a:off x="2895600" y="4800600"/>
            <a:ext cx="609600" cy="863600"/>
            <a:chOff x="864" y="3024"/>
            <a:chExt cx="384" cy="544"/>
          </a:xfrm>
        </p:grpSpPr>
        <p:sp>
          <p:nvSpPr>
            <p:cNvPr id="99451" name="Text Box 113"/>
            <p:cNvSpPr txBox="1"/>
            <p:nvPr/>
          </p:nvSpPr>
          <p:spPr>
            <a:xfrm>
              <a:off x="864" y="3024"/>
              <a:ext cx="231" cy="290"/>
            </a:xfrm>
            <a:prstGeom prst="rect">
              <a:avLst/>
            </a:prstGeom>
            <a:solidFill>
              <a:srgbClr val="FFFFCC"/>
            </a:solidFill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</a:t>
              </a:r>
              <a:endPara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99452" name="Group 114"/>
            <p:cNvGrpSpPr/>
            <p:nvPr/>
          </p:nvGrpSpPr>
          <p:grpSpPr>
            <a:xfrm>
              <a:off x="1008" y="3264"/>
              <a:ext cx="240" cy="304"/>
              <a:chOff x="240" y="3072"/>
              <a:chExt cx="240" cy="304"/>
            </a:xfrm>
          </p:grpSpPr>
          <p:sp>
            <p:nvSpPr>
              <p:cNvPr id="99453" name="Freeform 115"/>
              <p:cNvSpPr/>
              <p:nvPr/>
            </p:nvSpPr>
            <p:spPr>
              <a:xfrm>
                <a:off x="288" y="3168"/>
                <a:ext cx="192" cy="208"/>
              </a:xfrm>
              <a:custGeom>
                <a:avLst/>
                <a:gdLst/>
                <a:ahLst/>
                <a:cxnLst>
                  <a:cxn ang="0">
                    <a:pos x="192" y="96"/>
                  </a:cxn>
                  <a:cxn ang="0">
                    <a:pos x="96" y="192"/>
                  </a:cxn>
                  <a:cxn ang="0">
                    <a:pos x="0" y="0"/>
                  </a:cxn>
                </a:cxnLst>
                <a:pathLst>
                  <a:path w="192" h="208">
                    <a:moveTo>
                      <a:pt x="192" y="96"/>
                    </a:moveTo>
                    <a:cubicBezTo>
                      <a:pt x="160" y="152"/>
                      <a:pt x="128" y="208"/>
                      <a:pt x="96" y="192"/>
                    </a:cubicBezTo>
                    <a:cubicBezTo>
                      <a:pt x="64" y="176"/>
                      <a:pt x="16" y="32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9454" name="Line 116"/>
              <p:cNvSpPr/>
              <p:nvPr/>
            </p:nvSpPr>
            <p:spPr>
              <a:xfrm flipH="1" flipV="1">
                <a:off x="240" y="3072"/>
                <a:ext cx="48" cy="96"/>
              </a:xfrm>
              <a:prstGeom prst="line">
                <a:avLst/>
              </a:prstGeom>
              <a:ln w="3810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sp>
        <p:nvSpPr>
          <p:cNvPr id="412789" name="Line 117"/>
          <p:cNvSpPr/>
          <p:nvPr/>
        </p:nvSpPr>
        <p:spPr>
          <a:xfrm>
            <a:off x="3810000" y="5486400"/>
            <a:ext cx="5334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12790" name="Line 118"/>
          <p:cNvSpPr/>
          <p:nvPr/>
        </p:nvSpPr>
        <p:spPr>
          <a:xfrm flipH="1">
            <a:off x="3810000" y="5257800"/>
            <a:ext cx="457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4" name="Group 128"/>
          <p:cNvGrpSpPr/>
          <p:nvPr/>
        </p:nvGrpSpPr>
        <p:grpSpPr>
          <a:xfrm>
            <a:off x="4267200" y="4724400"/>
            <a:ext cx="723900" cy="939800"/>
            <a:chOff x="1728" y="2976"/>
            <a:chExt cx="456" cy="592"/>
          </a:xfrm>
        </p:grpSpPr>
        <p:sp>
          <p:nvSpPr>
            <p:cNvPr id="99458" name="Freeform 119"/>
            <p:cNvSpPr/>
            <p:nvPr/>
          </p:nvSpPr>
          <p:spPr>
            <a:xfrm>
              <a:off x="1872" y="3120"/>
              <a:ext cx="312" cy="448"/>
            </a:xfrm>
            <a:custGeom>
              <a:avLst/>
              <a:gdLst/>
              <a:ahLst/>
              <a:cxnLst>
                <a:cxn ang="0">
                  <a:pos x="96" y="384"/>
                </a:cxn>
                <a:cxn ang="0">
                  <a:pos x="144" y="432"/>
                </a:cxn>
                <a:cxn ang="0">
                  <a:pos x="288" y="288"/>
                </a:cxn>
                <a:cxn ang="0">
                  <a:pos x="0" y="0"/>
                </a:cxn>
              </a:cxnLst>
              <a:pathLst>
                <a:path w="312" h="448">
                  <a:moveTo>
                    <a:pt x="96" y="384"/>
                  </a:moveTo>
                  <a:cubicBezTo>
                    <a:pt x="104" y="416"/>
                    <a:pt x="112" y="448"/>
                    <a:pt x="144" y="432"/>
                  </a:cubicBezTo>
                  <a:cubicBezTo>
                    <a:pt x="176" y="416"/>
                    <a:pt x="312" y="360"/>
                    <a:pt x="288" y="288"/>
                  </a:cubicBezTo>
                  <a:cubicBezTo>
                    <a:pt x="264" y="216"/>
                    <a:pt x="48" y="48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459" name="Line 120"/>
            <p:cNvSpPr/>
            <p:nvPr/>
          </p:nvSpPr>
          <p:spPr>
            <a:xfrm flipH="1" flipV="1">
              <a:off x="1728" y="2976"/>
              <a:ext cx="144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5" name="Group 139"/>
          <p:cNvGrpSpPr/>
          <p:nvPr/>
        </p:nvGrpSpPr>
        <p:grpSpPr>
          <a:xfrm>
            <a:off x="4343400" y="4572000"/>
            <a:ext cx="952500" cy="1803400"/>
            <a:chOff x="1776" y="2880"/>
            <a:chExt cx="600" cy="1136"/>
          </a:xfrm>
        </p:grpSpPr>
        <p:sp>
          <p:nvSpPr>
            <p:cNvPr id="99461" name="Freeform 123"/>
            <p:cNvSpPr/>
            <p:nvPr/>
          </p:nvSpPr>
          <p:spPr>
            <a:xfrm>
              <a:off x="1968" y="2976"/>
              <a:ext cx="408" cy="1040"/>
            </a:xfrm>
            <a:custGeom>
              <a:avLst/>
              <a:gdLst/>
              <a:ahLst/>
              <a:cxnLst>
                <a:cxn ang="0">
                  <a:pos x="288" y="960"/>
                </a:cxn>
                <a:cxn ang="0">
                  <a:pos x="192" y="1008"/>
                </a:cxn>
                <a:cxn ang="0">
                  <a:pos x="144" y="768"/>
                </a:cxn>
                <a:cxn ang="0">
                  <a:pos x="384" y="432"/>
                </a:cxn>
                <a:cxn ang="0">
                  <a:pos x="0" y="0"/>
                </a:cxn>
              </a:cxnLst>
              <a:pathLst>
                <a:path w="408" h="1040">
                  <a:moveTo>
                    <a:pt x="288" y="960"/>
                  </a:moveTo>
                  <a:cubicBezTo>
                    <a:pt x="252" y="1000"/>
                    <a:pt x="216" y="1040"/>
                    <a:pt x="192" y="1008"/>
                  </a:cubicBezTo>
                  <a:cubicBezTo>
                    <a:pt x="168" y="976"/>
                    <a:pt x="112" y="864"/>
                    <a:pt x="144" y="768"/>
                  </a:cubicBezTo>
                  <a:cubicBezTo>
                    <a:pt x="176" y="672"/>
                    <a:pt x="408" y="560"/>
                    <a:pt x="384" y="432"/>
                  </a:cubicBezTo>
                  <a:cubicBezTo>
                    <a:pt x="360" y="304"/>
                    <a:pt x="64" y="72"/>
                    <a:pt x="0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462" name="Line 124"/>
            <p:cNvSpPr/>
            <p:nvPr/>
          </p:nvSpPr>
          <p:spPr>
            <a:xfrm flipH="1" flipV="1">
              <a:off x="1776" y="2880"/>
              <a:ext cx="192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6" name="Group 125"/>
          <p:cNvGrpSpPr/>
          <p:nvPr/>
        </p:nvGrpSpPr>
        <p:grpSpPr>
          <a:xfrm>
            <a:off x="5486400" y="5562600"/>
            <a:ext cx="533400" cy="914400"/>
            <a:chOff x="1680" y="3312"/>
            <a:chExt cx="336" cy="576"/>
          </a:xfrm>
        </p:grpSpPr>
        <p:sp>
          <p:nvSpPr>
            <p:cNvPr id="99464" name="Freeform 126"/>
            <p:cNvSpPr/>
            <p:nvPr/>
          </p:nvSpPr>
          <p:spPr>
            <a:xfrm>
              <a:off x="1680" y="3456"/>
              <a:ext cx="288" cy="43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96" y="384"/>
                </a:cxn>
                <a:cxn ang="0">
                  <a:pos x="288" y="0"/>
                </a:cxn>
              </a:cxnLst>
              <a:pathLst>
                <a:path w="288" h="432">
                  <a:moveTo>
                    <a:pt x="0" y="288"/>
                  </a:moveTo>
                  <a:cubicBezTo>
                    <a:pt x="24" y="360"/>
                    <a:pt x="48" y="432"/>
                    <a:pt x="96" y="384"/>
                  </a:cubicBezTo>
                  <a:cubicBezTo>
                    <a:pt x="144" y="336"/>
                    <a:pt x="256" y="64"/>
                    <a:pt x="288" y="0"/>
                  </a:cubicBez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9465" name="Line 127"/>
            <p:cNvSpPr/>
            <p:nvPr/>
          </p:nvSpPr>
          <p:spPr>
            <a:xfrm flipV="1">
              <a:off x="1968" y="3312"/>
              <a:ext cx="48" cy="144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99466" name="Text Box 141"/>
          <p:cNvSpPr txBox="1"/>
          <p:nvPr/>
        </p:nvSpPr>
        <p:spPr>
          <a:xfrm>
            <a:off x="5713413" y="200025"/>
            <a:ext cx="3244850" cy="706438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二叉树线索化</a:t>
            </a:r>
            <a:endParaRPr lang="zh-CN" altLang="en-US" sz="40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1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2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2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2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2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2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2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12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41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41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8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3" dur="500"/>
                                        <p:tgtEl>
                                          <p:spTgt spid="41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3" dur="500"/>
                                        <p:tgtEl>
                                          <p:spTgt spid="41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1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1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12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12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1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1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12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12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bldLvl="0" animBg="1"/>
      <p:bldP spid="412675" grpId="0" bldLvl="0" animBg="1"/>
      <p:bldP spid="412722" grpId="0"/>
      <p:bldP spid="412723" grpId="0"/>
      <p:bldP spid="412746" grpId="0"/>
      <p:bldP spid="412747" grpId="0"/>
      <p:bldP spid="412770" grpId="0"/>
      <p:bldP spid="41277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1662" name="Text Box 14"/>
          <p:cNvSpPr txBox="1"/>
          <p:nvPr/>
        </p:nvSpPr>
        <p:spPr>
          <a:xfrm>
            <a:off x="1828800" y="228600"/>
            <a:ext cx="2224088" cy="1076325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线索二叉树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的结点结构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22"/>
          <p:cNvGrpSpPr/>
          <p:nvPr/>
        </p:nvGrpSpPr>
        <p:grpSpPr>
          <a:xfrm>
            <a:off x="2136775" y="3962400"/>
            <a:ext cx="7477125" cy="1069975"/>
            <a:chOff x="240" y="720"/>
            <a:chExt cx="4710" cy="674"/>
          </a:xfrm>
        </p:grpSpPr>
        <p:sp>
          <p:nvSpPr>
            <p:cNvPr id="100355" name="Text Box 15"/>
            <p:cNvSpPr txBox="1"/>
            <p:nvPr/>
          </p:nvSpPr>
          <p:spPr>
            <a:xfrm>
              <a:off x="240" y="912"/>
              <a:ext cx="173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/>
              <a:r>
                <a:rPr lang="zh-CN" altLang="en-US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左线索标志</a:t>
              </a:r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ltag</a:t>
              </a:r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56" name="AutoShape 16"/>
            <p:cNvSpPr/>
            <p:nvPr/>
          </p:nvSpPr>
          <p:spPr>
            <a:xfrm>
              <a:off x="1968" y="816"/>
              <a:ext cx="96" cy="528"/>
            </a:xfrm>
            <a:prstGeom prst="leftBrace">
              <a:avLst>
                <a:gd name="adj1" fmla="val 45375"/>
                <a:gd name="adj2" fmla="val 50000"/>
              </a:avLst>
            </a:pr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3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57" name="Text Box 17"/>
            <p:cNvSpPr txBox="1"/>
            <p:nvPr/>
          </p:nvSpPr>
          <p:spPr>
            <a:xfrm>
              <a:off x="2112" y="720"/>
              <a:ext cx="2259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lchild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指向左孩子结点  </a:t>
              </a:r>
              <a:endPara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58" name="Text Box 18"/>
            <p:cNvSpPr txBox="1"/>
            <p:nvPr/>
          </p:nvSpPr>
          <p:spPr>
            <a:xfrm>
              <a:off x="2112" y="1104"/>
              <a:ext cx="283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lchild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指向结点前驱的左线索  </a:t>
              </a:r>
              <a:endPara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23"/>
          <p:cNvGrpSpPr/>
          <p:nvPr/>
        </p:nvGrpSpPr>
        <p:grpSpPr>
          <a:xfrm>
            <a:off x="2136775" y="5334000"/>
            <a:ext cx="7521575" cy="1069975"/>
            <a:chOff x="240" y="1440"/>
            <a:chExt cx="4738" cy="674"/>
          </a:xfrm>
        </p:grpSpPr>
        <p:sp>
          <p:nvSpPr>
            <p:cNvPr id="100360" name="Text Box 19"/>
            <p:cNvSpPr txBox="1"/>
            <p:nvPr/>
          </p:nvSpPr>
          <p:spPr>
            <a:xfrm>
              <a:off x="240" y="1632"/>
              <a:ext cx="176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pPr algn="ctr"/>
              <a:r>
                <a:rPr lang="zh-CN" altLang="en-US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右线索标志</a:t>
              </a:r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rtag</a:t>
              </a:r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61" name="AutoShape 20"/>
            <p:cNvSpPr/>
            <p:nvPr/>
          </p:nvSpPr>
          <p:spPr>
            <a:xfrm>
              <a:off x="1968" y="1536"/>
              <a:ext cx="96" cy="528"/>
            </a:xfrm>
            <a:prstGeom prst="leftBrace">
              <a:avLst>
                <a:gd name="adj1" fmla="val 45375"/>
                <a:gd name="adj2" fmla="val 50000"/>
              </a:avLst>
            </a:pr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3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62" name="Text Box 21"/>
            <p:cNvSpPr txBox="1"/>
            <p:nvPr/>
          </p:nvSpPr>
          <p:spPr>
            <a:xfrm>
              <a:off x="2112" y="1440"/>
              <a:ext cx="228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rchild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指向右孩子结点  </a:t>
              </a:r>
              <a:endPara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63" name="Text Box 22"/>
            <p:cNvSpPr txBox="1"/>
            <p:nvPr/>
          </p:nvSpPr>
          <p:spPr>
            <a:xfrm>
              <a:off x="2064" y="1824"/>
              <a:ext cx="2914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1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rchild</a:t>
              </a:r>
              <a:r>
                <a:rPr lang="zh-CN" altLang="en-US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指向结点后驱的右线索  </a:t>
              </a:r>
              <a:endPara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0364" name="Group 231"/>
          <p:cNvGrpSpPr/>
          <p:nvPr/>
        </p:nvGrpSpPr>
        <p:grpSpPr>
          <a:xfrm>
            <a:off x="2286000" y="1905000"/>
            <a:ext cx="2270125" cy="1371600"/>
            <a:chOff x="480" y="1200"/>
            <a:chExt cx="1430" cy="864"/>
          </a:xfrm>
        </p:grpSpPr>
        <p:sp>
          <p:nvSpPr>
            <p:cNvPr id="100365" name="Text Box 225"/>
            <p:cNvSpPr txBox="1"/>
            <p:nvPr/>
          </p:nvSpPr>
          <p:spPr>
            <a:xfrm>
              <a:off x="525" y="1263"/>
              <a:ext cx="1342" cy="7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ltag data  rtag</a:t>
              </a:r>
              <a:endParaRPr lang="en-US" altLang="zh-CN" sz="2800" b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endParaRPr lang="en-US" altLang="zh-CN" sz="2800" b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2800" b="0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lchild  rchild </a:t>
              </a:r>
              <a:endParaRPr lang="en-US" altLang="zh-CN" sz="2800" b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66" name="Rectangle 226"/>
            <p:cNvSpPr/>
            <p:nvPr/>
          </p:nvSpPr>
          <p:spPr>
            <a:xfrm>
              <a:off x="480" y="1200"/>
              <a:ext cx="1430" cy="864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800" b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0367" name="Line 227"/>
            <p:cNvSpPr/>
            <p:nvPr/>
          </p:nvSpPr>
          <p:spPr>
            <a:xfrm>
              <a:off x="480" y="1694"/>
              <a:ext cx="1430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368" name="Line 228"/>
            <p:cNvSpPr/>
            <p:nvPr/>
          </p:nvSpPr>
          <p:spPr>
            <a:xfrm>
              <a:off x="938" y="1200"/>
              <a:ext cx="0" cy="494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369" name="Line 229"/>
            <p:cNvSpPr/>
            <p:nvPr/>
          </p:nvSpPr>
          <p:spPr>
            <a:xfrm>
              <a:off x="1395" y="1200"/>
              <a:ext cx="0" cy="494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370" name="Line 230"/>
            <p:cNvSpPr/>
            <p:nvPr/>
          </p:nvSpPr>
          <p:spPr>
            <a:xfrm>
              <a:off x="1166" y="1694"/>
              <a:ext cx="0" cy="37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0371" name="Text Box 232"/>
          <p:cNvSpPr txBox="1"/>
          <p:nvPr/>
        </p:nvSpPr>
        <p:spPr>
          <a:xfrm>
            <a:off x="4953000" y="825500"/>
            <a:ext cx="5391150" cy="2554288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typedef  struct node</a:t>
            </a:r>
            <a:endParaRPr lang="en-US" altLang="zh-CN" sz="32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 ElemType   data;</a:t>
            </a:r>
            <a:endParaRPr lang="en-US" altLang="zh-CN" sz="32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int    ltag,rtag;</a:t>
            </a:r>
            <a:endParaRPr lang="en-US" altLang="zh-CN" sz="32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struct node  *lchild,*rchild;</a:t>
            </a:r>
            <a:endParaRPr lang="en-US" altLang="zh-CN" sz="32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}TBTNode;</a:t>
            </a:r>
            <a:endParaRPr lang="en-US" altLang="zh-CN" sz="32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6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1377" name="Group 3"/>
          <p:cNvGrpSpPr/>
          <p:nvPr/>
        </p:nvGrpSpPr>
        <p:grpSpPr>
          <a:xfrm>
            <a:off x="1828800" y="1827213"/>
            <a:ext cx="3121025" cy="3197225"/>
            <a:chOff x="864" y="646"/>
            <a:chExt cx="1726" cy="1761"/>
          </a:xfrm>
        </p:grpSpPr>
        <p:sp>
          <p:nvSpPr>
            <p:cNvPr id="101378" name="Line 4"/>
            <p:cNvSpPr/>
            <p:nvPr/>
          </p:nvSpPr>
          <p:spPr>
            <a:xfrm flipH="1">
              <a:off x="1776" y="1344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379" name="Line 5"/>
            <p:cNvSpPr/>
            <p:nvPr/>
          </p:nvSpPr>
          <p:spPr>
            <a:xfrm>
              <a:off x="1031" y="1872"/>
              <a:ext cx="217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380" name="Line 6"/>
            <p:cNvSpPr/>
            <p:nvPr/>
          </p:nvSpPr>
          <p:spPr>
            <a:xfrm>
              <a:off x="2177" y="1387"/>
              <a:ext cx="225" cy="25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381" name="Line 7"/>
            <p:cNvSpPr/>
            <p:nvPr/>
          </p:nvSpPr>
          <p:spPr>
            <a:xfrm flipH="1">
              <a:off x="1014" y="1387"/>
              <a:ext cx="225" cy="33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382" name="Line 8"/>
            <p:cNvSpPr/>
            <p:nvPr/>
          </p:nvSpPr>
          <p:spPr>
            <a:xfrm>
              <a:off x="1727" y="882"/>
              <a:ext cx="338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383" name="Line 9"/>
            <p:cNvSpPr/>
            <p:nvPr/>
          </p:nvSpPr>
          <p:spPr>
            <a:xfrm flipH="1">
              <a:off x="1389" y="882"/>
              <a:ext cx="263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4426" name="Oval 10"/>
            <p:cNvSpPr>
              <a:spLocks noChangeArrowheads="1"/>
            </p:cNvSpPr>
            <p:nvPr/>
          </p:nvSpPr>
          <p:spPr bwMode="auto">
            <a:xfrm>
              <a:off x="1577" y="671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427" name="Oval 11"/>
            <p:cNvSpPr>
              <a:spLocks noChangeArrowheads="1"/>
            </p:cNvSpPr>
            <p:nvPr/>
          </p:nvSpPr>
          <p:spPr bwMode="auto">
            <a:xfrm>
              <a:off x="1581" y="1591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428" name="Oval 12"/>
            <p:cNvSpPr>
              <a:spLocks noChangeArrowheads="1"/>
            </p:cNvSpPr>
            <p:nvPr/>
          </p:nvSpPr>
          <p:spPr bwMode="auto">
            <a:xfrm>
              <a:off x="1164" y="1134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429" name="Oval 13"/>
            <p:cNvSpPr>
              <a:spLocks noChangeArrowheads="1"/>
            </p:cNvSpPr>
            <p:nvPr/>
          </p:nvSpPr>
          <p:spPr bwMode="auto">
            <a:xfrm>
              <a:off x="1990" y="1134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430" name="Oval 14"/>
            <p:cNvSpPr>
              <a:spLocks noChangeArrowheads="1"/>
            </p:cNvSpPr>
            <p:nvPr/>
          </p:nvSpPr>
          <p:spPr bwMode="auto">
            <a:xfrm>
              <a:off x="1189" y="2111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431" name="Oval 15"/>
            <p:cNvSpPr>
              <a:spLocks noChangeArrowheads="1"/>
            </p:cNvSpPr>
            <p:nvPr/>
          </p:nvSpPr>
          <p:spPr bwMode="auto">
            <a:xfrm>
              <a:off x="864" y="1597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432" name="Oval 16"/>
            <p:cNvSpPr>
              <a:spLocks noChangeArrowheads="1"/>
            </p:cNvSpPr>
            <p:nvPr/>
          </p:nvSpPr>
          <p:spPr bwMode="auto">
            <a:xfrm>
              <a:off x="2327" y="1597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4433" name="Text Box 17"/>
            <p:cNvSpPr txBox="1">
              <a:spLocks noChangeArrowheads="1"/>
            </p:cNvSpPr>
            <p:nvPr/>
          </p:nvSpPr>
          <p:spPr bwMode="auto">
            <a:xfrm>
              <a:off x="1190" y="1108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4434" name="Text Box 18"/>
            <p:cNvSpPr txBox="1">
              <a:spLocks noChangeArrowheads="1"/>
            </p:cNvSpPr>
            <p:nvPr/>
          </p:nvSpPr>
          <p:spPr bwMode="auto">
            <a:xfrm>
              <a:off x="1603" y="646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4435" name="Text Box 19"/>
            <p:cNvSpPr txBox="1">
              <a:spLocks noChangeArrowheads="1"/>
            </p:cNvSpPr>
            <p:nvPr/>
          </p:nvSpPr>
          <p:spPr bwMode="auto">
            <a:xfrm>
              <a:off x="890" y="1572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4436" name="Text Box 20"/>
            <p:cNvSpPr txBox="1">
              <a:spLocks noChangeArrowheads="1"/>
            </p:cNvSpPr>
            <p:nvPr/>
          </p:nvSpPr>
          <p:spPr bwMode="auto">
            <a:xfrm>
              <a:off x="1599" y="1558"/>
              <a:ext cx="201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4437" name="Text Box 21"/>
            <p:cNvSpPr txBox="1">
              <a:spLocks noChangeArrowheads="1"/>
            </p:cNvSpPr>
            <p:nvPr/>
          </p:nvSpPr>
          <p:spPr bwMode="auto">
            <a:xfrm>
              <a:off x="2021" y="1107"/>
              <a:ext cx="201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4438" name="Text Box 22"/>
            <p:cNvSpPr txBox="1">
              <a:spLocks noChangeArrowheads="1"/>
            </p:cNvSpPr>
            <p:nvPr/>
          </p:nvSpPr>
          <p:spPr bwMode="auto">
            <a:xfrm>
              <a:off x="2353" y="1598"/>
              <a:ext cx="176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4439" name="Text Box 23"/>
            <p:cNvSpPr txBox="1">
              <a:spLocks noChangeArrowheads="1"/>
            </p:cNvSpPr>
            <p:nvPr/>
          </p:nvSpPr>
          <p:spPr bwMode="auto">
            <a:xfrm>
              <a:off x="1215" y="2086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101398" name="Text Box 24"/>
          <p:cNvSpPr txBox="1"/>
          <p:nvPr/>
        </p:nvSpPr>
        <p:spPr>
          <a:xfrm>
            <a:off x="1981200" y="381000"/>
            <a:ext cx="3048000" cy="706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前序线索树</a:t>
            </a:r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99" name="Text Box 25"/>
          <p:cNvSpPr txBox="1"/>
          <p:nvPr/>
        </p:nvSpPr>
        <p:spPr>
          <a:xfrm>
            <a:off x="2057400" y="5791200"/>
            <a:ext cx="4724400" cy="584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前序遍历序列：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abdgcef</a:t>
            </a:r>
            <a:endParaRPr lang="en-US" altLang="zh-CN" sz="32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1400" name="Object 26"/>
          <p:cNvGraphicFramePr>
            <a:graphicFrameLocks noChangeAspect="1"/>
          </p:cNvGraphicFramePr>
          <p:nvPr/>
        </p:nvGraphicFramePr>
        <p:xfrm>
          <a:off x="5181600" y="228600"/>
          <a:ext cx="5265738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219450" imgH="3448050" progId="Paint.Picture">
                  <p:embed/>
                </p:oleObj>
              </mc:Choice>
              <mc:Fallback>
                <p:oleObj name="" r:id="rId1" imgW="3219450" imgH="344805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81600" y="228600"/>
                        <a:ext cx="5265738" cy="563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2401" name="Object 2"/>
          <p:cNvGraphicFramePr>
            <a:graphicFrameLocks noChangeAspect="1"/>
          </p:cNvGraphicFramePr>
          <p:nvPr/>
        </p:nvGraphicFramePr>
        <p:xfrm>
          <a:off x="5172075" y="228600"/>
          <a:ext cx="549592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305175" imgH="3390900" progId="Paint.Picture">
                  <p:embed/>
                </p:oleObj>
              </mc:Choice>
              <mc:Fallback>
                <p:oleObj name="" r:id="rId1" imgW="3305175" imgH="3390900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72075" y="228600"/>
                        <a:ext cx="5495925" cy="563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02" name="Group 3"/>
          <p:cNvGrpSpPr/>
          <p:nvPr/>
        </p:nvGrpSpPr>
        <p:grpSpPr>
          <a:xfrm>
            <a:off x="1828800" y="1827213"/>
            <a:ext cx="3121025" cy="3197225"/>
            <a:chOff x="864" y="646"/>
            <a:chExt cx="1726" cy="1761"/>
          </a:xfrm>
        </p:grpSpPr>
        <p:sp>
          <p:nvSpPr>
            <p:cNvPr id="102403" name="Line 4"/>
            <p:cNvSpPr/>
            <p:nvPr/>
          </p:nvSpPr>
          <p:spPr>
            <a:xfrm flipH="1">
              <a:off x="1776" y="1344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04" name="Line 5"/>
            <p:cNvSpPr/>
            <p:nvPr/>
          </p:nvSpPr>
          <p:spPr>
            <a:xfrm>
              <a:off x="1031" y="1872"/>
              <a:ext cx="217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05" name="Line 6"/>
            <p:cNvSpPr/>
            <p:nvPr/>
          </p:nvSpPr>
          <p:spPr>
            <a:xfrm>
              <a:off x="2177" y="1387"/>
              <a:ext cx="225" cy="25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06" name="Line 7"/>
            <p:cNvSpPr/>
            <p:nvPr/>
          </p:nvSpPr>
          <p:spPr>
            <a:xfrm flipH="1">
              <a:off x="1014" y="1387"/>
              <a:ext cx="225" cy="33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07" name="Line 8"/>
            <p:cNvSpPr/>
            <p:nvPr/>
          </p:nvSpPr>
          <p:spPr>
            <a:xfrm>
              <a:off x="1727" y="882"/>
              <a:ext cx="338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08" name="Line 9"/>
            <p:cNvSpPr/>
            <p:nvPr/>
          </p:nvSpPr>
          <p:spPr>
            <a:xfrm flipH="1">
              <a:off x="1389" y="882"/>
              <a:ext cx="263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8522" name="Oval 10"/>
            <p:cNvSpPr>
              <a:spLocks noChangeArrowheads="1"/>
            </p:cNvSpPr>
            <p:nvPr/>
          </p:nvSpPr>
          <p:spPr bwMode="auto">
            <a:xfrm>
              <a:off x="1577" y="671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523" name="Oval 11"/>
            <p:cNvSpPr>
              <a:spLocks noChangeArrowheads="1"/>
            </p:cNvSpPr>
            <p:nvPr/>
          </p:nvSpPr>
          <p:spPr bwMode="auto">
            <a:xfrm>
              <a:off x="1581" y="1591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524" name="Oval 12"/>
            <p:cNvSpPr>
              <a:spLocks noChangeArrowheads="1"/>
            </p:cNvSpPr>
            <p:nvPr/>
          </p:nvSpPr>
          <p:spPr bwMode="auto">
            <a:xfrm>
              <a:off x="1164" y="1134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525" name="Oval 13"/>
            <p:cNvSpPr>
              <a:spLocks noChangeArrowheads="1"/>
            </p:cNvSpPr>
            <p:nvPr/>
          </p:nvSpPr>
          <p:spPr bwMode="auto">
            <a:xfrm>
              <a:off x="1990" y="1134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526" name="Oval 14"/>
            <p:cNvSpPr>
              <a:spLocks noChangeArrowheads="1"/>
            </p:cNvSpPr>
            <p:nvPr/>
          </p:nvSpPr>
          <p:spPr bwMode="auto">
            <a:xfrm>
              <a:off x="1189" y="2111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527" name="Oval 15"/>
            <p:cNvSpPr>
              <a:spLocks noChangeArrowheads="1"/>
            </p:cNvSpPr>
            <p:nvPr/>
          </p:nvSpPr>
          <p:spPr bwMode="auto">
            <a:xfrm>
              <a:off x="864" y="1597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528" name="Oval 16"/>
            <p:cNvSpPr>
              <a:spLocks noChangeArrowheads="1"/>
            </p:cNvSpPr>
            <p:nvPr/>
          </p:nvSpPr>
          <p:spPr bwMode="auto">
            <a:xfrm>
              <a:off x="2327" y="1597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8529" name="Text Box 17"/>
            <p:cNvSpPr txBox="1">
              <a:spLocks noChangeArrowheads="1"/>
            </p:cNvSpPr>
            <p:nvPr/>
          </p:nvSpPr>
          <p:spPr bwMode="auto">
            <a:xfrm>
              <a:off x="1190" y="1108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8530" name="Text Box 18"/>
            <p:cNvSpPr txBox="1">
              <a:spLocks noChangeArrowheads="1"/>
            </p:cNvSpPr>
            <p:nvPr/>
          </p:nvSpPr>
          <p:spPr bwMode="auto">
            <a:xfrm>
              <a:off x="1603" y="646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8531" name="Text Box 19"/>
            <p:cNvSpPr txBox="1">
              <a:spLocks noChangeArrowheads="1"/>
            </p:cNvSpPr>
            <p:nvPr/>
          </p:nvSpPr>
          <p:spPr bwMode="auto">
            <a:xfrm>
              <a:off x="890" y="1572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8532" name="Text Box 20"/>
            <p:cNvSpPr txBox="1">
              <a:spLocks noChangeArrowheads="1"/>
            </p:cNvSpPr>
            <p:nvPr/>
          </p:nvSpPr>
          <p:spPr bwMode="auto">
            <a:xfrm>
              <a:off x="1599" y="1558"/>
              <a:ext cx="201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8533" name="Text Box 21"/>
            <p:cNvSpPr txBox="1">
              <a:spLocks noChangeArrowheads="1"/>
            </p:cNvSpPr>
            <p:nvPr/>
          </p:nvSpPr>
          <p:spPr bwMode="auto">
            <a:xfrm>
              <a:off x="2021" y="1107"/>
              <a:ext cx="201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8534" name="Text Box 22"/>
            <p:cNvSpPr txBox="1">
              <a:spLocks noChangeArrowheads="1"/>
            </p:cNvSpPr>
            <p:nvPr/>
          </p:nvSpPr>
          <p:spPr bwMode="auto">
            <a:xfrm>
              <a:off x="2353" y="1598"/>
              <a:ext cx="176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8535" name="Text Box 23"/>
            <p:cNvSpPr txBox="1">
              <a:spLocks noChangeArrowheads="1"/>
            </p:cNvSpPr>
            <p:nvPr/>
          </p:nvSpPr>
          <p:spPr bwMode="auto">
            <a:xfrm>
              <a:off x="1215" y="2086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102423" name="Text Box 24"/>
          <p:cNvSpPr txBox="1"/>
          <p:nvPr/>
        </p:nvSpPr>
        <p:spPr>
          <a:xfrm>
            <a:off x="1981200" y="381000"/>
            <a:ext cx="3048000" cy="706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中序线索树</a:t>
            </a:r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24" name="Text Box 25"/>
          <p:cNvSpPr txBox="1"/>
          <p:nvPr/>
        </p:nvSpPr>
        <p:spPr>
          <a:xfrm>
            <a:off x="2057400" y="5791200"/>
            <a:ext cx="4724400" cy="584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/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中序遍历序列：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dgbaecf</a:t>
            </a:r>
            <a:endParaRPr lang="en-US" altLang="zh-CN" sz="32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3425" name="Group 3"/>
          <p:cNvGrpSpPr/>
          <p:nvPr/>
        </p:nvGrpSpPr>
        <p:grpSpPr>
          <a:xfrm>
            <a:off x="1828800" y="1827213"/>
            <a:ext cx="3121025" cy="3197225"/>
            <a:chOff x="864" y="646"/>
            <a:chExt cx="1726" cy="1761"/>
          </a:xfrm>
        </p:grpSpPr>
        <p:sp>
          <p:nvSpPr>
            <p:cNvPr id="103426" name="Line 4"/>
            <p:cNvSpPr/>
            <p:nvPr/>
          </p:nvSpPr>
          <p:spPr>
            <a:xfrm flipH="1">
              <a:off x="1776" y="1344"/>
              <a:ext cx="240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27" name="Line 5"/>
            <p:cNvSpPr/>
            <p:nvPr/>
          </p:nvSpPr>
          <p:spPr>
            <a:xfrm>
              <a:off x="1031" y="1872"/>
              <a:ext cx="217" cy="28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28" name="Line 6"/>
            <p:cNvSpPr/>
            <p:nvPr/>
          </p:nvSpPr>
          <p:spPr>
            <a:xfrm>
              <a:off x="2177" y="1387"/>
              <a:ext cx="225" cy="252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29" name="Line 7"/>
            <p:cNvSpPr/>
            <p:nvPr/>
          </p:nvSpPr>
          <p:spPr>
            <a:xfrm flipH="1">
              <a:off x="1014" y="1387"/>
              <a:ext cx="225" cy="33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30" name="Line 8"/>
            <p:cNvSpPr/>
            <p:nvPr/>
          </p:nvSpPr>
          <p:spPr>
            <a:xfrm>
              <a:off x="1727" y="882"/>
              <a:ext cx="338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31" name="Line 9"/>
            <p:cNvSpPr/>
            <p:nvPr/>
          </p:nvSpPr>
          <p:spPr>
            <a:xfrm flipH="1">
              <a:off x="1389" y="882"/>
              <a:ext cx="263" cy="33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7498" name="Oval 10"/>
            <p:cNvSpPr>
              <a:spLocks noChangeArrowheads="1"/>
            </p:cNvSpPr>
            <p:nvPr/>
          </p:nvSpPr>
          <p:spPr bwMode="auto">
            <a:xfrm>
              <a:off x="1577" y="671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499" name="Oval 11"/>
            <p:cNvSpPr>
              <a:spLocks noChangeArrowheads="1"/>
            </p:cNvSpPr>
            <p:nvPr/>
          </p:nvSpPr>
          <p:spPr bwMode="auto">
            <a:xfrm>
              <a:off x="1581" y="1591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00" name="Oval 12"/>
            <p:cNvSpPr>
              <a:spLocks noChangeArrowheads="1"/>
            </p:cNvSpPr>
            <p:nvPr/>
          </p:nvSpPr>
          <p:spPr bwMode="auto">
            <a:xfrm>
              <a:off x="1164" y="1134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01" name="Oval 13"/>
            <p:cNvSpPr>
              <a:spLocks noChangeArrowheads="1"/>
            </p:cNvSpPr>
            <p:nvPr/>
          </p:nvSpPr>
          <p:spPr bwMode="auto">
            <a:xfrm>
              <a:off x="1990" y="1134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02" name="Oval 14"/>
            <p:cNvSpPr>
              <a:spLocks noChangeArrowheads="1"/>
            </p:cNvSpPr>
            <p:nvPr/>
          </p:nvSpPr>
          <p:spPr bwMode="auto">
            <a:xfrm>
              <a:off x="1189" y="2111"/>
              <a:ext cx="262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03" name="Oval 15"/>
            <p:cNvSpPr>
              <a:spLocks noChangeArrowheads="1"/>
            </p:cNvSpPr>
            <p:nvPr/>
          </p:nvSpPr>
          <p:spPr bwMode="auto">
            <a:xfrm>
              <a:off x="864" y="1597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04" name="Oval 16"/>
            <p:cNvSpPr>
              <a:spLocks noChangeArrowheads="1"/>
            </p:cNvSpPr>
            <p:nvPr/>
          </p:nvSpPr>
          <p:spPr bwMode="auto">
            <a:xfrm>
              <a:off x="2327" y="1597"/>
              <a:ext cx="263" cy="295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rect">
                <a:fillToRect r="100000" b="100000"/>
              </a:path>
            </a:gradFill>
            <a:ln w="38100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7505" name="Text Box 17"/>
            <p:cNvSpPr txBox="1">
              <a:spLocks noChangeArrowheads="1"/>
            </p:cNvSpPr>
            <p:nvPr/>
          </p:nvSpPr>
          <p:spPr bwMode="auto">
            <a:xfrm>
              <a:off x="1190" y="1108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b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7506" name="Text Box 18"/>
            <p:cNvSpPr txBox="1">
              <a:spLocks noChangeArrowheads="1"/>
            </p:cNvSpPr>
            <p:nvPr/>
          </p:nvSpPr>
          <p:spPr bwMode="auto">
            <a:xfrm>
              <a:off x="1603" y="646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a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7507" name="Text Box 19"/>
            <p:cNvSpPr txBox="1">
              <a:spLocks noChangeArrowheads="1"/>
            </p:cNvSpPr>
            <p:nvPr/>
          </p:nvSpPr>
          <p:spPr bwMode="auto">
            <a:xfrm>
              <a:off x="890" y="1572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d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7508" name="Text Box 20"/>
            <p:cNvSpPr txBox="1">
              <a:spLocks noChangeArrowheads="1"/>
            </p:cNvSpPr>
            <p:nvPr/>
          </p:nvSpPr>
          <p:spPr bwMode="auto">
            <a:xfrm>
              <a:off x="1599" y="1558"/>
              <a:ext cx="201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e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7509" name="Text Box 21"/>
            <p:cNvSpPr txBox="1">
              <a:spLocks noChangeArrowheads="1"/>
            </p:cNvSpPr>
            <p:nvPr/>
          </p:nvSpPr>
          <p:spPr bwMode="auto">
            <a:xfrm>
              <a:off x="2021" y="1107"/>
              <a:ext cx="201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c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7510" name="Text Box 22"/>
            <p:cNvSpPr txBox="1">
              <a:spLocks noChangeArrowheads="1"/>
            </p:cNvSpPr>
            <p:nvPr/>
          </p:nvSpPr>
          <p:spPr bwMode="auto">
            <a:xfrm>
              <a:off x="2353" y="1598"/>
              <a:ext cx="176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f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  <p:sp>
          <p:nvSpPr>
            <p:cNvPr id="447511" name="Text Box 23"/>
            <p:cNvSpPr txBox="1">
              <a:spLocks noChangeArrowheads="1"/>
            </p:cNvSpPr>
            <p:nvPr/>
          </p:nvSpPr>
          <p:spPr bwMode="auto">
            <a:xfrm>
              <a:off x="1215" y="2086"/>
              <a:ext cx="214" cy="32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3200" i="1" kern="1200" cap="none" spc="0" normalizeH="0" baseline="0" noProof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g</a:t>
              </a:r>
              <a:endParaRPr kumimoji="1" lang="en-US" altLang="zh-CN" sz="32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endParaRPr>
            </a:p>
          </p:txBody>
        </p:sp>
      </p:grpSp>
      <p:sp>
        <p:nvSpPr>
          <p:cNvPr id="103446" name="Text Box 24"/>
          <p:cNvSpPr txBox="1"/>
          <p:nvPr/>
        </p:nvSpPr>
        <p:spPr>
          <a:xfrm>
            <a:off x="1981200" y="381000"/>
            <a:ext cx="3048000" cy="706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4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后序线索树</a:t>
            </a:r>
            <a:endParaRPr lang="zh-CN" altLang="en-US" sz="4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47" name="Text Box 25"/>
          <p:cNvSpPr txBox="1"/>
          <p:nvPr/>
        </p:nvSpPr>
        <p:spPr>
          <a:xfrm>
            <a:off x="1954213" y="5791200"/>
            <a:ext cx="4395787" cy="584200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后序遍历序列：</a:t>
            </a:r>
            <a:r>
              <a:rPr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gdbefca  </a:t>
            </a:r>
            <a:endParaRPr lang="en-US" altLang="zh-CN" sz="32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3448" name="Group 29"/>
          <p:cNvGrpSpPr/>
          <p:nvPr/>
        </p:nvGrpSpPr>
        <p:grpSpPr>
          <a:xfrm>
            <a:off x="5105400" y="152400"/>
            <a:ext cx="5410200" cy="5332413"/>
            <a:chOff x="2256" y="96"/>
            <a:chExt cx="3408" cy="3359"/>
          </a:xfrm>
        </p:grpSpPr>
        <p:graphicFrame>
          <p:nvGraphicFramePr>
            <p:cNvPr id="103449" name="Object 26"/>
            <p:cNvGraphicFramePr>
              <a:graphicFrameLocks noChangeAspect="1"/>
            </p:cNvGraphicFramePr>
            <p:nvPr/>
          </p:nvGraphicFramePr>
          <p:xfrm>
            <a:off x="2256" y="96"/>
            <a:ext cx="3408" cy="3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4257675" imgH="3505200" progId="Paint.Picture">
                    <p:embed/>
                  </p:oleObj>
                </mc:Choice>
                <mc:Fallback>
                  <p:oleObj name="" r:id="rId1" imgW="4257675" imgH="3505200" progId="Paint.Picture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56" y="96"/>
                          <a:ext cx="3408" cy="33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50" name="Text Box 27"/>
            <p:cNvSpPr txBox="1"/>
            <p:nvPr/>
          </p:nvSpPr>
          <p:spPr>
            <a:xfrm>
              <a:off x="2400" y="192"/>
              <a:ext cx="1008" cy="232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51" name="Text Box 28"/>
            <p:cNvSpPr txBox="1"/>
            <p:nvPr/>
          </p:nvSpPr>
          <p:spPr>
            <a:xfrm>
              <a:off x="4656" y="144"/>
              <a:ext cx="1008" cy="232"/>
            </a:xfrm>
            <a:prstGeom prst="rect">
              <a:avLst/>
            </a:prstGeom>
            <a:solidFill>
              <a:schemeClr val="bg1"/>
            </a:solidFill>
            <a:ln w="38100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</a:t>
              </a:r>
              <a:endPara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49" name="Text Box 2"/>
          <p:cNvSpPr txBox="1"/>
          <p:nvPr/>
        </p:nvSpPr>
        <p:spPr>
          <a:xfrm>
            <a:off x="3176588" y="165100"/>
            <a:ext cx="4776787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建立中序线索二叉树</a:t>
            </a:r>
            <a:endParaRPr lang="zh-CN" altLang="en-US" sz="40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04450" name="Text Box 3"/>
          <p:cNvSpPr txBox="1"/>
          <p:nvPr/>
        </p:nvSpPr>
        <p:spPr>
          <a:xfrm>
            <a:off x="1905000" y="811213"/>
            <a:ext cx="3105150" cy="49545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主要操作过程：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*建立一般的二叉链表</a:t>
            </a:r>
            <a:endParaRPr lang="zh-CN" altLang="en-US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*通过遍历进行线索化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为当前处理结点</a:t>
            </a:r>
            <a:endParaRPr lang="zh-CN" altLang="en-US" sz="24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的前驱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填标志：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无左：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p-&gt;ltag=1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无右：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p-&gt;rtag=1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填线索：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p-&gt;ltag==1: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p-&gt;lchild=pre;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pre-&gt;rtag==1: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pre-&gt;rchild=p;</a:t>
            </a:r>
            <a:endParaRPr lang="en-US" altLang="zh-CN" sz="2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1" name="Text Box 4"/>
          <p:cNvSpPr txBox="1"/>
          <p:nvPr/>
        </p:nvSpPr>
        <p:spPr>
          <a:xfrm>
            <a:off x="5410200" y="1074738"/>
            <a:ext cx="5210175" cy="563245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bithptr  *pre=NULL;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inthread(TBTNode *p)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 if(p!=NULL)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{  inthread(p-&gt;lchild);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if(p-&gt;lchild==NULL)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{p-&gt;ltag=1;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p-&gt;lchild=pre;}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if(p-&gt;rchild==NULL)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p-&gt;rtag=1;              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if(pre!=NULL &amp;&amp;pre-&gt;rtag==1)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pre-&gt;rchild=p;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pre=p;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inthread(p-&gt;rchild);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}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    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2144713" y="388938"/>
            <a:ext cx="8023225" cy="59705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tIns="108000" bIns="108000">
            <a:spAutoFit/>
          </a:bodyPr>
          <a:lstStyle/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TBTNode *pre;		   		//</a:t>
            </a:r>
            <a:r>
              <a:rPr kumimoji="1" lang="zh-CN" altLang="en-US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全局变量</a:t>
            </a:r>
            <a:endParaRPr kumimoji="1" lang="zh-CN" altLang="en-US" sz="2000" strike="noStrike" noProof="1" smtClean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TBTNode </a:t>
            </a:r>
            <a:r>
              <a:rPr kumimoji="1" lang="en-US" altLang="zh-CN" sz="2000" strike="noStrike" noProof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000" strike="noStrike" noProof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CreatThread</a:t>
            </a:r>
            <a:r>
              <a:rPr kumimoji="1" lang="en-US" altLang="zh-CN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(TBTNode 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*b)     //</a:t>
            </a: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中序线索化二叉树</a:t>
            </a:r>
            <a:endParaRPr kumimoji="1" lang="zh-CN" altLang="en-US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strike="noStrike" noProof="1" dirty="0" err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TBTNode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*root;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root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=(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TBTNode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*)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malloc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sizeof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TBTNode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));  //</a:t>
            </a:r>
            <a:r>
              <a:rPr kumimoji="1" lang="zh-CN" altLang="en-US" sz="2000" strike="noStrike" noProof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创建</a:t>
            </a:r>
            <a:r>
              <a:rPr kumimoji="1" lang="zh-CN" altLang="en-US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头结点</a:t>
            </a:r>
            <a:endParaRPr kumimoji="1" lang="zh-CN" altLang="en-US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root-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ltag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root-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rtag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=1;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root-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=b;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if 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(b==NULL) root-&gt;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lchild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=root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	//</a:t>
            </a: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空二叉树</a:t>
            </a:r>
            <a:endParaRPr kumimoji="1" lang="zh-CN" altLang="en-US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else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{        root-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lchild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=b;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pre=root;             	//pre</a:t>
            </a: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是*</a:t>
            </a:r>
            <a:r>
              <a:rPr kumimoji="1" lang="en-US" altLang="zh-CN" sz="2000" strike="noStrike" noProof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的前驱结点，供</a:t>
            </a: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加线索用</a:t>
            </a:r>
            <a:endParaRPr kumimoji="1" lang="zh-CN" altLang="en-US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000" strike="noStrike" noProof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Thread(b);   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	//</a:t>
            </a: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中序遍历线索化二叉树</a:t>
            </a:r>
            <a:endParaRPr kumimoji="1" lang="zh-CN" altLang="en-US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pre-&gt;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=root;    	//</a:t>
            </a:r>
            <a:r>
              <a:rPr kumimoji="1" lang="zh-CN" altLang="en-US" sz="2000" strike="noStrike" noProof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最后</a:t>
            </a:r>
            <a:r>
              <a:rPr kumimoji="1" lang="zh-CN" altLang="en-US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处理，加入</a:t>
            </a:r>
            <a:r>
              <a:rPr kumimoji="1" lang="zh-CN" altLang="en-US" sz="2000" strike="noStrike" noProof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头结点的</a:t>
            </a: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线索</a:t>
            </a:r>
            <a:endParaRPr kumimoji="1" lang="zh-CN" altLang="en-US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pre-&gt;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rtag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=1;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root-&gt;</a:t>
            </a:r>
            <a:r>
              <a:rPr kumimoji="1" lang="en-US" altLang="zh-CN" sz="2000" strike="noStrike" noProof="1" dirty="0" err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=pre;    	</a:t>
            </a:r>
            <a:r>
              <a:rPr kumimoji="1" lang="en-US" altLang="zh-CN" sz="2000" strike="noStrike" noProof="1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000" strike="noStrike" noProof="1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头结点右</a:t>
            </a: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线索化</a:t>
            </a:r>
            <a:endParaRPr kumimoji="1" lang="zh-CN" altLang="en-US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000" strike="noStrike" noProof="1" dirty="0" smtClean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return </a:t>
            </a: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root;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2000" strike="noStrike" noProof="1" dirty="0">
                <a:solidFill>
                  <a:srgbClr val="1F497D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 </a:t>
            </a:r>
            <a:endParaRPr kumimoji="1" lang="en-US" altLang="zh-CN" sz="2000" strike="noStrike" noProof="1" dirty="0">
              <a:solidFill>
                <a:srgbClr val="1F497D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95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150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200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244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254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284" end="3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328" end="3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357" end="3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398" end="4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412" end="4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445" end="4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30050">
                                            <p:txEl>
                                              <p:charRg st="328" end="3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30050">
                                            <p:txEl>
                                              <p:charRg st="328" end="35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charRg st="452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6017" name="Group 73"/>
          <p:cNvGrpSpPr/>
          <p:nvPr/>
        </p:nvGrpSpPr>
        <p:grpSpPr>
          <a:xfrm>
            <a:off x="5327650" y="1603375"/>
            <a:ext cx="1296988" cy="792163"/>
            <a:chOff x="2290" y="1010"/>
            <a:chExt cx="817" cy="499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54979" name="Rectangle 3"/>
            <p:cNvSpPr>
              <a:spLocks noChangeArrowheads="1"/>
            </p:cNvSpPr>
            <p:nvPr/>
          </p:nvSpPr>
          <p:spPr bwMode="auto">
            <a:xfrm>
              <a:off x="2290" y="1010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0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4980" name="Line 4"/>
            <p:cNvSpPr>
              <a:spLocks noChangeShapeType="1"/>
            </p:cNvSpPr>
            <p:nvPr/>
          </p:nvSpPr>
          <p:spPr bwMode="auto">
            <a:xfrm>
              <a:off x="2562" y="1010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81" name="Line 5"/>
            <p:cNvSpPr>
              <a:spLocks noChangeShapeType="1"/>
            </p:cNvSpPr>
            <p:nvPr/>
          </p:nvSpPr>
          <p:spPr bwMode="auto">
            <a:xfrm>
              <a:off x="2835" y="1010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82" name="Rectangle 6"/>
            <p:cNvSpPr>
              <a:spLocks noChangeArrowheads="1"/>
            </p:cNvSpPr>
            <p:nvPr/>
          </p:nvSpPr>
          <p:spPr bwMode="auto">
            <a:xfrm>
              <a:off x="2290" y="1282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83" name="Line 7"/>
            <p:cNvSpPr>
              <a:spLocks noChangeShapeType="1"/>
            </p:cNvSpPr>
            <p:nvPr/>
          </p:nvSpPr>
          <p:spPr bwMode="auto">
            <a:xfrm>
              <a:off x="2698" y="1282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6498" name="Group 75"/>
          <p:cNvGrpSpPr/>
          <p:nvPr/>
        </p:nvGrpSpPr>
        <p:grpSpPr>
          <a:xfrm>
            <a:off x="5934075" y="4627563"/>
            <a:ext cx="1296988" cy="792162"/>
            <a:chOff x="2672" y="2915"/>
            <a:chExt cx="817" cy="499"/>
          </a:xfrm>
        </p:grpSpPr>
        <p:sp>
          <p:nvSpPr>
            <p:cNvPr id="254984" name="Rectangle 8"/>
            <p:cNvSpPr>
              <a:spLocks noChangeArrowheads="1"/>
            </p:cNvSpPr>
            <p:nvPr/>
          </p:nvSpPr>
          <p:spPr bwMode="auto">
            <a:xfrm>
              <a:off x="2672" y="2915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4985" name="Line 9"/>
            <p:cNvSpPr>
              <a:spLocks noChangeShapeType="1"/>
            </p:cNvSpPr>
            <p:nvPr/>
          </p:nvSpPr>
          <p:spPr bwMode="auto">
            <a:xfrm>
              <a:off x="2944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86" name="Line 10"/>
            <p:cNvSpPr>
              <a:spLocks noChangeShapeType="1"/>
            </p:cNvSpPr>
            <p:nvPr/>
          </p:nvSpPr>
          <p:spPr bwMode="auto">
            <a:xfrm>
              <a:off x="3217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87" name="Rectangle 11"/>
            <p:cNvSpPr>
              <a:spLocks noChangeArrowheads="1"/>
            </p:cNvSpPr>
            <p:nvPr/>
          </p:nvSpPr>
          <p:spPr bwMode="auto">
            <a:xfrm>
              <a:off x="2672" y="3187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88" name="Line 12"/>
            <p:cNvSpPr>
              <a:spLocks noChangeShapeType="1"/>
            </p:cNvSpPr>
            <p:nvPr/>
          </p:nvSpPr>
          <p:spPr bwMode="auto">
            <a:xfrm>
              <a:off x="3080" y="3187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6504" name="Group 76"/>
          <p:cNvGrpSpPr/>
          <p:nvPr/>
        </p:nvGrpSpPr>
        <p:grpSpPr>
          <a:xfrm>
            <a:off x="6954838" y="2835275"/>
            <a:ext cx="1296987" cy="792163"/>
            <a:chOff x="3315" y="1786"/>
            <a:chExt cx="817" cy="499"/>
          </a:xfrm>
        </p:grpSpPr>
        <p:sp>
          <p:nvSpPr>
            <p:cNvPr id="254989" name="Rectangle 13"/>
            <p:cNvSpPr>
              <a:spLocks noChangeArrowheads="1"/>
            </p:cNvSpPr>
            <p:nvPr/>
          </p:nvSpPr>
          <p:spPr bwMode="auto">
            <a:xfrm>
              <a:off x="3315" y="1786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0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4990" name="Line 14"/>
            <p:cNvSpPr>
              <a:spLocks noChangeShapeType="1"/>
            </p:cNvSpPr>
            <p:nvPr/>
          </p:nvSpPr>
          <p:spPr bwMode="auto">
            <a:xfrm>
              <a:off x="3587" y="1786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91" name="Line 15"/>
            <p:cNvSpPr>
              <a:spLocks noChangeShapeType="1"/>
            </p:cNvSpPr>
            <p:nvPr/>
          </p:nvSpPr>
          <p:spPr bwMode="auto">
            <a:xfrm>
              <a:off x="3860" y="1786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92" name="Rectangle 16"/>
            <p:cNvSpPr>
              <a:spLocks noChangeArrowheads="1"/>
            </p:cNvSpPr>
            <p:nvPr/>
          </p:nvSpPr>
          <p:spPr bwMode="auto">
            <a:xfrm>
              <a:off x="3315" y="2058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93" name="Line 17"/>
            <p:cNvSpPr>
              <a:spLocks noChangeShapeType="1"/>
            </p:cNvSpPr>
            <p:nvPr/>
          </p:nvSpPr>
          <p:spPr bwMode="auto">
            <a:xfrm>
              <a:off x="3723" y="2058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6510" name="Group 77"/>
          <p:cNvGrpSpPr/>
          <p:nvPr/>
        </p:nvGrpSpPr>
        <p:grpSpPr>
          <a:xfrm>
            <a:off x="7920038" y="4627563"/>
            <a:ext cx="1296987" cy="792162"/>
            <a:chOff x="3923" y="2915"/>
            <a:chExt cx="817" cy="499"/>
          </a:xfrm>
        </p:grpSpPr>
        <p:sp>
          <p:nvSpPr>
            <p:cNvPr id="254994" name="Rectangle 18"/>
            <p:cNvSpPr>
              <a:spLocks noChangeArrowheads="1"/>
            </p:cNvSpPr>
            <p:nvPr/>
          </p:nvSpPr>
          <p:spPr bwMode="auto">
            <a:xfrm>
              <a:off x="3923" y="2915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</a:t>
              </a:r>
              <a:r>
                <a:rPr lang="en-US" altLang="zh-CN" sz="1800" strike="noStrike" noProof="1" dirty="0" smtClean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4995" name="Line 19"/>
            <p:cNvSpPr>
              <a:spLocks noChangeShapeType="1"/>
            </p:cNvSpPr>
            <p:nvPr/>
          </p:nvSpPr>
          <p:spPr bwMode="auto">
            <a:xfrm>
              <a:off x="4195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96" name="Line 20"/>
            <p:cNvSpPr>
              <a:spLocks noChangeShapeType="1"/>
            </p:cNvSpPr>
            <p:nvPr/>
          </p:nvSpPr>
          <p:spPr bwMode="auto">
            <a:xfrm>
              <a:off x="4468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97" name="Rectangle 21"/>
            <p:cNvSpPr>
              <a:spLocks noChangeArrowheads="1"/>
            </p:cNvSpPr>
            <p:nvPr/>
          </p:nvSpPr>
          <p:spPr bwMode="auto">
            <a:xfrm>
              <a:off x="3923" y="3187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4998" name="Line 22"/>
            <p:cNvSpPr>
              <a:spLocks noChangeShapeType="1"/>
            </p:cNvSpPr>
            <p:nvPr/>
          </p:nvSpPr>
          <p:spPr bwMode="auto">
            <a:xfrm>
              <a:off x="4331" y="3187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sp>
        <p:nvSpPr>
          <p:cNvPr id="106516" name="Freeform 23"/>
          <p:cNvSpPr/>
          <p:nvPr/>
        </p:nvSpPr>
        <p:spPr>
          <a:xfrm>
            <a:off x="4968875" y="2179638"/>
            <a:ext cx="719138" cy="627062"/>
          </a:xfrm>
          <a:custGeom>
            <a:avLst/>
            <a:gdLst/>
            <a:ahLst/>
            <a:cxnLst>
              <a:cxn ang="0">
                <a:pos x="453" y="0"/>
              </a:cxn>
              <a:cxn ang="0">
                <a:pos x="0" y="395"/>
              </a:cxn>
            </a:cxnLst>
            <a:pathLst>
              <a:path w="453" h="395">
                <a:moveTo>
                  <a:pt x="453" y="0"/>
                </a:moveTo>
                <a:lnTo>
                  <a:pt x="0" y="395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6517" name="Freeform 24"/>
          <p:cNvSpPr/>
          <p:nvPr/>
        </p:nvSpPr>
        <p:spPr>
          <a:xfrm>
            <a:off x="6416675" y="2209800"/>
            <a:ext cx="838200" cy="609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8" y="384"/>
              </a:cxn>
            </a:cxnLst>
            <a:pathLst>
              <a:path w="528" h="384">
                <a:moveTo>
                  <a:pt x="0" y="0"/>
                </a:moveTo>
                <a:lnTo>
                  <a:pt x="528" y="384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6518" name="Freeform 26"/>
          <p:cNvSpPr/>
          <p:nvPr/>
        </p:nvSpPr>
        <p:spPr>
          <a:xfrm>
            <a:off x="6746875" y="3467100"/>
            <a:ext cx="533400" cy="1157288"/>
          </a:xfrm>
          <a:custGeom>
            <a:avLst/>
            <a:gdLst/>
            <a:ahLst/>
            <a:cxnLst>
              <a:cxn ang="0">
                <a:pos x="336" y="0"/>
              </a:cxn>
              <a:cxn ang="0">
                <a:pos x="0" y="729"/>
              </a:cxn>
            </a:cxnLst>
            <a:pathLst>
              <a:path w="336" h="729">
                <a:moveTo>
                  <a:pt x="336" y="0"/>
                </a:moveTo>
                <a:lnTo>
                  <a:pt x="0" y="729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6519" name="Freeform 27"/>
          <p:cNvSpPr/>
          <p:nvPr/>
        </p:nvSpPr>
        <p:spPr>
          <a:xfrm>
            <a:off x="7978775" y="3467100"/>
            <a:ext cx="588963" cy="1160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71" y="731"/>
              </a:cxn>
            </a:cxnLst>
            <a:pathLst>
              <a:path w="371" h="731">
                <a:moveTo>
                  <a:pt x="0" y="0"/>
                </a:moveTo>
                <a:lnTo>
                  <a:pt x="371" y="731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255006" name="Freeform 30"/>
          <p:cNvSpPr/>
          <p:nvPr/>
        </p:nvSpPr>
        <p:spPr>
          <a:xfrm>
            <a:off x="6796088" y="3644900"/>
            <a:ext cx="725487" cy="2205038"/>
          </a:xfrm>
          <a:custGeom>
            <a:avLst/>
            <a:gdLst/>
            <a:ahLst/>
            <a:cxnLst>
              <a:cxn ang="0">
                <a:pos x="17" y="1049"/>
              </a:cxn>
              <a:cxn ang="0">
                <a:pos x="41" y="1345"/>
              </a:cxn>
              <a:cxn ang="0">
                <a:pos x="265" y="1313"/>
              </a:cxn>
              <a:cxn ang="0">
                <a:pos x="345" y="1073"/>
              </a:cxn>
              <a:cxn ang="0">
                <a:pos x="457" y="0"/>
              </a:cxn>
            </a:cxnLst>
            <a:pathLst>
              <a:path w="457" h="1389">
                <a:moveTo>
                  <a:pt x="17" y="1049"/>
                </a:moveTo>
                <a:cubicBezTo>
                  <a:pt x="21" y="1098"/>
                  <a:pt x="0" y="1301"/>
                  <a:pt x="41" y="1345"/>
                </a:cubicBezTo>
                <a:cubicBezTo>
                  <a:pt x="82" y="1389"/>
                  <a:pt x="214" y="1358"/>
                  <a:pt x="265" y="1313"/>
                </a:cubicBezTo>
                <a:cubicBezTo>
                  <a:pt x="316" y="1268"/>
                  <a:pt x="313" y="1292"/>
                  <a:pt x="345" y="1073"/>
                </a:cubicBezTo>
                <a:cubicBezTo>
                  <a:pt x="377" y="854"/>
                  <a:pt x="434" y="224"/>
                  <a:pt x="457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55007" name="Freeform 31"/>
          <p:cNvSpPr/>
          <p:nvPr/>
        </p:nvSpPr>
        <p:spPr>
          <a:xfrm>
            <a:off x="7675563" y="3497263"/>
            <a:ext cx="604837" cy="2368550"/>
          </a:xfrm>
          <a:custGeom>
            <a:avLst/>
            <a:gdLst/>
            <a:ahLst/>
            <a:cxnLst>
              <a:cxn ang="0">
                <a:pos x="381" y="1120"/>
              </a:cxn>
              <a:cxn ang="0">
                <a:pos x="290" y="1438"/>
              </a:cxn>
              <a:cxn ang="0">
                <a:pos x="127" y="1445"/>
              </a:cxn>
              <a:cxn ang="0">
                <a:pos x="18" y="1256"/>
              </a:cxn>
              <a:cxn ang="0">
                <a:pos x="18" y="894"/>
              </a:cxn>
              <a:cxn ang="0">
                <a:pos x="31" y="133"/>
              </a:cxn>
              <a:cxn ang="0">
                <a:pos x="39" y="93"/>
              </a:cxn>
            </a:cxnLst>
            <a:pathLst>
              <a:path w="381" h="1492">
                <a:moveTo>
                  <a:pt x="381" y="1120"/>
                </a:moveTo>
                <a:cubicBezTo>
                  <a:pt x="354" y="1256"/>
                  <a:pt x="332" y="1384"/>
                  <a:pt x="290" y="1438"/>
                </a:cubicBezTo>
                <a:cubicBezTo>
                  <a:pt x="248" y="1492"/>
                  <a:pt x="172" y="1475"/>
                  <a:pt x="127" y="1445"/>
                </a:cubicBezTo>
                <a:cubicBezTo>
                  <a:pt x="82" y="1415"/>
                  <a:pt x="36" y="1348"/>
                  <a:pt x="18" y="1256"/>
                </a:cubicBezTo>
                <a:cubicBezTo>
                  <a:pt x="0" y="1164"/>
                  <a:pt x="16" y="1081"/>
                  <a:pt x="18" y="894"/>
                </a:cubicBezTo>
                <a:cubicBezTo>
                  <a:pt x="20" y="707"/>
                  <a:pt x="28" y="266"/>
                  <a:pt x="31" y="133"/>
                </a:cubicBezTo>
                <a:cubicBezTo>
                  <a:pt x="34" y="0"/>
                  <a:pt x="37" y="101"/>
                  <a:pt x="39" y="93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grpSp>
        <p:nvGrpSpPr>
          <p:cNvPr id="106522" name="Group 69"/>
          <p:cNvGrpSpPr/>
          <p:nvPr/>
        </p:nvGrpSpPr>
        <p:grpSpPr>
          <a:xfrm>
            <a:off x="5327650" y="223838"/>
            <a:ext cx="1296988" cy="1373187"/>
            <a:chOff x="2290" y="141"/>
            <a:chExt cx="817" cy="865"/>
          </a:xfrm>
        </p:grpSpPr>
        <p:sp>
          <p:nvSpPr>
            <p:cNvPr id="255009" name="Rectangle 33"/>
            <p:cNvSpPr>
              <a:spLocks noChangeArrowheads="1"/>
            </p:cNvSpPr>
            <p:nvPr/>
          </p:nvSpPr>
          <p:spPr bwMode="auto">
            <a:xfrm>
              <a:off x="2290" y="141"/>
              <a:ext cx="817" cy="27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////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5010" name="Line 34"/>
            <p:cNvSpPr>
              <a:spLocks noChangeShapeType="1"/>
            </p:cNvSpPr>
            <p:nvPr/>
          </p:nvSpPr>
          <p:spPr bwMode="auto">
            <a:xfrm>
              <a:off x="2562" y="141"/>
              <a:ext cx="0" cy="272"/>
            </a:xfrm>
            <a:prstGeom prst="lin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b="0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5011" name="Line 35"/>
            <p:cNvSpPr>
              <a:spLocks noChangeShapeType="1"/>
            </p:cNvSpPr>
            <p:nvPr/>
          </p:nvSpPr>
          <p:spPr bwMode="auto">
            <a:xfrm>
              <a:off x="2835" y="141"/>
              <a:ext cx="0" cy="272"/>
            </a:xfrm>
            <a:prstGeom prst="lin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b="0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5012" name="Rectangle 36"/>
            <p:cNvSpPr>
              <a:spLocks noChangeArrowheads="1"/>
            </p:cNvSpPr>
            <p:nvPr/>
          </p:nvSpPr>
          <p:spPr bwMode="auto">
            <a:xfrm>
              <a:off x="2290" y="413"/>
              <a:ext cx="817" cy="22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b="0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5013" name="Line 37"/>
            <p:cNvSpPr>
              <a:spLocks noChangeShapeType="1"/>
            </p:cNvSpPr>
            <p:nvPr/>
          </p:nvSpPr>
          <p:spPr bwMode="auto">
            <a:xfrm>
              <a:off x="2698" y="413"/>
              <a:ext cx="0" cy="227"/>
            </a:xfrm>
            <a:prstGeom prst="lin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b="0" strike="noStrike" noProof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528" name="Line 38"/>
            <p:cNvSpPr/>
            <p:nvPr/>
          </p:nvSpPr>
          <p:spPr>
            <a:xfrm flipH="1">
              <a:off x="2496" y="507"/>
              <a:ext cx="0" cy="499"/>
            </a:xfrm>
            <a:prstGeom prst="line">
              <a:avLst/>
            </a:prstGeom>
            <a:ln w="31750" cap="flat" cmpd="sng">
              <a:solidFill>
                <a:srgbClr val="CC00FF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 wrap="none" anchor="t" anchorCtr="0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5054" name="Group 78"/>
          <p:cNvGrpSpPr/>
          <p:nvPr/>
        </p:nvGrpSpPr>
        <p:grpSpPr>
          <a:xfrm>
            <a:off x="5764213" y="655638"/>
            <a:ext cx="3179762" cy="5441950"/>
            <a:chOff x="2971" y="320"/>
            <a:chExt cx="2003" cy="3428"/>
          </a:xfrm>
        </p:grpSpPr>
        <p:sp>
          <p:nvSpPr>
            <p:cNvPr id="106530" name="Freeform 39"/>
            <p:cNvSpPr/>
            <p:nvPr/>
          </p:nvSpPr>
          <p:spPr>
            <a:xfrm>
              <a:off x="2971" y="504"/>
              <a:ext cx="1597" cy="24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80" y="272"/>
                </a:cxn>
                <a:cxn ang="0">
                  <a:pos x="1315" y="1225"/>
                </a:cxn>
                <a:cxn ang="0">
                  <a:pos x="1597" y="2408"/>
                </a:cxn>
              </a:cxnLst>
              <a:pathLst>
                <a:path w="1597" h="2408">
                  <a:moveTo>
                    <a:pt x="0" y="0"/>
                  </a:moveTo>
                  <a:cubicBezTo>
                    <a:pt x="230" y="34"/>
                    <a:pt x="461" y="68"/>
                    <a:pt x="680" y="272"/>
                  </a:cubicBezTo>
                  <a:cubicBezTo>
                    <a:pt x="899" y="476"/>
                    <a:pt x="1162" y="869"/>
                    <a:pt x="1315" y="1225"/>
                  </a:cubicBezTo>
                  <a:cubicBezTo>
                    <a:pt x="1468" y="1581"/>
                    <a:pt x="1538" y="2162"/>
                    <a:pt x="1597" y="2408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ysDot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531" name="Freeform 41"/>
            <p:cNvSpPr/>
            <p:nvPr/>
          </p:nvSpPr>
          <p:spPr>
            <a:xfrm>
              <a:off x="3144" y="320"/>
              <a:ext cx="1830" cy="3428"/>
            </a:xfrm>
            <a:custGeom>
              <a:avLst/>
              <a:gdLst/>
              <a:ahLst/>
              <a:cxnLst>
                <a:cxn ang="0">
                  <a:pos x="1369" y="2996"/>
                </a:cxn>
                <a:cxn ang="0">
                  <a:pos x="1460" y="3269"/>
                </a:cxn>
                <a:cxn ang="0">
                  <a:pos x="1732" y="3269"/>
                </a:cxn>
                <a:cxn ang="0">
                  <a:pos x="1686" y="2316"/>
                </a:cxn>
                <a:cxn ang="0">
                  <a:pos x="870" y="411"/>
                </a:cxn>
                <a:cxn ang="0">
                  <a:pos x="0" y="0"/>
                </a:cxn>
              </a:cxnLst>
              <a:pathLst>
                <a:path w="1830" h="3428">
                  <a:moveTo>
                    <a:pt x="1369" y="2996"/>
                  </a:moveTo>
                  <a:cubicBezTo>
                    <a:pt x="1384" y="3109"/>
                    <a:pt x="1400" y="3223"/>
                    <a:pt x="1460" y="3269"/>
                  </a:cubicBezTo>
                  <a:cubicBezTo>
                    <a:pt x="1520" y="3315"/>
                    <a:pt x="1694" y="3428"/>
                    <a:pt x="1732" y="3269"/>
                  </a:cubicBezTo>
                  <a:cubicBezTo>
                    <a:pt x="1770" y="3110"/>
                    <a:pt x="1830" y="2792"/>
                    <a:pt x="1686" y="2316"/>
                  </a:cubicBezTo>
                  <a:cubicBezTo>
                    <a:pt x="1542" y="1840"/>
                    <a:pt x="1151" y="797"/>
                    <a:pt x="870" y="411"/>
                  </a:cubicBezTo>
                  <a:cubicBezTo>
                    <a:pt x="589" y="25"/>
                    <a:pt x="181" y="86"/>
                    <a:pt x="0" y="0"/>
                  </a:cubicBezTo>
                </a:path>
              </a:pathLst>
            </a:custGeom>
            <a:noFill/>
            <a:ln w="31750" cap="flat" cmpd="sng">
              <a:solidFill>
                <a:srgbClr val="FF0000"/>
              </a:solidFill>
              <a:prstDash val="sysDot"/>
              <a:round/>
              <a:headEnd type="none" w="lg" len="sm"/>
              <a:tailEnd type="stealth" w="lg" len="lg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6532" name="Group 72"/>
          <p:cNvGrpSpPr/>
          <p:nvPr/>
        </p:nvGrpSpPr>
        <p:grpSpPr>
          <a:xfrm>
            <a:off x="4032250" y="2816225"/>
            <a:ext cx="1296988" cy="793750"/>
            <a:chOff x="1474" y="1774"/>
            <a:chExt cx="817" cy="500"/>
          </a:xfrm>
        </p:grpSpPr>
        <p:sp>
          <p:nvSpPr>
            <p:cNvPr id="255019" name="Rectangle 43"/>
            <p:cNvSpPr>
              <a:spLocks noChangeArrowheads="1"/>
            </p:cNvSpPr>
            <p:nvPr/>
          </p:nvSpPr>
          <p:spPr bwMode="auto">
            <a:xfrm>
              <a:off x="1474" y="2047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b="0" strike="noStrike" noProof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55020" name="Line 44"/>
            <p:cNvSpPr>
              <a:spLocks noChangeShapeType="1"/>
            </p:cNvSpPr>
            <p:nvPr/>
          </p:nvSpPr>
          <p:spPr bwMode="auto">
            <a:xfrm>
              <a:off x="1882" y="2047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5023" name="Rectangle 47"/>
            <p:cNvSpPr>
              <a:spLocks noChangeArrowheads="1"/>
            </p:cNvSpPr>
            <p:nvPr/>
          </p:nvSpPr>
          <p:spPr bwMode="auto">
            <a:xfrm>
              <a:off x="1474" y="1774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5024" name="Line 48"/>
            <p:cNvSpPr>
              <a:spLocks noChangeShapeType="1"/>
            </p:cNvSpPr>
            <p:nvPr/>
          </p:nvSpPr>
          <p:spPr bwMode="auto">
            <a:xfrm>
              <a:off x="1746" y="1774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5025" name="Line 49"/>
            <p:cNvSpPr>
              <a:spLocks noChangeShapeType="1"/>
            </p:cNvSpPr>
            <p:nvPr/>
          </p:nvSpPr>
          <p:spPr bwMode="auto">
            <a:xfrm>
              <a:off x="2018" y="1774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6538" name="Group 71"/>
          <p:cNvGrpSpPr/>
          <p:nvPr/>
        </p:nvGrpSpPr>
        <p:grpSpPr>
          <a:xfrm>
            <a:off x="2851150" y="4545013"/>
            <a:ext cx="1296988" cy="803275"/>
            <a:chOff x="730" y="2863"/>
            <a:chExt cx="817" cy="506"/>
          </a:xfrm>
        </p:grpSpPr>
        <p:sp>
          <p:nvSpPr>
            <p:cNvPr id="255026" name="Rectangle 50"/>
            <p:cNvSpPr>
              <a:spLocks noChangeArrowheads="1"/>
            </p:cNvSpPr>
            <p:nvPr/>
          </p:nvSpPr>
          <p:spPr bwMode="auto">
            <a:xfrm>
              <a:off x="730" y="3134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b="0" strike="noStrike" noProof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55027" name="Line 51"/>
            <p:cNvSpPr>
              <a:spLocks noChangeShapeType="1"/>
            </p:cNvSpPr>
            <p:nvPr/>
          </p:nvSpPr>
          <p:spPr bwMode="auto">
            <a:xfrm>
              <a:off x="1134" y="3142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5028" name="Rectangle 52"/>
            <p:cNvSpPr>
              <a:spLocks noChangeArrowheads="1"/>
            </p:cNvSpPr>
            <p:nvPr/>
          </p:nvSpPr>
          <p:spPr bwMode="auto">
            <a:xfrm>
              <a:off x="730" y="2863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0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5029" name="Line 53"/>
            <p:cNvSpPr>
              <a:spLocks noChangeShapeType="1"/>
            </p:cNvSpPr>
            <p:nvPr/>
          </p:nvSpPr>
          <p:spPr bwMode="auto">
            <a:xfrm>
              <a:off x="1011" y="286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5030" name="Line 54"/>
            <p:cNvSpPr>
              <a:spLocks noChangeShapeType="1"/>
            </p:cNvSpPr>
            <p:nvPr/>
          </p:nvSpPr>
          <p:spPr bwMode="auto">
            <a:xfrm>
              <a:off x="1284" y="286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6544" name="Group 74"/>
          <p:cNvGrpSpPr/>
          <p:nvPr/>
        </p:nvGrpSpPr>
        <p:grpSpPr>
          <a:xfrm>
            <a:off x="4032250" y="5624513"/>
            <a:ext cx="1296988" cy="792162"/>
            <a:chOff x="1474" y="3543"/>
            <a:chExt cx="817" cy="499"/>
          </a:xfrm>
        </p:grpSpPr>
        <p:sp>
          <p:nvSpPr>
            <p:cNvPr id="255031" name="Rectangle 55"/>
            <p:cNvSpPr>
              <a:spLocks noChangeArrowheads="1"/>
            </p:cNvSpPr>
            <p:nvPr/>
          </p:nvSpPr>
          <p:spPr bwMode="auto">
            <a:xfrm>
              <a:off x="1474" y="3543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  G     1</a:t>
              </a:r>
              <a:endParaRPr lang="en-US" altLang="zh-CN" sz="1800" i="1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5032" name="Line 56"/>
            <p:cNvSpPr>
              <a:spLocks noChangeShapeType="1"/>
            </p:cNvSpPr>
            <p:nvPr/>
          </p:nvSpPr>
          <p:spPr bwMode="auto">
            <a:xfrm>
              <a:off x="1746" y="354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5033" name="Line 57"/>
            <p:cNvSpPr>
              <a:spLocks noChangeShapeType="1"/>
            </p:cNvSpPr>
            <p:nvPr/>
          </p:nvSpPr>
          <p:spPr bwMode="auto">
            <a:xfrm>
              <a:off x="2019" y="354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5034" name="Rectangle 58"/>
            <p:cNvSpPr>
              <a:spLocks noChangeArrowheads="1"/>
            </p:cNvSpPr>
            <p:nvPr/>
          </p:nvSpPr>
          <p:spPr bwMode="auto">
            <a:xfrm>
              <a:off x="1474" y="3815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255035" name="Line 59"/>
            <p:cNvSpPr>
              <a:spLocks noChangeShapeType="1"/>
            </p:cNvSpPr>
            <p:nvPr/>
          </p:nvSpPr>
          <p:spPr bwMode="auto">
            <a:xfrm>
              <a:off x="1882" y="3815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sp>
        <p:nvSpPr>
          <p:cNvPr id="106550" name="Freeform 60"/>
          <p:cNvSpPr/>
          <p:nvPr/>
        </p:nvSpPr>
        <p:spPr>
          <a:xfrm>
            <a:off x="3851275" y="5118100"/>
            <a:ext cx="468313" cy="5064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95" y="319"/>
              </a:cxn>
            </a:cxnLst>
            <a:pathLst>
              <a:path w="295" h="319">
                <a:moveTo>
                  <a:pt x="0" y="0"/>
                </a:moveTo>
                <a:lnTo>
                  <a:pt x="295" y="319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255037" name="Freeform 61"/>
          <p:cNvSpPr/>
          <p:nvPr/>
        </p:nvSpPr>
        <p:spPr>
          <a:xfrm>
            <a:off x="4651375" y="3632200"/>
            <a:ext cx="881063" cy="2905125"/>
          </a:xfrm>
          <a:custGeom>
            <a:avLst/>
            <a:gdLst/>
            <a:ahLst/>
            <a:cxnLst>
              <a:cxn ang="0">
                <a:pos x="154" y="1618"/>
              </a:cxn>
              <a:cxn ang="0">
                <a:pos x="245" y="1800"/>
              </a:cxn>
              <a:cxn ang="0">
                <a:pos x="472" y="1800"/>
              </a:cxn>
              <a:cxn ang="0">
                <a:pos x="517" y="1663"/>
              </a:cxn>
              <a:cxn ang="0">
                <a:pos x="517" y="1391"/>
              </a:cxn>
              <a:cxn ang="0">
                <a:pos x="290" y="847"/>
              </a:cxn>
              <a:cxn ang="0">
                <a:pos x="63" y="303"/>
              </a:cxn>
              <a:cxn ang="0">
                <a:pos x="0" y="0"/>
              </a:cxn>
            </a:cxnLst>
            <a:pathLst>
              <a:path w="555" h="1830">
                <a:moveTo>
                  <a:pt x="154" y="1618"/>
                </a:moveTo>
                <a:cubicBezTo>
                  <a:pt x="173" y="1694"/>
                  <a:pt x="192" y="1770"/>
                  <a:pt x="245" y="1800"/>
                </a:cubicBezTo>
                <a:cubicBezTo>
                  <a:pt x="298" y="1830"/>
                  <a:pt x="427" y="1823"/>
                  <a:pt x="472" y="1800"/>
                </a:cubicBezTo>
                <a:cubicBezTo>
                  <a:pt x="517" y="1777"/>
                  <a:pt x="510" y="1731"/>
                  <a:pt x="517" y="1663"/>
                </a:cubicBezTo>
                <a:cubicBezTo>
                  <a:pt x="524" y="1595"/>
                  <a:pt x="555" y="1527"/>
                  <a:pt x="517" y="1391"/>
                </a:cubicBezTo>
                <a:cubicBezTo>
                  <a:pt x="479" y="1255"/>
                  <a:pt x="366" y="1028"/>
                  <a:pt x="290" y="847"/>
                </a:cubicBezTo>
                <a:cubicBezTo>
                  <a:pt x="214" y="666"/>
                  <a:pt x="111" y="444"/>
                  <a:pt x="63" y="303"/>
                </a:cubicBezTo>
                <a:cubicBezTo>
                  <a:pt x="15" y="162"/>
                  <a:pt x="13" y="63"/>
                  <a:pt x="0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55039" name="Freeform 63"/>
          <p:cNvSpPr/>
          <p:nvPr/>
        </p:nvSpPr>
        <p:spPr>
          <a:xfrm>
            <a:off x="3635375" y="5372100"/>
            <a:ext cx="757238" cy="1225550"/>
          </a:xfrm>
          <a:custGeom>
            <a:avLst/>
            <a:gdLst/>
            <a:ahLst/>
            <a:cxnLst>
              <a:cxn ang="0">
                <a:pos x="477" y="567"/>
              </a:cxn>
              <a:cxn ang="0">
                <a:pos x="431" y="749"/>
              </a:cxn>
              <a:cxn ang="0">
                <a:pos x="205" y="704"/>
              </a:cxn>
              <a:cxn ang="0">
                <a:pos x="68" y="431"/>
              </a:cxn>
              <a:cxn ang="0">
                <a:pos x="0" y="0"/>
              </a:cxn>
            </a:cxnLst>
            <a:pathLst>
              <a:path w="477" h="772">
                <a:moveTo>
                  <a:pt x="477" y="567"/>
                </a:moveTo>
                <a:cubicBezTo>
                  <a:pt x="476" y="646"/>
                  <a:pt x="476" y="726"/>
                  <a:pt x="431" y="749"/>
                </a:cubicBezTo>
                <a:cubicBezTo>
                  <a:pt x="386" y="772"/>
                  <a:pt x="265" y="757"/>
                  <a:pt x="205" y="704"/>
                </a:cubicBezTo>
                <a:cubicBezTo>
                  <a:pt x="145" y="651"/>
                  <a:pt x="102" y="548"/>
                  <a:pt x="68" y="431"/>
                </a:cubicBezTo>
                <a:cubicBezTo>
                  <a:pt x="34" y="314"/>
                  <a:pt x="14" y="90"/>
                  <a:pt x="0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55041" name="Freeform 65"/>
          <p:cNvSpPr/>
          <p:nvPr/>
        </p:nvSpPr>
        <p:spPr>
          <a:xfrm>
            <a:off x="2514600" y="787400"/>
            <a:ext cx="2784475" cy="4981575"/>
          </a:xfrm>
          <a:custGeom>
            <a:avLst/>
            <a:gdLst/>
            <a:ahLst/>
            <a:cxnLst>
              <a:cxn ang="0">
                <a:pos x="412" y="2730"/>
              </a:cxn>
              <a:cxn ang="0">
                <a:pos x="321" y="3093"/>
              </a:cxn>
              <a:cxn ang="0">
                <a:pos x="49" y="3002"/>
              </a:cxn>
              <a:cxn ang="0">
                <a:pos x="26" y="2720"/>
              </a:cxn>
              <a:cxn ang="0">
                <a:pos x="49" y="2412"/>
              </a:cxn>
              <a:cxn ang="0">
                <a:pos x="185" y="1868"/>
              </a:cxn>
              <a:cxn ang="0">
                <a:pos x="457" y="1505"/>
              </a:cxn>
              <a:cxn ang="0">
                <a:pos x="1001" y="870"/>
              </a:cxn>
              <a:cxn ang="0">
                <a:pos x="1591" y="144"/>
              </a:cxn>
              <a:cxn ang="0">
                <a:pos x="1754" y="8"/>
              </a:cxn>
            </a:cxnLst>
            <a:pathLst>
              <a:path w="1754" h="3138">
                <a:moveTo>
                  <a:pt x="412" y="2730"/>
                </a:moveTo>
                <a:cubicBezTo>
                  <a:pt x="396" y="2889"/>
                  <a:pt x="381" y="3048"/>
                  <a:pt x="321" y="3093"/>
                </a:cubicBezTo>
                <a:cubicBezTo>
                  <a:pt x="261" y="3138"/>
                  <a:pt x="98" y="3064"/>
                  <a:pt x="49" y="3002"/>
                </a:cubicBezTo>
                <a:cubicBezTo>
                  <a:pt x="0" y="2940"/>
                  <a:pt x="26" y="2818"/>
                  <a:pt x="26" y="2720"/>
                </a:cubicBezTo>
                <a:cubicBezTo>
                  <a:pt x="26" y="2622"/>
                  <a:pt x="23" y="2554"/>
                  <a:pt x="49" y="2412"/>
                </a:cubicBezTo>
                <a:cubicBezTo>
                  <a:pt x="75" y="2270"/>
                  <a:pt x="117" y="2019"/>
                  <a:pt x="185" y="1868"/>
                </a:cubicBezTo>
                <a:cubicBezTo>
                  <a:pt x="253" y="1717"/>
                  <a:pt x="321" y="1671"/>
                  <a:pt x="457" y="1505"/>
                </a:cubicBezTo>
                <a:cubicBezTo>
                  <a:pt x="593" y="1339"/>
                  <a:pt x="812" y="1097"/>
                  <a:pt x="1001" y="870"/>
                </a:cubicBezTo>
                <a:cubicBezTo>
                  <a:pt x="1190" y="643"/>
                  <a:pt x="1466" y="288"/>
                  <a:pt x="1591" y="144"/>
                </a:cubicBezTo>
                <a:cubicBezTo>
                  <a:pt x="1716" y="0"/>
                  <a:pt x="1720" y="36"/>
                  <a:pt x="1754" y="8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lg" len="lg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55043" name="Freeform 67"/>
          <p:cNvSpPr/>
          <p:nvPr/>
        </p:nvSpPr>
        <p:spPr>
          <a:xfrm>
            <a:off x="5568950" y="2451100"/>
            <a:ext cx="708025" cy="3233738"/>
          </a:xfrm>
          <a:custGeom>
            <a:avLst/>
            <a:gdLst/>
            <a:ahLst/>
            <a:cxnLst>
              <a:cxn ang="0">
                <a:pos x="446" y="1761"/>
              </a:cxn>
              <a:cxn ang="0">
                <a:pos x="302" y="1999"/>
              </a:cxn>
              <a:cxn ang="0">
                <a:pos x="75" y="1954"/>
              </a:cxn>
              <a:cxn ang="0">
                <a:pos x="30" y="1500"/>
              </a:cxn>
              <a:cxn ang="0">
                <a:pos x="257" y="775"/>
              </a:cxn>
              <a:cxn ang="0">
                <a:pos x="342" y="0"/>
              </a:cxn>
            </a:cxnLst>
            <a:pathLst>
              <a:path w="446" h="2037">
                <a:moveTo>
                  <a:pt x="446" y="1761"/>
                </a:moveTo>
                <a:cubicBezTo>
                  <a:pt x="423" y="1801"/>
                  <a:pt x="364" y="1967"/>
                  <a:pt x="302" y="1999"/>
                </a:cubicBezTo>
                <a:cubicBezTo>
                  <a:pt x="240" y="2031"/>
                  <a:pt x="120" y="2037"/>
                  <a:pt x="75" y="1954"/>
                </a:cubicBezTo>
                <a:cubicBezTo>
                  <a:pt x="30" y="1871"/>
                  <a:pt x="0" y="1696"/>
                  <a:pt x="30" y="1500"/>
                </a:cubicBezTo>
                <a:cubicBezTo>
                  <a:pt x="60" y="1304"/>
                  <a:pt x="205" y="1025"/>
                  <a:pt x="257" y="775"/>
                </a:cubicBezTo>
                <a:cubicBezTo>
                  <a:pt x="309" y="525"/>
                  <a:pt x="324" y="162"/>
                  <a:pt x="342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6555" name="Text Box 68"/>
          <p:cNvSpPr txBox="1"/>
          <p:nvPr/>
        </p:nvSpPr>
        <p:spPr>
          <a:xfrm>
            <a:off x="1738313" y="857250"/>
            <a:ext cx="1357312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序列：</a:t>
            </a:r>
            <a:endParaRPr lang="en-US" altLang="zh-CN" sz="2000" i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255056" name="Text Box 80"/>
          <p:cNvSpPr txBox="1">
            <a:spLocks noChangeArrowheads="1"/>
          </p:cNvSpPr>
          <p:nvPr/>
        </p:nvSpPr>
        <p:spPr bwMode="auto">
          <a:xfrm>
            <a:off x="1704975" y="260350"/>
            <a:ext cx="2605088" cy="460375"/>
          </a:xfrm>
          <a:prstGeom prst="rect">
            <a:avLst/>
          </a:prstGeom>
          <a:ln>
            <a:tailEnd type="none" w="med" len="lg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/>
            <a:r>
              <a:rPr lang="zh-CN" altLang="en-US" sz="2400" strike="noStrike" noProof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中序线索</a:t>
            </a:r>
            <a:r>
              <a:rPr lang="zh-CN" altLang="en-US" sz="2400" strike="noStrike" noProof="1" dirty="0" smtClean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化演示</a:t>
            </a:r>
            <a:endParaRPr lang="zh-CN" altLang="en-US" sz="2400" strike="noStrike" noProof="1" dirty="0">
              <a:solidFill>
                <a:srgbClr val="FF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5057" name="Text Box 81"/>
          <p:cNvSpPr txBox="1"/>
          <p:nvPr/>
        </p:nvSpPr>
        <p:spPr>
          <a:xfrm>
            <a:off x="5843588" y="6000750"/>
            <a:ext cx="30241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中序线索树建立完毕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4667250" y="71438"/>
            <a:ext cx="673100" cy="368300"/>
            <a:chOff x="3395685" y="71414"/>
            <a:chExt cx="673104" cy="368324"/>
          </a:xfrm>
        </p:grpSpPr>
        <p:cxnSp>
          <p:nvCxnSpPr>
            <p:cNvPr id="81" name="直接箭头连接符 80"/>
            <p:cNvCxnSpPr/>
            <p:nvPr/>
          </p:nvCxnSpPr>
          <p:spPr>
            <a:xfrm>
              <a:off x="3870346" y="285728"/>
              <a:ext cx="198443" cy="15401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3395685" y="71414"/>
              <a:ext cx="500066" cy="3073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000" noProof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pre</a:t>
              </a:r>
              <a:endParaRPr lang="zh-CN" altLang="en-US" sz="2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2700338" y="4130675"/>
            <a:ext cx="484187" cy="403225"/>
            <a:chOff x="1571604" y="4143380"/>
            <a:chExt cx="484195" cy="403228"/>
          </a:xfrm>
        </p:grpSpPr>
        <p:cxnSp>
          <p:nvCxnSpPr>
            <p:cNvPr id="85" name="直接箭头连接符 84"/>
            <p:cNvCxnSpPr/>
            <p:nvPr/>
          </p:nvCxnSpPr>
          <p:spPr>
            <a:xfrm>
              <a:off x="1857356" y="4392598"/>
              <a:ext cx="198443" cy="15401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571604" y="4143380"/>
              <a:ext cx="285752" cy="3073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000" noProof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lang="zh-CN" altLang="en-US" sz="2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2062163" y="133508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altLang="en-US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344738" y="133508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zh-CN" altLang="en-US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630488" y="133508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2916238" y="133508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201988" y="133508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zh-CN" altLang="en-US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487738" y="133508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altLang="en-US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773488" y="133508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zh-CN" altLang="en-US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71" name="Freeform 25"/>
          <p:cNvSpPr/>
          <p:nvPr/>
        </p:nvSpPr>
        <p:spPr>
          <a:xfrm>
            <a:off x="3529013" y="3441700"/>
            <a:ext cx="868362" cy="1114425"/>
          </a:xfrm>
          <a:custGeom>
            <a:avLst/>
            <a:gdLst/>
            <a:ahLst/>
            <a:cxnLst>
              <a:cxn ang="0">
                <a:pos x="547" y="0"/>
              </a:cxn>
              <a:cxn ang="0">
                <a:pos x="0" y="702"/>
              </a:cxn>
            </a:cxnLst>
            <a:pathLst>
              <a:path w="547" h="702">
                <a:moveTo>
                  <a:pt x="547" y="0"/>
                </a:moveTo>
                <a:lnTo>
                  <a:pt x="0" y="702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255021" name="Freeform 45"/>
          <p:cNvSpPr/>
          <p:nvPr/>
        </p:nvSpPr>
        <p:spPr>
          <a:xfrm>
            <a:off x="4895850" y="2425700"/>
            <a:ext cx="949325" cy="1593850"/>
          </a:xfrm>
          <a:custGeom>
            <a:avLst/>
            <a:gdLst/>
            <a:ahLst/>
            <a:cxnLst>
              <a:cxn ang="0">
                <a:pos x="0" y="694"/>
              </a:cxn>
              <a:cxn ang="0">
                <a:pos x="91" y="983"/>
              </a:cxn>
              <a:cxn ang="0">
                <a:pos x="363" y="818"/>
              </a:cxn>
              <a:cxn ang="0">
                <a:pos x="454" y="611"/>
              </a:cxn>
              <a:cxn ang="0">
                <a:pos x="598" y="0"/>
              </a:cxn>
            </a:cxnLst>
            <a:pathLst>
              <a:path w="598" h="1004">
                <a:moveTo>
                  <a:pt x="0" y="694"/>
                </a:moveTo>
                <a:cubicBezTo>
                  <a:pt x="15" y="828"/>
                  <a:pt x="31" y="962"/>
                  <a:pt x="91" y="983"/>
                </a:cubicBezTo>
                <a:cubicBezTo>
                  <a:pt x="151" y="1004"/>
                  <a:pt x="303" y="880"/>
                  <a:pt x="363" y="818"/>
                </a:cubicBezTo>
                <a:cubicBezTo>
                  <a:pt x="423" y="756"/>
                  <a:pt x="415" y="747"/>
                  <a:pt x="454" y="611"/>
                </a:cubicBezTo>
                <a:cubicBezTo>
                  <a:pt x="493" y="475"/>
                  <a:pt x="568" y="127"/>
                  <a:pt x="598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9382125" y="3429000"/>
            <a:ext cx="1143000" cy="3079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p=NULL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1 0.04421 C -0.01875 0.09051 -0.03611 0.13704 -0.06232 0.19977 C -0.08854 0.2625 -0.13229 0.35417 -0.15816 0.42014 C -0.18403 0.48611 -0.20538 0.55949 -0.21788 0.59606 " pathEditMode="relative" rAng="0" ptsTypes="aaaa">
                                      <p:cBhvr>
                                        <p:cTn id="1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6 0.00162 C 0.05486 0.00278 0.10278 -0.00393 0.13403 0.02199 C 0.16528 0.04792 0.18021 0.12894 0.19236 0.15718 " pathEditMode="relative" rAng="0" ptsTypes="aaa">
                                      <p:cBhvr>
                                        <p:cTn id="21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788 0.59606 C -0.18489 0.61065 -0.15607 0.62083 -0.1276 0.64792 C -0.09913 0.675 -0.06389 0.73588 -0.04705 0.75903 " pathEditMode="relative" rAng="0" ptsTypes="aaa">
                                      <p:cBhvr>
                                        <p:cTn id="3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236 0.15718 C 0.1625 0.01181 0.13455 -0.13102 0.12847 -0.19838 C 0.12239 -0.26574 0.15052 -0.23657 0.15625 -0.24652 " pathEditMode="relative" rAng="0" ptsTypes="aaa">
                                      <p:cBhvr>
                                        <p:cTn id="3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038 0.75162 C -0.03871 0.72407 -0.04687 0.69676 -0.05955 0.63866 C -0.07222 0.58055 -0.10173 0.45254 -0.10677 0.40347 C -0.1118 0.3544 -0.09357 0.35648 -0.0901 0.34421 " pathEditMode="relative" rAng="0" ptsTypes="aaaa">
                                      <p:cBhvr>
                                        <p:cTn id="4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625 -0.24652 C 0.16892 -0.29606 0.18073 -0.34375 0.20069 -0.3743 C 0.22066 -0.40486 0.26007 -0.41828 0.27569 -0.42986 " pathEditMode="relative" rAng="0" ptsTypes="aaa">
                                      <p:cBhvr>
                                        <p:cTn id="51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49 0.34792 C -0.06788 0.34467 -0.0691 0.34167 -0.05816 0.31829 C -0.04722 0.29491 -0.01736 0.23241 -0.00121 0.20717 C 0.01493 0.18194 0.03073 0.175 0.03906 0.16643 " pathEditMode="relative" rAng="0" ptsTypes="aaaa">
                                      <p:cBhvr>
                                        <p:cTn id="6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69 -0.42986 C 0.27257 -0.44791 0.26962 -0.46574 0.28542 -0.41504 C 0.30121 -0.36435 0.35677 -0.19652 0.37014 -0.12615 C 0.38351 -0.05578 0.37465 -0.0243 0.36597 0.00718 " pathEditMode="relative" ptsTypes="aaaA">
                                      <p:cBhvr>
                                        <p:cTn id="6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295 0.16458 C 0.05018 0.14884 0.04757 0.1331 0.06129 0.1794 C 0.075 0.22569 0.12465 0.37176 0.1349 0.44236 C 0.14514 0.51273 0.125 0.56852 0.1224 0.60162 " pathEditMode="relative" rAng="0" ptsTypes="aaaa">
                                      <p:cBhvr>
                                        <p:cTn id="7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597 0.00717 C 0.37136 -0.00903 0.37691 -0.02523 0.39653 -0.06875 C 0.41615 -0.11227 0.45 -0.1831 0.48403 -0.25394 " pathEditMode="relative" ptsTypes="aaA">
                                      <p:cBhvr>
                                        <p:cTn id="81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99 0.601620 C 0.141389 0.575230 0.139649 0.549070 0.147469 0.512730 C 0.155279 0.476390 0.171079 0.412040 0.190519 0.383100 C 0.209969 0.354170 0.237049 0.346290 0.264129 0.338660 " pathEditMode="relative" rAng="0" ptsTypes="aaaA">
                                      <p:cBhvr>
                                        <p:cTn id="9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4006 -0.252218 C 0.484587 -0.269487 0.486591 -0.281088 0.494864 -0.246039 C 0.503142 -0.210990 0.525960 -0.090624 0.533652 -0.041914 C 0.541345 0.006795 0.539405 0.028183 0.540891 0.046743 " pathEditMode="relative" rAng="0" ptsTypes="aaaa">
                                      <p:cBhvr>
                                        <p:cTn id="96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129 0.34051 C 0.26129 0.34051 0.29948 0.47385 0.33768 0.60718 " pathEditMode="relative" ptsTypes="aA">
                                      <p:cBhvr>
                                        <p:cTn id="10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52175 0.021154 C 0.590025 -0.052226 0.628045 -0.125366 0.643845 -0.154766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006" grpId="0" bldLvl="0" animBg="1"/>
      <p:bldP spid="255007" grpId="0" bldLvl="0" animBg="1"/>
      <p:bldP spid="255037" grpId="0" bldLvl="0" animBg="1"/>
      <p:bldP spid="255039" grpId="0" bldLvl="0" animBg="1"/>
      <p:bldP spid="255041" grpId="0" bldLvl="0" animBg="1"/>
      <p:bldP spid="255043" grpId="0" bldLvl="0" animBg="1"/>
      <p:bldP spid="255057" grpId="0" bldLvl="0" animBg="1"/>
      <p:bldP spid="88" grpId="0"/>
      <p:bldP spid="89" grpId="0"/>
      <p:bldP spid="90" grpId="0"/>
      <p:bldP spid="91" grpId="0"/>
      <p:bldP spid="92" grpId="0"/>
      <p:bldP spid="93" grpId="0"/>
      <p:bldP spid="94" grpId="0"/>
      <p:bldP spid="255021" grpId="0" bldLvl="0" animBg="1"/>
      <p:bldP spid="9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7521" name="Object 105"/>
          <p:cNvGraphicFramePr>
            <a:graphicFrameLocks noChangeAspect="1"/>
          </p:cNvGraphicFramePr>
          <p:nvPr/>
        </p:nvGraphicFramePr>
        <p:xfrm>
          <a:off x="1524000" y="685800"/>
          <a:ext cx="4605338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3305175" imgH="3390900" progId="Paint.Picture">
                  <p:embed/>
                </p:oleObj>
              </mc:Choice>
              <mc:Fallback>
                <p:oleObj name="" r:id="rId1" imgW="3305175" imgH="3390900" progId="Paint.Picture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685800"/>
                        <a:ext cx="4605338" cy="472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2" name="Text Box 85"/>
          <p:cNvSpPr txBox="1"/>
          <p:nvPr/>
        </p:nvSpPr>
        <p:spPr>
          <a:xfrm>
            <a:off x="6245225" y="225425"/>
            <a:ext cx="4267200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dirty="0">
                <a:solidFill>
                  <a:srgbClr val="0099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线索二叉树的遍历</a:t>
            </a:r>
            <a:endParaRPr lang="zh-CN" altLang="en-US" sz="3600" dirty="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8"/>
          <p:cNvGrpSpPr/>
          <p:nvPr/>
        </p:nvGrpSpPr>
        <p:grpSpPr>
          <a:xfrm>
            <a:off x="4343400" y="4191000"/>
            <a:ext cx="458788" cy="749300"/>
            <a:chOff x="672" y="2304"/>
            <a:chExt cx="289" cy="472"/>
          </a:xfrm>
        </p:grpSpPr>
        <p:sp>
          <p:nvSpPr>
            <p:cNvPr id="107524" name="Text Box 86"/>
            <p:cNvSpPr txBox="1"/>
            <p:nvPr/>
          </p:nvSpPr>
          <p:spPr>
            <a:xfrm>
              <a:off x="721" y="2447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25" name="Line 87"/>
            <p:cNvSpPr/>
            <p:nvPr/>
          </p:nvSpPr>
          <p:spPr>
            <a:xfrm flipH="1" flipV="1">
              <a:off x="672" y="2304"/>
              <a:ext cx="144" cy="24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13785" name="Text Box 89"/>
          <p:cNvSpPr txBox="1"/>
          <p:nvPr/>
        </p:nvSpPr>
        <p:spPr>
          <a:xfrm>
            <a:off x="6553200" y="1978025"/>
            <a:ext cx="3438525" cy="9525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求指定结点</a:t>
            </a:r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的后继</a:t>
            </a:r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p-&gt;rtag==1: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3790" name="Text Box 94"/>
          <p:cNvSpPr txBox="1"/>
          <p:nvPr/>
        </p:nvSpPr>
        <p:spPr>
          <a:xfrm>
            <a:off x="8312150" y="2360613"/>
            <a:ext cx="2003425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q=p-&gt;rchild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3792" name="Text Box 96"/>
          <p:cNvSpPr txBox="1"/>
          <p:nvPr/>
        </p:nvSpPr>
        <p:spPr>
          <a:xfrm>
            <a:off x="6454775" y="2817813"/>
            <a:ext cx="2033588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p-&gt;rtag==0: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99"/>
          <p:cNvGrpSpPr/>
          <p:nvPr/>
        </p:nvGrpSpPr>
        <p:grpSpPr>
          <a:xfrm>
            <a:off x="4191000" y="1162050"/>
            <a:ext cx="573088" cy="946150"/>
            <a:chOff x="2304" y="652"/>
            <a:chExt cx="361" cy="596"/>
          </a:xfrm>
        </p:grpSpPr>
        <p:sp>
          <p:nvSpPr>
            <p:cNvPr id="107530" name="Text Box 97"/>
            <p:cNvSpPr txBox="1"/>
            <p:nvPr/>
          </p:nvSpPr>
          <p:spPr>
            <a:xfrm>
              <a:off x="2425" y="652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31" name="Line 98"/>
            <p:cNvSpPr/>
            <p:nvPr/>
          </p:nvSpPr>
          <p:spPr>
            <a:xfrm flipH="1">
              <a:off x="2304" y="960"/>
              <a:ext cx="144" cy="288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13796" name="Text Box 100"/>
          <p:cNvSpPr txBox="1"/>
          <p:nvPr/>
        </p:nvSpPr>
        <p:spPr>
          <a:xfrm>
            <a:off x="1981200" y="5638800"/>
            <a:ext cx="4191000" cy="584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r>
              <a:rPr lang="zh-CN" altLang="en-US" sz="28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中序遍历序列： </a:t>
            </a:r>
            <a:r>
              <a:rPr lang="en-US" altLang="zh-CN" sz="32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dgbaecf</a:t>
            </a:r>
            <a:endParaRPr lang="en-US" altLang="zh-CN" sz="3200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3797" name="Text Box 101"/>
          <p:cNvSpPr txBox="1"/>
          <p:nvPr/>
        </p:nvSpPr>
        <p:spPr>
          <a:xfrm>
            <a:off x="7162800" y="3121025"/>
            <a:ext cx="2903538" cy="1382713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q=p-&gt;rchild;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while(q-&gt;ltag==0)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q=q-&gt;lchild;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3798" name="Text Box 102"/>
          <p:cNvSpPr txBox="1"/>
          <p:nvPr/>
        </p:nvSpPr>
        <p:spPr>
          <a:xfrm>
            <a:off x="6715125" y="4494213"/>
            <a:ext cx="2936875" cy="460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右子树左下角的结点</a:t>
            </a:r>
            <a:endParaRPr lang="zh-CN" altLang="en-US" sz="2400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1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1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41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1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9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41379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97">
                                            <p:txEl>
                                              <p:charRg st="1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413797">
                                            <p:txEl>
                                              <p:charRg st="13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97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413797">
                                            <p:txEl>
                                              <p:charRg st="31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85" grpId="0"/>
      <p:bldP spid="413790" grpId="0"/>
      <p:bldP spid="413792" grpId="0"/>
      <p:bldP spid="413796" grpId="0"/>
      <p:bldP spid="413797" grpId="0" build="p"/>
      <p:bldP spid="41379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1766888" y="142875"/>
            <a:ext cx="8686800" cy="644207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void </a:t>
            </a:r>
            <a:r>
              <a:rPr kumimoji="1" lang="en-US" altLang="zh-CN" sz="2400" strike="noStrike" noProof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ThInOrder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TBTNode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*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strike="noStrike" noProof="1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TBTNode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2400" strike="noStrike" noProof="1" dirty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p=</a:t>
            </a:r>
            <a:r>
              <a:rPr kumimoji="1" lang="en-US" altLang="zh-CN" sz="2400" strike="noStrike" noProof="1" dirty="0" err="1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</a:t>
            </a:r>
            <a:r>
              <a:rPr kumimoji="1" lang="en-US" altLang="zh-CN" sz="2400" strike="noStrike" noProof="1" dirty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-&gt;</a:t>
            </a:r>
            <a:r>
              <a:rPr kumimoji="1" lang="en-US" altLang="zh-CN" sz="2400" strike="noStrike" noProof="1" dirty="0" err="1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lchild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			</a:t>
            </a:r>
            <a:r>
              <a:rPr kumimoji="1" lang="en-US" altLang="zh-CN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//p</a:t>
            </a:r>
            <a:r>
              <a:rPr kumimoji="1" lang="zh-CN" altLang="en-US" sz="2400" strike="noStrike" noProof="1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指向</a:t>
            </a:r>
            <a:r>
              <a:rPr kumimoji="1" lang="zh-CN" alt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根结点</a:t>
            </a:r>
            <a:endParaRPr kumimoji="1" lang="zh-CN" altLang="en-US" sz="24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while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(p!=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{     </a:t>
            </a:r>
            <a:endParaRPr kumimoji="1" lang="en-US" altLang="zh-CN" sz="2400" strike="noStrike" noProof="1" dirty="0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while 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(p-&gt;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ltag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==0)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kumimoji="1" lang="en-US" altLang="zh-CN" sz="2400" strike="noStrike" noProof="1" dirty="0" smtClean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p=p-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lchild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	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strike="noStrike" noProof="1" dirty="0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strike="noStrike" noProof="1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找</a:t>
            </a:r>
            <a:r>
              <a:rPr kumimoji="1" lang="zh-CN" alt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开始结点</a:t>
            </a:r>
            <a:endParaRPr kumimoji="1" lang="zh-CN" altLang="en-US" sz="24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("%</a:t>
            </a:r>
            <a:r>
              <a:rPr kumimoji="1" lang="en-US" altLang="zh-CN" sz="2400" strike="noStrike" noProof="1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p-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&gt;data);			</a:t>
            </a:r>
            <a:r>
              <a:rPr kumimoji="1" lang="en-US" altLang="zh-CN" sz="2400" strike="noStrike" noProof="1" dirty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kumimoji="1" lang="zh-CN" altLang="en-US" sz="2400" strike="noStrike" noProof="1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访问</a:t>
            </a:r>
            <a:r>
              <a:rPr kumimoji="1" lang="zh-CN" altLang="en-US" sz="2400" strike="noStrike" noProof="1" smtClean="0">
                <a:solidFill>
                  <a:srgbClr val="00B0F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开始结点</a:t>
            </a:r>
            <a:endParaRPr kumimoji="1" lang="zh-CN" altLang="en-US" sz="2400" strike="noStrike" noProof="1" dirty="0">
              <a:solidFill>
                <a:srgbClr val="00B0F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zh-CN" altLang="en-US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while (</a:t>
            </a:r>
            <a:r>
              <a:rPr kumimoji="1" lang="en-US" altLang="zh-CN" sz="2400" strike="noStrike" noProof="1" dirty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p-&gt;</a:t>
            </a:r>
            <a:r>
              <a:rPr kumimoji="1" lang="en-US" altLang="zh-CN" sz="2400" strike="noStrike" noProof="1" dirty="0" err="1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rtag</a:t>
            </a:r>
            <a:r>
              <a:rPr kumimoji="1" lang="en-US" altLang="zh-CN" sz="2400" strike="noStrike" noProof="1" dirty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==1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&amp;&amp; </a:t>
            </a:r>
            <a:r>
              <a:rPr kumimoji="1" lang="en-US" altLang="zh-CN" sz="2400" strike="noStrike" noProof="1" dirty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p-&gt;</a:t>
            </a:r>
            <a:r>
              <a:rPr kumimoji="1" lang="en-US" altLang="zh-CN" sz="2400" strike="noStrike" noProof="1" dirty="0" err="1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kumimoji="1" lang="en-US" altLang="zh-CN" sz="2400" strike="noStrike" noProof="1" dirty="0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!=</a:t>
            </a:r>
            <a:r>
              <a:rPr kumimoji="1" lang="en-US" altLang="zh-CN" sz="2400" strike="noStrike" noProof="1" dirty="0" err="1">
                <a:solidFill>
                  <a:srgbClr val="FF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tb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{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p=p-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strike="noStrike" noProof="1" dirty="0" err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("%</a:t>
            </a:r>
            <a:r>
              <a:rPr kumimoji="1" lang="en-US" altLang="zh-CN" sz="2400" strike="noStrike" noProof="1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kumimoji="1" lang="zh-CN" altLang="en-US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strike="noStrike" noProof="1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p-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&gt;data);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}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p=p-&gt;</a:t>
            </a:r>
            <a:r>
              <a:rPr kumimoji="1" lang="en-US" altLang="zh-CN" sz="2400" strike="noStrike" noProof="1" dirty="0" err="1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rchild</a:t>
            </a: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400" strike="noStrike" noProof="1" dirty="0" smtClean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}</a:t>
            </a:r>
            <a:endParaRPr kumimoji="1" lang="en-US" altLang="zh-CN" sz="240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 fontAlgn="base">
              <a:lnSpc>
                <a:spcPts val="2200"/>
              </a:lnSpc>
              <a:spcBef>
                <a:spcPct val="50000"/>
              </a:spcBef>
            </a:pPr>
            <a:r>
              <a:rPr kumimoji="1" lang="en-US" altLang="zh-CN" sz="24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 </a:t>
            </a:r>
            <a:endParaRPr kumimoji="1" lang="en-US" altLang="zh-CN" sz="2400" b="0" strike="noStrike" noProof="1" dirty="0">
              <a:solidFill>
                <a:srgbClr val="3333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397500" y="3657600"/>
            <a:ext cx="4432300" cy="1236663"/>
            <a:chOff x="3759200" y="3073400"/>
            <a:chExt cx="4432618" cy="1237820"/>
          </a:xfrm>
        </p:grpSpPr>
        <p:sp>
          <p:nvSpPr>
            <p:cNvPr id="108547" name="Freeform 3"/>
            <p:cNvSpPr/>
            <p:nvPr/>
          </p:nvSpPr>
          <p:spPr>
            <a:xfrm>
              <a:off x="3759200" y="3073400"/>
              <a:ext cx="1593215" cy="916940"/>
            </a:xfrm>
            <a:custGeom>
              <a:avLst/>
              <a:gdLst/>
              <a:ahLst/>
              <a:cxnLst>
                <a:cxn ang="0">
                  <a:pos x="1192" y="680"/>
                </a:cxn>
                <a:cxn ang="0">
                  <a:pos x="0" y="0"/>
                </a:cxn>
              </a:cxnLst>
              <a:pathLst>
                <a:path w="1192" h="680">
                  <a:moveTo>
                    <a:pt x="1192" y="68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8548" name="Text Box 4"/>
            <p:cNvSpPr txBox="1"/>
            <p:nvPr/>
          </p:nvSpPr>
          <p:spPr>
            <a:xfrm>
              <a:off x="4807268" y="3912235"/>
              <a:ext cx="3384550" cy="39898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如果是线索就一直访问下去</a:t>
              </a:r>
              <a:endPara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</p:grpSp>
      <p:sp>
        <p:nvSpPr>
          <p:cNvPr id="133125" name="Text Box 5"/>
          <p:cNvSpPr txBox="1"/>
          <p:nvPr/>
        </p:nvSpPr>
        <p:spPr>
          <a:xfrm>
            <a:off x="1666875" y="6111875"/>
            <a:ext cx="8786813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优点：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</a:rPr>
              <a:t>中序遍历算法既没有递归也</a:t>
            </a:r>
            <a:r>
              <a:rPr lang="zh-CN" altLang="en-US" sz="2200">
                <a:latin typeface="微软雅黑" panose="020B0503020204020204" charset="-122"/>
                <a:ea typeface="微软雅黑" panose="020B0503020204020204" charset="-122"/>
              </a:rPr>
              <a:t>没有用栈，空间效率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</a:rPr>
              <a:t>得到提高。</a:t>
            </a:r>
            <a:endParaRPr lang="zh-CN" altLang="en-US" sz="2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104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140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161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195" end="2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232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252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282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charRg st="285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5" grpId="0" bldLvl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9569" name="Group 72"/>
          <p:cNvGrpSpPr/>
          <p:nvPr/>
        </p:nvGrpSpPr>
        <p:grpSpPr>
          <a:xfrm>
            <a:off x="6264275" y="1604963"/>
            <a:ext cx="1296988" cy="792162"/>
            <a:chOff x="2290" y="1010"/>
            <a:chExt cx="817" cy="499"/>
          </a:xfrm>
        </p:grpSpPr>
        <p:sp>
          <p:nvSpPr>
            <p:cNvPr id="382978" name="Rectangle 2"/>
            <p:cNvSpPr>
              <a:spLocks noChangeArrowheads="1"/>
            </p:cNvSpPr>
            <p:nvPr/>
          </p:nvSpPr>
          <p:spPr bwMode="auto">
            <a:xfrm>
              <a:off x="2290" y="1010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0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2979" name="Line 3"/>
            <p:cNvSpPr>
              <a:spLocks noChangeShapeType="1"/>
            </p:cNvSpPr>
            <p:nvPr/>
          </p:nvSpPr>
          <p:spPr bwMode="auto">
            <a:xfrm>
              <a:off x="2562" y="1010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80" name="Line 4"/>
            <p:cNvSpPr>
              <a:spLocks noChangeShapeType="1"/>
            </p:cNvSpPr>
            <p:nvPr/>
          </p:nvSpPr>
          <p:spPr bwMode="auto">
            <a:xfrm>
              <a:off x="2835" y="1010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81" name="Rectangle 5"/>
            <p:cNvSpPr>
              <a:spLocks noChangeArrowheads="1"/>
            </p:cNvSpPr>
            <p:nvPr/>
          </p:nvSpPr>
          <p:spPr bwMode="auto">
            <a:xfrm>
              <a:off x="2290" y="1282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82" name="Line 6"/>
            <p:cNvSpPr>
              <a:spLocks noChangeShapeType="1"/>
            </p:cNvSpPr>
            <p:nvPr/>
          </p:nvSpPr>
          <p:spPr bwMode="auto">
            <a:xfrm>
              <a:off x="2698" y="1282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9575" name="Group 73"/>
          <p:cNvGrpSpPr/>
          <p:nvPr/>
        </p:nvGrpSpPr>
        <p:grpSpPr>
          <a:xfrm>
            <a:off x="6870700" y="4629150"/>
            <a:ext cx="1296988" cy="792163"/>
            <a:chOff x="2672" y="2915"/>
            <a:chExt cx="817" cy="499"/>
          </a:xfrm>
        </p:grpSpPr>
        <p:sp>
          <p:nvSpPr>
            <p:cNvPr id="382983" name="Rectangle 7"/>
            <p:cNvSpPr>
              <a:spLocks noChangeArrowheads="1"/>
            </p:cNvSpPr>
            <p:nvPr/>
          </p:nvSpPr>
          <p:spPr bwMode="auto">
            <a:xfrm>
              <a:off x="2672" y="2915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2984" name="Line 8"/>
            <p:cNvSpPr>
              <a:spLocks noChangeShapeType="1"/>
            </p:cNvSpPr>
            <p:nvPr/>
          </p:nvSpPr>
          <p:spPr bwMode="auto">
            <a:xfrm>
              <a:off x="2944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85" name="Line 9"/>
            <p:cNvSpPr>
              <a:spLocks noChangeShapeType="1"/>
            </p:cNvSpPr>
            <p:nvPr/>
          </p:nvSpPr>
          <p:spPr bwMode="auto">
            <a:xfrm>
              <a:off x="3217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86" name="Rectangle 10"/>
            <p:cNvSpPr>
              <a:spLocks noChangeArrowheads="1"/>
            </p:cNvSpPr>
            <p:nvPr/>
          </p:nvSpPr>
          <p:spPr bwMode="auto">
            <a:xfrm>
              <a:off x="2672" y="3187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87" name="Line 11"/>
            <p:cNvSpPr>
              <a:spLocks noChangeShapeType="1"/>
            </p:cNvSpPr>
            <p:nvPr/>
          </p:nvSpPr>
          <p:spPr bwMode="auto">
            <a:xfrm>
              <a:off x="3080" y="3187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9581" name="Group 74"/>
          <p:cNvGrpSpPr/>
          <p:nvPr/>
        </p:nvGrpSpPr>
        <p:grpSpPr>
          <a:xfrm>
            <a:off x="7891463" y="2836863"/>
            <a:ext cx="1296987" cy="792162"/>
            <a:chOff x="3315" y="1786"/>
            <a:chExt cx="817" cy="499"/>
          </a:xfrm>
        </p:grpSpPr>
        <p:sp>
          <p:nvSpPr>
            <p:cNvPr id="382988" name="Rectangle 12"/>
            <p:cNvSpPr>
              <a:spLocks noChangeArrowheads="1"/>
            </p:cNvSpPr>
            <p:nvPr/>
          </p:nvSpPr>
          <p:spPr bwMode="auto">
            <a:xfrm>
              <a:off x="3315" y="1786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0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2989" name="Line 13"/>
            <p:cNvSpPr>
              <a:spLocks noChangeShapeType="1"/>
            </p:cNvSpPr>
            <p:nvPr/>
          </p:nvSpPr>
          <p:spPr bwMode="auto">
            <a:xfrm>
              <a:off x="3587" y="1786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90" name="Line 14"/>
            <p:cNvSpPr>
              <a:spLocks noChangeShapeType="1"/>
            </p:cNvSpPr>
            <p:nvPr/>
          </p:nvSpPr>
          <p:spPr bwMode="auto">
            <a:xfrm>
              <a:off x="3860" y="1786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91" name="Rectangle 15"/>
            <p:cNvSpPr>
              <a:spLocks noChangeArrowheads="1"/>
            </p:cNvSpPr>
            <p:nvPr/>
          </p:nvSpPr>
          <p:spPr bwMode="auto">
            <a:xfrm>
              <a:off x="3315" y="2058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92" name="Line 16"/>
            <p:cNvSpPr>
              <a:spLocks noChangeShapeType="1"/>
            </p:cNvSpPr>
            <p:nvPr/>
          </p:nvSpPr>
          <p:spPr bwMode="auto">
            <a:xfrm>
              <a:off x="3723" y="2058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9587" name="Group 75"/>
          <p:cNvGrpSpPr/>
          <p:nvPr/>
        </p:nvGrpSpPr>
        <p:grpSpPr>
          <a:xfrm>
            <a:off x="8866188" y="4629150"/>
            <a:ext cx="1296987" cy="792163"/>
            <a:chOff x="3923" y="2915"/>
            <a:chExt cx="817" cy="499"/>
          </a:xfrm>
        </p:grpSpPr>
        <p:sp>
          <p:nvSpPr>
            <p:cNvPr id="382993" name="Rectangle 17"/>
            <p:cNvSpPr>
              <a:spLocks noChangeArrowheads="1"/>
            </p:cNvSpPr>
            <p:nvPr/>
          </p:nvSpPr>
          <p:spPr bwMode="auto">
            <a:xfrm>
              <a:off x="3923" y="2915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2994" name="Line 18"/>
            <p:cNvSpPr>
              <a:spLocks noChangeShapeType="1"/>
            </p:cNvSpPr>
            <p:nvPr/>
          </p:nvSpPr>
          <p:spPr bwMode="auto">
            <a:xfrm>
              <a:off x="4195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95" name="Line 19"/>
            <p:cNvSpPr>
              <a:spLocks noChangeShapeType="1"/>
            </p:cNvSpPr>
            <p:nvPr/>
          </p:nvSpPr>
          <p:spPr bwMode="auto">
            <a:xfrm>
              <a:off x="4468" y="2915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96" name="Rectangle 20"/>
            <p:cNvSpPr>
              <a:spLocks noChangeArrowheads="1"/>
            </p:cNvSpPr>
            <p:nvPr/>
          </p:nvSpPr>
          <p:spPr bwMode="auto">
            <a:xfrm>
              <a:off x="3923" y="3187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2997" name="Line 21"/>
            <p:cNvSpPr>
              <a:spLocks noChangeShapeType="1"/>
            </p:cNvSpPr>
            <p:nvPr/>
          </p:nvSpPr>
          <p:spPr bwMode="auto">
            <a:xfrm>
              <a:off x="4331" y="3187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sp>
        <p:nvSpPr>
          <p:cNvPr id="109593" name="Freeform 22"/>
          <p:cNvSpPr/>
          <p:nvPr/>
        </p:nvSpPr>
        <p:spPr>
          <a:xfrm>
            <a:off x="5905500" y="2181225"/>
            <a:ext cx="719138" cy="627063"/>
          </a:xfrm>
          <a:custGeom>
            <a:avLst/>
            <a:gdLst/>
            <a:ahLst/>
            <a:cxnLst>
              <a:cxn ang="0">
                <a:pos x="453" y="0"/>
              </a:cxn>
              <a:cxn ang="0">
                <a:pos x="0" y="395"/>
              </a:cxn>
            </a:cxnLst>
            <a:pathLst>
              <a:path w="453" h="395">
                <a:moveTo>
                  <a:pt x="453" y="0"/>
                </a:moveTo>
                <a:lnTo>
                  <a:pt x="0" y="395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9594" name="Freeform 23"/>
          <p:cNvSpPr/>
          <p:nvPr/>
        </p:nvSpPr>
        <p:spPr>
          <a:xfrm>
            <a:off x="7353300" y="2211388"/>
            <a:ext cx="838200" cy="609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28" y="384"/>
              </a:cxn>
            </a:cxnLst>
            <a:pathLst>
              <a:path w="528" h="384">
                <a:moveTo>
                  <a:pt x="0" y="0"/>
                </a:moveTo>
                <a:lnTo>
                  <a:pt x="528" y="384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9595" name="Freeform 24"/>
          <p:cNvSpPr/>
          <p:nvPr/>
        </p:nvSpPr>
        <p:spPr>
          <a:xfrm>
            <a:off x="4465638" y="3443288"/>
            <a:ext cx="868362" cy="1114425"/>
          </a:xfrm>
          <a:custGeom>
            <a:avLst/>
            <a:gdLst/>
            <a:ahLst/>
            <a:cxnLst>
              <a:cxn ang="0">
                <a:pos x="547" y="0"/>
              </a:cxn>
              <a:cxn ang="0">
                <a:pos x="0" y="702"/>
              </a:cxn>
            </a:cxnLst>
            <a:pathLst>
              <a:path w="547" h="702">
                <a:moveTo>
                  <a:pt x="547" y="0"/>
                </a:moveTo>
                <a:lnTo>
                  <a:pt x="0" y="702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9596" name="Freeform 25"/>
          <p:cNvSpPr/>
          <p:nvPr/>
        </p:nvSpPr>
        <p:spPr>
          <a:xfrm>
            <a:off x="7683500" y="3468688"/>
            <a:ext cx="533400" cy="1157287"/>
          </a:xfrm>
          <a:custGeom>
            <a:avLst/>
            <a:gdLst/>
            <a:ahLst/>
            <a:cxnLst>
              <a:cxn ang="0">
                <a:pos x="336" y="0"/>
              </a:cxn>
              <a:cxn ang="0">
                <a:pos x="0" y="729"/>
              </a:cxn>
            </a:cxnLst>
            <a:pathLst>
              <a:path w="336" h="729">
                <a:moveTo>
                  <a:pt x="336" y="0"/>
                </a:moveTo>
                <a:lnTo>
                  <a:pt x="0" y="729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9597" name="Freeform 26"/>
          <p:cNvSpPr/>
          <p:nvPr/>
        </p:nvSpPr>
        <p:spPr>
          <a:xfrm>
            <a:off x="8915400" y="3468688"/>
            <a:ext cx="588963" cy="1160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71" y="731"/>
              </a:cxn>
            </a:cxnLst>
            <a:pathLst>
              <a:path w="371" h="731">
                <a:moveTo>
                  <a:pt x="0" y="0"/>
                </a:moveTo>
                <a:lnTo>
                  <a:pt x="371" y="731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miter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grpSp>
        <p:nvGrpSpPr>
          <p:cNvPr id="109598" name="Group 71"/>
          <p:cNvGrpSpPr/>
          <p:nvPr/>
        </p:nvGrpSpPr>
        <p:grpSpPr>
          <a:xfrm>
            <a:off x="4968875" y="2817813"/>
            <a:ext cx="1296988" cy="806450"/>
            <a:chOff x="1474" y="1774"/>
            <a:chExt cx="817" cy="508"/>
          </a:xfrm>
        </p:grpSpPr>
        <p:sp>
          <p:nvSpPr>
            <p:cNvPr id="383003" name="Rectangle 27"/>
            <p:cNvSpPr>
              <a:spLocks noChangeArrowheads="1"/>
            </p:cNvSpPr>
            <p:nvPr/>
          </p:nvSpPr>
          <p:spPr bwMode="auto">
            <a:xfrm>
              <a:off x="1474" y="2047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b="0" strike="noStrike" noProof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383004" name="Line 28"/>
            <p:cNvSpPr>
              <a:spLocks noChangeShapeType="1"/>
            </p:cNvSpPr>
            <p:nvPr/>
          </p:nvSpPr>
          <p:spPr bwMode="auto">
            <a:xfrm>
              <a:off x="1882" y="2055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05" name="Rectangle 29"/>
            <p:cNvSpPr>
              <a:spLocks noChangeArrowheads="1"/>
            </p:cNvSpPr>
            <p:nvPr/>
          </p:nvSpPr>
          <p:spPr bwMode="auto">
            <a:xfrm>
              <a:off x="1474" y="1774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06" name="Line 30"/>
            <p:cNvSpPr>
              <a:spLocks noChangeShapeType="1"/>
            </p:cNvSpPr>
            <p:nvPr/>
          </p:nvSpPr>
          <p:spPr bwMode="auto">
            <a:xfrm>
              <a:off x="1746" y="1774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07" name="Line 31"/>
            <p:cNvSpPr>
              <a:spLocks noChangeShapeType="1"/>
            </p:cNvSpPr>
            <p:nvPr/>
          </p:nvSpPr>
          <p:spPr bwMode="auto">
            <a:xfrm>
              <a:off x="2018" y="1774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9604" name="Group 69"/>
          <p:cNvGrpSpPr/>
          <p:nvPr/>
        </p:nvGrpSpPr>
        <p:grpSpPr>
          <a:xfrm>
            <a:off x="3781425" y="4546600"/>
            <a:ext cx="1296988" cy="803275"/>
            <a:chOff x="726" y="2863"/>
            <a:chExt cx="817" cy="506"/>
          </a:xfrm>
        </p:grpSpPr>
        <p:sp>
          <p:nvSpPr>
            <p:cNvPr id="383008" name="Rectangle 32"/>
            <p:cNvSpPr>
              <a:spLocks noChangeArrowheads="1"/>
            </p:cNvSpPr>
            <p:nvPr/>
          </p:nvSpPr>
          <p:spPr bwMode="auto">
            <a:xfrm>
              <a:off x="726" y="3134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zh-CN" sz="1800" b="0" strike="noStrike" noProof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383009" name="Line 33"/>
            <p:cNvSpPr>
              <a:spLocks noChangeShapeType="1"/>
            </p:cNvSpPr>
            <p:nvPr/>
          </p:nvSpPr>
          <p:spPr bwMode="auto">
            <a:xfrm>
              <a:off x="1134" y="3142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10" name="Rectangle 34"/>
            <p:cNvSpPr>
              <a:spLocks noChangeArrowheads="1"/>
            </p:cNvSpPr>
            <p:nvPr/>
          </p:nvSpPr>
          <p:spPr bwMode="auto">
            <a:xfrm>
              <a:off x="726" y="2863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0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11" name="Line 35"/>
            <p:cNvSpPr>
              <a:spLocks noChangeShapeType="1"/>
            </p:cNvSpPr>
            <p:nvPr/>
          </p:nvSpPr>
          <p:spPr bwMode="auto">
            <a:xfrm>
              <a:off x="1011" y="286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12" name="Line 36"/>
            <p:cNvSpPr>
              <a:spLocks noChangeShapeType="1"/>
            </p:cNvSpPr>
            <p:nvPr/>
          </p:nvSpPr>
          <p:spPr bwMode="auto">
            <a:xfrm>
              <a:off x="1284" y="286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grpSp>
        <p:nvGrpSpPr>
          <p:cNvPr id="109610" name="Group 70"/>
          <p:cNvGrpSpPr/>
          <p:nvPr/>
        </p:nvGrpSpPr>
        <p:grpSpPr>
          <a:xfrm>
            <a:off x="4968875" y="5626100"/>
            <a:ext cx="1296988" cy="792163"/>
            <a:chOff x="1474" y="3543"/>
            <a:chExt cx="817" cy="499"/>
          </a:xfrm>
        </p:grpSpPr>
        <p:sp>
          <p:nvSpPr>
            <p:cNvPr id="383013" name="Rectangle 37"/>
            <p:cNvSpPr>
              <a:spLocks noChangeArrowheads="1"/>
            </p:cNvSpPr>
            <p:nvPr/>
          </p:nvSpPr>
          <p:spPr bwMode="auto">
            <a:xfrm>
              <a:off x="1474" y="3543"/>
              <a:ext cx="817" cy="2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     </a:t>
              </a:r>
              <a:r>
                <a:rPr lang="en-US" altLang="zh-CN" sz="1800" i="1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14" name="Line 38"/>
            <p:cNvSpPr>
              <a:spLocks noChangeShapeType="1"/>
            </p:cNvSpPr>
            <p:nvPr/>
          </p:nvSpPr>
          <p:spPr bwMode="auto">
            <a:xfrm>
              <a:off x="1746" y="354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15" name="Line 39"/>
            <p:cNvSpPr>
              <a:spLocks noChangeShapeType="1"/>
            </p:cNvSpPr>
            <p:nvPr/>
          </p:nvSpPr>
          <p:spPr bwMode="auto">
            <a:xfrm>
              <a:off x="2019" y="3543"/>
              <a:ext cx="0" cy="2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16" name="Rectangle 40"/>
            <p:cNvSpPr>
              <a:spLocks noChangeArrowheads="1"/>
            </p:cNvSpPr>
            <p:nvPr/>
          </p:nvSpPr>
          <p:spPr bwMode="auto">
            <a:xfrm>
              <a:off x="1474" y="3815"/>
              <a:ext cx="817" cy="2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17" name="Line 41"/>
            <p:cNvSpPr>
              <a:spLocks noChangeShapeType="1"/>
            </p:cNvSpPr>
            <p:nvPr/>
          </p:nvSpPr>
          <p:spPr bwMode="auto">
            <a:xfrm>
              <a:off x="1882" y="3815"/>
              <a:ext cx="0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sp>
        <p:nvSpPr>
          <p:cNvPr id="109616" name="Freeform 42"/>
          <p:cNvSpPr/>
          <p:nvPr/>
        </p:nvSpPr>
        <p:spPr>
          <a:xfrm>
            <a:off x="4787900" y="5119688"/>
            <a:ext cx="468313" cy="5064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95" y="319"/>
              </a:cxn>
            </a:cxnLst>
            <a:pathLst>
              <a:path w="295" h="319">
                <a:moveTo>
                  <a:pt x="0" y="0"/>
                </a:moveTo>
                <a:lnTo>
                  <a:pt x="295" y="319"/>
                </a:lnTo>
              </a:path>
            </a:pathLst>
          </a:custGeom>
          <a:noFill/>
          <a:ln w="31750" cap="flat" cmpd="sng">
            <a:solidFill>
              <a:srgbClr val="CC00FF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p>
            <a:endParaRPr lang="zh-CN" altLang="en-US"/>
          </a:p>
        </p:txBody>
      </p:sp>
      <p:sp>
        <p:nvSpPr>
          <p:cNvPr id="109617" name="Freeform 44"/>
          <p:cNvSpPr/>
          <p:nvPr/>
        </p:nvSpPr>
        <p:spPr>
          <a:xfrm>
            <a:off x="4572000" y="5373688"/>
            <a:ext cx="757238" cy="1225550"/>
          </a:xfrm>
          <a:custGeom>
            <a:avLst/>
            <a:gdLst/>
            <a:ahLst/>
            <a:cxnLst>
              <a:cxn ang="0">
                <a:pos x="477" y="567"/>
              </a:cxn>
              <a:cxn ang="0">
                <a:pos x="431" y="749"/>
              </a:cxn>
              <a:cxn ang="0">
                <a:pos x="205" y="704"/>
              </a:cxn>
              <a:cxn ang="0">
                <a:pos x="68" y="431"/>
              </a:cxn>
              <a:cxn ang="0">
                <a:pos x="0" y="0"/>
              </a:cxn>
            </a:cxnLst>
            <a:pathLst>
              <a:path w="477" h="772">
                <a:moveTo>
                  <a:pt x="477" y="567"/>
                </a:moveTo>
                <a:cubicBezTo>
                  <a:pt x="476" y="646"/>
                  <a:pt x="476" y="726"/>
                  <a:pt x="431" y="749"/>
                </a:cubicBezTo>
                <a:cubicBezTo>
                  <a:pt x="386" y="772"/>
                  <a:pt x="265" y="757"/>
                  <a:pt x="205" y="704"/>
                </a:cubicBezTo>
                <a:cubicBezTo>
                  <a:pt x="145" y="651"/>
                  <a:pt x="102" y="548"/>
                  <a:pt x="68" y="431"/>
                </a:cubicBezTo>
                <a:cubicBezTo>
                  <a:pt x="34" y="314"/>
                  <a:pt x="14" y="90"/>
                  <a:pt x="0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18" name="Freeform 45"/>
          <p:cNvSpPr/>
          <p:nvPr/>
        </p:nvSpPr>
        <p:spPr>
          <a:xfrm>
            <a:off x="7732713" y="3646488"/>
            <a:ext cx="725487" cy="2205037"/>
          </a:xfrm>
          <a:custGeom>
            <a:avLst/>
            <a:gdLst/>
            <a:ahLst/>
            <a:cxnLst>
              <a:cxn ang="0">
                <a:pos x="17" y="1049"/>
              </a:cxn>
              <a:cxn ang="0">
                <a:pos x="41" y="1345"/>
              </a:cxn>
              <a:cxn ang="0">
                <a:pos x="265" y="1313"/>
              </a:cxn>
              <a:cxn ang="0">
                <a:pos x="345" y="1073"/>
              </a:cxn>
              <a:cxn ang="0">
                <a:pos x="457" y="0"/>
              </a:cxn>
            </a:cxnLst>
            <a:pathLst>
              <a:path w="457" h="1389">
                <a:moveTo>
                  <a:pt x="17" y="1049"/>
                </a:moveTo>
                <a:cubicBezTo>
                  <a:pt x="21" y="1098"/>
                  <a:pt x="0" y="1301"/>
                  <a:pt x="41" y="1345"/>
                </a:cubicBezTo>
                <a:cubicBezTo>
                  <a:pt x="82" y="1389"/>
                  <a:pt x="214" y="1358"/>
                  <a:pt x="265" y="1313"/>
                </a:cubicBezTo>
                <a:cubicBezTo>
                  <a:pt x="316" y="1268"/>
                  <a:pt x="313" y="1292"/>
                  <a:pt x="345" y="1073"/>
                </a:cubicBezTo>
                <a:cubicBezTo>
                  <a:pt x="377" y="854"/>
                  <a:pt x="434" y="224"/>
                  <a:pt x="457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19" name="Freeform 46"/>
          <p:cNvSpPr/>
          <p:nvPr/>
        </p:nvSpPr>
        <p:spPr>
          <a:xfrm>
            <a:off x="8612188" y="3498850"/>
            <a:ext cx="604837" cy="2368550"/>
          </a:xfrm>
          <a:custGeom>
            <a:avLst/>
            <a:gdLst/>
            <a:ahLst/>
            <a:cxnLst>
              <a:cxn ang="0">
                <a:pos x="381" y="1120"/>
              </a:cxn>
              <a:cxn ang="0">
                <a:pos x="290" y="1438"/>
              </a:cxn>
              <a:cxn ang="0">
                <a:pos x="127" y="1445"/>
              </a:cxn>
              <a:cxn ang="0">
                <a:pos x="18" y="1256"/>
              </a:cxn>
              <a:cxn ang="0">
                <a:pos x="18" y="894"/>
              </a:cxn>
              <a:cxn ang="0">
                <a:pos x="31" y="133"/>
              </a:cxn>
              <a:cxn ang="0">
                <a:pos x="39" y="93"/>
              </a:cxn>
            </a:cxnLst>
            <a:pathLst>
              <a:path w="381" h="1492">
                <a:moveTo>
                  <a:pt x="381" y="1120"/>
                </a:moveTo>
                <a:cubicBezTo>
                  <a:pt x="354" y="1256"/>
                  <a:pt x="332" y="1384"/>
                  <a:pt x="290" y="1438"/>
                </a:cubicBezTo>
                <a:cubicBezTo>
                  <a:pt x="248" y="1492"/>
                  <a:pt x="172" y="1475"/>
                  <a:pt x="127" y="1445"/>
                </a:cubicBezTo>
                <a:cubicBezTo>
                  <a:pt x="82" y="1415"/>
                  <a:pt x="36" y="1348"/>
                  <a:pt x="18" y="1256"/>
                </a:cubicBezTo>
                <a:cubicBezTo>
                  <a:pt x="0" y="1164"/>
                  <a:pt x="16" y="1081"/>
                  <a:pt x="18" y="894"/>
                </a:cubicBezTo>
                <a:cubicBezTo>
                  <a:pt x="20" y="707"/>
                  <a:pt x="28" y="266"/>
                  <a:pt x="31" y="133"/>
                </a:cubicBezTo>
                <a:cubicBezTo>
                  <a:pt x="34" y="0"/>
                  <a:pt x="37" y="101"/>
                  <a:pt x="39" y="93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grpSp>
        <p:nvGrpSpPr>
          <p:cNvPr id="109620" name="Group 68"/>
          <p:cNvGrpSpPr/>
          <p:nvPr/>
        </p:nvGrpSpPr>
        <p:grpSpPr>
          <a:xfrm>
            <a:off x="6264275" y="225425"/>
            <a:ext cx="1296988" cy="792163"/>
            <a:chOff x="2290" y="141"/>
            <a:chExt cx="817" cy="499"/>
          </a:xfrm>
        </p:grpSpPr>
        <p:sp>
          <p:nvSpPr>
            <p:cNvPr id="383023" name="Rectangle 47"/>
            <p:cNvSpPr>
              <a:spLocks noChangeArrowheads="1"/>
            </p:cNvSpPr>
            <p:nvPr/>
          </p:nvSpPr>
          <p:spPr bwMode="auto">
            <a:xfrm>
              <a:off x="2290" y="141"/>
              <a:ext cx="817" cy="27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r>
                <a:rPr lang="en-US" altLang="zh-CN" sz="1800" strike="noStrike" noProof="1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0     ////     1</a:t>
              </a:r>
              <a:endParaRPr lang="en-US" altLang="zh-CN" sz="1800" strike="noStrike" noProof="1" dirty="0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3024" name="Line 48"/>
            <p:cNvSpPr>
              <a:spLocks noChangeShapeType="1"/>
            </p:cNvSpPr>
            <p:nvPr/>
          </p:nvSpPr>
          <p:spPr bwMode="auto">
            <a:xfrm>
              <a:off x="2562" y="141"/>
              <a:ext cx="0" cy="272"/>
            </a:xfrm>
            <a:prstGeom prst="lin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25" name="Line 49"/>
            <p:cNvSpPr>
              <a:spLocks noChangeShapeType="1"/>
            </p:cNvSpPr>
            <p:nvPr/>
          </p:nvSpPr>
          <p:spPr bwMode="auto">
            <a:xfrm>
              <a:off x="2835" y="141"/>
              <a:ext cx="0" cy="272"/>
            </a:xfrm>
            <a:prstGeom prst="lin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26" name="Rectangle 50"/>
            <p:cNvSpPr>
              <a:spLocks noChangeArrowheads="1"/>
            </p:cNvSpPr>
            <p:nvPr/>
          </p:nvSpPr>
          <p:spPr bwMode="auto">
            <a:xfrm>
              <a:off x="2290" y="413"/>
              <a:ext cx="817" cy="22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fontAlgn="base"/>
              <a:endParaRPr lang="zh-CN" altLang="en-US" strike="noStrike" noProof="1"/>
            </a:p>
          </p:txBody>
        </p:sp>
        <p:sp>
          <p:nvSpPr>
            <p:cNvPr id="383027" name="Line 51"/>
            <p:cNvSpPr>
              <a:spLocks noChangeShapeType="1"/>
            </p:cNvSpPr>
            <p:nvPr/>
          </p:nvSpPr>
          <p:spPr bwMode="auto">
            <a:xfrm>
              <a:off x="2698" y="413"/>
              <a:ext cx="0" cy="22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wrap="none"/>
            <a:lstStyle/>
            <a:p>
              <a:pPr fontAlgn="base"/>
              <a:endParaRPr lang="zh-CN" altLang="en-US" strike="noStrike" noProof="1"/>
            </a:p>
          </p:txBody>
        </p:sp>
      </p:grpSp>
      <p:sp>
        <p:nvSpPr>
          <p:cNvPr id="109626" name="Line 52"/>
          <p:cNvSpPr/>
          <p:nvPr/>
        </p:nvSpPr>
        <p:spPr>
          <a:xfrm flipH="1">
            <a:off x="6591300" y="806450"/>
            <a:ext cx="0" cy="792163"/>
          </a:xfrm>
          <a:prstGeom prst="line">
            <a:avLst/>
          </a:prstGeom>
          <a:ln w="31750" cap="flat" cmpd="sng">
            <a:solidFill>
              <a:srgbClr val="CC00FF"/>
            </a:solidFill>
            <a:prstDash val="solid"/>
            <a:round/>
            <a:headEnd type="none" w="med" len="med"/>
            <a:tailEnd type="stealth" w="med" len="lg"/>
          </a:ln>
        </p:spPr>
        <p:txBody>
          <a:bodyPr wrap="none"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627" name="Freeform 53"/>
          <p:cNvSpPr/>
          <p:nvPr/>
        </p:nvSpPr>
        <p:spPr>
          <a:xfrm>
            <a:off x="7345363" y="801688"/>
            <a:ext cx="2535237" cy="3822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80" y="272"/>
              </a:cxn>
              <a:cxn ang="0">
                <a:pos x="1315" y="1225"/>
              </a:cxn>
              <a:cxn ang="0">
                <a:pos x="1597" y="2408"/>
              </a:cxn>
            </a:cxnLst>
            <a:pathLst>
              <a:path w="1597" h="2408">
                <a:moveTo>
                  <a:pt x="0" y="0"/>
                </a:moveTo>
                <a:cubicBezTo>
                  <a:pt x="230" y="34"/>
                  <a:pt x="461" y="68"/>
                  <a:pt x="680" y="272"/>
                </a:cubicBezTo>
                <a:cubicBezTo>
                  <a:pt x="899" y="476"/>
                  <a:pt x="1162" y="869"/>
                  <a:pt x="1315" y="1225"/>
                </a:cubicBezTo>
                <a:cubicBezTo>
                  <a:pt x="1468" y="1581"/>
                  <a:pt x="1538" y="2162"/>
                  <a:pt x="1597" y="2408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28" name="Freeform 54"/>
          <p:cNvSpPr/>
          <p:nvPr/>
        </p:nvSpPr>
        <p:spPr>
          <a:xfrm>
            <a:off x="7620000" y="509588"/>
            <a:ext cx="2905125" cy="5441950"/>
          </a:xfrm>
          <a:custGeom>
            <a:avLst/>
            <a:gdLst/>
            <a:ahLst/>
            <a:cxnLst>
              <a:cxn ang="0">
                <a:pos x="1369" y="2996"/>
              </a:cxn>
              <a:cxn ang="0">
                <a:pos x="1460" y="3269"/>
              </a:cxn>
              <a:cxn ang="0">
                <a:pos x="1732" y="3269"/>
              </a:cxn>
              <a:cxn ang="0">
                <a:pos x="1686" y="2316"/>
              </a:cxn>
              <a:cxn ang="0">
                <a:pos x="870" y="411"/>
              </a:cxn>
              <a:cxn ang="0">
                <a:pos x="0" y="0"/>
              </a:cxn>
            </a:cxnLst>
            <a:pathLst>
              <a:path w="1830" h="3428">
                <a:moveTo>
                  <a:pt x="1369" y="2996"/>
                </a:moveTo>
                <a:cubicBezTo>
                  <a:pt x="1384" y="3109"/>
                  <a:pt x="1400" y="3223"/>
                  <a:pt x="1460" y="3269"/>
                </a:cubicBezTo>
                <a:cubicBezTo>
                  <a:pt x="1520" y="3315"/>
                  <a:pt x="1694" y="3428"/>
                  <a:pt x="1732" y="3269"/>
                </a:cubicBezTo>
                <a:cubicBezTo>
                  <a:pt x="1770" y="3110"/>
                  <a:pt x="1830" y="2792"/>
                  <a:pt x="1686" y="2316"/>
                </a:cubicBezTo>
                <a:cubicBezTo>
                  <a:pt x="1542" y="1840"/>
                  <a:pt x="1151" y="797"/>
                  <a:pt x="870" y="411"/>
                </a:cubicBezTo>
                <a:cubicBezTo>
                  <a:pt x="589" y="25"/>
                  <a:pt x="181" y="86"/>
                  <a:pt x="0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lg" len="sm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29" name="Freeform 55"/>
          <p:cNvSpPr/>
          <p:nvPr/>
        </p:nvSpPr>
        <p:spPr>
          <a:xfrm>
            <a:off x="5832475" y="2427288"/>
            <a:ext cx="949325" cy="1593850"/>
          </a:xfrm>
          <a:custGeom>
            <a:avLst/>
            <a:gdLst/>
            <a:ahLst/>
            <a:cxnLst>
              <a:cxn ang="0">
                <a:pos x="0" y="694"/>
              </a:cxn>
              <a:cxn ang="0">
                <a:pos x="91" y="983"/>
              </a:cxn>
              <a:cxn ang="0">
                <a:pos x="363" y="818"/>
              </a:cxn>
              <a:cxn ang="0">
                <a:pos x="454" y="611"/>
              </a:cxn>
              <a:cxn ang="0">
                <a:pos x="598" y="0"/>
              </a:cxn>
            </a:cxnLst>
            <a:pathLst>
              <a:path w="598" h="1004">
                <a:moveTo>
                  <a:pt x="0" y="694"/>
                </a:moveTo>
                <a:cubicBezTo>
                  <a:pt x="15" y="828"/>
                  <a:pt x="31" y="962"/>
                  <a:pt x="91" y="983"/>
                </a:cubicBezTo>
                <a:cubicBezTo>
                  <a:pt x="151" y="1004"/>
                  <a:pt x="303" y="880"/>
                  <a:pt x="363" y="818"/>
                </a:cubicBezTo>
                <a:cubicBezTo>
                  <a:pt x="423" y="756"/>
                  <a:pt x="415" y="747"/>
                  <a:pt x="454" y="611"/>
                </a:cubicBezTo>
                <a:cubicBezTo>
                  <a:pt x="493" y="475"/>
                  <a:pt x="568" y="127"/>
                  <a:pt x="598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30" name="Freeform 56"/>
          <p:cNvSpPr/>
          <p:nvPr/>
        </p:nvSpPr>
        <p:spPr>
          <a:xfrm>
            <a:off x="5588000" y="3633788"/>
            <a:ext cx="881063" cy="2905125"/>
          </a:xfrm>
          <a:custGeom>
            <a:avLst/>
            <a:gdLst/>
            <a:ahLst/>
            <a:cxnLst>
              <a:cxn ang="0">
                <a:pos x="154" y="1618"/>
              </a:cxn>
              <a:cxn ang="0">
                <a:pos x="245" y="1800"/>
              </a:cxn>
              <a:cxn ang="0">
                <a:pos x="472" y="1800"/>
              </a:cxn>
              <a:cxn ang="0">
                <a:pos x="517" y="1663"/>
              </a:cxn>
              <a:cxn ang="0">
                <a:pos x="517" y="1391"/>
              </a:cxn>
              <a:cxn ang="0">
                <a:pos x="290" y="847"/>
              </a:cxn>
              <a:cxn ang="0">
                <a:pos x="63" y="303"/>
              </a:cxn>
              <a:cxn ang="0">
                <a:pos x="0" y="0"/>
              </a:cxn>
            </a:cxnLst>
            <a:pathLst>
              <a:path w="555" h="1830">
                <a:moveTo>
                  <a:pt x="154" y="1618"/>
                </a:moveTo>
                <a:cubicBezTo>
                  <a:pt x="173" y="1694"/>
                  <a:pt x="192" y="1770"/>
                  <a:pt x="245" y="1800"/>
                </a:cubicBezTo>
                <a:cubicBezTo>
                  <a:pt x="298" y="1830"/>
                  <a:pt x="427" y="1823"/>
                  <a:pt x="472" y="1800"/>
                </a:cubicBezTo>
                <a:cubicBezTo>
                  <a:pt x="517" y="1777"/>
                  <a:pt x="510" y="1731"/>
                  <a:pt x="517" y="1663"/>
                </a:cubicBezTo>
                <a:cubicBezTo>
                  <a:pt x="524" y="1595"/>
                  <a:pt x="555" y="1527"/>
                  <a:pt x="517" y="1391"/>
                </a:cubicBezTo>
                <a:cubicBezTo>
                  <a:pt x="479" y="1255"/>
                  <a:pt x="366" y="1028"/>
                  <a:pt x="290" y="847"/>
                </a:cubicBezTo>
                <a:cubicBezTo>
                  <a:pt x="214" y="666"/>
                  <a:pt x="111" y="444"/>
                  <a:pt x="63" y="303"/>
                </a:cubicBezTo>
                <a:cubicBezTo>
                  <a:pt x="15" y="162"/>
                  <a:pt x="13" y="63"/>
                  <a:pt x="0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31" name="Freeform 57"/>
          <p:cNvSpPr/>
          <p:nvPr/>
        </p:nvSpPr>
        <p:spPr>
          <a:xfrm>
            <a:off x="3451225" y="788988"/>
            <a:ext cx="2784475" cy="4981575"/>
          </a:xfrm>
          <a:custGeom>
            <a:avLst/>
            <a:gdLst/>
            <a:ahLst/>
            <a:cxnLst>
              <a:cxn ang="0">
                <a:pos x="412" y="2730"/>
              </a:cxn>
              <a:cxn ang="0">
                <a:pos x="321" y="3093"/>
              </a:cxn>
              <a:cxn ang="0">
                <a:pos x="49" y="3002"/>
              </a:cxn>
              <a:cxn ang="0">
                <a:pos x="26" y="2720"/>
              </a:cxn>
              <a:cxn ang="0">
                <a:pos x="49" y="2412"/>
              </a:cxn>
              <a:cxn ang="0">
                <a:pos x="185" y="1868"/>
              </a:cxn>
              <a:cxn ang="0">
                <a:pos x="457" y="1505"/>
              </a:cxn>
              <a:cxn ang="0">
                <a:pos x="1001" y="870"/>
              </a:cxn>
              <a:cxn ang="0">
                <a:pos x="1591" y="144"/>
              </a:cxn>
              <a:cxn ang="0">
                <a:pos x="1754" y="8"/>
              </a:cxn>
            </a:cxnLst>
            <a:pathLst>
              <a:path w="1754" h="3138">
                <a:moveTo>
                  <a:pt x="412" y="2730"/>
                </a:moveTo>
                <a:cubicBezTo>
                  <a:pt x="396" y="2889"/>
                  <a:pt x="381" y="3048"/>
                  <a:pt x="321" y="3093"/>
                </a:cubicBezTo>
                <a:cubicBezTo>
                  <a:pt x="261" y="3138"/>
                  <a:pt x="98" y="3064"/>
                  <a:pt x="49" y="3002"/>
                </a:cubicBezTo>
                <a:cubicBezTo>
                  <a:pt x="0" y="2940"/>
                  <a:pt x="26" y="2818"/>
                  <a:pt x="26" y="2720"/>
                </a:cubicBezTo>
                <a:cubicBezTo>
                  <a:pt x="26" y="2622"/>
                  <a:pt x="23" y="2554"/>
                  <a:pt x="49" y="2412"/>
                </a:cubicBezTo>
                <a:cubicBezTo>
                  <a:pt x="75" y="2270"/>
                  <a:pt x="117" y="2019"/>
                  <a:pt x="185" y="1868"/>
                </a:cubicBezTo>
                <a:cubicBezTo>
                  <a:pt x="253" y="1717"/>
                  <a:pt x="321" y="1671"/>
                  <a:pt x="457" y="1505"/>
                </a:cubicBezTo>
                <a:cubicBezTo>
                  <a:pt x="593" y="1339"/>
                  <a:pt x="812" y="1097"/>
                  <a:pt x="1001" y="870"/>
                </a:cubicBezTo>
                <a:cubicBezTo>
                  <a:pt x="1190" y="643"/>
                  <a:pt x="1466" y="288"/>
                  <a:pt x="1591" y="144"/>
                </a:cubicBezTo>
                <a:cubicBezTo>
                  <a:pt x="1716" y="0"/>
                  <a:pt x="1720" y="36"/>
                  <a:pt x="1754" y="8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lg" len="lg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32" name="Freeform 58"/>
          <p:cNvSpPr/>
          <p:nvPr/>
        </p:nvSpPr>
        <p:spPr>
          <a:xfrm>
            <a:off x="6505575" y="2452688"/>
            <a:ext cx="708025" cy="3233737"/>
          </a:xfrm>
          <a:custGeom>
            <a:avLst/>
            <a:gdLst/>
            <a:ahLst/>
            <a:cxnLst>
              <a:cxn ang="0">
                <a:pos x="446" y="1761"/>
              </a:cxn>
              <a:cxn ang="0">
                <a:pos x="302" y="1999"/>
              </a:cxn>
              <a:cxn ang="0">
                <a:pos x="75" y="1954"/>
              </a:cxn>
              <a:cxn ang="0">
                <a:pos x="30" y="1500"/>
              </a:cxn>
              <a:cxn ang="0">
                <a:pos x="257" y="775"/>
              </a:cxn>
              <a:cxn ang="0">
                <a:pos x="342" y="0"/>
              </a:cxn>
            </a:cxnLst>
            <a:pathLst>
              <a:path w="446" h="2037">
                <a:moveTo>
                  <a:pt x="446" y="1761"/>
                </a:moveTo>
                <a:cubicBezTo>
                  <a:pt x="423" y="1801"/>
                  <a:pt x="364" y="1967"/>
                  <a:pt x="302" y="1999"/>
                </a:cubicBezTo>
                <a:cubicBezTo>
                  <a:pt x="240" y="2031"/>
                  <a:pt x="120" y="2037"/>
                  <a:pt x="75" y="1954"/>
                </a:cubicBezTo>
                <a:cubicBezTo>
                  <a:pt x="30" y="1871"/>
                  <a:pt x="0" y="1696"/>
                  <a:pt x="30" y="1500"/>
                </a:cubicBezTo>
                <a:cubicBezTo>
                  <a:pt x="60" y="1304"/>
                  <a:pt x="205" y="1025"/>
                  <a:pt x="257" y="775"/>
                </a:cubicBezTo>
                <a:cubicBezTo>
                  <a:pt x="309" y="525"/>
                  <a:pt x="324" y="162"/>
                  <a:pt x="342" y="0"/>
                </a:cubicBezTo>
              </a:path>
            </a:pathLst>
          </a:custGeom>
          <a:noFill/>
          <a:ln w="31750" cap="flat" cmpd="sng">
            <a:solidFill>
              <a:srgbClr val="FF0000"/>
            </a:solidFill>
            <a:prstDash val="sysDot"/>
            <a:round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109633" name="Text Box 59"/>
          <p:cNvSpPr txBox="1"/>
          <p:nvPr/>
        </p:nvSpPr>
        <p:spPr>
          <a:xfrm>
            <a:off x="1881188" y="142875"/>
            <a:ext cx="3033712" cy="830263"/>
          </a:xfrm>
          <a:prstGeom prst="rect">
            <a:avLst/>
          </a:prstGeom>
          <a:solidFill>
            <a:srgbClr val="663300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中序线索二叉树的中序遍历</a:t>
            </a:r>
            <a:r>
              <a:rPr lang="zh-CN" altLang="en-US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示例演示</a:t>
            </a:r>
            <a:endParaRPr lang="zh-CN" altLang="en-US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3036" name="Text Box 60"/>
          <p:cNvSpPr txBox="1"/>
          <p:nvPr/>
        </p:nvSpPr>
        <p:spPr>
          <a:xfrm>
            <a:off x="2273300" y="1785938"/>
            <a:ext cx="360363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3037" name="Text Box 61"/>
          <p:cNvSpPr txBox="1"/>
          <p:nvPr/>
        </p:nvSpPr>
        <p:spPr>
          <a:xfrm>
            <a:off x="2627313" y="178593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3038" name="Text Box 62"/>
          <p:cNvSpPr txBox="1"/>
          <p:nvPr/>
        </p:nvSpPr>
        <p:spPr>
          <a:xfrm>
            <a:off x="2987675" y="1785938"/>
            <a:ext cx="360363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3039" name="Text Box 63"/>
          <p:cNvSpPr txBox="1"/>
          <p:nvPr/>
        </p:nvSpPr>
        <p:spPr>
          <a:xfrm>
            <a:off x="3344863" y="178593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3040" name="Text Box 64"/>
          <p:cNvSpPr txBox="1"/>
          <p:nvPr/>
        </p:nvSpPr>
        <p:spPr>
          <a:xfrm>
            <a:off x="3733800" y="1785938"/>
            <a:ext cx="360363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3041" name="Text Box 65"/>
          <p:cNvSpPr txBox="1"/>
          <p:nvPr/>
        </p:nvSpPr>
        <p:spPr>
          <a:xfrm>
            <a:off x="4059238" y="1785938"/>
            <a:ext cx="360362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3042" name="Text Box 66"/>
          <p:cNvSpPr txBox="1"/>
          <p:nvPr/>
        </p:nvSpPr>
        <p:spPr>
          <a:xfrm>
            <a:off x="4416425" y="1785938"/>
            <a:ext cx="360363" cy="3079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3043" name="Text Box 67"/>
          <p:cNvSpPr txBox="1"/>
          <p:nvPr/>
        </p:nvSpPr>
        <p:spPr>
          <a:xfrm>
            <a:off x="1647825" y="3559175"/>
            <a:ext cx="15128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遍历完毕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9642" name="Text Box 68"/>
          <p:cNvSpPr txBox="1"/>
          <p:nvPr/>
        </p:nvSpPr>
        <p:spPr>
          <a:xfrm>
            <a:off x="1990725" y="1314450"/>
            <a:ext cx="1357313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</a:rPr>
              <a:t>中序</a:t>
            </a:r>
            <a:r>
              <a:rPr lang="zh-CN" altLang="en-US" sz="2000">
                <a:latin typeface="Times New Roman" panose="02020603050405020304" pitchFamily="18" charset="0"/>
                <a:ea typeface="楷体" panose="02010609060101010101" pitchFamily="49" charset="-122"/>
              </a:rPr>
              <a:t>序列：</a:t>
            </a:r>
            <a:endParaRPr lang="en-US" altLang="zh-CN" sz="2000" i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5864225" y="1201738"/>
            <a:ext cx="484188" cy="403225"/>
            <a:chOff x="1571604" y="4143380"/>
            <a:chExt cx="484195" cy="403228"/>
          </a:xfrm>
        </p:grpSpPr>
        <p:cxnSp>
          <p:nvCxnSpPr>
            <p:cNvPr id="79" name="直接箭头连接符 78"/>
            <p:cNvCxnSpPr/>
            <p:nvPr/>
          </p:nvCxnSpPr>
          <p:spPr>
            <a:xfrm>
              <a:off x="1857356" y="4392598"/>
              <a:ext cx="198443" cy="15401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1571604" y="4143380"/>
              <a:ext cx="285752" cy="3073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2000" noProof="1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</a:t>
              </a:r>
              <a:endParaRPr lang="zh-CN" altLang="en-US" sz="20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1809750" y="2714625"/>
            <a:ext cx="2000250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右指针不是线索，转向右孩子</a:t>
            </a:r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97050" y="2714625"/>
            <a:ext cx="2071688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右指针是线索，沿着线索访问</a:t>
            </a:r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9648" name="TextBox 82"/>
          <p:cNvSpPr txBox="1"/>
          <p:nvPr/>
        </p:nvSpPr>
        <p:spPr>
          <a:xfrm>
            <a:off x="1809750" y="2214563"/>
            <a:ext cx="1285875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操作：</a:t>
            </a:r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809750" y="2714625"/>
            <a:ext cx="1571625" cy="3984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找开始结点</a:t>
            </a:r>
            <a:endParaRPr lang="zh-CN" altLang="en-US" sz="20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96296E-6 C -0.00938 0.02454 -0.01875 0.04375 -0.03611 0.07223 C -0.05347 0.1007 -0.08976 0.15023 -0.104 0.17084 " pathEditMode="relative" rAng="0" ptsTypes="aaa">
                                      <p:cBhvr>
                                        <p:cTn id="19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4 0.17083 C -0.10678 0.1794 -0.10955 0.18819 -0.129 0.23009 C -0.14844 0.27199 -0.18455 0.34722 -0.22066 0.42268 " pathEditMode="relative" ptsTypes="aaA">
                                      <p:cBhvr>
                                        <p:cTn id="2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067 0.42269 C -0.22067 0.42269 -0.13942 0.50232 -0.05817 0.58195 " pathEditMode="relative" ptsTypes="aA">
                                      <p:cBhvr>
                                        <p:cTn id="39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16 0.58195 C -0.04531 0.6294 -0.03247 0.67709 -0.01927 0.70232 C -0.00608 0.72755 0.01128 0.7382 0.02101 0.7338 C 0.03073 0.7294 0.05226 0.75024 0.03906 0.67639 C 0.02587 0.60255 -0.04167 0.37547 -0.05816 0.29121 C -0.07465 0.20695 -0.06719 0.18889 -0.05955 0.17084 " pathEditMode="relative" ptsTypes="aaaaaA">
                                      <p:cBhvr>
                                        <p:cTn id="55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955 0.17084 C -0.04792 0.2419 -0.03611 0.3132 -0.02344 0.33935 C -0.01077 0.36551 0.00486 0.35209 0.01684 0.32824 C 0.02882 0.3044 0.03541 0.25116 0.04878 0.19676 C 0.06215 0.14236 0.08732 0.04283 0.09739 0.00232 " pathEditMode="relative" rAng="0" ptsTypes="aaaaa">
                                      <p:cBhvr>
                                        <p:cTn id="6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4 0.00232 C 0.0974 0.00232 0.16962 0.08658 0.24184 0.17084 " pathEditMode="relative" ptsTypes="aA">
                                      <p:cBhvr>
                                        <p:cTn id="71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84 0.17084 C 0.25 0.17547 0.25833 0.18009 0.24045 0.22454 C 0.22257 0.26898 0.17864 0.35324 0.13489 0.4375 " pathEditMode="relative" ptsTypes="aaA">
                                      <p:cBhvr>
                                        <p:cTn id="75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89 0.4375 C 0.15121 0.49445 0.16753 0.55139 0.1835 0.58195 C 0.19948 0.6125 0.21823 0.66366 0.23073 0.62084 C 0.24323 0.57801 0.25104 0.39885 0.2585 0.32454 C 0.26597 0.25024 0.27048 0.21227 0.27517 0.17454 " pathEditMode="relative" ptsTypes="aaaaA">
                                      <p:cBhvr>
                                        <p:cTn id="8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84 0.17084 C 0.25712 0.21598 0.31441 0.38496 0.3335 0.44121 " pathEditMode="relative" rAng="0" ptsTypes="aa">
                                      <p:cBhvr>
                                        <p:cTn id="91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35 0.44121 C 0.36215 0.50787 0.39097 0.57477 0.41406 0.60417 C 0.43715 0.63357 0.46944 0.67292 0.47239 0.61713 C 0.47534 0.56135 0.45798 0.38079 0.43212 0.26898 C 0.40625 0.15718 0.37187 0.02523 0.31684 -0.05324 C 0.2618 -0.13171 0.14635 -0.1706 0.10156 -0.20139 " pathEditMode="relative" rAng="0" ptsTypes="aaaaaa">
                                      <p:cBhvr>
                                        <p:cTn id="99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036" grpId="0" bldLvl="0" animBg="1"/>
      <p:bldP spid="383037" grpId="0" bldLvl="0" animBg="1"/>
      <p:bldP spid="383038" grpId="0" bldLvl="0" animBg="1"/>
      <p:bldP spid="383039" grpId="0" bldLvl="0" animBg="1"/>
      <p:bldP spid="383040" grpId="0" bldLvl="0" animBg="1"/>
      <p:bldP spid="383041" grpId="0" bldLvl="0" animBg="1"/>
      <p:bldP spid="383042" grpId="0" bldLvl="0" animBg="1"/>
      <p:bldP spid="383043" grpId="0" bldLvl="0" animBg="1"/>
      <p:bldP spid="81" grpId="0"/>
      <p:bldP spid="81" grpId="1"/>
      <p:bldP spid="82" grpId="0"/>
      <p:bldP spid="82" grpId="1"/>
      <p:bldP spid="84" grpId="0"/>
      <p:bldP spid="84" grpId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Rectangle 4"/>
          <p:cNvSpPr>
            <a:spLocks noGrp="1"/>
          </p:cNvSpPr>
          <p:nvPr>
            <p:ph type="title"/>
          </p:nvPr>
        </p:nvSpPr>
        <p:spPr>
          <a:xfrm>
            <a:off x="1990725" y="420688"/>
            <a:ext cx="8229600" cy="1143000"/>
          </a:xfrm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3200" b="1" dirty="0">
                <a:solidFill>
                  <a:srgbClr val="CC3300"/>
                </a:solidFill>
                <a:ea typeface="仿宋_GB2312" pitchFamily="49" charset="-122"/>
              </a:rPr>
              <a:t>哈夫曼树</a:t>
            </a:r>
            <a:r>
              <a:rPr lang="zh-CN" altLang="en-US" sz="4000" b="1" dirty="0">
                <a:solidFill>
                  <a:srgbClr val="CC3300"/>
                </a:solidFill>
                <a:ea typeface="仿宋_GB2312" pitchFamily="49" charset="-122"/>
              </a:rPr>
              <a:t> </a:t>
            </a:r>
            <a:r>
              <a:rPr lang="en-US" altLang="zh-CN" sz="4000" b="1" dirty="0">
                <a:solidFill>
                  <a:srgbClr val="CC3300"/>
                </a:solidFill>
                <a:ea typeface="仿宋_GB2312" pitchFamily="49" charset="-122"/>
              </a:rPr>
              <a:t>(Huffman Tree)</a:t>
            </a:r>
            <a:endParaRPr lang="en-US" altLang="zh-CN" sz="5400" dirty="0">
              <a:ea typeface="仿宋_GB2312" pitchFamily="49" charset="-122"/>
            </a:endParaRPr>
          </a:p>
        </p:txBody>
      </p:sp>
      <p:sp>
        <p:nvSpPr>
          <p:cNvPr id="237574" name="Rectangle 6"/>
          <p:cNvSpPr>
            <a:spLocks noChangeArrowheads="1"/>
          </p:cNvSpPr>
          <p:nvPr/>
        </p:nvSpPr>
        <p:spPr bwMode="auto">
          <a:xfrm>
            <a:off x="3276600" y="228600"/>
            <a:ext cx="3352800" cy="609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树的应用举例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237575" name="Rectangle 7"/>
          <p:cNvSpPr>
            <a:spLocks noChangeArrowheads="1"/>
          </p:cNvSpPr>
          <p:nvPr/>
        </p:nvSpPr>
        <p:spPr bwMode="auto">
          <a:xfrm>
            <a:off x="1905000" y="1676400"/>
            <a:ext cx="8305800" cy="1814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带权路径长度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 </a:t>
            </a:r>
            <a:r>
              <a:rPr kumimoji="1" lang="zh-CN" altLang="en-GB" sz="28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(</a:t>
            </a:r>
            <a:r>
              <a:rPr kumimoji="1" lang="en-GB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Weighted Path Length, WPL)</a:t>
            </a:r>
            <a:endParaRPr kumimoji="1" lang="en-GB" altLang="zh-CN" sz="18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GB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</a:t>
            </a:r>
            <a:r>
              <a:rPr kumimoji="1" lang="zh-CN" altLang="en-GB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扩充二叉树的带权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外部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) </a:t>
            </a:r>
            <a:r>
              <a:rPr kumimoji="1" lang="zh-CN" altLang="en-GB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路径长度是树的各叶结点所带的权值 </a:t>
            </a:r>
            <a:r>
              <a:rPr kumimoji="1" lang="en-GB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w</a:t>
            </a:r>
            <a:r>
              <a:rPr kumimoji="1" lang="en-GB" altLang="zh-CN" sz="2800" b="1" i="1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 </a:t>
            </a:r>
            <a:r>
              <a:rPr kumimoji="1" lang="zh-CN" altLang="en-GB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与该结点到根的路径长度</a:t>
            </a:r>
            <a:r>
              <a:rPr kumimoji="1" lang="zh-CN" altLang="en-GB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GB" altLang="zh-CN" sz="2800" b="1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l</a:t>
            </a:r>
            <a:r>
              <a:rPr kumimoji="1" lang="en-GB" altLang="zh-CN" sz="2800" b="1" i="1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 </a:t>
            </a:r>
            <a:r>
              <a:rPr kumimoji="1" lang="zh-CN" altLang="en-GB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的乘积的和，即：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</p:txBody>
      </p:sp>
      <p:graphicFrame>
        <p:nvGraphicFramePr>
          <p:cNvPr id="110596" name="Object 8"/>
          <p:cNvGraphicFramePr>
            <a:graphicFrameLocks noChangeAspect="1"/>
          </p:cNvGraphicFramePr>
          <p:nvPr/>
        </p:nvGraphicFramePr>
        <p:xfrm>
          <a:off x="2514600" y="3505200"/>
          <a:ext cx="3276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054100" imgH="431800" progId="Equation.3">
                  <p:embed/>
                </p:oleObj>
              </mc:Choice>
              <mc:Fallback>
                <p:oleObj name="" r:id="rId1" imgW="1054100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3505200"/>
                        <a:ext cx="32766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597" name="Group 10"/>
          <p:cNvGrpSpPr/>
          <p:nvPr/>
        </p:nvGrpSpPr>
        <p:grpSpPr>
          <a:xfrm>
            <a:off x="6934200" y="3046413"/>
            <a:ext cx="2901950" cy="3403600"/>
            <a:chOff x="3356" y="335"/>
            <a:chExt cx="1828" cy="2144"/>
          </a:xfrm>
        </p:grpSpPr>
        <p:sp>
          <p:nvSpPr>
            <p:cNvPr id="110598" name="Line 11"/>
            <p:cNvSpPr/>
            <p:nvPr/>
          </p:nvSpPr>
          <p:spPr>
            <a:xfrm flipH="1">
              <a:off x="3984" y="1008"/>
              <a:ext cx="240" cy="384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599" name="Line 12"/>
            <p:cNvSpPr/>
            <p:nvPr/>
          </p:nvSpPr>
          <p:spPr>
            <a:xfrm flipH="1">
              <a:off x="4176" y="1488"/>
              <a:ext cx="384" cy="72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00" name="Line 13"/>
            <p:cNvSpPr/>
            <p:nvPr/>
          </p:nvSpPr>
          <p:spPr>
            <a:xfrm>
              <a:off x="3984" y="624"/>
              <a:ext cx="1008" cy="115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0601" name="Line 14"/>
            <p:cNvSpPr/>
            <p:nvPr/>
          </p:nvSpPr>
          <p:spPr>
            <a:xfrm flipH="1">
              <a:off x="3552" y="576"/>
              <a:ext cx="288" cy="336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88" name="Oval 15"/>
            <p:cNvSpPr>
              <a:spLocks noChangeArrowheads="1"/>
            </p:cNvSpPr>
            <p:nvPr/>
          </p:nvSpPr>
          <p:spPr bwMode="auto">
            <a:xfrm>
              <a:off x="3744" y="384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89" name="Oval 16"/>
            <p:cNvSpPr>
              <a:spLocks noChangeArrowheads="1"/>
            </p:cNvSpPr>
            <p:nvPr/>
          </p:nvSpPr>
          <p:spPr bwMode="auto">
            <a:xfrm>
              <a:off x="3360" y="816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0" name="Oval 17"/>
            <p:cNvSpPr>
              <a:spLocks noChangeArrowheads="1"/>
            </p:cNvSpPr>
            <p:nvPr/>
          </p:nvSpPr>
          <p:spPr bwMode="auto">
            <a:xfrm>
              <a:off x="4128" y="816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1" name="Oval 18"/>
            <p:cNvSpPr>
              <a:spLocks noChangeArrowheads="1"/>
            </p:cNvSpPr>
            <p:nvPr/>
          </p:nvSpPr>
          <p:spPr bwMode="auto">
            <a:xfrm>
              <a:off x="4224" y="168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2" name="Oval 19"/>
            <p:cNvSpPr>
              <a:spLocks noChangeArrowheads="1"/>
            </p:cNvSpPr>
            <p:nvPr/>
          </p:nvSpPr>
          <p:spPr bwMode="auto">
            <a:xfrm>
              <a:off x="3840" y="1248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3" name="Oval 20"/>
            <p:cNvSpPr>
              <a:spLocks noChangeArrowheads="1"/>
            </p:cNvSpPr>
            <p:nvPr/>
          </p:nvSpPr>
          <p:spPr bwMode="auto">
            <a:xfrm>
              <a:off x="4464" y="1248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4" name="Oval 21"/>
            <p:cNvSpPr>
              <a:spLocks noChangeArrowheads="1"/>
            </p:cNvSpPr>
            <p:nvPr/>
          </p:nvSpPr>
          <p:spPr bwMode="auto">
            <a:xfrm>
              <a:off x="4848" y="168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195" name="Oval 22"/>
            <p:cNvSpPr>
              <a:spLocks noChangeArrowheads="1"/>
            </p:cNvSpPr>
            <p:nvPr/>
          </p:nvSpPr>
          <p:spPr bwMode="auto">
            <a:xfrm>
              <a:off x="3984" y="216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610" name="Text Box 23"/>
            <p:cNvSpPr txBox="1"/>
            <p:nvPr/>
          </p:nvSpPr>
          <p:spPr>
            <a:xfrm>
              <a:off x="3356" y="767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11" name="Text Box 24"/>
            <p:cNvSpPr txBox="1"/>
            <p:nvPr/>
          </p:nvSpPr>
          <p:spPr>
            <a:xfrm>
              <a:off x="4124" y="767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12" name="Text Box 25"/>
            <p:cNvSpPr txBox="1"/>
            <p:nvPr/>
          </p:nvSpPr>
          <p:spPr>
            <a:xfrm>
              <a:off x="3792" y="1199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13" name="Text Box 26"/>
            <p:cNvSpPr txBox="1"/>
            <p:nvPr/>
          </p:nvSpPr>
          <p:spPr>
            <a:xfrm>
              <a:off x="4416" y="1199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14" name="Text Box 27"/>
            <p:cNvSpPr txBox="1"/>
            <p:nvPr/>
          </p:nvSpPr>
          <p:spPr>
            <a:xfrm>
              <a:off x="4176" y="1631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15" name="Text Box 28"/>
            <p:cNvSpPr txBox="1"/>
            <p:nvPr/>
          </p:nvSpPr>
          <p:spPr>
            <a:xfrm>
              <a:off x="4844" y="1631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16" name="Text Box 29"/>
            <p:cNvSpPr txBox="1"/>
            <p:nvPr/>
          </p:nvSpPr>
          <p:spPr>
            <a:xfrm>
              <a:off x="3980" y="2111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617" name="Text Box 30"/>
            <p:cNvSpPr txBox="1"/>
            <p:nvPr/>
          </p:nvSpPr>
          <p:spPr>
            <a:xfrm>
              <a:off x="3740" y="335"/>
              <a:ext cx="340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0618" name="Text Box 31"/>
          <p:cNvSpPr txBox="1"/>
          <p:nvPr/>
        </p:nvSpPr>
        <p:spPr>
          <a:xfrm>
            <a:off x="1905000" y="4872038"/>
            <a:ext cx="4406900" cy="10763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32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WPL=2*1+4*2+7*3+8*4</a:t>
            </a:r>
            <a:endParaRPr lang="en-US" altLang="zh-CN" sz="32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=63</a:t>
            </a:r>
            <a:endParaRPr lang="en-US" altLang="zh-CN" sz="32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2133600" y="914400"/>
            <a:ext cx="82296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具有相同的带权叶子有多种不同的二叉树</a:t>
            </a:r>
            <a:endParaRPr kumimoji="1" lang="zh-CN" altLang="en-US" sz="2000" kern="1200" cap="none" spc="0" normalizeH="0" baseline="0" noProof="0"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239620" name="Rectangle 4"/>
          <p:cNvSpPr>
            <a:spLocks noChangeArrowheads="1"/>
          </p:cNvSpPr>
          <p:nvPr/>
        </p:nvSpPr>
        <p:spPr bwMode="auto">
          <a:xfrm>
            <a:off x="1524000" y="3733800"/>
            <a:ext cx="3048000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WPL = 2*2+4*2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+5*2+7*2 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= 36              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_GB2312" pitchFamily="49" charset="-122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111619" name="Group 62"/>
          <p:cNvGrpSpPr/>
          <p:nvPr/>
        </p:nvGrpSpPr>
        <p:grpSpPr>
          <a:xfrm>
            <a:off x="4800600" y="1600200"/>
            <a:ext cx="2133600" cy="2273300"/>
            <a:chOff x="2352" y="864"/>
            <a:chExt cx="1344" cy="1432"/>
          </a:xfrm>
        </p:grpSpPr>
        <p:sp>
          <p:nvSpPr>
            <p:cNvPr id="111620" name="Line 33"/>
            <p:cNvSpPr/>
            <p:nvPr/>
          </p:nvSpPr>
          <p:spPr>
            <a:xfrm flipH="1">
              <a:off x="2448" y="1056"/>
              <a:ext cx="240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21" name="Line 34"/>
            <p:cNvSpPr/>
            <p:nvPr/>
          </p:nvSpPr>
          <p:spPr>
            <a:xfrm flipH="1">
              <a:off x="2784" y="1440"/>
              <a:ext cx="240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22" name="Line 35"/>
            <p:cNvSpPr/>
            <p:nvPr/>
          </p:nvSpPr>
          <p:spPr>
            <a:xfrm flipH="1">
              <a:off x="3072" y="1824"/>
              <a:ext cx="240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23" name="Line 36"/>
            <p:cNvSpPr/>
            <p:nvPr/>
          </p:nvSpPr>
          <p:spPr>
            <a:xfrm>
              <a:off x="2784" y="960"/>
              <a:ext cx="816" cy="1152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47" name="Oval 37"/>
            <p:cNvSpPr>
              <a:spLocks noChangeArrowheads="1"/>
            </p:cNvSpPr>
            <p:nvPr/>
          </p:nvSpPr>
          <p:spPr bwMode="auto">
            <a:xfrm>
              <a:off x="2640" y="864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8" name="Oval 38"/>
            <p:cNvSpPr>
              <a:spLocks noChangeArrowheads="1"/>
            </p:cNvSpPr>
            <p:nvPr/>
          </p:nvSpPr>
          <p:spPr bwMode="auto">
            <a:xfrm>
              <a:off x="3216" y="1632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49" name="Oval 39"/>
            <p:cNvSpPr>
              <a:spLocks noChangeArrowheads="1"/>
            </p:cNvSpPr>
            <p:nvPr/>
          </p:nvSpPr>
          <p:spPr bwMode="auto">
            <a:xfrm>
              <a:off x="2928" y="1248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50" name="Oval 40"/>
            <p:cNvSpPr>
              <a:spLocks noChangeArrowheads="1"/>
            </p:cNvSpPr>
            <p:nvPr/>
          </p:nvSpPr>
          <p:spPr bwMode="auto">
            <a:xfrm>
              <a:off x="3456" y="201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51" name="Oval 41"/>
            <p:cNvSpPr>
              <a:spLocks noChangeArrowheads="1"/>
            </p:cNvSpPr>
            <p:nvPr/>
          </p:nvSpPr>
          <p:spPr bwMode="auto">
            <a:xfrm>
              <a:off x="2352" y="1248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52" name="Oval 42"/>
            <p:cNvSpPr>
              <a:spLocks noChangeArrowheads="1"/>
            </p:cNvSpPr>
            <p:nvPr/>
          </p:nvSpPr>
          <p:spPr bwMode="auto">
            <a:xfrm>
              <a:off x="2928" y="201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53" name="Oval 43"/>
            <p:cNvSpPr>
              <a:spLocks noChangeArrowheads="1"/>
            </p:cNvSpPr>
            <p:nvPr/>
          </p:nvSpPr>
          <p:spPr bwMode="auto">
            <a:xfrm>
              <a:off x="2640" y="1632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631" name="Text Box 45"/>
            <p:cNvSpPr txBox="1"/>
            <p:nvPr/>
          </p:nvSpPr>
          <p:spPr>
            <a:xfrm>
              <a:off x="2364" y="119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32" name="Text Box 48"/>
            <p:cNvSpPr txBox="1"/>
            <p:nvPr/>
          </p:nvSpPr>
          <p:spPr>
            <a:xfrm>
              <a:off x="2652" y="158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33" name="Text Box 51"/>
            <p:cNvSpPr txBox="1"/>
            <p:nvPr/>
          </p:nvSpPr>
          <p:spPr>
            <a:xfrm>
              <a:off x="2940" y="1967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34" name="Text Box 53"/>
            <p:cNvSpPr txBox="1"/>
            <p:nvPr/>
          </p:nvSpPr>
          <p:spPr>
            <a:xfrm>
              <a:off x="3468" y="1967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1635" name="Group 63"/>
          <p:cNvGrpSpPr/>
          <p:nvPr/>
        </p:nvGrpSpPr>
        <p:grpSpPr>
          <a:xfrm>
            <a:off x="7696200" y="1600200"/>
            <a:ext cx="2133600" cy="2273300"/>
            <a:chOff x="3888" y="864"/>
            <a:chExt cx="1344" cy="1432"/>
          </a:xfrm>
        </p:grpSpPr>
        <p:sp>
          <p:nvSpPr>
            <p:cNvPr id="111636" name="Line 32"/>
            <p:cNvSpPr/>
            <p:nvPr/>
          </p:nvSpPr>
          <p:spPr>
            <a:xfrm flipH="1">
              <a:off x="3984" y="1056"/>
              <a:ext cx="240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37" name="Line 31"/>
            <p:cNvSpPr/>
            <p:nvPr/>
          </p:nvSpPr>
          <p:spPr>
            <a:xfrm flipH="1">
              <a:off x="4320" y="1440"/>
              <a:ext cx="240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38" name="Line 30"/>
            <p:cNvSpPr/>
            <p:nvPr/>
          </p:nvSpPr>
          <p:spPr>
            <a:xfrm flipH="1">
              <a:off x="4608" y="1824"/>
              <a:ext cx="240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39" name="Line 22"/>
            <p:cNvSpPr/>
            <p:nvPr/>
          </p:nvSpPr>
          <p:spPr>
            <a:xfrm>
              <a:off x="4320" y="960"/>
              <a:ext cx="816" cy="1152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32" name="Oval 23"/>
            <p:cNvSpPr>
              <a:spLocks noChangeArrowheads="1"/>
            </p:cNvSpPr>
            <p:nvPr/>
          </p:nvSpPr>
          <p:spPr bwMode="auto">
            <a:xfrm>
              <a:off x="4176" y="864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3" name="Oval 24"/>
            <p:cNvSpPr>
              <a:spLocks noChangeArrowheads="1"/>
            </p:cNvSpPr>
            <p:nvPr/>
          </p:nvSpPr>
          <p:spPr bwMode="auto">
            <a:xfrm>
              <a:off x="4752" y="1632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4" name="Oval 25"/>
            <p:cNvSpPr>
              <a:spLocks noChangeArrowheads="1"/>
            </p:cNvSpPr>
            <p:nvPr/>
          </p:nvSpPr>
          <p:spPr bwMode="auto">
            <a:xfrm>
              <a:off x="4464" y="1248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5" name="Oval 26"/>
            <p:cNvSpPr>
              <a:spLocks noChangeArrowheads="1"/>
            </p:cNvSpPr>
            <p:nvPr/>
          </p:nvSpPr>
          <p:spPr bwMode="auto">
            <a:xfrm>
              <a:off x="4992" y="201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6" name="Oval 27"/>
            <p:cNvSpPr>
              <a:spLocks noChangeArrowheads="1"/>
            </p:cNvSpPr>
            <p:nvPr/>
          </p:nvSpPr>
          <p:spPr bwMode="auto">
            <a:xfrm>
              <a:off x="3888" y="1248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7" name="Oval 28"/>
            <p:cNvSpPr>
              <a:spLocks noChangeArrowheads="1"/>
            </p:cNvSpPr>
            <p:nvPr/>
          </p:nvSpPr>
          <p:spPr bwMode="auto">
            <a:xfrm>
              <a:off x="4464" y="201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38" name="Oval 29"/>
            <p:cNvSpPr>
              <a:spLocks noChangeArrowheads="1"/>
            </p:cNvSpPr>
            <p:nvPr/>
          </p:nvSpPr>
          <p:spPr bwMode="auto">
            <a:xfrm>
              <a:off x="4176" y="1632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647" name="Text Box 46"/>
            <p:cNvSpPr txBox="1"/>
            <p:nvPr/>
          </p:nvSpPr>
          <p:spPr>
            <a:xfrm>
              <a:off x="4476" y="1967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48" name="Text Box 49"/>
            <p:cNvSpPr txBox="1"/>
            <p:nvPr/>
          </p:nvSpPr>
          <p:spPr>
            <a:xfrm>
              <a:off x="4992" y="1967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49" name="Text Box 52"/>
            <p:cNvSpPr txBox="1"/>
            <p:nvPr/>
          </p:nvSpPr>
          <p:spPr>
            <a:xfrm>
              <a:off x="4188" y="158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50" name="Text Box 54"/>
            <p:cNvSpPr txBox="1"/>
            <p:nvPr/>
          </p:nvSpPr>
          <p:spPr>
            <a:xfrm>
              <a:off x="3900" y="1208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1651" name="Group 61"/>
          <p:cNvGrpSpPr/>
          <p:nvPr/>
        </p:nvGrpSpPr>
        <p:grpSpPr>
          <a:xfrm>
            <a:off x="1828800" y="1981200"/>
            <a:ext cx="2209800" cy="1663700"/>
            <a:chOff x="528" y="1056"/>
            <a:chExt cx="1392" cy="1048"/>
          </a:xfrm>
        </p:grpSpPr>
        <p:sp>
          <p:nvSpPr>
            <p:cNvPr id="111652" name="Line 21"/>
            <p:cNvSpPr/>
            <p:nvPr/>
          </p:nvSpPr>
          <p:spPr>
            <a:xfrm>
              <a:off x="1248" y="1152"/>
              <a:ext cx="576" cy="76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53" name="Line 20"/>
            <p:cNvSpPr/>
            <p:nvPr/>
          </p:nvSpPr>
          <p:spPr>
            <a:xfrm flipH="1">
              <a:off x="1440" y="1632"/>
              <a:ext cx="96" cy="240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54" name="Line 18"/>
            <p:cNvSpPr/>
            <p:nvPr/>
          </p:nvSpPr>
          <p:spPr>
            <a:xfrm>
              <a:off x="960" y="1584"/>
              <a:ext cx="96" cy="336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1655" name="Line 16"/>
            <p:cNvSpPr/>
            <p:nvPr/>
          </p:nvSpPr>
          <p:spPr>
            <a:xfrm flipH="1">
              <a:off x="624" y="1248"/>
              <a:ext cx="528" cy="720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17" name="Oval 5"/>
            <p:cNvSpPr>
              <a:spLocks noChangeArrowheads="1"/>
            </p:cNvSpPr>
            <p:nvPr/>
          </p:nvSpPr>
          <p:spPr bwMode="auto">
            <a:xfrm>
              <a:off x="1104" y="1056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18" name="Oval 10"/>
            <p:cNvSpPr>
              <a:spLocks noChangeArrowheads="1"/>
            </p:cNvSpPr>
            <p:nvPr/>
          </p:nvSpPr>
          <p:spPr bwMode="auto">
            <a:xfrm>
              <a:off x="528" y="1824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19" name="Oval 11"/>
            <p:cNvSpPr>
              <a:spLocks noChangeArrowheads="1"/>
            </p:cNvSpPr>
            <p:nvPr/>
          </p:nvSpPr>
          <p:spPr bwMode="auto">
            <a:xfrm>
              <a:off x="912" y="1824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20" name="Oval 12"/>
            <p:cNvSpPr>
              <a:spLocks noChangeArrowheads="1"/>
            </p:cNvSpPr>
            <p:nvPr/>
          </p:nvSpPr>
          <p:spPr bwMode="auto">
            <a:xfrm>
              <a:off x="1296" y="1824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21" name="Oval 13"/>
            <p:cNvSpPr>
              <a:spLocks noChangeArrowheads="1"/>
            </p:cNvSpPr>
            <p:nvPr/>
          </p:nvSpPr>
          <p:spPr bwMode="auto">
            <a:xfrm>
              <a:off x="1680" y="1824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22" name="Oval 14"/>
            <p:cNvSpPr>
              <a:spLocks noChangeArrowheads="1"/>
            </p:cNvSpPr>
            <p:nvPr/>
          </p:nvSpPr>
          <p:spPr bwMode="auto">
            <a:xfrm>
              <a:off x="816" y="1440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223" name="Oval 15"/>
            <p:cNvSpPr>
              <a:spLocks noChangeArrowheads="1"/>
            </p:cNvSpPr>
            <p:nvPr/>
          </p:nvSpPr>
          <p:spPr bwMode="auto">
            <a:xfrm>
              <a:off x="1440" y="1440"/>
              <a:ext cx="240" cy="24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663" name="Text Box 44"/>
            <p:cNvSpPr txBox="1"/>
            <p:nvPr/>
          </p:nvSpPr>
          <p:spPr>
            <a:xfrm>
              <a:off x="528" y="17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4" name="Text Box 47"/>
            <p:cNvSpPr txBox="1"/>
            <p:nvPr/>
          </p:nvSpPr>
          <p:spPr>
            <a:xfrm>
              <a:off x="924" y="17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5" name="Text Box 50"/>
            <p:cNvSpPr txBox="1"/>
            <p:nvPr/>
          </p:nvSpPr>
          <p:spPr>
            <a:xfrm>
              <a:off x="1308" y="17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666" name="Text Box 55"/>
            <p:cNvSpPr txBox="1"/>
            <p:nvPr/>
          </p:nvSpPr>
          <p:spPr>
            <a:xfrm>
              <a:off x="1692" y="17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9673" name="Rectangle 57"/>
          <p:cNvSpPr>
            <a:spLocks noChangeArrowheads="1"/>
          </p:cNvSpPr>
          <p:nvPr/>
        </p:nvSpPr>
        <p:spPr bwMode="auto">
          <a:xfrm>
            <a:off x="4495800" y="3810000"/>
            <a:ext cx="3124200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WPL = 2*1+4*2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 +5*3+7*3 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= 46            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239675" name="Rectangle 59"/>
          <p:cNvSpPr>
            <a:spLocks noChangeArrowheads="1"/>
          </p:cNvSpPr>
          <p:nvPr/>
        </p:nvSpPr>
        <p:spPr bwMode="auto">
          <a:xfrm>
            <a:off x="7620000" y="3810000"/>
            <a:ext cx="3048000" cy="1568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WPL = 7*1+5*2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+2*3+4*3 </a:t>
            </a:r>
            <a:endParaRPr kumimoji="1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= 35  </a:t>
            </a:r>
            <a:endParaRPr kumimoji="1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239676" name="Text Box 60"/>
          <p:cNvSpPr txBox="1">
            <a:spLocks noChangeArrowheads="1"/>
          </p:cNvSpPr>
          <p:nvPr/>
        </p:nvSpPr>
        <p:spPr bwMode="auto">
          <a:xfrm>
            <a:off x="3054350" y="6018213"/>
            <a:ext cx="5492750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带权</a:t>
            </a:r>
            <a:r>
              <a:rPr kumimoji="1" lang="en-US" altLang="zh-CN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(</a:t>
            </a: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外部</a:t>
            </a:r>
            <a:r>
              <a:rPr kumimoji="1" lang="en-US" altLang="zh-CN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)</a:t>
            </a: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路径长度达到最小</a:t>
            </a:r>
            <a:endParaRPr kumimoji="1" lang="zh-CN" altLang="en-US" kern="1200" cap="none" spc="0" normalizeH="0" baseline="0" noProof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11670" name="Line 64"/>
          <p:cNvSpPr/>
          <p:nvPr/>
        </p:nvSpPr>
        <p:spPr>
          <a:xfrm flipV="1">
            <a:off x="8077200" y="5334000"/>
            <a:ext cx="533400" cy="76200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1671" name="Rectangle 65"/>
          <p:cNvSpPr/>
          <p:nvPr/>
        </p:nvSpPr>
        <p:spPr>
          <a:xfrm>
            <a:off x="3048000" y="152400"/>
            <a:ext cx="55626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4000" dirty="0">
                <a:solidFill>
                  <a:srgbClr val="CC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哈夫曼树</a:t>
            </a:r>
            <a:r>
              <a:rPr lang="zh-CN" altLang="en-US" sz="4000" dirty="0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rPr>
              <a:t>(Huffman Tree)</a:t>
            </a:r>
            <a:endParaRPr lang="en-US" altLang="zh-CN" sz="5400" b="0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39682" name="Rectangle 66"/>
          <p:cNvSpPr>
            <a:spLocks noChangeArrowheads="1"/>
          </p:cNvSpPr>
          <p:nvPr/>
        </p:nvSpPr>
        <p:spPr bwMode="auto">
          <a:xfrm>
            <a:off x="2133600" y="5486400"/>
            <a:ext cx="8001000" cy="1371600"/>
          </a:xfrm>
          <a:prstGeom prst="rect">
            <a:avLst/>
          </a:prstGeom>
          <a:solidFill>
            <a:srgbClr val="CCFF66"/>
          </a:solidFill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哈夫曼树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带权路径长度达到最小的扩充二叉树。</a:t>
            </a:r>
            <a:b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</a:rPr>
            </a:br>
            <a:r>
              <a:rPr kumimoji="1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哈夫曼树的特点：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仿宋_GB2312" pitchFamily="49" charset="-122"/>
                <a:ea typeface="仿宋_GB2312" pitchFamily="49" charset="-122"/>
                <a:cs typeface="+mn-cs"/>
                <a:sym typeface="+mn-ea"/>
              </a:rPr>
              <a:t>权值大的结点离根最近。</a:t>
            </a:r>
            <a:endParaRPr kumimoji="1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仿宋_GB2312" pitchFamily="49" charset="-122"/>
              <a:ea typeface="仿宋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4469" name="Rectangle 101"/>
          <p:cNvSpPr/>
          <p:nvPr/>
        </p:nvSpPr>
        <p:spPr>
          <a:xfrm>
            <a:off x="6858000" y="1447800"/>
            <a:ext cx="2895600" cy="1600200"/>
          </a:xfrm>
          <a:prstGeom prst="rect">
            <a:avLst/>
          </a:prstGeom>
          <a:solidFill>
            <a:srgbClr val="66CCFF"/>
          </a:soli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4468" name="Rectangle 100"/>
          <p:cNvSpPr/>
          <p:nvPr/>
        </p:nvSpPr>
        <p:spPr>
          <a:xfrm>
            <a:off x="5791200" y="2133600"/>
            <a:ext cx="2819400" cy="2209800"/>
          </a:xfrm>
          <a:prstGeom prst="rect">
            <a:avLst/>
          </a:prstGeom>
          <a:solidFill>
            <a:srgbClr val="CCFF66"/>
          </a:soli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4467" name="Rectangle 99"/>
          <p:cNvSpPr/>
          <p:nvPr/>
        </p:nvSpPr>
        <p:spPr>
          <a:xfrm>
            <a:off x="6019800" y="4114800"/>
            <a:ext cx="2819400" cy="2514600"/>
          </a:xfrm>
          <a:prstGeom prst="rect">
            <a:avLst/>
          </a:prstGeom>
          <a:solidFill>
            <a:srgbClr val="66FF66"/>
          </a:soli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4465" name="Rectangle 97"/>
          <p:cNvSpPr/>
          <p:nvPr/>
        </p:nvSpPr>
        <p:spPr>
          <a:xfrm>
            <a:off x="8153400" y="2819400"/>
            <a:ext cx="2514600" cy="3429000"/>
          </a:xfrm>
          <a:prstGeom prst="rect">
            <a:avLst/>
          </a:prstGeom>
          <a:solidFill>
            <a:srgbClr val="FF6699"/>
          </a:solidFill>
          <a:ln w="38100">
            <a:noFill/>
          </a:ln>
        </p:spPr>
        <p:txBody>
          <a:bodyPr wrap="none" anchor="ctr" anchorCtr="0"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4375" name="Text Box 7"/>
          <p:cNvSpPr txBox="1">
            <a:spLocks noChangeArrowheads="1"/>
          </p:cNvSpPr>
          <p:nvPr/>
        </p:nvSpPr>
        <p:spPr bwMode="auto">
          <a:xfrm>
            <a:off x="877888" y="1447800"/>
            <a:ext cx="4572000" cy="175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1" lang="en-US" altLang="zh-CN" sz="3200" kern="1200" cap="none" spc="0" normalizeH="0" baseline="0" noProof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(1)</a:t>
            </a:r>
            <a:r>
              <a:rPr kumimoji="1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初始状态：</a:t>
            </a:r>
            <a:r>
              <a:rPr kumimoji="1" lang="zh-CN" altLang="en-US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构造具有 </a:t>
            </a:r>
            <a:r>
              <a:rPr kumimoji="1" lang="en-US" altLang="zh-CN" sz="24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400" i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棵二叉树的森林 </a:t>
            </a:r>
            <a:r>
              <a:rPr kumimoji="1" lang="en-US" altLang="zh-CN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F</a:t>
            </a:r>
            <a:r>
              <a:rPr kumimoji="1" lang="en-US" altLang="zh-CN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= { </a:t>
            </a:r>
            <a:r>
              <a:rPr kumimoji="1" lang="en-US" altLang="zh-CN" sz="24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400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1</a:t>
            </a:r>
            <a:r>
              <a:rPr kumimoji="1" lang="en-US" altLang="zh-CN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…</a:t>
            </a:r>
            <a:r>
              <a:rPr kumimoji="1" lang="en-US" altLang="zh-CN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 </a:t>
            </a:r>
            <a:r>
              <a:rPr kumimoji="1" lang="en-US" altLang="zh-CN" sz="24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400" i="1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n</a:t>
            </a:r>
            <a:r>
              <a:rPr kumimoji="1" lang="en-US" altLang="zh-CN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}</a:t>
            </a:r>
            <a:r>
              <a:rPr kumimoji="1" lang="zh-CN" altLang="en-US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，其中每棵二叉树 </a:t>
            </a:r>
            <a:r>
              <a:rPr kumimoji="1" lang="en-US" altLang="zh-CN" sz="24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T</a:t>
            </a:r>
            <a:r>
              <a:rPr kumimoji="1" lang="en-US" altLang="zh-CN" sz="2400" i="1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 </a:t>
            </a:r>
            <a:r>
              <a:rPr kumimoji="1" lang="zh-CN" altLang="en-US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只有一 个带权值 </a:t>
            </a:r>
            <a:r>
              <a:rPr kumimoji="1" lang="en-US" altLang="zh-CN" sz="2400" i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w</a:t>
            </a:r>
            <a:r>
              <a:rPr kumimoji="1" lang="en-US" altLang="zh-CN" sz="2400" i="1" kern="1200" cap="none" spc="0" normalizeH="0" baseline="-2500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i </a:t>
            </a:r>
            <a:r>
              <a:rPr kumimoji="1" lang="zh-CN" altLang="en-US" sz="24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的根结点。</a:t>
            </a:r>
            <a:r>
              <a:rPr kumimoji="1" lang="zh-CN" altLang="en-US" sz="2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endParaRPr kumimoji="1" lang="zh-CN" altLang="en-US" sz="2800" b="0" kern="1200" cap="none" spc="0" normalizeH="0" baseline="0" noProof="0"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112646" name="Rectangle 8"/>
          <p:cNvSpPr/>
          <p:nvPr/>
        </p:nvSpPr>
        <p:spPr>
          <a:xfrm>
            <a:off x="3352800" y="152400"/>
            <a:ext cx="54102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4000" dirty="0">
                <a:solidFill>
                  <a:srgbClr val="CC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哈夫曼树</a:t>
            </a:r>
            <a:r>
              <a:rPr lang="zh-CN" altLang="en-US" sz="4000" dirty="0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rPr>
              <a:t>(Huffman Tree)</a:t>
            </a:r>
            <a:endParaRPr lang="en-US" altLang="zh-CN" sz="5400" b="0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14378" name="Text Box 10"/>
          <p:cNvSpPr txBox="1">
            <a:spLocks noChangeArrowheads="1"/>
          </p:cNvSpPr>
          <p:nvPr/>
        </p:nvSpPr>
        <p:spPr bwMode="auto">
          <a:xfrm>
            <a:off x="884238" y="836613"/>
            <a:ext cx="3857625" cy="60642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lnSpc>
                <a:spcPct val="105000"/>
              </a:lnSpc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哈夫曼树的构造过程</a:t>
            </a:r>
            <a:endParaRPr kumimoji="1" lang="zh-CN" altLang="en-US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14380" name="Text Box 12"/>
          <p:cNvSpPr txBox="1"/>
          <p:nvPr/>
        </p:nvSpPr>
        <p:spPr>
          <a:xfrm>
            <a:off x="6486525" y="912813"/>
            <a:ext cx="3479800" cy="6445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: {7</a:t>
            </a: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6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4}</a:t>
            </a:r>
            <a:endParaRPr lang="en-US" altLang="zh-CN" sz="3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7162800" y="1598613"/>
            <a:ext cx="2209800" cy="935037"/>
            <a:chOff x="3072" y="1410"/>
            <a:chExt cx="1392" cy="589"/>
          </a:xfrm>
        </p:grpSpPr>
        <p:sp>
          <p:nvSpPr>
            <p:cNvPr id="52290" name="Rectangle 13"/>
            <p:cNvSpPr>
              <a:spLocks noChangeArrowheads="1"/>
            </p:cNvSpPr>
            <p:nvPr/>
          </p:nvSpPr>
          <p:spPr bwMode="auto">
            <a:xfrm>
              <a:off x="3072" y="1459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91" name="Rectangle 14"/>
            <p:cNvSpPr>
              <a:spLocks noChangeArrowheads="1"/>
            </p:cNvSpPr>
            <p:nvPr/>
          </p:nvSpPr>
          <p:spPr bwMode="auto">
            <a:xfrm>
              <a:off x="3456" y="1459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92" name="Rectangle 15"/>
            <p:cNvSpPr>
              <a:spLocks noChangeArrowheads="1"/>
            </p:cNvSpPr>
            <p:nvPr/>
          </p:nvSpPr>
          <p:spPr bwMode="auto">
            <a:xfrm>
              <a:off x="3840" y="1459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93" name="Rectangle 16"/>
            <p:cNvSpPr>
              <a:spLocks noChangeArrowheads="1"/>
            </p:cNvSpPr>
            <p:nvPr/>
          </p:nvSpPr>
          <p:spPr bwMode="auto">
            <a:xfrm>
              <a:off x="4224" y="1459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54" name="Text Box 17"/>
            <p:cNvSpPr txBox="1"/>
            <p:nvPr/>
          </p:nvSpPr>
          <p:spPr>
            <a:xfrm>
              <a:off x="3072" y="141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5" name="Text Box 18"/>
            <p:cNvSpPr txBox="1"/>
            <p:nvPr/>
          </p:nvSpPr>
          <p:spPr>
            <a:xfrm>
              <a:off x="3468" y="1410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6" name="Text Box 19"/>
            <p:cNvSpPr txBox="1"/>
            <p:nvPr/>
          </p:nvSpPr>
          <p:spPr>
            <a:xfrm>
              <a:off x="3852" y="1410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7" name="Text Box 20"/>
            <p:cNvSpPr txBox="1"/>
            <p:nvPr/>
          </p:nvSpPr>
          <p:spPr>
            <a:xfrm>
              <a:off x="4236" y="1410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58" name="Text Box 21"/>
            <p:cNvSpPr txBox="1"/>
            <p:nvPr/>
          </p:nvSpPr>
          <p:spPr>
            <a:xfrm>
              <a:off x="3504" y="1631"/>
              <a:ext cx="627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zh-CN" altLang="en-US" sz="3200" b="0" dirty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初始</a:t>
              </a: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4391" name="Text Box 23"/>
          <p:cNvSpPr txBox="1">
            <a:spLocks noChangeArrowheads="1"/>
          </p:cNvSpPr>
          <p:nvPr/>
        </p:nvSpPr>
        <p:spPr bwMode="auto">
          <a:xfrm>
            <a:off x="877888" y="3124200"/>
            <a:ext cx="4419600" cy="325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05000"/>
              </a:lnSpc>
              <a:buClrTx/>
              <a:buSzTx/>
              <a:defRPr/>
            </a:pPr>
            <a:r>
              <a:rPr kumimoji="1" lang="en-US" altLang="zh-CN" sz="2800" kern="1200" cap="none" spc="0" normalizeH="0" baseline="0" noProof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(2)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重复合并</a:t>
            </a:r>
            <a:r>
              <a:rPr kumimoji="1" lang="en-US" altLang="zh-CN" sz="28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:</a:t>
            </a:r>
            <a:r>
              <a:rPr kumimoji="1" lang="zh-CN" altLang="en-US" sz="2400" kern="1200" cap="none" spc="0" normalizeH="0" baseline="0" noProof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直到 剩一棵树</a:t>
            </a:r>
            <a:endParaRPr kumimoji="1" lang="zh-CN" altLang="en-US" sz="2400" kern="1200" cap="none" spc="0" normalizeH="0" baseline="0" noProof="0">
              <a:solidFill>
                <a:srgbClr val="0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Tx/>
              <a:buSzTx/>
              <a:defRPr/>
            </a:pP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① 在</a:t>
            </a:r>
            <a:r>
              <a:rPr kumimoji="1" lang="zh-CN" altLang="en-US" sz="24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F</a:t>
            </a:r>
            <a:r>
              <a:rPr kumimoji="1" lang="en-US" altLang="zh-CN" sz="2400" i="1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中选取两棵</a:t>
            </a:r>
            <a:r>
              <a:rPr kumimoji="1" lang="zh-CN" altLang="en-US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根的权值最小</a:t>
            </a: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的二叉树</a:t>
            </a:r>
            <a:r>
              <a:rPr kumimoji="1" lang="en-US" altLang="zh-CN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,</a:t>
            </a:r>
            <a:r>
              <a:rPr kumimoji="1" lang="en-US" altLang="zh-CN" sz="24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r>
              <a:rPr kumimoji="1" lang="zh-CN" altLang="en-US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做为左、右子树</a:t>
            </a: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合并成一棵新二叉树。置新的二叉树的</a:t>
            </a:r>
            <a:r>
              <a:rPr kumimoji="1" lang="zh-CN" altLang="en-US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根结点的权值为其左、右子树上根结点的权值之和</a:t>
            </a: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。</a:t>
            </a:r>
            <a:endParaRPr kumimoji="1" lang="zh-CN" altLang="en-US" sz="2400" kern="1200" cap="none" spc="0" normalizeH="0" baseline="0" noProof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Tx/>
              <a:buSzTx/>
              <a:defRPr/>
            </a:pP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② 在</a:t>
            </a:r>
            <a:r>
              <a:rPr kumimoji="1" lang="zh-CN" altLang="en-US" sz="24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F</a:t>
            </a:r>
            <a:r>
              <a:rPr kumimoji="1" lang="en-US" altLang="zh-CN" sz="2400" i="1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中删去这两棵二叉树。</a:t>
            </a:r>
            <a:endParaRPr kumimoji="1" lang="zh-CN" altLang="en-US" sz="2400" kern="1200" cap="none" spc="0" normalizeH="0" baseline="0" noProof="0">
              <a:solidFill>
                <a:srgbClr val="0099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  <a:p>
            <a:pPr marR="0" defTabSz="914400">
              <a:lnSpc>
                <a:spcPct val="105000"/>
              </a:lnSpc>
              <a:buClrTx/>
              <a:buSzTx/>
              <a:defRPr/>
            </a:pP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③ 把新的二叉树加入</a:t>
            </a:r>
            <a:r>
              <a:rPr kumimoji="1" lang="zh-CN" altLang="en-US" sz="2400" kern="1200" cap="none" spc="0" normalizeH="0" baseline="0" noProof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</a:t>
            </a:r>
            <a:r>
              <a:rPr kumimoji="1" lang="en-US" altLang="zh-CN" sz="24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F</a:t>
            </a:r>
            <a:r>
              <a:rPr kumimoji="1" lang="zh-CN" altLang="en-US" sz="24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。</a:t>
            </a:r>
            <a:r>
              <a:rPr kumimoji="1" lang="zh-CN" altLang="en-US" sz="2400" kern="1200" cap="none" spc="0" normalizeH="0" baseline="0" noProof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          </a:t>
            </a:r>
            <a:endParaRPr kumimoji="1" lang="zh-CN" altLang="en-US" sz="2400" kern="1200" cap="none" spc="0" normalizeH="0" baseline="0" noProof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  <a:sym typeface="+mn-ea"/>
            </a:endParaRPr>
          </a:p>
        </p:txBody>
      </p:sp>
      <p:grpSp>
        <p:nvGrpSpPr>
          <p:cNvPr id="3" name="Group 24"/>
          <p:cNvGrpSpPr/>
          <p:nvPr/>
        </p:nvGrpSpPr>
        <p:grpSpPr>
          <a:xfrm>
            <a:off x="5808663" y="2284413"/>
            <a:ext cx="2384425" cy="1727200"/>
            <a:chOff x="3275" y="642"/>
            <a:chExt cx="1502" cy="1088"/>
          </a:xfrm>
        </p:grpSpPr>
        <p:sp>
          <p:nvSpPr>
            <p:cNvPr id="112661" name="Line 25"/>
            <p:cNvSpPr/>
            <p:nvPr/>
          </p:nvSpPr>
          <p:spPr>
            <a:xfrm>
              <a:off x="4416" y="912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662" name="Line 26"/>
            <p:cNvSpPr/>
            <p:nvPr/>
          </p:nvSpPr>
          <p:spPr>
            <a:xfrm flipH="1">
              <a:off x="4176" y="912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79" name="Rectangle 27"/>
            <p:cNvSpPr>
              <a:spLocks noChangeArrowheads="1"/>
            </p:cNvSpPr>
            <p:nvPr/>
          </p:nvSpPr>
          <p:spPr bwMode="auto">
            <a:xfrm>
              <a:off x="3360" y="720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80" name="Rectangle 28"/>
            <p:cNvSpPr>
              <a:spLocks noChangeArrowheads="1"/>
            </p:cNvSpPr>
            <p:nvPr/>
          </p:nvSpPr>
          <p:spPr bwMode="auto">
            <a:xfrm>
              <a:off x="3744" y="720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81" name="Rectangle 29"/>
            <p:cNvSpPr>
              <a:spLocks noChangeArrowheads="1"/>
            </p:cNvSpPr>
            <p:nvPr/>
          </p:nvSpPr>
          <p:spPr bwMode="auto">
            <a:xfrm>
              <a:off x="4032" y="1152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82" name="Rectangle 30"/>
            <p:cNvSpPr>
              <a:spLocks noChangeArrowheads="1"/>
            </p:cNvSpPr>
            <p:nvPr/>
          </p:nvSpPr>
          <p:spPr bwMode="auto">
            <a:xfrm>
              <a:off x="4464" y="1152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83" name="Oval 31"/>
            <p:cNvSpPr>
              <a:spLocks noChangeArrowheads="1"/>
            </p:cNvSpPr>
            <p:nvPr/>
          </p:nvSpPr>
          <p:spPr bwMode="auto">
            <a:xfrm>
              <a:off x="4224" y="672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4400" name="Text Box 32"/>
            <p:cNvSpPr txBox="1">
              <a:spLocks noChangeArrowheads="1"/>
            </p:cNvSpPr>
            <p:nvPr/>
          </p:nvSpPr>
          <p:spPr bwMode="auto">
            <a:xfrm>
              <a:off x="3275" y="1362"/>
              <a:ext cx="1502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3200" b="0" kern="1200" cap="none" spc="0" normalizeH="0" baseline="0" noProof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  <a:sym typeface="+mn-ea"/>
                </a:rPr>
                <a:t>合并</a:t>
              </a:r>
              <a:r>
                <a:rPr kumimoji="1" lang="zh-CN" altLang="en-US" sz="2400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① </a:t>
              </a: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{2} {4}</a:t>
              </a:r>
              <a:endParaRPr kumimoji="1" lang="en-US" altLang="zh-CN" sz="2800" kern="1200" cap="none" spc="0" normalizeH="0" baseline="0" noProof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2669" name="Text Box 33"/>
            <p:cNvSpPr txBox="1"/>
            <p:nvPr/>
          </p:nvSpPr>
          <p:spPr>
            <a:xfrm>
              <a:off x="3372" y="680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70" name="Text Box 34"/>
            <p:cNvSpPr txBox="1"/>
            <p:nvPr/>
          </p:nvSpPr>
          <p:spPr>
            <a:xfrm>
              <a:off x="3756" y="671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71" name="Text Box 35"/>
            <p:cNvSpPr txBox="1"/>
            <p:nvPr/>
          </p:nvSpPr>
          <p:spPr>
            <a:xfrm>
              <a:off x="4032" y="1112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72" name="Text Box 36"/>
            <p:cNvSpPr txBox="1"/>
            <p:nvPr/>
          </p:nvSpPr>
          <p:spPr>
            <a:xfrm>
              <a:off x="4476" y="1112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73" name="Text Box 37"/>
            <p:cNvSpPr txBox="1"/>
            <p:nvPr/>
          </p:nvSpPr>
          <p:spPr>
            <a:xfrm>
              <a:off x="4232" y="642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38"/>
          <p:cNvGrpSpPr/>
          <p:nvPr/>
        </p:nvGrpSpPr>
        <p:grpSpPr>
          <a:xfrm>
            <a:off x="6019800" y="4113213"/>
            <a:ext cx="2308225" cy="2428875"/>
            <a:chOff x="719" y="2216"/>
            <a:chExt cx="1454" cy="1530"/>
          </a:xfrm>
        </p:grpSpPr>
        <p:sp>
          <p:nvSpPr>
            <p:cNvPr id="112675" name="Line 39"/>
            <p:cNvSpPr/>
            <p:nvPr/>
          </p:nvSpPr>
          <p:spPr>
            <a:xfrm flipH="1">
              <a:off x="1344" y="2496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676" name="Line 40"/>
            <p:cNvSpPr/>
            <p:nvPr/>
          </p:nvSpPr>
          <p:spPr>
            <a:xfrm>
              <a:off x="1584" y="2496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677" name="Line 41"/>
            <p:cNvSpPr/>
            <p:nvPr/>
          </p:nvSpPr>
          <p:spPr>
            <a:xfrm>
              <a:off x="1824" y="2976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678" name="Line 42"/>
            <p:cNvSpPr/>
            <p:nvPr/>
          </p:nvSpPr>
          <p:spPr>
            <a:xfrm flipH="1">
              <a:off x="1584" y="2919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64" name="Rectangle 43"/>
            <p:cNvSpPr>
              <a:spLocks noChangeArrowheads="1"/>
            </p:cNvSpPr>
            <p:nvPr/>
          </p:nvSpPr>
          <p:spPr bwMode="auto">
            <a:xfrm>
              <a:off x="768" y="2688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65" name="Rectangle 44"/>
            <p:cNvSpPr>
              <a:spLocks noChangeArrowheads="1"/>
            </p:cNvSpPr>
            <p:nvPr/>
          </p:nvSpPr>
          <p:spPr bwMode="auto">
            <a:xfrm>
              <a:off x="1200" y="2688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66" name="Rectangle 45"/>
            <p:cNvSpPr>
              <a:spLocks noChangeArrowheads="1"/>
            </p:cNvSpPr>
            <p:nvPr/>
          </p:nvSpPr>
          <p:spPr bwMode="auto">
            <a:xfrm>
              <a:off x="1440" y="3159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67" name="Rectangle 46"/>
            <p:cNvSpPr>
              <a:spLocks noChangeArrowheads="1"/>
            </p:cNvSpPr>
            <p:nvPr/>
          </p:nvSpPr>
          <p:spPr bwMode="auto">
            <a:xfrm>
              <a:off x="1824" y="3159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68" name="Oval 47"/>
            <p:cNvSpPr>
              <a:spLocks noChangeArrowheads="1"/>
            </p:cNvSpPr>
            <p:nvPr/>
          </p:nvSpPr>
          <p:spPr bwMode="auto">
            <a:xfrm>
              <a:off x="1632" y="2679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69" name="Oval 48"/>
            <p:cNvSpPr>
              <a:spLocks noChangeArrowheads="1"/>
            </p:cNvSpPr>
            <p:nvPr/>
          </p:nvSpPr>
          <p:spPr bwMode="auto">
            <a:xfrm>
              <a:off x="1392" y="2256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685" name="Text Box 49"/>
            <p:cNvSpPr txBox="1"/>
            <p:nvPr/>
          </p:nvSpPr>
          <p:spPr>
            <a:xfrm>
              <a:off x="780" y="2638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86" name="Text Box 50"/>
            <p:cNvSpPr txBox="1"/>
            <p:nvPr/>
          </p:nvSpPr>
          <p:spPr>
            <a:xfrm>
              <a:off x="1212" y="2638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87" name="Text Box 51"/>
            <p:cNvSpPr txBox="1"/>
            <p:nvPr/>
          </p:nvSpPr>
          <p:spPr>
            <a:xfrm>
              <a:off x="1440" y="311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88" name="Text Box 52"/>
            <p:cNvSpPr txBox="1"/>
            <p:nvPr/>
          </p:nvSpPr>
          <p:spPr>
            <a:xfrm>
              <a:off x="1836" y="311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89" name="Text Box 53"/>
            <p:cNvSpPr txBox="1"/>
            <p:nvPr/>
          </p:nvSpPr>
          <p:spPr>
            <a:xfrm>
              <a:off x="1584" y="2648"/>
              <a:ext cx="33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90" name="Text Box 54"/>
            <p:cNvSpPr txBox="1"/>
            <p:nvPr/>
          </p:nvSpPr>
          <p:spPr>
            <a:xfrm>
              <a:off x="1344" y="2216"/>
              <a:ext cx="38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4423" name="Text Box 55"/>
            <p:cNvSpPr txBox="1">
              <a:spLocks noChangeArrowheads="1"/>
            </p:cNvSpPr>
            <p:nvPr/>
          </p:nvSpPr>
          <p:spPr bwMode="auto">
            <a:xfrm>
              <a:off x="719" y="3378"/>
              <a:ext cx="1454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3200" b="0" kern="1200" cap="none" spc="0" normalizeH="0" baseline="0" noProof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  <a:sym typeface="+mn-ea"/>
                </a:rPr>
                <a:t>合并</a:t>
              </a:r>
              <a:r>
                <a:rPr kumimoji="1" lang="zh-CN" altLang="en-US" sz="2400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②</a:t>
              </a: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{5} {6}</a:t>
              </a:r>
              <a:endParaRPr kumimoji="1" lang="en-US" altLang="zh-CN" sz="2800" kern="1200" cap="none" spc="0" normalizeH="0" baseline="0" noProof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grpSp>
        <p:nvGrpSpPr>
          <p:cNvPr id="5" name="Group 74"/>
          <p:cNvGrpSpPr/>
          <p:nvPr/>
        </p:nvGrpSpPr>
        <p:grpSpPr>
          <a:xfrm>
            <a:off x="8359775" y="2894013"/>
            <a:ext cx="2308225" cy="3343275"/>
            <a:chOff x="3599" y="2216"/>
            <a:chExt cx="1454" cy="2106"/>
          </a:xfrm>
        </p:grpSpPr>
        <p:sp>
          <p:nvSpPr>
            <p:cNvPr id="112693" name="Line 75"/>
            <p:cNvSpPr/>
            <p:nvPr/>
          </p:nvSpPr>
          <p:spPr>
            <a:xfrm flipH="1">
              <a:off x="3792" y="2496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694" name="Line 76"/>
            <p:cNvSpPr/>
            <p:nvPr/>
          </p:nvSpPr>
          <p:spPr>
            <a:xfrm>
              <a:off x="4032" y="2448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695" name="Line 77"/>
            <p:cNvSpPr/>
            <p:nvPr/>
          </p:nvSpPr>
          <p:spPr>
            <a:xfrm>
              <a:off x="4272" y="2928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696" name="Line 78"/>
            <p:cNvSpPr/>
            <p:nvPr/>
          </p:nvSpPr>
          <p:spPr>
            <a:xfrm flipH="1">
              <a:off x="4032" y="2919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43" name="Rectangle 79"/>
            <p:cNvSpPr>
              <a:spLocks noChangeArrowheads="1"/>
            </p:cNvSpPr>
            <p:nvPr/>
          </p:nvSpPr>
          <p:spPr bwMode="auto">
            <a:xfrm>
              <a:off x="3648" y="2688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44" name="Rectangle 80"/>
            <p:cNvSpPr>
              <a:spLocks noChangeArrowheads="1"/>
            </p:cNvSpPr>
            <p:nvPr/>
          </p:nvSpPr>
          <p:spPr bwMode="auto">
            <a:xfrm>
              <a:off x="3888" y="3159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45" name="Oval 81"/>
            <p:cNvSpPr>
              <a:spLocks noChangeArrowheads="1"/>
            </p:cNvSpPr>
            <p:nvPr/>
          </p:nvSpPr>
          <p:spPr bwMode="auto">
            <a:xfrm>
              <a:off x="4080" y="2679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46" name="Oval 82"/>
            <p:cNvSpPr>
              <a:spLocks noChangeArrowheads="1"/>
            </p:cNvSpPr>
            <p:nvPr/>
          </p:nvSpPr>
          <p:spPr bwMode="auto">
            <a:xfrm>
              <a:off x="3840" y="2256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01" name="Text Box 83"/>
            <p:cNvSpPr txBox="1"/>
            <p:nvPr/>
          </p:nvSpPr>
          <p:spPr>
            <a:xfrm>
              <a:off x="3888" y="311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4452" name="Text Box 84"/>
            <p:cNvSpPr txBox="1">
              <a:spLocks noChangeArrowheads="1"/>
            </p:cNvSpPr>
            <p:nvPr/>
          </p:nvSpPr>
          <p:spPr bwMode="auto">
            <a:xfrm>
              <a:off x="3599" y="3954"/>
              <a:ext cx="1454" cy="36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3200" b="0" kern="1200" cap="none" spc="0" normalizeH="0" baseline="0" noProof="0">
                  <a:solidFill>
                    <a:schemeClr val="accent2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+mn-cs"/>
                  <a:sym typeface="+mn-ea"/>
                </a:rPr>
                <a:t>合并</a:t>
              </a:r>
              <a:r>
                <a:rPr kumimoji="1" lang="zh-CN" altLang="en-US" sz="2400" kern="1200" cap="none" spc="0" normalizeH="0" baseline="0" noProof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③</a:t>
              </a:r>
              <a:r>
                <a:rPr kumimoji="1" lang="en-US" altLang="zh-CN" sz="2800" kern="1200" cap="none" spc="0" normalizeH="0" baseline="0" noProof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{5} {6}</a:t>
              </a:r>
              <a:endParaRPr kumimoji="1" lang="en-US" altLang="zh-CN" sz="2800" kern="1200" cap="none" spc="0" normalizeH="0" baseline="0" noProof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2703" name="Line 85"/>
            <p:cNvSpPr/>
            <p:nvPr/>
          </p:nvSpPr>
          <p:spPr>
            <a:xfrm>
              <a:off x="4500" y="3360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704" name="Line 86"/>
            <p:cNvSpPr/>
            <p:nvPr/>
          </p:nvSpPr>
          <p:spPr>
            <a:xfrm flipH="1">
              <a:off x="4260" y="3360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51" name="Rectangle 87"/>
            <p:cNvSpPr>
              <a:spLocks noChangeArrowheads="1"/>
            </p:cNvSpPr>
            <p:nvPr/>
          </p:nvSpPr>
          <p:spPr bwMode="auto">
            <a:xfrm>
              <a:off x="4116" y="3600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52" name="Rectangle 88"/>
            <p:cNvSpPr>
              <a:spLocks noChangeArrowheads="1"/>
            </p:cNvSpPr>
            <p:nvPr/>
          </p:nvSpPr>
          <p:spPr bwMode="auto">
            <a:xfrm>
              <a:off x="4560" y="3600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253" name="Oval 89"/>
            <p:cNvSpPr>
              <a:spLocks noChangeArrowheads="1"/>
            </p:cNvSpPr>
            <p:nvPr/>
          </p:nvSpPr>
          <p:spPr bwMode="auto">
            <a:xfrm>
              <a:off x="4308" y="3120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708" name="Text Box 90"/>
            <p:cNvSpPr txBox="1"/>
            <p:nvPr/>
          </p:nvSpPr>
          <p:spPr>
            <a:xfrm>
              <a:off x="4116" y="3560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09" name="Text Box 91"/>
            <p:cNvSpPr txBox="1"/>
            <p:nvPr/>
          </p:nvSpPr>
          <p:spPr>
            <a:xfrm>
              <a:off x="3648" y="2639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10" name="Text Box 92"/>
            <p:cNvSpPr txBox="1"/>
            <p:nvPr/>
          </p:nvSpPr>
          <p:spPr>
            <a:xfrm>
              <a:off x="4572" y="3560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11" name="Text Box 93"/>
            <p:cNvSpPr txBox="1"/>
            <p:nvPr/>
          </p:nvSpPr>
          <p:spPr>
            <a:xfrm>
              <a:off x="4276" y="3080"/>
              <a:ext cx="332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12" name="Text Box 94"/>
            <p:cNvSpPr txBox="1"/>
            <p:nvPr/>
          </p:nvSpPr>
          <p:spPr>
            <a:xfrm>
              <a:off x="4036" y="2648"/>
              <a:ext cx="38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13" name="Text Box 95"/>
            <p:cNvSpPr txBox="1"/>
            <p:nvPr/>
          </p:nvSpPr>
          <p:spPr>
            <a:xfrm>
              <a:off x="3792" y="2216"/>
              <a:ext cx="388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18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1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1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31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31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31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469" grpId="0" bldLvl="0" animBg="1"/>
      <p:bldP spid="314468" grpId="0" bldLvl="0" animBg="1"/>
      <p:bldP spid="314467" grpId="0" bldLvl="0" animBg="1"/>
      <p:bldP spid="314465" grpId="0" bldLvl="0" animBg="1"/>
      <p:bldP spid="314375" grpId="0" bldLvl="0" animBg="1"/>
      <p:bldP spid="314378" grpId="0" bldLvl="0" animBg="1"/>
      <p:bldP spid="314380" grpId="0"/>
      <p:bldP spid="314391" grpId="0" bldLvl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5"/>
          <p:cNvGrpSpPr/>
          <p:nvPr/>
        </p:nvGrpSpPr>
        <p:grpSpPr>
          <a:xfrm>
            <a:off x="2211388" y="1065213"/>
            <a:ext cx="2143125" cy="536575"/>
            <a:chOff x="337" y="767"/>
            <a:chExt cx="1350" cy="338"/>
          </a:xfrm>
        </p:grpSpPr>
        <p:sp>
          <p:nvSpPr>
            <p:cNvPr id="53339" name="Rectangle 6"/>
            <p:cNvSpPr>
              <a:spLocks noChangeArrowheads="1"/>
            </p:cNvSpPr>
            <p:nvPr/>
          </p:nvSpPr>
          <p:spPr bwMode="auto">
            <a:xfrm>
              <a:off x="342" y="816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40" name="Rectangle 7"/>
            <p:cNvSpPr>
              <a:spLocks noChangeArrowheads="1"/>
            </p:cNvSpPr>
            <p:nvPr/>
          </p:nvSpPr>
          <p:spPr bwMode="auto">
            <a:xfrm>
              <a:off x="726" y="816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668" name="Text Box 10"/>
            <p:cNvSpPr txBox="1"/>
            <p:nvPr/>
          </p:nvSpPr>
          <p:spPr>
            <a:xfrm>
              <a:off x="721" y="776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342" name="Rectangle 13"/>
            <p:cNvSpPr>
              <a:spLocks noChangeArrowheads="1"/>
            </p:cNvSpPr>
            <p:nvPr/>
          </p:nvSpPr>
          <p:spPr bwMode="auto">
            <a:xfrm>
              <a:off x="1085" y="816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43" name="Rectangle 14"/>
            <p:cNvSpPr>
              <a:spLocks noChangeArrowheads="1"/>
            </p:cNvSpPr>
            <p:nvPr/>
          </p:nvSpPr>
          <p:spPr bwMode="auto">
            <a:xfrm>
              <a:off x="1440" y="816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671" name="Text Box 16"/>
            <p:cNvSpPr txBox="1"/>
            <p:nvPr/>
          </p:nvSpPr>
          <p:spPr>
            <a:xfrm>
              <a:off x="1080" y="776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672" name="Text Box 17"/>
            <p:cNvSpPr txBox="1"/>
            <p:nvPr/>
          </p:nvSpPr>
          <p:spPr>
            <a:xfrm>
              <a:off x="337" y="767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673" name="Text Box 18"/>
            <p:cNvSpPr txBox="1"/>
            <p:nvPr/>
          </p:nvSpPr>
          <p:spPr>
            <a:xfrm>
              <a:off x="1447" y="776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0171" name="Text Box 27"/>
          <p:cNvSpPr txBox="1"/>
          <p:nvPr/>
        </p:nvSpPr>
        <p:spPr>
          <a:xfrm>
            <a:off x="6172200" y="1809750"/>
            <a:ext cx="3567113" cy="363537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en-US" altLang="zh-CN" sz="24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en-US" altLang="zh-CN" sz="24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b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400" b="0" dirty="0"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b="0" dirty="0">
              <a:solidFill>
                <a:srgbClr val="0099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0      0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endParaRPr lang="en-US" altLang="zh-CN" sz="2400" b="0" dirty="0">
              <a:solidFill>
                <a:srgbClr val="0099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b="0" dirty="0">
              <a:solidFill>
                <a:srgbClr val="0099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0      0</a:t>
            </a:r>
            <a:r>
              <a:rPr lang="en-US" altLang="zh-CN" sz="2400" b="0" dirty="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lang="en-US" altLang="zh-CN" sz="2400" b="0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400" b="0" dirty="0">
              <a:solidFill>
                <a:srgbClr val="0099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46"/>
          <p:cNvGrpSpPr/>
          <p:nvPr/>
        </p:nvGrpSpPr>
        <p:grpSpPr>
          <a:xfrm>
            <a:off x="5486400" y="1370013"/>
            <a:ext cx="4851400" cy="4124325"/>
            <a:chOff x="1827" y="336"/>
            <a:chExt cx="3609" cy="3072"/>
          </a:xfrm>
        </p:grpSpPr>
        <p:sp>
          <p:nvSpPr>
            <p:cNvPr id="113676" name="Rectangle 22"/>
            <p:cNvSpPr/>
            <p:nvPr/>
          </p:nvSpPr>
          <p:spPr>
            <a:xfrm>
              <a:off x="2112" y="720"/>
              <a:ext cx="3264" cy="2688"/>
            </a:xfrm>
            <a:prstGeom prst="rect">
              <a:avLst/>
            </a:prstGeom>
            <a:noFill/>
            <a:ln w="38100" cap="flat" cmpd="sng">
              <a:solidFill>
                <a:srgbClr val="00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677" name="Line 23"/>
            <p:cNvSpPr/>
            <p:nvPr/>
          </p:nvSpPr>
          <p:spPr>
            <a:xfrm>
              <a:off x="3600" y="720"/>
              <a:ext cx="0" cy="2688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78" name="Line 24"/>
            <p:cNvSpPr/>
            <p:nvPr/>
          </p:nvSpPr>
          <p:spPr>
            <a:xfrm>
              <a:off x="4464" y="720"/>
              <a:ext cx="0" cy="2688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79" name="Line 25"/>
            <p:cNvSpPr/>
            <p:nvPr/>
          </p:nvSpPr>
          <p:spPr>
            <a:xfrm>
              <a:off x="2832" y="720"/>
              <a:ext cx="0" cy="2688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80" name="Text Box 26"/>
            <p:cNvSpPr txBox="1"/>
            <p:nvPr/>
          </p:nvSpPr>
          <p:spPr>
            <a:xfrm>
              <a:off x="2086" y="336"/>
              <a:ext cx="3350" cy="34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rgbClr val="000099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Weight   parent   leftChild  rightChild</a:t>
              </a:r>
              <a:endParaRPr lang="en-US" altLang="zh-CN" sz="2800" b="0" dirty="0">
                <a:latin typeface="Arial Narrow" panose="020B0606020202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681" name="Line 28"/>
            <p:cNvSpPr/>
            <p:nvPr/>
          </p:nvSpPr>
          <p:spPr>
            <a:xfrm>
              <a:off x="2112" y="1104"/>
              <a:ext cx="326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82" name="Line 29"/>
            <p:cNvSpPr/>
            <p:nvPr/>
          </p:nvSpPr>
          <p:spPr>
            <a:xfrm>
              <a:off x="2112" y="1488"/>
              <a:ext cx="326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83" name="Line 30"/>
            <p:cNvSpPr/>
            <p:nvPr/>
          </p:nvSpPr>
          <p:spPr>
            <a:xfrm>
              <a:off x="2112" y="1872"/>
              <a:ext cx="326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84" name="Line 31"/>
            <p:cNvSpPr/>
            <p:nvPr/>
          </p:nvSpPr>
          <p:spPr>
            <a:xfrm>
              <a:off x="2112" y="2256"/>
              <a:ext cx="326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85" name="Line 32"/>
            <p:cNvSpPr/>
            <p:nvPr/>
          </p:nvSpPr>
          <p:spPr>
            <a:xfrm>
              <a:off x="2112" y="2640"/>
              <a:ext cx="326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86" name="Line 33"/>
            <p:cNvSpPr/>
            <p:nvPr/>
          </p:nvSpPr>
          <p:spPr>
            <a:xfrm>
              <a:off x="2112" y="3024"/>
              <a:ext cx="3264" cy="0"/>
            </a:xfrm>
            <a:prstGeom prst="line">
              <a:avLst/>
            </a:prstGeom>
            <a:ln w="38100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87" name="Text Box 34"/>
            <p:cNvSpPr txBox="1"/>
            <p:nvPr/>
          </p:nvSpPr>
          <p:spPr>
            <a:xfrm>
              <a:off x="1827" y="736"/>
              <a:ext cx="249" cy="266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>
                <a:lnSpc>
                  <a:spcPct val="105000"/>
                </a:lnSpc>
                <a:spcBef>
                  <a:spcPct val="35000"/>
                </a:spcBef>
              </a:pPr>
              <a:r>
                <a:rPr lang="en-US" altLang="zh-CN" sz="24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05000"/>
                </a:lnSpc>
                <a:spcBef>
                  <a:spcPct val="35000"/>
                </a:spcBef>
              </a:pPr>
              <a:r>
                <a:rPr lang="en-US" altLang="zh-CN" sz="24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05000"/>
                </a:lnSpc>
                <a:spcBef>
                  <a:spcPct val="35000"/>
                </a:spcBef>
              </a:pPr>
              <a:r>
                <a:rPr lang="en-US" altLang="zh-CN" sz="24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05000"/>
                </a:lnSpc>
                <a:spcBef>
                  <a:spcPct val="35000"/>
                </a:spcBef>
              </a:pPr>
              <a:r>
                <a:rPr lang="en-US" altLang="zh-CN" sz="24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05000"/>
                </a:lnSpc>
                <a:spcBef>
                  <a:spcPct val="35000"/>
                </a:spcBef>
              </a:pPr>
              <a:r>
                <a:rPr lang="en-US" altLang="zh-CN" sz="24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05000"/>
                </a:lnSpc>
                <a:spcBef>
                  <a:spcPct val="35000"/>
                </a:spcBef>
              </a:pPr>
              <a:r>
                <a:rPr lang="en-US" altLang="zh-CN" sz="24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05000"/>
                </a:lnSpc>
                <a:spcBef>
                  <a:spcPct val="35000"/>
                </a:spcBef>
              </a:pPr>
              <a:r>
                <a:rPr lang="en-US" altLang="zh-CN" sz="24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3688" name="Rectangle 47"/>
          <p:cNvSpPr/>
          <p:nvPr/>
        </p:nvSpPr>
        <p:spPr>
          <a:xfrm>
            <a:off x="3352800" y="152400"/>
            <a:ext cx="54102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4000" dirty="0">
                <a:solidFill>
                  <a:srgbClr val="CC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哈夫曼树</a:t>
            </a:r>
            <a:r>
              <a:rPr lang="zh-CN" altLang="en-US" sz="4000" dirty="0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3200" dirty="0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rPr>
              <a:t>(Huffman Tree)</a:t>
            </a:r>
            <a:endParaRPr lang="en-US" altLang="zh-CN" sz="5400" b="0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90192" name="Text Box 48"/>
          <p:cNvSpPr txBox="1"/>
          <p:nvPr/>
        </p:nvSpPr>
        <p:spPr>
          <a:xfrm>
            <a:off x="4038600" y="5634038"/>
            <a:ext cx="6248400" cy="954087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注：</a:t>
            </a:r>
            <a:r>
              <a:rPr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个叶子，经</a:t>
            </a:r>
            <a:r>
              <a:rPr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m-1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次合并，产生</a:t>
            </a:r>
            <a:r>
              <a:rPr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m-1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分支结点，则哈夫曼共有</a:t>
            </a:r>
            <a:r>
              <a:rPr lang="en-US" altLang="zh-CN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2m-1</a:t>
            </a:r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个结点。</a:t>
            </a:r>
            <a:endParaRPr lang="zh-CN" altLang="en-US" sz="24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64"/>
          <p:cNvGrpSpPr/>
          <p:nvPr/>
        </p:nvGrpSpPr>
        <p:grpSpPr>
          <a:xfrm>
            <a:off x="2592388" y="1827213"/>
            <a:ext cx="2028825" cy="1298575"/>
            <a:chOff x="331" y="1535"/>
            <a:chExt cx="1278" cy="818"/>
          </a:xfrm>
        </p:grpSpPr>
        <p:sp>
          <p:nvSpPr>
            <p:cNvPr id="53315" name="Rectangle 51"/>
            <p:cNvSpPr>
              <a:spLocks noChangeArrowheads="1"/>
            </p:cNvSpPr>
            <p:nvPr/>
          </p:nvSpPr>
          <p:spPr bwMode="auto">
            <a:xfrm>
              <a:off x="336" y="1584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16" name="Rectangle 52"/>
            <p:cNvSpPr>
              <a:spLocks noChangeArrowheads="1"/>
            </p:cNvSpPr>
            <p:nvPr/>
          </p:nvSpPr>
          <p:spPr bwMode="auto">
            <a:xfrm>
              <a:off x="726" y="1584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693" name="Text Box 53"/>
            <p:cNvSpPr txBox="1"/>
            <p:nvPr/>
          </p:nvSpPr>
          <p:spPr>
            <a:xfrm>
              <a:off x="721" y="1544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694" name="Line 54"/>
            <p:cNvSpPr/>
            <p:nvPr/>
          </p:nvSpPr>
          <p:spPr>
            <a:xfrm>
              <a:off x="1302" y="1824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695" name="Line 55"/>
            <p:cNvSpPr/>
            <p:nvPr/>
          </p:nvSpPr>
          <p:spPr>
            <a:xfrm flipH="1">
              <a:off x="1062" y="1824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20" name="Rectangle 56"/>
            <p:cNvSpPr>
              <a:spLocks noChangeArrowheads="1"/>
            </p:cNvSpPr>
            <p:nvPr/>
          </p:nvSpPr>
          <p:spPr bwMode="auto">
            <a:xfrm>
              <a:off x="918" y="2064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21" name="Rectangle 57"/>
            <p:cNvSpPr>
              <a:spLocks noChangeArrowheads="1"/>
            </p:cNvSpPr>
            <p:nvPr/>
          </p:nvSpPr>
          <p:spPr bwMode="auto">
            <a:xfrm>
              <a:off x="1362" y="2064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22" name="Oval 58"/>
            <p:cNvSpPr>
              <a:spLocks noChangeArrowheads="1"/>
            </p:cNvSpPr>
            <p:nvPr/>
          </p:nvSpPr>
          <p:spPr bwMode="auto">
            <a:xfrm>
              <a:off x="1110" y="1584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699" name="Text Box 59"/>
            <p:cNvSpPr txBox="1"/>
            <p:nvPr/>
          </p:nvSpPr>
          <p:spPr>
            <a:xfrm>
              <a:off x="913" y="2024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00" name="Text Box 60"/>
            <p:cNvSpPr txBox="1"/>
            <p:nvPr/>
          </p:nvSpPr>
          <p:spPr>
            <a:xfrm>
              <a:off x="331" y="1535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01" name="Text Box 61"/>
            <p:cNvSpPr txBox="1"/>
            <p:nvPr/>
          </p:nvSpPr>
          <p:spPr>
            <a:xfrm>
              <a:off x="1369" y="2024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02" name="Text Box 62"/>
            <p:cNvSpPr txBox="1"/>
            <p:nvPr/>
          </p:nvSpPr>
          <p:spPr>
            <a:xfrm>
              <a:off x="1078" y="1583"/>
              <a:ext cx="33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0209" name="Text Box 65"/>
          <p:cNvSpPr txBox="1"/>
          <p:nvPr/>
        </p:nvSpPr>
        <p:spPr>
          <a:xfrm>
            <a:off x="5334000" y="29702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0" name="Text Box 66"/>
          <p:cNvSpPr txBox="1"/>
          <p:nvPr/>
        </p:nvSpPr>
        <p:spPr>
          <a:xfrm>
            <a:off x="5334000" y="34274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1" name="Text Box 67"/>
          <p:cNvSpPr txBox="1"/>
          <p:nvPr/>
        </p:nvSpPr>
        <p:spPr>
          <a:xfrm>
            <a:off x="7239000" y="28940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2" name="Text Box 68"/>
          <p:cNvSpPr txBox="1"/>
          <p:nvPr/>
        </p:nvSpPr>
        <p:spPr>
          <a:xfrm>
            <a:off x="7239000" y="34274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3" name="Text Box 69"/>
          <p:cNvSpPr txBox="1"/>
          <p:nvPr/>
        </p:nvSpPr>
        <p:spPr>
          <a:xfrm>
            <a:off x="6172200" y="39608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4" name="Text Box 70"/>
          <p:cNvSpPr txBox="1"/>
          <p:nvPr/>
        </p:nvSpPr>
        <p:spPr>
          <a:xfrm>
            <a:off x="8305800" y="39608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5" name="Text Box 71"/>
          <p:cNvSpPr txBox="1"/>
          <p:nvPr/>
        </p:nvSpPr>
        <p:spPr>
          <a:xfrm>
            <a:off x="9372600" y="38846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6" name="Text Box 72"/>
          <p:cNvSpPr txBox="1"/>
          <p:nvPr/>
        </p:nvSpPr>
        <p:spPr>
          <a:xfrm>
            <a:off x="5334000" y="24368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7" name="Text Box 73"/>
          <p:cNvSpPr txBox="1"/>
          <p:nvPr/>
        </p:nvSpPr>
        <p:spPr>
          <a:xfrm>
            <a:off x="9372600" y="49514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19" name="Text Box 75"/>
          <p:cNvSpPr txBox="1"/>
          <p:nvPr/>
        </p:nvSpPr>
        <p:spPr>
          <a:xfrm>
            <a:off x="5334000" y="39608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20" name="Text Box 76"/>
          <p:cNvSpPr txBox="1"/>
          <p:nvPr/>
        </p:nvSpPr>
        <p:spPr>
          <a:xfrm>
            <a:off x="6107113" y="4418013"/>
            <a:ext cx="517525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21" name="Text Box 77"/>
          <p:cNvSpPr txBox="1"/>
          <p:nvPr/>
        </p:nvSpPr>
        <p:spPr>
          <a:xfrm>
            <a:off x="7239000" y="23606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22" name="Text Box 78"/>
          <p:cNvSpPr txBox="1"/>
          <p:nvPr/>
        </p:nvSpPr>
        <p:spPr>
          <a:xfrm>
            <a:off x="7239000" y="39608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23" name="Text Box 79"/>
          <p:cNvSpPr txBox="1"/>
          <p:nvPr/>
        </p:nvSpPr>
        <p:spPr>
          <a:xfrm>
            <a:off x="8305800" y="44180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24" name="Text Box 80"/>
          <p:cNvSpPr txBox="1"/>
          <p:nvPr/>
        </p:nvSpPr>
        <p:spPr>
          <a:xfrm>
            <a:off x="9448800" y="44180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25" name="Text Box 81"/>
          <p:cNvSpPr txBox="1"/>
          <p:nvPr/>
        </p:nvSpPr>
        <p:spPr>
          <a:xfrm>
            <a:off x="5334000" y="19034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26" name="Text Box 82"/>
          <p:cNvSpPr txBox="1"/>
          <p:nvPr/>
        </p:nvSpPr>
        <p:spPr>
          <a:xfrm>
            <a:off x="5334000" y="44942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Group 83"/>
          <p:cNvGrpSpPr/>
          <p:nvPr/>
        </p:nvGrpSpPr>
        <p:grpSpPr>
          <a:xfrm>
            <a:off x="3125788" y="3427413"/>
            <a:ext cx="1847850" cy="1984375"/>
            <a:chOff x="427" y="767"/>
            <a:chExt cx="1164" cy="1250"/>
          </a:xfrm>
        </p:grpSpPr>
        <p:sp>
          <p:nvSpPr>
            <p:cNvPr id="113721" name="Line 84"/>
            <p:cNvSpPr/>
            <p:nvPr/>
          </p:nvSpPr>
          <p:spPr>
            <a:xfrm>
              <a:off x="1056" y="1056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722" name="Line 85"/>
            <p:cNvSpPr/>
            <p:nvPr/>
          </p:nvSpPr>
          <p:spPr>
            <a:xfrm flipH="1">
              <a:off x="816" y="1047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01" name="Rectangle 86"/>
            <p:cNvSpPr>
              <a:spLocks noChangeArrowheads="1"/>
            </p:cNvSpPr>
            <p:nvPr/>
          </p:nvSpPr>
          <p:spPr bwMode="auto">
            <a:xfrm>
              <a:off x="432" y="816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02" name="Rectangle 87"/>
            <p:cNvSpPr>
              <a:spLocks noChangeArrowheads="1"/>
            </p:cNvSpPr>
            <p:nvPr/>
          </p:nvSpPr>
          <p:spPr bwMode="auto">
            <a:xfrm>
              <a:off x="672" y="1287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03" name="Oval 88"/>
            <p:cNvSpPr>
              <a:spLocks noChangeArrowheads="1"/>
            </p:cNvSpPr>
            <p:nvPr/>
          </p:nvSpPr>
          <p:spPr bwMode="auto">
            <a:xfrm>
              <a:off x="864" y="807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26" name="Text Box 89"/>
            <p:cNvSpPr txBox="1"/>
            <p:nvPr/>
          </p:nvSpPr>
          <p:spPr>
            <a:xfrm>
              <a:off x="667" y="1247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27" name="Line 90"/>
            <p:cNvSpPr/>
            <p:nvPr/>
          </p:nvSpPr>
          <p:spPr>
            <a:xfrm>
              <a:off x="1284" y="1488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728" name="Line 91"/>
            <p:cNvSpPr/>
            <p:nvPr/>
          </p:nvSpPr>
          <p:spPr>
            <a:xfrm flipH="1">
              <a:off x="1044" y="1488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307" name="Rectangle 92"/>
            <p:cNvSpPr>
              <a:spLocks noChangeArrowheads="1"/>
            </p:cNvSpPr>
            <p:nvPr/>
          </p:nvSpPr>
          <p:spPr bwMode="auto">
            <a:xfrm>
              <a:off x="900" y="1728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08" name="Rectangle 93"/>
            <p:cNvSpPr>
              <a:spLocks noChangeArrowheads="1"/>
            </p:cNvSpPr>
            <p:nvPr/>
          </p:nvSpPr>
          <p:spPr bwMode="auto">
            <a:xfrm>
              <a:off x="1344" y="1728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309" name="Oval 94"/>
            <p:cNvSpPr>
              <a:spLocks noChangeArrowheads="1"/>
            </p:cNvSpPr>
            <p:nvPr/>
          </p:nvSpPr>
          <p:spPr bwMode="auto">
            <a:xfrm>
              <a:off x="1092" y="1248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32" name="Text Box 95"/>
            <p:cNvSpPr txBox="1"/>
            <p:nvPr/>
          </p:nvSpPr>
          <p:spPr>
            <a:xfrm>
              <a:off x="895" y="1688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33" name="Text Box 96"/>
            <p:cNvSpPr txBox="1"/>
            <p:nvPr/>
          </p:nvSpPr>
          <p:spPr>
            <a:xfrm>
              <a:off x="427" y="767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34" name="Text Box 97"/>
            <p:cNvSpPr txBox="1"/>
            <p:nvPr/>
          </p:nvSpPr>
          <p:spPr>
            <a:xfrm>
              <a:off x="1351" y="1688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35" name="Text Box 98"/>
            <p:cNvSpPr txBox="1"/>
            <p:nvPr/>
          </p:nvSpPr>
          <p:spPr>
            <a:xfrm>
              <a:off x="1060" y="1247"/>
              <a:ext cx="33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36" name="Text Box 99"/>
            <p:cNvSpPr txBox="1"/>
            <p:nvPr/>
          </p:nvSpPr>
          <p:spPr>
            <a:xfrm>
              <a:off x="820" y="795"/>
              <a:ext cx="38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11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0244" name="Text Box 100"/>
          <p:cNvSpPr txBox="1"/>
          <p:nvPr/>
        </p:nvSpPr>
        <p:spPr>
          <a:xfrm>
            <a:off x="6096000" y="4951413"/>
            <a:ext cx="5397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45" name="Text Box 101"/>
          <p:cNvSpPr txBox="1"/>
          <p:nvPr/>
        </p:nvSpPr>
        <p:spPr>
          <a:xfrm>
            <a:off x="7239000" y="18272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46" name="Text Box 102"/>
          <p:cNvSpPr txBox="1"/>
          <p:nvPr/>
        </p:nvSpPr>
        <p:spPr>
          <a:xfrm>
            <a:off x="7239000" y="44180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endParaRPr lang="en-US" altLang="zh-CN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0247" name="Text Box 103"/>
          <p:cNvSpPr txBox="1"/>
          <p:nvPr/>
        </p:nvSpPr>
        <p:spPr>
          <a:xfrm>
            <a:off x="8305800" y="4951413"/>
            <a:ext cx="3619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104"/>
          <p:cNvGrpSpPr/>
          <p:nvPr/>
        </p:nvGrpSpPr>
        <p:grpSpPr>
          <a:xfrm>
            <a:off x="1830388" y="3656013"/>
            <a:ext cx="1847850" cy="2670175"/>
            <a:chOff x="433" y="815"/>
            <a:chExt cx="1164" cy="1682"/>
          </a:xfrm>
        </p:grpSpPr>
        <p:sp>
          <p:nvSpPr>
            <p:cNvPr id="113742" name="Line 105"/>
            <p:cNvSpPr/>
            <p:nvPr/>
          </p:nvSpPr>
          <p:spPr>
            <a:xfrm>
              <a:off x="822" y="1065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743" name="Line 106"/>
            <p:cNvSpPr/>
            <p:nvPr/>
          </p:nvSpPr>
          <p:spPr>
            <a:xfrm flipH="1">
              <a:off x="582" y="1056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1" name="Oval 107"/>
            <p:cNvSpPr>
              <a:spLocks noChangeArrowheads="1"/>
            </p:cNvSpPr>
            <p:nvPr/>
          </p:nvSpPr>
          <p:spPr bwMode="auto">
            <a:xfrm>
              <a:off x="630" y="816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45" name="Line 108"/>
            <p:cNvSpPr/>
            <p:nvPr/>
          </p:nvSpPr>
          <p:spPr>
            <a:xfrm>
              <a:off x="1062" y="1536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746" name="Line 109"/>
            <p:cNvSpPr/>
            <p:nvPr/>
          </p:nvSpPr>
          <p:spPr>
            <a:xfrm flipH="1">
              <a:off x="822" y="1527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84" name="Rectangle 110"/>
            <p:cNvSpPr>
              <a:spLocks noChangeArrowheads="1"/>
            </p:cNvSpPr>
            <p:nvPr/>
          </p:nvSpPr>
          <p:spPr bwMode="auto">
            <a:xfrm>
              <a:off x="438" y="1296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5" name="Rectangle 111"/>
            <p:cNvSpPr>
              <a:spLocks noChangeArrowheads="1"/>
            </p:cNvSpPr>
            <p:nvPr/>
          </p:nvSpPr>
          <p:spPr bwMode="auto">
            <a:xfrm>
              <a:off x="678" y="1767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86" name="Oval 112"/>
            <p:cNvSpPr>
              <a:spLocks noChangeArrowheads="1"/>
            </p:cNvSpPr>
            <p:nvPr/>
          </p:nvSpPr>
          <p:spPr bwMode="auto">
            <a:xfrm>
              <a:off x="870" y="1287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0" name="Text Box 113"/>
            <p:cNvSpPr txBox="1"/>
            <p:nvPr/>
          </p:nvSpPr>
          <p:spPr>
            <a:xfrm>
              <a:off x="673" y="1727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51" name="Line 114"/>
            <p:cNvSpPr/>
            <p:nvPr/>
          </p:nvSpPr>
          <p:spPr>
            <a:xfrm>
              <a:off x="1290" y="1968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752" name="Line 115"/>
            <p:cNvSpPr/>
            <p:nvPr/>
          </p:nvSpPr>
          <p:spPr>
            <a:xfrm flipH="1">
              <a:off x="1050" y="1968"/>
              <a:ext cx="144" cy="288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90" name="Rectangle 116"/>
            <p:cNvSpPr>
              <a:spLocks noChangeArrowheads="1"/>
            </p:cNvSpPr>
            <p:nvPr/>
          </p:nvSpPr>
          <p:spPr bwMode="auto">
            <a:xfrm>
              <a:off x="906" y="2208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1" name="Rectangle 117"/>
            <p:cNvSpPr>
              <a:spLocks noChangeArrowheads="1"/>
            </p:cNvSpPr>
            <p:nvPr/>
          </p:nvSpPr>
          <p:spPr bwMode="auto">
            <a:xfrm>
              <a:off x="1350" y="2208"/>
              <a:ext cx="240" cy="240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292" name="Oval 118"/>
            <p:cNvSpPr>
              <a:spLocks noChangeArrowheads="1"/>
            </p:cNvSpPr>
            <p:nvPr/>
          </p:nvSpPr>
          <p:spPr bwMode="auto">
            <a:xfrm>
              <a:off x="1098" y="1728"/>
              <a:ext cx="288" cy="288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rgbClr val="009900"/>
              </a:solidFill>
              <a:rou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756" name="Text Box 119"/>
            <p:cNvSpPr txBox="1"/>
            <p:nvPr/>
          </p:nvSpPr>
          <p:spPr>
            <a:xfrm>
              <a:off x="901" y="2168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57" name="Text Box 120"/>
            <p:cNvSpPr txBox="1"/>
            <p:nvPr/>
          </p:nvSpPr>
          <p:spPr>
            <a:xfrm>
              <a:off x="433" y="1247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7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58" name="Text Box 121"/>
            <p:cNvSpPr txBox="1"/>
            <p:nvPr/>
          </p:nvSpPr>
          <p:spPr>
            <a:xfrm>
              <a:off x="1357" y="2168"/>
              <a:ext cx="240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59" name="Text Box 122"/>
            <p:cNvSpPr txBox="1"/>
            <p:nvPr/>
          </p:nvSpPr>
          <p:spPr>
            <a:xfrm>
              <a:off x="1066" y="1727"/>
              <a:ext cx="332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6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60" name="Text Box 123"/>
            <p:cNvSpPr txBox="1"/>
            <p:nvPr/>
          </p:nvSpPr>
          <p:spPr>
            <a:xfrm>
              <a:off x="826" y="1275"/>
              <a:ext cx="38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11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761" name="Text Box 124"/>
            <p:cNvSpPr txBox="1"/>
            <p:nvPr/>
          </p:nvSpPr>
          <p:spPr>
            <a:xfrm>
              <a:off x="582" y="815"/>
              <a:ext cx="388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400" dirty="0">
                  <a:solidFill>
                    <a:schemeClr val="accent2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18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9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9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0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0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0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0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39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39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39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39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39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90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90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90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0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39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39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39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1" dur="500"/>
                                        <p:tgtEl>
                                          <p:spTgt spid="39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39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90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90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90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90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8" dur="500"/>
                                        <p:tgtEl>
                                          <p:spTgt spid="39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3" dur="500"/>
                                        <p:tgtEl>
                                          <p:spTgt spid="39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8" dur="500"/>
                                        <p:tgtEl>
                                          <p:spTgt spid="39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3" dur="500"/>
                                        <p:tgtEl>
                                          <p:spTgt spid="39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8" dur="500"/>
                                        <p:tgtEl>
                                          <p:spTgt spid="39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71" grpId="0"/>
      <p:bldP spid="390192" grpId="0"/>
      <p:bldP spid="390209" grpId="0"/>
      <p:bldP spid="390210" grpId="0"/>
      <p:bldP spid="390211" grpId="0"/>
      <p:bldP spid="390212" grpId="0"/>
      <p:bldP spid="390213" grpId="0"/>
      <p:bldP spid="390214" grpId="0"/>
      <p:bldP spid="390215" grpId="0"/>
      <p:bldP spid="390216" grpId="0"/>
      <p:bldP spid="390217" grpId="0"/>
      <p:bldP spid="390219" grpId="0"/>
      <p:bldP spid="390220" grpId="0"/>
      <p:bldP spid="390221" grpId="0"/>
      <p:bldP spid="390222" grpId="0"/>
      <p:bldP spid="390223" grpId="0"/>
      <p:bldP spid="390224" grpId="0"/>
      <p:bldP spid="390225" grpId="0"/>
      <p:bldP spid="390226" grpId="0"/>
      <p:bldP spid="390244" grpId="0"/>
      <p:bldP spid="390245" grpId="0"/>
      <p:bldP spid="390246" grpId="0"/>
      <p:bldP spid="390247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4128" name="Text Box 192"/>
          <p:cNvSpPr txBox="1"/>
          <p:nvPr/>
        </p:nvSpPr>
        <p:spPr>
          <a:xfrm>
            <a:off x="5715000" y="3122613"/>
            <a:ext cx="1851025" cy="582612"/>
          </a:xfrm>
          <a:prstGeom prst="rect">
            <a:avLst/>
          </a:prstGeom>
          <a:solidFill>
            <a:srgbClr val="FFCC66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head</a:t>
            </a:r>
            <a:r>
              <a:rPr lang="zh-CN" altLang="zh-CN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编码:                                  </a:t>
            </a:r>
            <a:endParaRPr lang="en-US" altLang="zh-CN" sz="32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0" name="Text Box 2"/>
          <p:cNvSpPr txBox="1"/>
          <p:nvPr/>
        </p:nvSpPr>
        <p:spPr>
          <a:xfrm>
            <a:off x="4654550" y="377825"/>
            <a:ext cx="2735263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哈夫曼编码</a:t>
            </a:r>
            <a:endParaRPr lang="zh-CN" altLang="en-US" sz="4000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423939" name="Text Box 3"/>
          <p:cNvSpPr txBox="1"/>
          <p:nvPr/>
        </p:nvSpPr>
        <p:spPr>
          <a:xfrm>
            <a:off x="1765300" y="1522413"/>
            <a:ext cx="45434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{ 5, 29, 7, 8, 14, 23, 3, 11 }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58"/>
          <p:cNvGrpSpPr/>
          <p:nvPr/>
        </p:nvGrpSpPr>
        <p:grpSpPr>
          <a:xfrm>
            <a:off x="1676400" y="5942013"/>
            <a:ext cx="5562600" cy="522287"/>
            <a:chOff x="96" y="3743"/>
            <a:chExt cx="3504" cy="329"/>
          </a:xfrm>
        </p:grpSpPr>
        <p:grpSp>
          <p:nvGrpSpPr>
            <p:cNvPr id="114693" name="Group 14"/>
            <p:cNvGrpSpPr/>
            <p:nvPr/>
          </p:nvGrpSpPr>
          <p:grpSpPr>
            <a:xfrm>
              <a:off x="96" y="3743"/>
              <a:ext cx="288" cy="329"/>
              <a:chOff x="1584" y="2754"/>
              <a:chExt cx="288" cy="329"/>
            </a:xfrm>
          </p:grpSpPr>
          <p:sp>
            <p:nvSpPr>
              <p:cNvPr id="114694" name="Rectangle 15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695" name="Text Box 16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696" name="Group 17"/>
            <p:cNvGrpSpPr/>
            <p:nvPr/>
          </p:nvGrpSpPr>
          <p:grpSpPr>
            <a:xfrm>
              <a:off x="2832" y="3743"/>
              <a:ext cx="288" cy="329"/>
              <a:chOff x="1584" y="2754"/>
              <a:chExt cx="288" cy="329"/>
            </a:xfrm>
          </p:grpSpPr>
          <p:sp>
            <p:nvSpPr>
              <p:cNvPr id="114697" name="Rectangle 18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698" name="Text Box 19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699" name="Group 20"/>
            <p:cNvGrpSpPr/>
            <p:nvPr/>
          </p:nvGrpSpPr>
          <p:grpSpPr>
            <a:xfrm>
              <a:off x="1440" y="3743"/>
              <a:ext cx="288" cy="329"/>
              <a:chOff x="1584" y="2754"/>
              <a:chExt cx="288" cy="329"/>
            </a:xfrm>
          </p:grpSpPr>
          <p:sp>
            <p:nvSpPr>
              <p:cNvPr id="114700" name="Rectangle 21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01" name="Text Box 22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02" name="Group 23"/>
            <p:cNvGrpSpPr/>
            <p:nvPr/>
          </p:nvGrpSpPr>
          <p:grpSpPr>
            <a:xfrm>
              <a:off x="1008" y="3743"/>
              <a:ext cx="288" cy="329"/>
              <a:chOff x="1584" y="2754"/>
              <a:chExt cx="288" cy="329"/>
            </a:xfrm>
          </p:grpSpPr>
          <p:sp>
            <p:nvSpPr>
              <p:cNvPr id="114703" name="Rectangle 24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04" name="Text Box 25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05" name="Group 29"/>
            <p:cNvGrpSpPr/>
            <p:nvPr/>
          </p:nvGrpSpPr>
          <p:grpSpPr>
            <a:xfrm>
              <a:off x="3264" y="3743"/>
              <a:ext cx="336" cy="329"/>
              <a:chOff x="3264" y="2687"/>
              <a:chExt cx="336" cy="329"/>
            </a:xfrm>
          </p:grpSpPr>
          <p:sp>
            <p:nvSpPr>
              <p:cNvPr id="114706" name="Rectangle 27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07" name="Text Box 28"/>
              <p:cNvSpPr txBox="1"/>
              <p:nvPr/>
            </p:nvSpPr>
            <p:spPr>
              <a:xfrm>
                <a:off x="3271" y="2687"/>
                <a:ext cx="3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08" name="Group 30"/>
            <p:cNvGrpSpPr/>
            <p:nvPr/>
          </p:nvGrpSpPr>
          <p:grpSpPr>
            <a:xfrm>
              <a:off x="528" y="3743"/>
              <a:ext cx="339" cy="329"/>
              <a:chOff x="3264" y="2687"/>
              <a:chExt cx="339" cy="329"/>
            </a:xfrm>
          </p:grpSpPr>
          <p:sp>
            <p:nvSpPr>
              <p:cNvPr id="114709" name="Rectangle 31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10" name="Text Box 32"/>
              <p:cNvSpPr txBox="1"/>
              <p:nvPr/>
            </p:nvSpPr>
            <p:spPr>
              <a:xfrm>
                <a:off x="3264" y="2687"/>
                <a:ext cx="339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29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11" name="Group 33"/>
            <p:cNvGrpSpPr/>
            <p:nvPr/>
          </p:nvGrpSpPr>
          <p:grpSpPr>
            <a:xfrm>
              <a:off x="1872" y="3743"/>
              <a:ext cx="339" cy="329"/>
              <a:chOff x="3264" y="2687"/>
              <a:chExt cx="339" cy="329"/>
            </a:xfrm>
          </p:grpSpPr>
          <p:sp>
            <p:nvSpPr>
              <p:cNvPr id="114712" name="Rectangle 34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13" name="Text Box 35"/>
              <p:cNvSpPr txBox="1"/>
              <p:nvPr/>
            </p:nvSpPr>
            <p:spPr>
              <a:xfrm>
                <a:off x="3264" y="2687"/>
                <a:ext cx="339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14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14" name="Group 36"/>
            <p:cNvGrpSpPr/>
            <p:nvPr/>
          </p:nvGrpSpPr>
          <p:grpSpPr>
            <a:xfrm>
              <a:off x="2352" y="3743"/>
              <a:ext cx="339" cy="329"/>
              <a:chOff x="3264" y="2687"/>
              <a:chExt cx="339" cy="329"/>
            </a:xfrm>
          </p:grpSpPr>
          <p:sp>
            <p:nvSpPr>
              <p:cNvPr id="114715" name="Rectangle 37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16" name="Text Box 38"/>
              <p:cNvSpPr txBox="1"/>
              <p:nvPr/>
            </p:nvSpPr>
            <p:spPr>
              <a:xfrm>
                <a:off x="3264" y="2687"/>
                <a:ext cx="339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23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" name="Group 163"/>
          <p:cNvGrpSpPr/>
          <p:nvPr/>
        </p:nvGrpSpPr>
        <p:grpSpPr>
          <a:xfrm>
            <a:off x="3200400" y="2360613"/>
            <a:ext cx="1524000" cy="763587"/>
            <a:chOff x="1056" y="1487"/>
            <a:chExt cx="960" cy="481"/>
          </a:xfrm>
        </p:grpSpPr>
        <p:sp>
          <p:nvSpPr>
            <p:cNvPr id="114718" name="Line 107"/>
            <p:cNvSpPr/>
            <p:nvPr/>
          </p:nvSpPr>
          <p:spPr>
            <a:xfrm flipV="1">
              <a:off x="1056" y="1680"/>
              <a:ext cx="33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719" name="Line 108"/>
            <p:cNvSpPr/>
            <p:nvPr/>
          </p:nvSpPr>
          <p:spPr>
            <a:xfrm>
              <a:off x="1680" y="1680"/>
              <a:ext cx="336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14720" name="Group 105"/>
            <p:cNvGrpSpPr/>
            <p:nvPr/>
          </p:nvGrpSpPr>
          <p:grpSpPr>
            <a:xfrm>
              <a:off x="1296" y="1487"/>
              <a:ext cx="432" cy="290"/>
              <a:chOff x="4800" y="1199"/>
              <a:chExt cx="432" cy="290"/>
            </a:xfrm>
          </p:grpSpPr>
          <p:sp>
            <p:nvSpPr>
              <p:cNvPr id="114721" name="Oval 54"/>
              <p:cNvSpPr/>
              <p:nvPr/>
            </p:nvSpPr>
            <p:spPr>
              <a:xfrm>
                <a:off x="4848" y="1200"/>
                <a:ext cx="384" cy="288"/>
              </a:xfrm>
              <a:prstGeom prst="ellipse">
                <a:avLst/>
              </a:prstGeom>
              <a:gradFill rotWithShape="0">
                <a:gsLst>
                  <a:gs pos="0">
                    <a:srgbClr val="66FF66"/>
                  </a:gs>
                  <a:gs pos="100000">
                    <a:srgbClr val="2F762F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22" name="Text Box 55"/>
              <p:cNvSpPr txBox="1"/>
              <p:nvPr/>
            </p:nvSpPr>
            <p:spPr>
              <a:xfrm>
                <a:off x="4800" y="1199"/>
                <a:ext cx="403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rgbClr val="8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100</a:t>
                </a:r>
                <a:endPara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3" name="Group 161"/>
          <p:cNvGrpSpPr/>
          <p:nvPr/>
        </p:nvGrpSpPr>
        <p:grpSpPr>
          <a:xfrm>
            <a:off x="2514600" y="3732213"/>
            <a:ext cx="990600" cy="1284287"/>
            <a:chOff x="624" y="2351"/>
            <a:chExt cx="624" cy="809"/>
          </a:xfrm>
        </p:grpSpPr>
        <p:grpSp>
          <p:nvGrpSpPr>
            <p:cNvPr id="114724" name="Group 159"/>
            <p:cNvGrpSpPr/>
            <p:nvPr/>
          </p:nvGrpSpPr>
          <p:grpSpPr>
            <a:xfrm>
              <a:off x="624" y="2351"/>
              <a:ext cx="432" cy="529"/>
              <a:chOff x="1248" y="2303"/>
              <a:chExt cx="432" cy="529"/>
            </a:xfrm>
          </p:grpSpPr>
          <p:sp>
            <p:nvSpPr>
              <p:cNvPr id="114725" name="Line 77"/>
              <p:cNvSpPr/>
              <p:nvPr/>
            </p:nvSpPr>
            <p:spPr>
              <a:xfrm flipH="1">
                <a:off x="1248" y="2544"/>
                <a:ext cx="144" cy="28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4726" name="Line 78"/>
              <p:cNvSpPr/>
              <p:nvPr/>
            </p:nvSpPr>
            <p:spPr>
              <a:xfrm>
                <a:off x="1536" y="2544"/>
                <a:ext cx="144" cy="28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14727" name="Group 74"/>
              <p:cNvGrpSpPr/>
              <p:nvPr/>
            </p:nvGrpSpPr>
            <p:grpSpPr>
              <a:xfrm>
                <a:off x="1296" y="2303"/>
                <a:ext cx="307" cy="290"/>
                <a:chOff x="2256" y="2351"/>
                <a:chExt cx="307" cy="290"/>
              </a:xfrm>
            </p:grpSpPr>
            <p:sp>
              <p:nvSpPr>
                <p:cNvPr id="114728" name="Oval 75"/>
                <p:cNvSpPr/>
                <p:nvPr/>
              </p:nvSpPr>
              <p:spPr>
                <a:xfrm>
                  <a:off x="2256" y="2352"/>
                  <a:ext cx="288" cy="28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6FF66"/>
                    </a:gs>
                    <a:gs pos="100000">
                      <a:srgbClr val="2F762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>
                  <a:noFill/>
                </a:ln>
              </p:spPr>
              <p:txBody>
                <a:bodyPr wrap="none" anchor="ctr" anchorCtr="0"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4729" name="Text Box 76"/>
                <p:cNvSpPr txBox="1"/>
                <p:nvPr/>
              </p:nvSpPr>
              <p:spPr>
                <a:xfrm>
                  <a:off x="2256" y="2351"/>
                  <a:ext cx="307" cy="29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rgbClr val="80008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19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4730" name="Group 71"/>
            <p:cNvGrpSpPr/>
            <p:nvPr/>
          </p:nvGrpSpPr>
          <p:grpSpPr>
            <a:xfrm>
              <a:off x="912" y="2831"/>
              <a:ext cx="336" cy="329"/>
              <a:chOff x="3264" y="2687"/>
              <a:chExt cx="336" cy="329"/>
            </a:xfrm>
          </p:grpSpPr>
          <p:sp>
            <p:nvSpPr>
              <p:cNvPr id="114731" name="Rectangle 72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32" name="Text Box 73"/>
              <p:cNvSpPr txBox="1"/>
              <p:nvPr/>
            </p:nvSpPr>
            <p:spPr>
              <a:xfrm>
                <a:off x="3271" y="2687"/>
                <a:ext cx="3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7" name="Group 88"/>
          <p:cNvGrpSpPr/>
          <p:nvPr/>
        </p:nvGrpSpPr>
        <p:grpSpPr>
          <a:xfrm>
            <a:off x="4572000" y="3732213"/>
            <a:ext cx="914400" cy="1284287"/>
            <a:chOff x="3216" y="1871"/>
            <a:chExt cx="576" cy="809"/>
          </a:xfrm>
        </p:grpSpPr>
        <p:sp>
          <p:nvSpPr>
            <p:cNvPr id="114734" name="Line 86"/>
            <p:cNvSpPr/>
            <p:nvPr/>
          </p:nvSpPr>
          <p:spPr>
            <a:xfrm flipH="1">
              <a:off x="3408" y="2112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735" name="Line 87"/>
            <p:cNvSpPr/>
            <p:nvPr/>
          </p:nvSpPr>
          <p:spPr>
            <a:xfrm>
              <a:off x="3648" y="2112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14736" name="Group 83"/>
            <p:cNvGrpSpPr/>
            <p:nvPr/>
          </p:nvGrpSpPr>
          <p:grpSpPr>
            <a:xfrm>
              <a:off x="3456" y="1871"/>
              <a:ext cx="307" cy="290"/>
              <a:chOff x="2256" y="2351"/>
              <a:chExt cx="307" cy="290"/>
            </a:xfrm>
          </p:grpSpPr>
          <p:sp>
            <p:nvSpPr>
              <p:cNvPr id="114737" name="Oval 84"/>
              <p:cNvSpPr/>
              <p:nvPr/>
            </p:nvSpPr>
            <p:spPr>
              <a:xfrm>
                <a:off x="2256" y="2352"/>
                <a:ext cx="288" cy="288"/>
              </a:xfrm>
              <a:prstGeom prst="ellipse">
                <a:avLst/>
              </a:prstGeom>
              <a:gradFill rotWithShape="0">
                <a:gsLst>
                  <a:gs pos="0">
                    <a:srgbClr val="66FF66"/>
                  </a:gs>
                  <a:gs pos="100000">
                    <a:srgbClr val="2F762F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38" name="Text Box 85"/>
              <p:cNvSpPr txBox="1"/>
              <p:nvPr/>
            </p:nvSpPr>
            <p:spPr>
              <a:xfrm>
                <a:off x="2256" y="2351"/>
                <a:ext cx="307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rgbClr val="8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29</a:t>
                </a:r>
                <a:endPara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39" name="Group 80"/>
            <p:cNvGrpSpPr/>
            <p:nvPr/>
          </p:nvGrpSpPr>
          <p:grpSpPr>
            <a:xfrm>
              <a:off x="3216" y="2351"/>
              <a:ext cx="339" cy="329"/>
              <a:chOff x="3264" y="2687"/>
              <a:chExt cx="339" cy="329"/>
            </a:xfrm>
          </p:grpSpPr>
          <p:sp>
            <p:nvSpPr>
              <p:cNvPr id="114740" name="Rectangle 81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41" name="Text Box 82"/>
              <p:cNvSpPr txBox="1"/>
              <p:nvPr/>
            </p:nvSpPr>
            <p:spPr>
              <a:xfrm>
                <a:off x="3264" y="2687"/>
                <a:ext cx="339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14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0" name="Group 70"/>
          <p:cNvGrpSpPr/>
          <p:nvPr/>
        </p:nvGrpSpPr>
        <p:grpSpPr>
          <a:xfrm>
            <a:off x="4953000" y="4494213"/>
            <a:ext cx="1143000" cy="1208087"/>
            <a:chOff x="3456" y="2351"/>
            <a:chExt cx="720" cy="761"/>
          </a:xfrm>
        </p:grpSpPr>
        <p:sp>
          <p:nvSpPr>
            <p:cNvPr id="114743" name="Line 65"/>
            <p:cNvSpPr/>
            <p:nvPr/>
          </p:nvSpPr>
          <p:spPr>
            <a:xfrm flipH="1">
              <a:off x="3600" y="2544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744" name="Line 67"/>
            <p:cNvSpPr/>
            <p:nvPr/>
          </p:nvSpPr>
          <p:spPr>
            <a:xfrm>
              <a:off x="3888" y="2544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14745" name="Group 62"/>
            <p:cNvGrpSpPr/>
            <p:nvPr/>
          </p:nvGrpSpPr>
          <p:grpSpPr>
            <a:xfrm>
              <a:off x="3696" y="2351"/>
              <a:ext cx="307" cy="290"/>
              <a:chOff x="2256" y="2351"/>
              <a:chExt cx="307" cy="290"/>
            </a:xfrm>
          </p:grpSpPr>
          <p:sp>
            <p:nvSpPr>
              <p:cNvPr id="114746" name="Oval 63"/>
              <p:cNvSpPr/>
              <p:nvPr/>
            </p:nvSpPr>
            <p:spPr>
              <a:xfrm>
                <a:off x="2256" y="2352"/>
                <a:ext cx="288" cy="288"/>
              </a:xfrm>
              <a:prstGeom prst="ellipse">
                <a:avLst/>
              </a:prstGeom>
              <a:gradFill rotWithShape="0">
                <a:gsLst>
                  <a:gs pos="0">
                    <a:srgbClr val="66FF66"/>
                  </a:gs>
                  <a:gs pos="100000">
                    <a:srgbClr val="2F762F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47" name="Text Box 64"/>
              <p:cNvSpPr txBox="1"/>
              <p:nvPr/>
            </p:nvSpPr>
            <p:spPr>
              <a:xfrm>
                <a:off x="2256" y="2351"/>
                <a:ext cx="307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rgbClr val="8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15</a:t>
                </a:r>
                <a:endPara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48" name="Group 56"/>
            <p:cNvGrpSpPr/>
            <p:nvPr/>
          </p:nvGrpSpPr>
          <p:grpSpPr>
            <a:xfrm>
              <a:off x="3456" y="2783"/>
              <a:ext cx="288" cy="329"/>
              <a:chOff x="1584" y="2754"/>
              <a:chExt cx="288" cy="329"/>
            </a:xfrm>
          </p:grpSpPr>
          <p:sp>
            <p:nvSpPr>
              <p:cNvPr id="114749" name="Rectangle 57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50" name="Text Box 58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51" name="Group 59"/>
            <p:cNvGrpSpPr/>
            <p:nvPr/>
          </p:nvGrpSpPr>
          <p:grpSpPr>
            <a:xfrm>
              <a:off x="3888" y="2783"/>
              <a:ext cx="288" cy="329"/>
              <a:chOff x="1584" y="2754"/>
              <a:chExt cx="288" cy="329"/>
            </a:xfrm>
          </p:grpSpPr>
          <p:sp>
            <p:nvSpPr>
              <p:cNvPr id="114752" name="Rectangle 60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53" name="Text Box 61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4" name="Group 162"/>
          <p:cNvGrpSpPr/>
          <p:nvPr/>
        </p:nvGrpSpPr>
        <p:grpSpPr>
          <a:xfrm>
            <a:off x="2819400" y="3046413"/>
            <a:ext cx="995363" cy="1208087"/>
            <a:chOff x="816" y="1919"/>
            <a:chExt cx="627" cy="761"/>
          </a:xfrm>
        </p:grpSpPr>
        <p:grpSp>
          <p:nvGrpSpPr>
            <p:cNvPr id="114755" name="Group 160"/>
            <p:cNvGrpSpPr/>
            <p:nvPr/>
          </p:nvGrpSpPr>
          <p:grpSpPr>
            <a:xfrm>
              <a:off x="816" y="1919"/>
              <a:ext cx="432" cy="481"/>
              <a:chOff x="1440" y="1871"/>
              <a:chExt cx="432" cy="481"/>
            </a:xfrm>
          </p:grpSpPr>
          <p:sp>
            <p:nvSpPr>
              <p:cNvPr id="114756" name="Line 92"/>
              <p:cNvSpPr/>
              <p:nvPr/>
            </p:nvSpPr>
            <p:spPr>
              <a:xfrm flipH="1">
                <a:off x="1440" y="2064"/>
                <a:ext cx="144" cy="28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14757" name="Group 94"/>
              <p:cNvGrpSpPr/>
              <p:nvPr/>
            </p:nvGrpSpPr>
            <p:grpSpPr>
              <a:xfrm>
                <a:off x="1488" y="1871"/>
                <a:ext cx="307" cy="290"/>
                <a:chOff x="2256" y="2351"/>
                <a:chExt cx="307" cy="290"/>
              </a:xfrm>
            </p:grpSpPr>
            <p:sp>
              <p:nvSpPr>
                <p:cNvPr id="114758" name="Oval 95"/>
                <p:cNvSpPr/>
                <p:nvPr/>
              </p:nvSpPr>
              <p:spPr>
                <a:xfrm>
                  <a:off x="2256" y="2352"/>
                  <a:ext cx="288" cy="28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66FF66"/>
                    </a:gs>
                    <a:gs pos="100000">
                      <a:srgbClr val="2F762F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100">
                  <a:noFill/>
                </a:ln>
              </p:spPr>
              <p:txBody>
                <a:bodyPr wrap="none" anchor="ctr" anchorCtr="0"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4759" name="Text Box 96"/>
                <p:cNvSpPr txBox="1"/>
                <p:nvPr/>
              </p:nvSpPr>
              <p:spPr>
                <a:xfrm>
                  <a:off x="2256" y="2351"/>
                  <a:ext cx="307" cy="29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/>
                  <a:r>
                    <a:rPr lang="en-US" altLang="zh-CN" sz="2400" dirty="0">
                      <a:solidFill>
                        <a:srgbClr val="80008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42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4760" name="Line 93"/>
              <p:cNvSpPr/>
              <p:nvPr/>
            </p:nvSpPr>
            <p:spPr>
              <a:xfrm>
                <a:off x="1728" y="2064"/>
                <a:ext cx="144" cy="288"/>
              </a:xfrm>
              <a:prstGeom prst="line">
                <a:avLst/>
              </a:prstGeom>
              <a:ln w="38100" cap="flat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4761" name="Group 89"/>
            <p:cNvGrpSpPr/>
            <p:nvPr/>
          </p:nvGrpSpPr>
          <p:grpSpPr>
            <a:xfrm>
              <a:off x="1104" y="2351"/>
              <a:ext cx="339" cy="329"/>
              <a:chOff x="3264" y="2687"/>
              <a:chExt cx="339" cy="329"/>
            </a:xfrm>
          </p:grpSpPr>
          <p:sp>
            <p:nvSpPr>
              <p:cNvPr id="114762" name="Rectangle 90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63" name="Text Box 91"/>
              <p:cNvSpPr txBox="1"/>
              <p:nvPr/>
            </p:nvSpPr>
            <p:spPr>
              <a:xfrm>
                <a:off x="3264" y="2687"/>
                <a:ext cx="339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23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8" name="Group 69"/>
          <p:cNvGrpSpPr/>
          <p:nvPr/>
        </p:nvGrpSpPr>
        <p:grpSpPr>
          <a:xfrm>
            <a:off x="1981200" y="4494213"/>
            <a:ext cx="1143000" cy="1208087"/>
            <a:chOff x="2064" y="2351"/>
            <a:chExt cx="720" cy="761"/>
          </a:xfrm>
        </p:grpSpPr>
        <p:sp>
          <p:nvSpPr>
            <p:cNvPr id="114765" name="Line 49"/>
            <p:cNvSpPr/>
            <p:nvPr/>
          </p:nvSpPr>
          <p:spPr>
            <a:xfrm flipH="1">
              <a:off x="2208" y="2544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766" name="Line 50"/>
            <p:cNvSpPr/>
            <p:nvPr/>
          </p:nvSpPr>
          <p:spPr>
            <a:xfrm>
              <a:off x="2496" y="2592"/>
              <a:ext cx="144" cy="24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14767" name="Group 39"/>
            <p:cNvGrpSpPr/>
            <p:nvPr/>
          </p:nvGrpSpPr>
          <p:grpSpPr>
            <a:xfrm>
              <a:off x="2496" y="2783"/>
              <a:ext cx="288" cy="329"/>
              <a:chOff x="1584" y="2754"/>
              <a:chExt cx="288" cy="329"/>
            </a:xfrm>
          </p:grpSpPr>
          <p:sp>
            <p:nvSpPr>
              <p:cNvPr id="114768" name="Rectangle 40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69" name="Text Box 41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70" name="Group 45"/>
            <p:cNvGrpSpPr/>
            <p:nvPr/>
          </p:nvGrpSpPr>
          <p:grpSpPr>
            <a:xfrm>
              <a:off x="2064" y="2783"/>
              <a:ext cx="288" cy="329"/>
              <a:chOff x="1584" y="2754"/>
              <a:chExt cx="288" cy="329"/>
            </a:xfrm>
          </p:grpSpPr>
          <p:sp>
            <p:nvSpPr>
              <p:cNvPr id="114771" name="Rectangle 46"/>
              <p:cNvSpPr/>
              <p:nvPr/>
            </p:nvSpPr>
            <p:spPr>
              <a:xfrm>
                <a:off x="1584" y="2784"/>
                <a:ext cx="288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72" name="Text Box 47"/>
              <p:cNvSpPr txBox="1"/>
              <p:nvPr/>
            </p:nvSpPr>
            <p:spPr>
              <a:xfrm>
                <a:off x="1592" y="2754"/>
                <a:ext cx="227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73" name="Group 52"/>
            <p:cNvGrpSpPr/>
            <p:nvPr/>
          </p:nvGrpSpPr>
          <p:grpSpPr>
            <a:xfrm>
              <a:off x="2256" y="2351"/>
              <a:ext cx="288" cy="290"/>
              <a:chOff x="2256" y="2351"/>
              <a:chExt cx="288" cy="290"/>
            </a:xfrm>
          </p:grpSpPr>
          <p:sp>
            <p:nvSpPr>
              <p:cNvPr id="114774" name="Oval 48"/>
              <p:cNvSpPr/>
              <p:nvPr/>
            </p:nvSpPr>
            <p:spPr>
              <a:xfrm>
                <a:off x="2256" y="2352"/>
                <a:ext cx="288" cy="288"/>
              </a:xfrm>
              <a:prstGeom prst="ellipse">
                <a:avLst/>
              </a:prstGeom>
              <a:gradFill rotWithShape="0">
                <a:gsLst>
                  <a:gs pos="0">
                    <a:srgbClr val="66FF66"/>
                  </a:gs>
                  <a:gs pos="100000">
                    <a:srgbClr val="2F762F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75" name="Text Box 51"/>
              <p:cNvSpPr txBox="1"/>
              <p:nvPr/>
            </p:nvSpPr>
            <p:spPr>
              <a:xfrm>
                <a:off x="2304" y="2351"/>
                <a:ext cx="211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rgbClr val="8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23936" name="Group 104"/>
          <p:cNvGrpSpPr/>
          <p:nvPr/>
        </p:nvGrpSpPr>
        <p:grpSpPr>
          <a:xfrm>
            <a:off x="4191000" y="3046413"/>
            <a:ext cx="914400" cy="1208087"/>
            <a:chOff x="2976" y="1439"/>
            <a:chExt cx="576" cy="761"/>
          </a:xfrm>
        </p:grpSpPr>
        <p:sp>
          <p:nvSpPr>
            <p:cNvPr id="114777" name="Line 66"/>
            <p:cNvSpPr/>
            <p:nvPr/>
          </p:nvSpPr>
          <p:spPr>
            <a:xfrm>
              <a:off x="3408" y="1632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4778" name="Line 68"/>
            <p:cNvSpPr/>
            <p:nvPr/>
          </p:nvSpPr>
          <p:spPr>
            <a:xfrm flipH="1">
              <a:off x="3168" y="1632"/>
              <a:ext cx="144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14779" name="Group 97"/>
            <p:cNvGrpSpPr/>
            <p:nvPr/>
          </p:nvGrpSpPr>
          <p:grpSpPr>
            <a:xfrm>
              <a:off x="2976" y="1871"/>
              <a:ext cx="339" cy="329"/>
              <a:chOff x="3264" y="2687"/>
              <a:chExt cx="339" cy="329"/>
            </a:xfrm>
          </p:grpSpPr>
          <p:sp>
            <p:nvSpPr>
              <p:cNvPr id="114780" name="Rectangle 98"/>
              <p:cNvSpPr/>
              <p:nvPr/>
            </p:nvSpPr>
            <p:spPr>
              <a:xfrm>
                <a:off x="3264" y="2717"/>
                <a:ext cx="336" cy="288"/>
              </a:xfrm>
              <a:prstGeom prst="rect">
                <a:avLst/>
              </a:prstGeom>
              <a:gradFill rotWithShape="0">
                <a:gsLst>
                  <a:gs pos="0">
                    <a:srgbClr val="CC0099"/>
                  </a:gs>
                  <a:gs pos="100000">
                    <a:srgbClr val="5E0047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81" name="Text Box 99"/>
              <p:cNvSpPr txBox="1"/>
              <p:nvPr/>
            </p:nvSpPr>
            <p:spPr>
              <a:xfrm>
                <a:off x="3264" y="2687"/>
                <a:ext cx="339" cy="32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29</a:t>
                </a:r>
                <a:endPara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4782" name="Group 100"/>
            <p:cNvGrpSpPr/>
            <p:nvPr/>
          </p:nvGrpSpPr>
          <p:grpSpPr>
            <a:xfrm>
              <a:off x="3216" y="1439"/>
              <a:ext cx="307" cy="290"/>
              <a:chOff x="2256" y="2351"/>
              <a:chExt cx="307" cy="290"/>
            </a:xfrm>
          </p:grpSpPr>
          <p:sp>
            <p:nvSpPr>
              <p:cNvPr id="114783" name="Oval 101"/>
              <p:cNvSpPr/>
              <p:nvPr/>
            </p:nvSpPr>
            <p:spPr>
              <a:xfrm>
                <a:off x="2256" y="2352"/>
                <a:ext cx="288" cy="288"/>
              </a:xfrm>
              <a:prstGeom prst="ellipse">
                <a:avLst/>
              </a:prstGeom>
              <a:gradFill rotWithShape="0">
                <a:gsLst>
                  <a:gs pos="0">
                    <a:srgbClr val="66FF66"/>
                  </a:gs>
                  <a:gs pos="100000">
                    <a:srgbClr val="2F762F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784" name="Text Box 102"/>
              <p:cNvSpPr txBox="1"/>
              <p:nvPr/>
            </p:nvSpPr>
            <p:spPr>
              <a:xfrm>
                <a:off x="2256" y="2351"/>
                <a:ext cx="307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2400" dirty="0">
                    <a:solidFill>
                      <a:srgbClr val="8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58</a:t>
                </a:r>
                <a:endPara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23940" name="Group 134"/>
          <p:cNvGrpSpPr/>
          <p:nvPr/>
        </p:nvGrpSpPr>
        <p:grpSpPr>
          <a:xfrm>
            <a:off x="1676400" y="5942013"/>
            <a:ext cx="457200" cy="522287"/>
            <a:chOff x="1584" y="2754"/>
            <a:chExt cx="288" cy="329"/>
          </a:xfrm>
        </p:grpSpPr>
        <p:sp>
          <p:nvSpPr>
            <p:cNvPr id="114786" name="Rectangle 135"/>
            <p:cNvSpPr/>
            <p:nvPr/>
          </p:nvSpPr>
          <p:spPr>
            <a:xfrm>
              <a:off x="1584" y="2784"/>
              <a:ext cx="288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787" name="Text Box 136"/>
            <p:cNvSpPr txBox="1"/>
            <p:nvPr/>
          </p:nvSpPr>
          <p:spPr>
            <a:xfrm>
              <a:off x="1592" y="2754"/>
              <a:ext cx="227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1" name="Group 137"/>
          <p:cNvGrpSpPr/>
          <p:nvPr/>
        </p:nvGrpSpPr>
        <p:grpSpPr>
          <a:xfrm>
            <a:off x="6019800" y="5942013"/>
            <a:ext cx="457200" cy="522287"/>
            <a:chOff x="1584" y="2754"/>
            <a:chExt cx="288" cy="329"/>
          </a:xfrm>
        </p:grpSpPr>
        <p:sp>
          <p:nvSpPr>
            <p:cNvPr id="114789" name="Rectangle 138"/>
            <p:cNvSpPr/>
            <p:nvPr/>
          </p:nvSpPr>
          <p:spPr>
            <a:xfrm>
              <a:off x="1584" y="2784"/>
              <a:ext cx="288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790" name="Text Box 139"/>
            <p:cNvSpPr txBox="1"/>
            <p:nvPr/>
          </p:nvSpPr>
          <p:spPr>
            <a:xfrm>
              <a:off x="1592" y="2754"/>
              <a:ext cx="227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2" name="Group 140"/>
          <p:cNvGrpSpPr/>
          <p:nvPr/>
        </p:nvGrpSpPr>
        <p:grpSpPr>
          <a:xfrm>
            <a:off x="3810000" y="5942013"/>
            <a:ext cx="457200" cy="522287"/>
            <a:chOff x="1584" y="2754"/>
            <a:chExt cx="288" cy="329"/>
          </a:xfrm>
        </p:grpSpPr>
        <p:sp>
          <p:nvSpPr>
            <p:cNvPr id="114792" name="Rectangle 141"/>
            <p:cNvSpPr/>
            <p:nvPr/>
          </p:nvSpPr>
          <p:spPr>
            <a:xfrm>
              <a:off x="1584" y="2784"/>
              <a:ext cx="288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793" name="Text Box 142"/>
            <p:cNvSpPr txBox="1"/>
            <p:nvPr/>
          </p:nvSpPr>
          <p:spPr>
            <a:xfrm>
              <a:off x="1592" y="2754"/>
              <a:ext cx="227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3" name="Group 143"/>
          <p:cNvGrpSpPr/>
          <p:nvPr/>
        </p:nvGrpSpPr>
        <p:grpSpPr>
          <a:xfrm>
            <a:off x="3124200" y="5942013"/>
            <a:ext cx="457200" cy="522287"/>
            <a:chOff x="1584" y="2754"/>
            <a:chExt cx="288" cy="329"/>
          </a:xfrm>
        </p:grpSpPr>
        <p:sp>
          <p:nvSpPr>
            <p:cNvPr id="114795" name="Rectangle 144"/>
            <p:cNvSpPr/>
            <p:nvPr/>
          </p:nvSpPr>
          <p:spPr>
            <a:xfrm>
              <a:off x="1584" y="2784"/>
              <a:ext cx="288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796" name="Text Box 145"/>
            <p:cNvSpPr txBox="1"/>
            <p:nvPr/>
          </p:nvSpPr>
          <p:spPr>
            <a:xfrm>
              <a:off x="1592" y="2754"/>
              <a:ext cx="227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4" name="Group 146"/>
          <p:cNvGrpSpPr/>
          <p:nvPr/>
        </p:nvGrpSpPr>
        <p:grpSpPr>
          <a:xfrm>
            <a:off x="6705600" y="5942013"/>
            <a:ext cx="533400" cy="522287"/>
            <a:chOff x="3264" y="2687"/>
            <a:chExt cx="336" cy="329"/>
          </a:xfrm>
        </p:grpSpPr>
        <p:sp>
          <p:nvSpPr>
            <p:cNvPr id="114798" name="Rectangle 147"/>
            <p:cNvSpPr/>
            <p:nvPr/>
          </p:nvSpPr>
          <p:spPr>
            <a:xfrm>
              <a:off x="3264" y="2717"/>
              <a:ext cx="336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799" name="Text Box 148"/>
            <p:cNvSpPr txBox="1"/>
            <p:nvPr/>
          </p:nvSpPr>
          <p:spPr>
            <a:xfrm>
              <a:off x="3271" y="2687"/>
              <a:ext cx="327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5" name="Group 149"/>
          <p:cNvGrpSpPr/>
          <p:nvPr/>
        </p:nvGrpSpPr>
        <p:grpSpPr>
          <a:xfrm>
            <a:off x="2362200" y="5942013"/>
            <a:ext cx="538163" cy="522287"/>
            <a:chOff x="3264" y="2687"/>
            <a:chExt cx="339" cy="329"/>
          </a:xfrm>
        </p:grpSpPr>
        <p:sp>
          <p:nvSpPr>
            <p:cNvPr id="114801" name="Rectangle 150"/>
            <p:cNvSpPr/>
            <p:nvPr/>
          </p:nvSpPr>
          <p:spPr>
            <a:xfrm>
              <a:off x="3264" y="2717"/>
              <a:ext cx="336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02" name="Text Box 151"/>
            <p:cNvSpPr txBox="1"/>
            <p:nvPr/>
          </p:nvSpPr>
          <p:spPr>
            <a:xfrm>
              <a:off x="3264" y="2687"/>
              <a:ext cx="339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29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6" name="Group 152"/>
          <p:cNvGrpSpPr/>
          <p:nvPr/>
        </p:nvGrpSpPr>
        <p:grpSpPr>
          <a:xfrm>
            <a:off x="4495800" y="5942013"/>
            <a:ext cx="538163" cy="522287"/>
            <a:chOff x="3264" y="2687"/>
            <a:chExt cx="339" cy="329"/>
          </a:xfrm>
        </p:grpSpPr>
        <p:sp>
          <p:nvSpPr>
            <p:cNvPr id="114804" name="Rectangle 153"/>
            <p:cNvSpPr/>
            <p:nvPr/>
          </p:nvSpPr>
          <p:spPr>
            <a:xfrm>
              <a:off x="3264" y="2717"/>
              <a:ext cx="336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05" name="Text Box 154"/>
            <p:cNvSpPr txBox="1"/>
            <p:nvPr/>
          </p:nvSpPr>
          <p:spPr>
            <a:xfrm>
              <a:off x="3264" y="2687"/>
              <a:ext cx="339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7" name="Group 155"/>
          <p:cNvGrpSpPr/>
          <p:nvPr/>
        </p:nvGrpSpPr>
        <p:grpSpPr>
          <a:xfrm>
            <a:off x="5257800" y="5942013"/>
            <a:ext cx="538163" cy="522287"/>
            <a:chOff x="3264" y="2687"/>
            <a:chExt cx="339" cy="329"/>
          </a:xfrm>
        </p:grpSpPr>
        <p:sp>
          <p:nvSpPr>
            <p:cNvPr id="114807" name="Rectangle 156"/>
            <p:cNvSpPr/>
            <p:nvPr/>
          </p:nvSpPr>
          <p:spPr>
            <a:xfrm>
              <a:off x="3264" y="2717"/>
              <a:ext cx="336" cy="288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08" name="Text Box 157"/>
            <p:cNvSpPr txBox="1"/>
            <p:nvPr/>
          </p:nvSpPr>
          <p:spPr>
            <a:xfrm>
              <a:off x="3264" y="2687"/>
              <a:ext cx="339" cy="329"/>
            </a:xfrm>
            <a:prstGeom prst="rect">
              <a:avLst/>
            </a:prstGeom>
            <a:solidFill>
              <a:srgbClr val="99FFCC"/>
            </a:solidFill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23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4100" name="Text Box 164"/>
          <p:cNvSpPr txBox="1"/>
          <p:nvPr/>
        </p:nvSpPr>
        <p:spPr>
          <a:xfrm>
            <a:off x="7620000" y="4868863"/>
            <a:ext cx="2720975" cy="1816100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不能出现重码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*不能出现一个编码是另一个编码的前缀。</a:t>
            </a:r>
            <a:endParaRPr lang="zh-CN" altLang="en-US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1" name="Text Box 165"/>
          <p:cNvSpPr txBox="1"/>
          <p:nvPr/>
        </p:nvSpPr>
        <p:spPr>
          <a:xfrm>
            <a:off x="2057400" y="1141413"/>
            <a:ext cx="395287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3200" i="1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  b   c  d   e    f    g   h</a:t>
            </a:r>
            <a:endParaRPr lang="en-US" altLang="zh-CN" sz="2800" i="1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3" name="Text Box 167"/>
          <p:cNvSpPr txBox="1"/>
          <p:nvPr/>
        </p:nvSpPr>
        <p:spPr>
          <a:xfrm>
            <a:off x="3048000" y="5180013"/>
            <a:ext cx="3873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4" name="Text Box 168"/>
          <p:cNvSpPr txBox="1"/>
          <p:nvPr/>
        </p:nvSpPr>
        <p:spPr>
          <a:xfrm>
            <a:off x="3962400" y="4037013"/>
            <a:ext cx="3873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5" name="Text Box 169"/>
          <p:cNvSpPr txBox="1"/>
          <p:nvPr/>
        </p:nvSpPr>
        <p:spPr>
          <a:xfrm>
            <a:off x="4649788" y="5180013"/>
            <a:ext cx="3619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6" name="Text Box 170"/>
          <p:cNvSpPr txBox="1"/>
          <p:nvPr/>
        </p:nvSpPr>
        <p:spPr>
          <a:xfrm>
            <a:off x="6019800" y="5180013"/>
            <a:ext cx="3873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7" name="Text Box 171"/>
          <p:cNvSpPr txBox="1"/>
          <p:nvPr/>
        </p:nvSpPr>
        <p:spPr>
          <a:xfrm>
            <a:off x="4267200" y="4494213"/>
            <a:ext cx="365125" cy="582612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8" name="Text Box 172"/>
          <p:cNvSpPr txBox="1"/>
          <p:nvPr/>
        </p:nvSpPr>
        <p:spPr>
          <a:xfrm>
            <a:off x="3632200" y="3960813"/>
            <a:ext cx="420688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 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09" name="Text Box 173"/>
          <p:cNvSpPr txBox="1"/>
          <p:nvPr/>
        </p:nvSpPr>
        <p:spPr>
          <a:xfrm>
            <a:off x="1676400" y="5103813"/>
            <a:ext cx="3873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10" name="Text Box 174"/>
          <p:cNvSpPr txBox="1"/>
          <p:nvPr/>
        </p:nvSpPr>
        <p:spPr>
          <a:xfrm>
            <a:off x="3429000" y="4494213"/>
            <a:ext cx="40957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23948" name="Group 213"/>
          <p:cNvGrpSpPr/>
          <p:nvPr/>
        </p:nvGrpSpPr>
        <p:grpSpPr>
          <a:xfrm>
            <a:off x="1981200" y="2513013"/>
            <a:ext cx="3408363" cy="2732087"/>
            <a:chOff x="288" y="1583"/>
            <a:chExt cx="2147" cy="1721"/>
          </a:xfrm>
        </p:grpSpPr>
        <p:sp>
          <p:nvSpPr>
            <p:cNvPr id="114820" name="Text Box 175"/>
            <p:cNvSpPr txBox="1"/>
            <p:nvPr/>
          </p:nvSpPr>
          <p:spPr>
            <a:xfrm>
              <a:off x="1056" y="158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21" name="Text Box 176"/>
            <p:cNvSpPr txBox="1"/>
            <p:nvPr/>
          </p:nvSpPr>
          <p:spPr>
            <a:xfrm>
              <a:off x="672" y="206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22" name="Text Box 177"/>
            <p:cNvSpPr txBox="1"/>
            <p:nvPr/>
          </p:nvSpPr>
          <p:spPr>
            <a:xfrm>
              <a:off x="480" y="254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23" name="Text Box 178"/>
            <p:cNvSpPr txBox="1"/>
            <p:nvPr/>
          </p:nvSpPr>
          <p:spPr>
            <a:xfrm>
              <a:off x="288" y="29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24" name="Text Box 179"/>
            <p:cNvSpPr txBox="1"/>
            <p:nvPr/>
          </p:nvSpPr>
          <p:spPr>
            <a:xfrm>
              <a:off x="1728" y="206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25" name="Text Box 180"/>
            <p:cNvSpPr txBox="1"/>
            <p:nvPr/>
          </p:nvSpPr>
          <p:spPr>
            <a:xfrm>
              <a:off x="1968" y="254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26" name="Text Box 181"/>
            <p:cNvSpPr txBox="1"/>
            <p:nvPr/>
          </p:nvSpPr>
          <p:spPr>
            <a:xfrm>
              <a:off x="2208" y="29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23949" name="Group 214"/>
          <p:cNvGrpSpPr/>
          <p:nvPr/>
        </p:nvGrpSpPr>
        <p:grpSpPr>
          <a:xfrm>
            <a:off x="2743200" y="2513013"/>
            <a:ext cx="3332163" cy="2808287"/>
            <a:chOff x="768" y="1583"/>
            <a:chExt cx="2099" cy="1769"/>
          </a:xfrm>
        </p:grpSpPr>
        <p:sp>
          <p:nvSpPr>
            <p:cNvPr id="114828" name="Text Box 182"/>
            <p:cNvSpPr txBox="1"/>
            <p:nvPr/>
          </p:nvSpPr>
          <p:spPr>
            <a:xfrm>
              <a:off x="1152" y="206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29" name="Text Box 183"/>
            <p:cNvSpPr txBox="1"/>
            <p:nvPr/>
          </p:nvSpPr>
          <p:spPr>
            <a:xfrm>
              <a:off x="960" y="254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30" name="Text Box 184"/>
            <p:cNvSpPr txBox="1"/>
            <p:nvPr/>
          </p:nvSpPr>
          <p:spPr>
            <a:xfrm>
              <a:off x="768" y="302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31" name="Text Box 185"/>
            <p:cNvSpPr txBox="1"/>
            <p:nvPr/>
          </p:nvSpPr>
          <p:spPr>
            <a:xfrm>
              <a:off x="1824" y="158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32" name="Text Box 186"/>
            <p:cNvSpPr txBox="1"/>
            <p:nvPr/>
          </p:nvSpPr>
          <p:spPr>
            <a:xfrm>
              <a:off x="2160" y="206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33" name="Text Box 187"/>
            <p:cNvSpPr txBox="1"/>
            <p:nvPr/>
          </p:nvSpPr>
          <p:spPr>
            <a:xfrm>
              <a:off x="2400" y="2543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834" name="Text Box 188"/>
            <p:cNvSpPr txBox="1"/>
            <p:nvPr/>
          </p:nvSpPr>
          <p:spPr>
            <a:xfrm>
              <a:off x="2640" y="2975"/>
              <a:ext cx="227" cy="3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4126" name="Text Box 190"/>
          <p:cNvSpPr txBox="1"/>
          <p:nvPr/>
        </p:nvSpPr>
        <p:spPr>
          <a:xfrm>
            <a:off x="7086600" y="1211263"/>
            <a:ext cx="1279525" cy="18161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0001</a:t>
            </a:r>
            <a:endParaRPr lang="en-US" altLang="zh-CN" sz="28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en-US" altLang="zh-CN" sz="28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1110</a:t>
            </a:r>
            <a:endParaRPr lang="en-US" altLang="zh-CN" sz="28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1111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27" name="Text Box 191"/>
          <p:cNvSpPr txBox="1"/>
          <p:nvPr/>
        </p:nvSpPr>
        <p:spPr>
          <a:xfrm>
            <a:off x="8610600" y="1211263"/>
            <a:ext cx="1279525" cy="18161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</a:t>
            </a:r>
            <a:endParaRPr lang="en-US" altLang="zh-CN" sz="28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f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01</a:t>
            </a:r>
            <a:r>
              <a:rPr lang="en-US" altLang="zh-CN" sz="2800" i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8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0000</a:t>
            </a:r>
            <a:endParaRPr lang="en-US" altLang="zh-CN" sz="2800" i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001</a:t>
            </a:r>
            <a:endParaRPr lang="en-US" altLang="zh-CN" sz="28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29" name="Text Box 193"/>
          <p:cNvSpPr txBox="1"/>
          <p:nvPr/>
        </p:nvSpPr>
        <p:spPr>
          <a:xfrm>
            <a:off x="7543800" y="3122613"/>
            <a:ext cx="7175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zh-CN" sz="28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001</a:t>
            </a:r>
            <a:endParaRPr lang="en-US" altLang="zh-CN" sz="28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0" name="Text Box 194"/>
          <p:cNvSpPr txBox="1"/>
          <p:nvPr/>
        </p:nvSpPr>
        <p:spPr>
          <a:xfrm>
            <a:off x="8164513" y="3122613"/>
            <a:ext cx="695325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zh-CN" sz="28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</a:t>
            </a:r>
            <a:endParaRPr lang="en-US" altLang="zh-CN" sz="28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1" name="Text Box 195"/>
          <p:cNvSpPr txBox="1"/>
          <p:nvPr/>
        </p:nvSpPr>
        <p:spPr>
          <a:xfrm>
            <a:off x="8686800" y="3122613"/>
            <a:ext cx="984250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8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0001</a:t>
            </a:r>
            <a:endParaRPr lang="en-US" altLang="zh-CN" sz="28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2" name="Text Box 196"/>
          <p:cNvSpPr txBox="1"/>
          <p:nvPr/>
        </p:nvSpPr>
        <p:spPr>
          <a:xfrm>
            <a:off x="9631363" y="3122613"/>
            <a:ext cx="835025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zh-CN" sz="2800" u="sng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1111</a:t>
            </a:r>
            <a:endParaRPr lang="en-US" altLang="zh-CN" sz="2800" u="sng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3" name="Text Box 197"/>
          <p:cNvSpPr txBox="1"/>
          <p:nvPr/>
        </p:nvSpPr>
        <p:spPr>
          <a:xfrm>
            <a:off x="5715000" y="3656013"/>
            <a:ext cx="3805238" cy="582612"/>
          </a:xfrm>
          <a:prstGeom prst="rect">
            <a:avLst/>
          </a:prstGeom>
          <a:solidFill>
            <a:srgbClr val="99FFCC"/>
          </a:solidFill>
          <a:ln w="38100">
            <a:noFill/>
          </a:ln>
        </p:spPr>
        <p:txBody>
          <a:bodyPr wrap="none" anchor="ctr" anchorCtr="0">
            <a:spAutoFit/>
          </a:bodyPr>
          <a:p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0100011110110</a:t>
            </a:r>
            <a:r>
              <a:rPr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译码：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4" name="Text Box 198"/>
          <p:cNvSpPr txBox="1"/>
          <p:nvPr/>
        </p:nvSpPr>
        <p:spPr>
          <a:xfrm>
            <a:off x="5715000" y="3656013"/>
            <a:ext cx="5905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01</a:t>
            </a:r>
            <a:endParaRPr lang="en-US" altLang="zh-CN" sz="3200" dirty="0">
              <a:solidFill>
                <a:srgbClr val="33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5" name="Text Box 199"/>
          <p:cNvSpPr txBox="1"/>
          <p:nvPr/>
        </p:nvSpPr>
        <p:spPr>
          <a:xfrm>
            <a:off x="6096000" y="3656013"/>
            <a:ext cx="9969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0001</a:t>
            </a:r>
            <a:endParaRPr lang="en-US" altLang="zh-CN" sz="3200" dirty="0">
              <a:solidFill>
                <a:srgbClr val="33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6" name="Text Box 200"/>
          <p:cNvSpPr txBox="1"/>
          <p:nvPr/>
        </p:nvSpPr>
        <p:spPr>
          <a:xfrm>
            <a:off x="6958013" y="3656013"/>
            <a:ext cx="9493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1110</a:t>
            </a:r>
            <a:endParaRPr lang="en-US" altLang="zh-CN" sz="3200" dirty="0">
              <a:solidFill>
                <a:srgbClr val="33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7" name="Text Box 201"/>
          <p:cNvSpPr txBox="1"/>
          <p:nvPr/>
        </p:nvSpPr>
        <p:spPr>
          <a:xfrm>
            <a:off x="7785100" y="3656013"/>
            <a:ext cx="7683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solidFill>
                  <a:srgbClr val="33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110</a:t>
            </a:r>
            <a:endParaRPr lang="en-US" altLang="zh-CN" sz="3200" dirty="0">
              <a:solidFill>
                <a:srgbClr val="3366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8" name="Text Box 202"/>
          <p:cNvSpPr txBox="1"/>
          <p:nvPr/>
        </p:nvSpPr>
        <p:spPr>
          <a:xfrm>
            <a:off x="9423400" y="3656013"/>
            <a:ext cx="420688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39" name="Text Box 203"/>
          <p:cNvSpPr txBox="1"/>
          <p:nvPr/>
        </p:nvSpPr>
        <p:spPr>
          <a:xfrm>
            <a:off x="9601200" y="3656013"/>
            <a:ext cx="3873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40" name="Text Box 204"/>
          <p:cNvSpPr txBox="1"/>
          <p:nvPr/>
        </p:nvSpPr>
        <p:spPr>
          <a:xfrm>
            <a:off x="9831388" y="3656013"/>
            <a:ext cx="361950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41" name="Text Box 205"/>
          <p:cNvSpPr txBox="1"/>
          <p:nvPr/>
        </p:nvSpPr>
        <p:spPr>
          <a:xfrm>
            <a:off x="10058400" y="3656013"/>
            <a:ext cx="365125" cy="582612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200" i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42" name="Text Box 206"/>
          <p:cNvSpPr txBox="1"/>
          <p:nvPr/>
        </p:nvSpPr>
        <p:spPr>
          <a:xfrm>
            <a:off x="1760538" y="5880100"/>
            <a:ext cx="5554662" cy="582613"/>
          </a:xfrm>
          <a:prstGeom prst="rect">
            <a:avLst/>
          </a:prstGeom>
          <a:solidFill>
            <a:srgbClr val="FFCC66"/>
          </a:solidFill>
          <a:ln w="38100">
            <a:noFill/>
          </a:ln>
        </p:spPr>
        <p:txBody>
          <a:bodyPr anchor="ctr" anchorCtr="0">
            <a:spAutoFit/>
          </a:bodyPr>
          <a:p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设左分支为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，右分支为</a:t>
            </a:r>
            <a:r>
              <a:rPr lang="en-US" altLang="zh-CN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32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44" name="AutoShape 208"/>
          <p:cNvSpPr/>
          <p:nvPr/>
        </p:nvSpPr>
        <p:spPr>
          <a:xfrm>
            <a:off x="5181600" y="2286000"/>
            <a:ext cx="3581400" cy="533400"/>
          </a:xfrm>
          <a:prstGeom prst="wedgeRoundRectCallout">
            <a:avLst>
              <a:gd name="adj1" fmla="val -52171"/>
              <a:gd name="adj2" fmla="val -103273"/>
              <a:gd name="adj3" fmla="val 16667"/>
            </a:avLst>
          </a:prstGeom>
          <a:solidFill>
            <a:srgbClr val="66FFFF"/>
          </a:solidFill>
          <a:ln w="38100">
            <a:noFill/>
          </a:ln>
        </p:spPr>
        <p:txBody>
          <a:bodyPr wrap="none" anchor="ctr" anchorCtr="0"/>
          <a:p>
            <a:pPr algn="ctr"/>
            <a:r>
              <a:rPr lang="zh-CN" altLang="en-US" sz="24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权值为各字母出现的频率</a:t>
            </a:r>
            <a:endParaRPr lang="zh-CN" altLang="en-US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24148" name="Text Box 212"/>
          <p:cNvSpPr txBox="1"/>
          <p:nvPr/>
        </p:nvSpPr>
        <p:spPr>
          <a:xfrm>
            <a:off x="7091363" y="4418013"/>
            <a:ext cx="2327275" cy="522287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8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电报码要求：</a:t>
            </a:r>
            <a:endParaRPr lang="zh-CN" altLang="en-US" sz="28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2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3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23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3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23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9" dur="500"/>
                                        <p:tgtEl>
                                          <p:spTgt spid="42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4" dur="500"/>
                                        <p:tgtEl>
                                          <p:spTgt spid="42410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0">
                                            <p:txEl>
                                              <p:charRg st="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9" dur="500"/>
                                        <p:tgtEl>
                                          <p:spTgt spid="424100">
                                            <p:txEl>
                                              <p:charRg st="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4" dur="500"/>
                                        <p:tgtEl>
                                          <p:spTgt spid="42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8" dur="500"/>
                                        <p:tgtEl>
                                          <p:spTgt spid="4241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2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2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2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2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2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2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2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2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2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2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2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2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42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2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24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24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1" dur="500"/>
                                        <p:tgtEl>
                                          <p:spTgt spid="42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6" dur="500"/>
                                        <p:tgtEl>
                                          <p:spTgt spid="42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1" dur="500"/>
                                        <p:tgtEl>
                                          <p:spTgt spid="42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6" dur="500"/>
                                        <p:tgtEl>
                                          <p:spTgt spid="42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1" dur="500"/>
                                        <p:tgtEl>
                                          <p:spTgt spid="42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6" dur="500"/>
                                        <p:tgtEl>
                                          <p:spTgt spid="42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1" dur="500"/>
                                        <p:tgtEl>
                                          <p:spTgt spid="42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6" dur="500"/>
                                        <p:tgtEl>
                                          <p:spTgt spid="42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1" dur="500"/>
                                        <p:tgtEl>
                                          <p:spTgt spid="42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6" dur="500"/>
                                        <p:tgtEl>
                                          <p:spTgt spid="42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1" dur="500"/>
                                        <p:tgtEl>
                                          <p:spTgt spid="42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424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424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24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24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424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424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424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424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424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424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424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424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42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42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424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424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424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424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424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424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424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424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424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424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128" grpId="0" bldLvl="0" animBg="1"/>
      <p:bldP spid="423939" grpId="0"/>
      <p:bldP spid="424100" grpId="0" build="p"/>
      <p:bldP spid="424101" grpId="0"/>
      <p:bldP spid="424103" grpId="0"/>
      <p:bldP spid="424104" grpId="0"/>
      <p:bldP spid="424105" grpId="0"/>
      <p:bldP spid="424106" grpId="0"/>
      <p:bldP spid="424107" grpId="0"/>
      <p:bldP spid="424108" grpId="0"/>
      <p:bldP spid="424109" grpId="0"/>
      <p:bldP spid="424110" grpId="0"/>
      <p:bldP spid="424126" grpId="0"/>
      <p:bldP spid="424127" grpId="0"/>
      <p:bldP spid="424129" grpId="0"/>
      <p:bldP spid="424130" grpId="0"/>
      <p:bldP spid="424131" grpId="0"/>
      <p:bldP spid="424132" grpId="0"/>
      <p:bldP spid="424133" grpId="0" bldLvl="0" animBg="1"/>
      <p:bldP spid="424134" grpId="0"/>
      <p:bldP spid="424135" grpId="0"/>
      <p:bldP spid="424136" grpId="0"/>
      <p:bldP spid="424137" grpId="0"/>
      <p:bldP spid="424138" grpId="0"/>
      <p:bldP spid="424139" grpId="0"/>
      <p:bldP spid="424140" grpId="0"/>
      <p:bldP spid="424141" grpId="0"/>
      <p:bldP spid="424142" grpId="0" bldLvl="0" animBg="1"/>
      <p:bldP spid="424144" grpId="0" bldLvl="0" animBg="1"/>
      <p:bldP spid="42414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4242" name="Text Box 2"/>
          <p:cNvSpPr txBox="1">
            <a:spLocks noChangeArrowheads="1"/>
          </p:cNvSpPr>
          <p:nvPr/>
        </p:nvSpPr>
        <p:spPr bwMode="auto">
          <a:xfrm>
            <a:off x="2212975" y="2894013"/>
            <a:ext cx="1406525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判定树</a:t>
            </a:r>
            <a:endParaRPr kumimoji="1" lang="zh-CN" altLang="en-US" sz="2400" b="0" kern="1200" cap="none" spc="0" normalizeH="0" baseline="0" noProof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2" name="Group 53"/>
          <p:cNvGrpSpPr/>
          <p:nvPr/>
        </p:nvGrpSpPr>
        <p:grpSpPr>
          <a:xfrm>
            <a:off x="3810000" y="2590800"/>
            <a:ext cx="6423025" cy="3241675"/>
            <a:chOff x="461" y="672"/>
            <a:chExt cx="4675" cy="2382"/>
          </a:xfrm>
        </p:grpSpPr>
        <p:sp>
          <p:nvSpPr>
            <p:cNvPr id="115715" name="Line 27"/>
            <p:cNvSpPr/>
            <p:nvPr/>
          </p:nvSpPr>
          <p:spPr>
            <a:xfrm flipH="1">
              <a:off x="3264" y="2208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16" name="Line 25"/>
            <p:cNvSpPr/>
            <p:nvPr/>
          </p:nvSpPr>
          <p:spPr>
            <a:xfrm flipH="1">
              <a:off x="3744" y="1824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17" name="Line 26"/>
            <p:cNvSpPr/>
            <p:nvPr/>
          </p:nvSpPr>
          <p:spPr>
            <a:xfrm>
              <a:off x="4032" y="1824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18" name="Line 21"/>
            <p:cNvSpPr/>
            <p:nvPr/>
          </p:nvSpPr>
          <p:spPr>
            <a:xfrm flipH="1">
              <a:off x="2496" y="1824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19" name="Line 15"/>
            <p:cNvSpPr/>
            <p:nvPr/>
          </p:nvSpPr>
          <p:spPr>
            <a:xfrm flipH="1">
              <a:off x="1728" y="1440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20" name="Line 13"/>
            <p:cNvSpPr/>
            <p:nvPr/>
          </p:nvSpPr>
          <p:spPr>
            <a:xfrm flipH="1">
              <a:off x="2208" y="1056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21" name="Line 9"/>
            <p:cNvSpPr/>
            <p:nvPr/>
          </p:nvSpPr>
          <p:spPr>
            <a:xfrm flipH="1">
              <a:off x="960" y="1056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22" name="AutoShape 3"/>
            <p:cNvSpPr/>
            <p:nvPr/>
          </p:nvSpPr>
          <p:spPr>
            <a:xfrm>
              <a:off x="1200" y="864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23" name="AutoShape 4"/>
            <p:cNvSpPr/>
            <p:nvPr/>
          </p:nvSpPr>
          <p:spPr>
            <a:xfrm>
              <a:off x="1968" y="1248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24" name="AutoShape 5"/>
            <p:cNvSpPr/>
            <p:nvPr/>
          </p:nvSpPr>
          <p:spPr>
            <a:xfrm>
              <a:off x="2736" y="1632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25" name="AutoShape 6"/>
            <p:cNvSpPr/>
            <p:nvPr/>
          </p:nvSpPr>
          <p:spPr>
            <a:xfrm>
              <a:off x="3504" y="2016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26" name="Line 8"/>
            <p:cNvSpPr/>
            <p:nvPr/>
          </p:nvSpPr>
          <p:spPr>
            <a:xfrm>
              <a:off x="1728" y="672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27" name="Line 10"/>
            <p:cNvSpPr/>
            <p:nvPr/>
          </p:nvSpPr>
          <p:spPr>
            <a:xfrm>
              <a:off x="960" y="1056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28" name="Rectangle 11"/>
            <p:cNvSpPr/>
            <p:nvPr/>
          </p:nvSpPr>
          <p:spPr>
            <a:xfrm>
              <a:off x="576" y="1248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4252" name="Text Box 12"/>
            <p:cNvSpPr txBox="1">
              <a:spLocks noChangeArrowheads="1"/>
            </p:cNvSpPr>
            <p:nvPr/>
          </p:nvSpPr>
          <p:spPr bwMode="auto">
            <a:xfrm>
              <a:off x="547" y="1224"/>
              <a:ext cx="801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不及格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5730" name="Line 14"/>
            <p:cNvSpPr/>
            <p:nvPr/>
          </p:nvSpPr>
          <p:spPr>
            <a:xfrm>
              <a:off x="2496" y="1056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31" name="Line 16"/>
            <p:cNvSpPr/>
            <p:nvPr/>
          </p:nvSpPr>
          <p:spPr>
            <a:xfrm>
              <a:off x="1728" y="1440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32" name="Rectangle 17"/>
            <p:cNvSpPr/>
            <p:nvPr/>
          </p:nvSpPr>
          <p:spPr>
            <a:xfrm>
              <a:off x="1344" y="1632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4258" name="Text Box 18"/>
            <p:cNvSpPr txBox="1">
              <a:spLocks noChangeArrowheads="1"/>
            </p:cNvSpPr>
            <p:nvPr/>
          </p:nvSpPr>
          <p:spPr bwMode="auto">
            <a:xfrm>
              <a:off x="1427" y="1608"/>
              <a:ext cx="579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及格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5734" name="Line 19"/>
            <p:cNvSpPr/>
            <p:nvPr/>
          </p:nvSpPr>
          <p:spPr>
            <a:xfrm flipH="1">
              <a:off x="2976" y="1440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35" name="Line 20"/>
            <p:cNvSpPr/>
            <p:nvPr/>
          </p:nvSpPr>
          <p:spPr>
            <a:xfrm>
              <a:off x="3264" y="1440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36" name="Line 22"/>
            <p:cNvSpPr/>
            <p:nvPr/>
          </p:nvSpPr>
          <p:spPr>
            <a:xfrm>
              <a:off x="2496" y="1824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37" name="Rectangle 23"/>
            <p:cNvSpPr/>
            <p:nvPr/>
          </p:nvSpPr>
          <p:spPr>
            <a:xfrm>
              <a:off x="2112" y="2016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4264" name="Text Box 24"/>
            <p:cNvSpPr txBox="1">
              <a:spLocks noChangeArrowheads="1"/>
            </p:cNvSpPr>
            <p:nvPr/>
          </p:nvSpPr>
          <p:spPr bwMode="auto">
            <a:xfrm>
              <a:off x="2305" y="1992"/>
              <a:ext cx="356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中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5739" name="Line 28"/>
            <p:cNvSpPr/>
            <p:nvPr/>
          </p:nvSpPr>
          <p:spPr>
            <a:xfrm>
              <a:off x="3264" y="2208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40" name="Rectangle 29"/>
            <p:cNvSpPr/>
            <p:nvPr/>
          </p:nvSpPr>
          <p:spPr>
            <a:xfrm>
              <a:off x="2880" y="2400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4270" name="Text Box 30"/>
            <p:cNvSpPr txBox="1">
              <a:spLocks noChangeArrowheads="1"/>
            </p:cNvSpPr>
            <p:nvPr/>
          </p:nvSpPr>
          <p:spPr bwMode="auto">
            <a:xfrm>
              <a:off x="3072" y="2376"/>
              <a:ext cx="356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良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5742" name="Line 31"/>
            <p:cNvSpPr/>
            <p:nvPr/>
          </p:nvSpPr>
          <p:spPr>
            <a:xfrm flipH="1">
              <a:off x="4512" y="2208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743" name="Line 32"/>
            <p:cNvSpPr/>
            <p:nvPr/>
          </p:nvSpPr>
          <p:spPr>
            <a:xfrm>
              <a:off x="4800" y="2208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5744" name="Rectangle 33"/>
            <p:cNvSpPr/>
            <p:nvPr/>
          </p:nvSpPr>
          <p:spPr>
            <a:xfrm>
              <a:off x="4416" y="2400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4274" name="Text Box 34"/>
            <p:cNvSpPr txBox="1">
              <a:spLocks noChangeArrowheads="1"/>
            </p:cNvSpPr>
            <p:nvPr/>
          </p:nvSpPr>
          <p:spPr bwMode="auto">
            <a:xfrm>
              <a:off x="4608" y="2376"/>
              <a:ext cx="356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优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5746" name="Text Box 35"/>
            <p:cNvSpPr txBox="1"/>
            <p:nvPr/>
          </p:nvSpPr>
          <p:spPr>
            <a:xfrm>
              <a:off x="1373" y="845"/>
              <a:ext cx="669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&lt;60?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47" name="Text Box 36"/>
            <p:cNvSpPr txBox="1"/>
            <p:nvPr/>
          </p:nvSpPr>
          <p:spPr>
            <a:xfrm>
              <a:off x="2112" y="1229"/>
              <a:ext cx="669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&lt;70?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48" name="Text Box 37"/>
            <p:cNvSpPr txBox="1"/>
            <p:nvPr/>
          </p:nvSpPr>
          <p:spPr>
            <a:xfrm>
              <a:off x="2884" y="1614"/>
              <a:ext cx="669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&lt;80?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49" name="Text Box 38"/>
            <p:cNvSpPr txBox="1"/>
            <p:nvPr/>
          </p:nvSpPr>
          <p:spPr>
            <a:xfrm>
              <a:off x="3696" y="1998"/>
              <a:ext cx="669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&lt;90?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50" name="Text Box 39"/>
            <p:cNvSpPr txBox="1"/>
            <p:nvPr/>
          </p:nvSpPr>
          <p:spPr>
            <a:xfrm>
              <a:off x="461" y="1517"/>
              <a:ext cx="586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0.10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51" name="Text Box 40"/>
            <p:cNvSpPr txBox="1"/>
            <p:nvPr/>
          </p:nvSpPr>
          <p:spPr>
            <a:xfrm>
              <a:off x="1229" y="1901"/>
              <a:ext cx="586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0.15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52" name="Text Box 41"/>
            <p:cNvSpPr txBox="1"/>
            <p:nvPr/>
          </p:nvSpPr>
          <p:spPr>
            <a:xfrm>
              <a:off x="1996" y="2286"/>
              <a:ext cx="586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0.25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53" name="Text Box 42"/>
            <p:cNvSpPr txBox="1"/>
            <p:nvPr/>
          </p:nvSpPr>
          <p:spPr>
            <a:xfrm>
              <a:off x="2765" y="2670"/>
              <a:ext cx="586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0.35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754" name="Text Box 43"/>
            <p:cNvSpPr txBox="1"/>
            <p:nvPr/>
          </p:nvSpPr>
          <p:spPr>
            <a:xfrm>
              <a:off x="4328" y="2660"/>
              <a:ext cx="586" cy="38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0.15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4284" name="Text Box 44"/>
            <p:cNvSpPr txBox="1">
              <a:spLocks noChangeArrowheads="1"/>
            </p:cNvSpPr>
            <p:nvPr/>
          </p:nvSpPr>
          <p:spPr bwMode="auto">
            <a:xfrm>
              <a:off x="2186" y="743"/>
              <a:ext cx="255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4285" name="Text Box 45"/>
            <p:cNvSpPr txBox="1">
              <a:spLocks noChangeArrowheads="1"/>
            </p:cNvSpPr>
            <p:nvPr/>
          </p:nvSpPr>
          <p:spPr bwMode="auto">
            <a:xfrm>
              <a:off x="2953" y="1127"/>
              <a:ext cx="255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4286" name="Text Box 46"/>
            <p:cNvSpPr txBox="1">
              <a:spLocks noChangeArrowheads="1"/>
            </p:cNvSpPr>
            <p:nvPr/>
          </p:nvSpPr>
          <p:spPr bwMode="auto">
            <a:xfrm>
              <a:off x="3723" y="1511"/>
              <a:ext cx="255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4287" name="Text Box 47"/>
            <p:cNvSpPr txBox="1">
              <a:spLocks noChangeArrowheads="1"/>
            </p:cNvSpPr>
            <p:nvPr/>
          </p:nvSpPr>
          <p:spPr bwMode="auto">
            <a:xfrm>
              <a:off x="4520" y="1896"/>
              <a:ext cx="255" cy="338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4288" name="Text Box 48"/>
            <p:cNvSpPr txBox="1">
              <a:spLocks noChangeArrowheads="1"/>
            </p:cNvSpPr>
            <p:nvPr/>
          </p:nvSpPr>
          <p:spPr bwMode="auto">
            <a:xfrm>
              <a:off x="3295" y="1902"/>
              <a:ext cx="281" cy="384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4289" name="Text Box 49"/>
            <p:cNvSpPr txBox="1">
              <a:spLocks noChangeArrowheads="1"/>
            </p:cNvSpPr>
            <p:nvPr/>
          </p:nvSpPr>
          <p:spPr bwMode="auto">
            <a:xfrm>
              <a:off x="2478" y="1517"/>
              <a:ext cx="281" cy="384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4290" name="Text Box 50"/>
            <p:cNvSpPr txBox="1">
              <a:spLocks noChangeArrowheads="1"/>
            </p:cNvSpPr>
            <p:nvPr/>
          </p:nvSpPr>
          <p:spPr bwMode="auto">
            <a:xfrm>
              <a:off x="1758" y="1125"/>
              <a:ext cx="281" cy="384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4291" name="Text Box 51"/>
            <p:cNvSpPr txBox="1">
              <a:spLocks noChangeArrowheads="1"/>
            </p:cNvSpPr>
            <p:nvPr/>
          </p:nvSpPr>
          <p:spPr bwMode="auto">
            <a:xfrm>
              <a:off x="942" y="740"/>
              <a:ext cx="281" cy="384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394292" name="Text Box 52"/>
          <p:cNvSpPr txBox="1"/>
          <p:nvPr/>
        </p:nvSpPr>
        <p:spPr>
          <a:xfrm>
            <a:off x="1524000" y="6094413"/>
            <a:ext cx="9001125" cy="58261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WPL=0.10*1+0.15*2+0.25*3+0.35*4+0.15*4 = 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3.15</a:t>
            </a:r>
            <a:r>
              <a:rPr lang="en-US" altLang="zh-CN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3200" b="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4294" name="Text Box 54"/>
          <p:cNvSpPr txBox="1">
            <a:spLocks noChangeArrowheads="1"/>
          </p:cNvSpPr>
          <p:nvPr/>
        </p:nvSpPr>
        <p:spPr bwMode="auto">
          <a:xfrm>
            <a:off x="1676400" y="228600"/>
            <a:ext cx="2743200" cy="644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defRPr/>
            </a:pPr>
            <a:r>
              <a:rPr kumimoji="1" lang="zh-CN" altLang="en-US" sz="36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仿宋_GB2312" pitchFamily="49" charset="-122"/>
                <a:cs typeface="+mn-cs"/>
                <a:sym typeface="+mn-ea"/>
              </a:rPr>
              <a:t>最佳判定树</a:t>
            </a:r>
            <a:endParaRPr kumimoji="1" lang="zh-CN" altLang="en-US" sz="2400" b="0" kern="1200" cap="none" spc="0" normalizeH="0" baseline="0" noProof="0">
              <a:solidFill>
                <a:schemeClr val="tx2"/>
              </a:solidFill>
              <a:latin typeface="Arial" panose="020B0604020202020204" pitchFamily="34" charset="0"/>
              <a:ea typeface="仿宋_GB2312" pitchFamily="49" charset="-122"/>
              <a:cs typeface="+mn-cs"/>
              <a:sym typeface="+mn-ea"/>
            </a:endParaRPr>
          </a:p>
        </p:txBody>
      </p:sp>
      <p:sp>
        <p:nvSpPr>
          <p:cNvPr id="394295" name="Text Box 55"/>
          <p:cNvSpPr txBox="1">
            <a:spLocks noChangeArrowheads="1"/>
          </p:cNvSpPr>
          <p:nvPr/>
        </p:nvSpPr>
        <p:spPr bwMode="auto">
          <a:xfrm>
            <a:off x="4495800" y="457200"/>
            <a:ext cx="3206750" cy="608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05000"/>
              </a:lnSpc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考试成绩分布表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endParaRPr kumimoji="1" lang="zh-CN" altLang="en-US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</p:txBody>
      </p:sp>
      <p:graphicFrame>
        <p:nvGraphicFramePr>
          <p:cNvPr id="394296" name="Object 56"/>
          <p:cNvGraphicFramePr>
            <a:graphicFrameLocks noChangeAspect="1"/>
          </p:cNvGraphicFramePr>
          <p:nvPr/>
        </p:nvGraphicFramePr>
        <p:xfrm>
          <a:off x="2438400" y="990600"/>
          <a:ext cx="7289800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8105775" imgH="2228850" progId="Word.Document.8">
                  <p:embed/>
                </p:oleObj>
              </mc:Choice>
              <mc:Fallback>
                <p:oleObj name="" r:id="rId1" imgW="8105775" imgH="2228850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990600"/>
                        <a:ext cx="7289800" cy="1998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9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9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2" grpId="0" bldLvl="0" animBg="1"/>
      <p:bldP spid="394292" grpId="0"/>
      <p:bldP spid="394295" grpId="0" bldLvl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5273" name="Text Box 9"/>
          <p:cNvSpPr txBox="1">
            <a:spLocks noChangeArrowheads="1"/>
          </p:cNvSpPr>
          <p:nvPr/>
        </p:nvSpPr>
        <p:spPr bwMode="auto">
          <a:xfrm>
            <a:off x="1831975" y="2741613"/>
            <a:ext cx="2225675" cy="58261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algn="ctr" defTabSz="914400"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最佳判定树</a:t>
            </a:r>
            <a:endParaRPr kumimoji="1" lang="zh-CN" altLang="en-US" sz="2400" b="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2" name="Group 52"/>
          <p:cNvGrpSpPr/>
          <p:nvPr/>
        </p:nvGrpSpPr>
        <p:grpSpPr>
          <a:xfrm>
            <a:off x="1828800" y="2667000"/>
            <a:ext cx="8077200" cy="2916238"/>
            <a:chOff x="288" y="672"/>
            <a:chExt cx="5088" cy="1982"/>
          </a:xfrm>
        </p:grpSpPr>
        <p:sp>
          <p:nvSpPr>
            <p:cNvPr id="116739" name="Line 2"/>
            <p:cNvSpPr/>
            <p:nvPr/>
          </p:nvSpPr>
          <p:spPr>
            <a:xfrm flipH="1">
              <a:off x="3792" y="1440"/>
              <a:ext cx="192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40" name="Line 3"/>
            <p:cNvSpPr/>
            <p:nvPr/>
          </p:nvSpPr>
          <p:spPr>
            <a:xfrm flipH="1">
              <a:off x="3744" y="1056"/>
              <a:ext cx="672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41" name="Line 4"/>
            <p:cNvSpPr/>
            <p:nvPr/>
          </p:nvSpPr>
          <p:spPr>
            <a:xfrm>
              <a:off x="4416" y="1056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42" name="Line 5"/>
            <p:cNvSpPr/>
            <p:nvPr/>
          </p:nvSpPr>
          <p:spPr>
            <a:xfrm flipH="1">
              <a:off x="1753" y="1824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43" name="Line 6"/>
            <p:cNvSpPr/>
            <p:nvPr/>
          </p:nvSpPr>
          <p:spPr>
            <a:xfrm flipH="1">
              <a:off x="1392" y="1440"/>
              <a:ext cx="384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44" name="Line 7"/>
            <p:cNvSpPr/>
            <p:nvPr/>
          </p:nvSpPr>
          <p:spPr>
            <a:xfrm flipH="1">
              <a:off x="2208" y="1056"/>
              <a:ext cx="576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45" name="Line 8"/>
            <p:cNvSpPr/>
            <p:nvPr/>
          </p:nvSpPr>
          <p:spPr>
            <a:xfrm flipH="1">
              <a:off x="700" y="1833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46" name="AutoShape 10"/>
            <p:cNvSpPr/>
            <p:nvPr/>
          </p:nvSpPr>
          <p:spPr>
            <a:xfrm>
              <a:off x="864" y="1632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47" name="AutoShape 11"/>
            <p:cNvSpPr/>
            <p:nvPr/>
          </p:nvSpPr>
          <p:spPr>
            <a:xfrm>
              <a:off x="1680" y="1248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48" name="AutoShape 12"/>
            <p:cNvSpPr/>
            <p:nvPr/>
          </p:nvSpPr>
          <p:spPr>
            <a:xfrm>
              <a:off x="2736" y="864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49" name="AutoShape 13"/>
            <p:cNvSpPr/>
            <p:nvPr/>
          </p:nvSpPr>
          <p:spPr>
            <a:xfrm>
              <a:off x="3888" y="1248"/>
              <a:ext cx="1056" cy="384"/>
            </a:xfrm>
            <a:prstGeom prst="flowChartDecision">
              <a:avLst/>
            </a:prstGeom>
            <a:gradFill rotWithShape="0">
              <a:gsLst>
                <a:gs pos="0">
                  <a:srgbClr val="99FF99"/>
                </a:gs>
                <a:gs pos="100000">
                  <a:srgbClr val="477647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50" name="Line 14"/>
            <p:cNvSpPr/>
            <p:nvPr/>
          </p:nvSpPr>
          <p:spPr>
            <a:xfrm>
              <a:off x="3264" y="672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51" name="Line 15"/>
            <p:cNvSpPr/>
            <p:nvPr/>
          </p:nvSpPr>
          <p:spPr>
            <a:xfrm>
              <a:off x="700" y="1833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52" name="Rectangle 16"/>
            <p:cNvSpPr/>
            <p:nvPr/>
          </p:nvSpPr>
          <p:spPr>
            <a:xfrm>
              <a:off x="316" y="2016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5281" name="Text Box 17"/>
            <p:cNvSpPr txBox="1">
              <a:spLocks noChangeArrowheads="1"/>
            </p:cNvSpPr>
            <p:nvPr/>
          </p:nvSpPr>
          <p:spPr bwMode="auto">
            <a:xfrm>
              <a:off x="340" y="2006"/>
              <a:ext cx="694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不及格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6754" name="Line 18"/>
            <p:cNvSpPr/>
            <p:nvPr/>
          </p:nvSpPr>
          <p:spPr>
            <a:xfrm>
              <a:off x="2041" y="1833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55" name="Line 19"/>
            <p:cNvSpPr/>
            <p:nvPr/>
          </p:nvSpPr>
          <p:spPr>
            <a:xfrm>
              <a:off x="1392" y="1440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56" name="Rectangle 20"/>
            <p:cNvSpPr/>
            <p:nvPr/>
          </p:nvSpPr>
          <p:spPr>
            <a:xfrm>
              <a:off x="1680" y="2016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5285" name="Text Box 21"/>
            <p:cNvSpPr txBox="1">
              <a:spLocks noChangeArrowheads="1"/>
            </p:cNvSpPr>
            <p:nvPr/>
          </p:nvSpPr>
          <p:spPr bwMode="auto">
            <a:xfrm>
              <a:off x="1802" y="2006"/>
              <a:ext cx="501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及格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6758" name="Line 22"/>
            <p:cNvSpPr/>
            <p:nvPr/>
          </p:nvSpPr>
          <p:spPr>
            <a:xfrm flipH="1">
              <a:off x="2640" y="1440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59" name="Line 23"/>
            <p:cNvSpPr/>
            <p:nvPr/>
          </p:nvSpPr>
          <p:spPr>
            <a:xfrm>
              <a:off x="2928" y="1440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60" name="Line 24"/>
            <p:cNvSpPr/>
            <p:nvPr/>
          </p:nvSpPr>
          <p:spPr>
            <a:xfrm>
              <a:off x="2208" y="1056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61" name="Rectangle 25"/>
            <p:cNvSpPr/>
            <p:nvPr/>
          </p:nvSpPr>
          <p:spPr>
            <a:xfrm>
              <a:off x="2544" y="1632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5290" name="Text Box 26"/>
            <p:cNvSpPr txBox="1">
              <a:spLocks noChangeArrowheads="1"/>
            </p:cNvSpPr>
            <p:nvPr/>
          </p:nvSpPr>
          <p:spPr bwMode="auto">
            <a:xfrm>
              <a:off x="2761" y="1620"/>
              <a:ext cx="308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中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6763" name="Line 27"/>
            <p:cNvSpPr/>
            <p:nvPr/>
          </p:nvSpPr>
          <p:spPr>
            <a:xfrm>
              <a:off x="3792" y="1440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64" name="Rectangle 28"/>
            <p:cNvSpPr/>
            <p:nvPr/>
          </p:nvSpPr>
          <p:spPr>
            <a:xfrm>
              <a:off x="3456" y="1632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5293" name="Text Box 29"/>
            <p:cNvSpPr txBox="1">
              <a:spLocks noChangeArrowheads="1"/>
            </p:cNvSpPr>
            <p:nvPr/>
          </p:nvSpPr>
          <p:spPr bwMode="auto">
            <a:xfrm>
              <a:off x="3672" y="1620"/>
              <a:ext cx="308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良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6766" name="Line 30"/>
            <p:cNvSpPr/>
            <p:nvPr/>
          </p:nvSpPr>
          <p:spPr>
            <a:xfrm flipH="1">
              <a:off x="4752" y="1440"/>
              <a:ext cx="288" cy="0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767" name="Line 31"/>
            <p:cNvSpPr/>
            <p:nvPr/>
          </p:nvSpPr>
          <p:spPr>
            <a:xfrm>
              <a:off x="5040" y="1440"/>
              <a:ext cx="0" cy="192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6768" name="Rectangle 32"/>
            <p:cNvSpPr/>
            <p:nvPr/>
          </p:nvSpPr>
          <p:spPr>
            <a:xfrm>
              <a:off x="4656" y="1632"/>
              <a:ext cx="720" cy="336"/>
            </a:xfrm>
            <a:prstGeom prst="rect">
              <a:avLst/>
            </a:prstGeom>
            <a:gradFill rotWithShape="0">
              <a:gsLst>
                <a:gs pos="0">
                  <a:srgbClr val="FF7C80"/>
                </a:gs>
                <a:gs pos="100000">
                  <a:srgbClr val="76393B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5297" name="Text Box 33"/>
            <p:cNvSpPr txBox="1">
              <a:spLocks noChangeArrowheads="1"/>
            </p:cNvSpPr>
            <p:nvPr/>
          </p:nvSpPr>
          <p:spPr bwMode="auto">
            <a:xfrm>
              <a:off x="4872" y="1620"/>
              <a:ext cx="308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zh-CN" altLang="en-US" sz="2400" kern="1200" cap="none" spc="0" normalizeH="0" baseline="0" noProof="0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+mn-ea"/>
                </a:rPr>
                <a:t>优</a:t>
              </a:r>
              <a:endParaRPr kumimoji="1" lang="zh-CN" altLang="en-US" sz="2400" b="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116770" name="Text Box 34"/>
            <p:cNvSpPr txBox="1"/>
            <p:nvPr/>
          </p:nvSpPr>
          <p:spPr>
            <a:xfrm>
              <a:off x="1129" y="1627"/>
              <a:ext cx="579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&lt;60?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1" name="Text Box 35"/>
            <p:cNvSpPr txBox="1"/>
            <p:nvPr/>
          </p:nvSpPr>
          <p:spPr>
            <a:xfrm>
              <a:off x="1869" y="1243"/>
              <a:ext cx="579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&lt;70?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2" name="Text Box 36"/>
            <p:cNvSpPr txBox="1"/>
            <p:nvPr/>
          </p:nvSpPr>
          <p:spPr>
            <a:xfrm>
              <a:off x="2929" y="850"/>
              <a:ext cx="579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&lt;80?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3" name="Text Box 37"/>
            <p:cNvSpPr txBox="1"/>
            <p:nvPr/>
          </p:nvSpPr>
          <p:spPr>
            <a:xfrm>
              <a:off x="4125" y="1243"/>
              <a:ext cx="579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&lt;90?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4" name="Text Box 38"/>
            <p:cNvSpPr txBox="1"/>
            <p:nvPr/>
          </p:nvSpPr>
          <p:spPr>
            <a:xfrm>
              <a:off x="288" y="2299"/>
              <a:ext cx="507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0.10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5" name="Text Box 39"/>
            <p:cNvSpPr txBox="1"/>
            <p:nvPr/>
          </p:nvSpPr>
          <p:spPr>
            <a:xfrm>
              <a:off x="1796" y="2299"/>
              <a:ext cx="507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0.15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6" name="Text Box 40"/>
            <p:cNvSpPr txBox="1"/>
            <p:nvPr/>
          </p:nvSpPr>
          <p:spPr>
            <a:xfrm>
              <a:off x="2468" y="1915"/>
              <a:ext cx="507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0.25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7" name="Text Box 41"/>
            <p:cNvSpPr txBox="1"/>
            <p:nvPr/>
          </p:nvSpPr>
          <p:spPr>
            <a:xfrm>
              <a:off x="3380" y="1915"/>
              <a:ext cx="507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0.35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778" name="Text Box 42"/>
            <p:cNvSpPr txBox="1"/>
            <p:nvPr/>
          </p:nvSpPr>
          <p:spPr>
            <a:xfrm>
              <a:off x="4608" y="1906"/>
              <a:ext cx="507" cy="3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0.15</a:t>
              </a:r>
              <a:endPara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5307" name="Text Box 43"/>
            <p:cNvSpPr txBox="1">
              <a:spLocks noChangeArrowheads="1"/>
            </p:cNvSpPr>
            <p:nvPr/>
          </p:nvSpPr>
          <p:spPr bwMode="auto">
            <a:xfrm>
              <a:off x="1798" y="1524"/>
              <a:ext cx="220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5308" name="Text Box 44"/>
            <p:cNvSpPr txBox="1">
              <a:spLocks noChangeArrowheads="1"/>
            </p:cNvSpPr>
            <p:nvPr/>
          </p:nvSpPr>
          <p:spPr bwMode="auto">
            <a:xfrm>
              <a:off x="2685" y="1140"/>
              <a:ext cx="220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5309" name="Text Box 45"/>
            <p:cNvSpPr txBox="1">
              <a:spLocks noChangeArrowheads="1"/>
            </p:cNvSpPr>
            <p:nvPr/>
          </p:nvSpPr>
          <p:spPr bwMode="auto">
            <a:xfrm>
              <a:off x="3739" y="756"/>
              <a:ext cx="220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5310" name="Text Box 46"/>
            <p:cNvSpPr txBox="1">
              <a:spLocks noChangeArrowheads="1"/>
            </p:cNvSpPr>
            <p:nvPr/>
          </p:nvSpPr>
          <p:spPr bwMode="auto">
            <a:xfrm>
              <a:off x="4777" y="1140"/>
              <a:ext cx="220" cy="3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4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≥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5311" name="Text Box 47"/>
            <p:cNvSpPr txBox="1">
              <a:spLocks noChangeArrowheads="1"/>
            </p:cNvSpPr>
            <p:nvPr/>
          </p:nvSpPr>
          <p:spPr bwMode="auto">
            <a:xfrm>
              <a:off x="3741" y="1147"/>
              <a:ext cx="243" cy="355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5312" name="Text Box 48"/>
            <p:cNvSpPr txBox="1">
              <a:spLocks noChangeArrowheads="1"/>
            </p:cNvSpPr>
            <p:nvPr/>
          </p:nvSpPr>
          <p:spPr bwMode="auto">
            <a:xfrm>
              <a:off x="2497" y="754"/>
              <a:ext cx="243" cy="355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5313" name="Text Box 49"/>
            <p:cNvSpPr txBox="1">
              <a:spLocks noChangeArrowheads="1"/>
            </p:cNvSpPr>
            <p:nvPr/>
          </p:nvSpPr>
          <p:spPr bwMode="auto">
            <a:xfrm>
              <a:off x="701" y="1522"/>
              <a:ext cx="243" cy="355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  <p:sp>
          <p:nvSpPr>
            <p:cNvPr id="395314" name="Text Box 50"/>
            <p:cNvSpPr txBox="1">
              <a:spLocks noChangeArrowheads="1"/>
            </p:cNvSpPr>
            <p:nvPr/>
          </p:nvSpPr>
          <p:spPr bwMode="auto">
            <a:xfrm>
              <a:off x="1533" y="1099"/>
              <a:ext cx="243" cy="355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marR="0" algn="ctr" defTabSz="914400">
                <a:buClrTx/>
                <a:buSzTx/>
                <a:defRPr/>
              </a:pPr>
              <a:r>
                <a:rPr kumimoji="1" lang="en-US" altLang="zh-CN" sz="2800" kern="1200" cap="none" spc="0" normalizeH="0" baseline="0" noProof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+mn-ea"/>
                </a:rPr>
                <a:t>&lt;</a:t>
              </a:r>
              <a:endParaRPr kumimoji="1" lang="en-US" altLang="zh-CN" sz="2400" kern="1200" cap="none" spc="0" normalizeH="0" baseline="0" noProof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endParaRPr>
            </a:p>
          </p:txBody>
        </p:sp>
      </p:grpSp>
      <p:sp>
        <p:nvSpPr>
          <p:cNvPr id="395315" name="Text Box 51"/>
          <p:cNvSpPr txBox="1"/>
          <p:nvPr/>
        </p:nvSpPr>
        <p:spPr>
          <a:xfrm>
            <a:off x="2057400" y="5481638"/>
            <a:ext cx="8035925" cy="117316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WPL = 0.10*3+0.15*3+0.25*2+0.35*2+0.15*2</a:t>
            </a:r>
            <a:endParaRPr lang="en-US" altLang="zh-CN" sz="320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= 0.3+0.45+0.5+0.7+0.3 = 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2.25</a:t>
            </a:r>
            <a:r>
              <a:rPr lang="en-US" altLang="zh-CN" sz="3200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3200" b="0" dirty="0">
              <a:solidFill>
                <a:srgbClr val="80008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5317" name="Text Box 53"/>
          <p:cNvSpPr txBox="1">
            <a:spLocks noChangeArrowheads="1"/>
          </p:cNvSpPr>
          <p:nvPr/>
        </p:nvSpPr>
        <p:spPr bwMode="auto">
          <a:xfrm>
            <a:off x="4495800" y="228600"/>
            <a:ext cx="3206750" cy="608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lnSpc>
                <a:spcPct val="105000"/>
              </a:lnSpc>
              <a:buClrTx/>
              <a:buSzTx/>
              <a:defRPr/>
            </a:pPr>
            <a:r>
              <a:rPr kumimoji="1" lang="zh-CN" altLang="en-US" sz="3200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  <a:sym typeface="+mn-ea"/>
              </a:rPr>
              <a:t>考试成绩分布表</a:t>
            </a:r>
            <a:r>
              <a:rPr kumimoji="1" lang="zh-CN" altLang="en-US" sz="2800" kern="1200" cap="none" spc="0" normalizeH="0" baseline="0" noProof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  <a:cs typeface="+mn-cs"/>
                <a:sym typeface="+mn-ea"/>
              </a:rPr>
              <a:t>    </a:t>
            </a:r>
            <a:endParaRPr kumimoji="1" lang="zh-CN" altLang="en-US" sz="3200" kern="1200" cap="none" spc="0" normalizeH="0" baseline="0" noProof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+mn-ea"/>
            </a:endParaRPr>
          </a:p>
        </p:txBody>
      </p:sp>
      <p:graphicFrame>
        <p:nvGraphicFramePr>
          <p:cNvPr id="116789" name="Object 54"/>
          <p:cNvGraphicFramePr>
            <a:graphicFrameLocks noChangeAspect="1"/>
          </p:cNvGraphicFramePr>
          <p:nvPr/>
        </p:nvGraphicFramePr>
        <p:xfrm>
          <a:off x="2438400" y="762000"/>
          <a:ext cx="7289800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8105775" imgH="2228850" progId="Word.Document.8">
                  <p:embed/>
                </p:oleObj>
              </mc:Choice>
              <mc:Fallback>
                <p:oleObj name="" r:id="rId1" imgW="8105775" imgH="2228850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762000"/>
                        <a:ext cx="7289800" cy="1998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9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9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73" grpId="0" bldLvl="0" animBg="1"/>
      <p:bldP spid="39531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25986" name="Text Box 2"/>
          <p:cNvSpPr txBox="1"/>
          <p:nvPr/>
        </p:nvSpPr>
        <p:spPr>
          <a:xfrm>
            <a:off x="4883150" y="-3175"/>
            <a:ext cx="1973263" cy="708025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4000" dirty="0">
                <a:solidFill>
                  <a:srgbClr val="CC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小   结</a:t>
            </a:r>
            <a:endParaRPr lang="zh-CN" altLang="en-US" sz="4000" dirty="0">
              <a:solidFill>
                <a:srgbClr val="CC0066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25990" name="Text Box 6"/>
          <p:cNvSpPr txBox="1"/>
          <p:nvPr/>
        </p:nvSpPr>
        <p:spPr>
          <a:xfrm>
            <a:off x="1598613" y="990600"/>
            <a:ext cx="9058275" cy="5630863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一、树的定义（递归）、树的逻辑结构（</a:t>
            </a:r>
            <a:r>
              <a:rPr lang="en-US" altLang="zh-CN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1-</a:t>
            </a:r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多）。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二、树的常用术语：结点的度、树的度。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                  树的层次、树的高度。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                  双亲结点、孩子结点、子孙、祖先。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                  森林。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三、树的存储方式：双亲表示法、孩子表示法及孩子兄弟表示法。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四、树的遍历：先根遍历、后根遍历及按层次遍历。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五、二叉树的定义及二叉树的基本形式。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六、二叉树的五个基本性质。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七、二叉树的存储方式：顺序方式、二叉链表及三叉链表。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八、二叉树的遍历：前序遍历、中序遍历和后序遍历。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    二叉树遍历的应用。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九、线索二叉树的定义、存储及遍历。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十、树或森林与二叉树之间的转换。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>
                <a:solidFill>
                  <a:srgbClr val="CC0066"/>
                </a:solidFill>
                <a:latin typeface="仿宋_GB2312" pitchFamily="49" charset="-122"/>
                <a:ea typeface="仿宋_GB2312" pitchFamily="49" charset="-122"/>
              </a:rPr>
              <a:t>十一、树的应用：哈夫曼树。</a:t>
            </a:r>
            <a:endParaRPr lang="zh-CN" altLang="en-US" sz="2400" dirty="0">
              <a:solidFill>
                <a:srgbClr val="CC0066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25990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25990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43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25990">
                                            <p:txEl>
                                              <p:charRg st="43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72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25990">
                                            <p:txEl>
                                              <p:charRg st="72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10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25990">
                                            <p:txEl>
                                              <p:charRg st="107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12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25990">
                                            <p:txEl>
                                              <p:charRg st="129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159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25990">
                                            <p:txEl>
                                              <p:charRg st="159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183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25990">
                                            <p:txEl>
                                              <p:charRg st="183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202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25990">
                                            <p:txEl>
                                              <p:charRg st="202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216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425990">
                                            <p:txEl>
                                              <p:charRg st="216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243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25990">
                                            <p:txEl>
                                              <p:charRg st="243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268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425990">
                                            <p:txEl>
                                              <p:charRg st="268" end="2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282" end="3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425990">
                                            <p:txEl>
                                              <p:charRg st="282" end="3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300" end="3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425990">
                                            <p:txEl>
                                              <p:charRg st="300" end="3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>
                                            <p:txEl>
                                              <p:charRg st="317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425990">
                                            <p:txEl>
                                              <p:charRg st="317" end="3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6" grpId="0"/>
      <p:bldP spid="425990" grpId="0" build="p"/>
    </p:bldLst>
  </p:timing>
</p:sld>
</file>

<file path=ppt/tags/tag1.xml><?xml version="1.0" encoding="utf-8"?>
<p:tagLst xmlns:p="http://schemas.openxmlformats.org/presentationml/2006/main">
  <p:tag name="COMMONDATA" val="eyJoZGlkIjoiYWY4M2M4ZjcxYTRmOTM0MDhmYTU4NDE0NDhlMjU2NDMifQ=="/>
  <p:tag name="KSO_WPP_MARK_KEY" val="13a0c25e-1aa4-4c6d-9d47-f6220c3b8643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FF99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FF99"/>
            </a:gs>
            <a:gs pos="100000">
              <a:srgbClr val="99FF99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381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FF99"/>
            </a:gs>
            <a:gs pos="100000">
              <a:srgbClr val="99FF99">
                <a:gamma/>
                <a:shade val="46275"/>
                <a:invGamma/>
              </a:srgbClr>
            </a:gs>
          </a:gsLst>
          <a:path path="rect">
            <a:fillToRect l="50000" t="50000" r="50000" b="50000"/>
          </a:path>
        </a:gradFill>
        <a:ln w="381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rgbClr val="FF00FF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rgbClr val="FF00FF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21754</Words>
  <Application>WPS 演示</Application>
  <PresentationFormat>全屏显示(4:3)</PresentationFormat>
  <Paragraphs>3659</Paragraphs>
  <Slides>104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104</vt:i4>
      </vt:variant>
    </vt:vector>
  </HeadingPairs>
  <TitlesOfParts>
    <vt:vector size="143" baseType="lpstr">
      <vt:lpstr>Arial</vt:lpstr>
      <vt:lpstr>宋体</vt:lpstr>
      <vt:lpstr>Wingdings</vt:lpstr>
      <vt:lpstr>Times New Roman</vt:lpstr>
      <vt:lpstr>仿宋_GB2312</vt:lpstr>
      <vt:lpstr>仿宋</vt:lpstr>
      <vt:lpstr>隶书</vt:lpstr>
      <vt:lpstr>Symbol</vt:lpstr>
      <vt:lpstr>楷体_GB2312</vt:lpstr>
      <vt:lpstr>新宋体</vt:lpstr>
      <vt:lpstr>Wingdings</vt:lpstr>
      <vt:lpstr>微软雅黑</vt:lpstr>
      <vt:lpstr>Arial Unicode MS</vt:lpstr>
      <vt:lpstr>Calibri</vt:lpstr>
      <vt:lpstr>Symbol</vt:lpstr>
      <vt:lpstr>楷体</vt:lpstr>
      <vt:lpstr>黑体</vt:lpstr>
      <vt:lpstr>MS UI Gothic</vt:lpstr>
      <vt:lpstr>Bahnschrift SemiLight SemiCondensed</vt:lpstr>
      <vt:lpstr>Bahnschrift</vt:lpstr>
      <vt:lpstr>Consolas</vt:lpstr>
      <vt:lpstr>Verdana</vt:lpstr>
      <vt:lpstr>Arial Narrow</vt:lpstr>
      <vt:lpstr>默认设计模板</vt:lpstr>
      <vt:lpstr>Office 主题</vt:lpstr>
      <vt:lpstr>1_Office 主题</vt:lpstr>
      <vt:lpstr>Word.Picture.8</vt:lpstr>
      <vt:lpstr>Paint.Picture</vt:lpstr>
      <vt:lpstr>Equation.3</vt:lpstr>
      <vt:lpstr>Word.Document.8</vt:lpstr>
      <vt:lpstr>Word.Document.8</vt:lpstr>
      <vt:lpstr>Word.Picture.8</vt:lpstr>
      <vt:lpstr>Word.Picture.8</vt:lpstr>
      <vt:lpstr>Word.Picture.8</vt:lpstr>
      <vt:lpstr>Equation.3</vt:lpstr>
      <vt:lpstr>Equation.3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树和森林的遍历</vt:lpstr>
      <vt:lpstr>树和森林的遍历</vt:lpstr>
      <vt:lpstr>树的存储结构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二叉树的遍历</vt:lpstr>
      <vt:lpstr>PowerPoint 演示文稿</vt:lpstr>
      <vt:lpstr>PowerPoint 演示文稿</vt:lpstr>
      <vt:lpstr>PowerPoint 演示文稿</vt:lpstr>
      <vt:lpstr>PowerPoint 演示文稿</vt:lpstr>
      <vt:lpstr>统计二叉树叶子结点的个数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哈夫曼树 (Huffman Tree)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djzx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djzx</dc:creator>
  <cp:lastModifiedBy>yang</cp:lastModifiedBy>
  <cp:revision>323</cp:revision>
  <dcterms:created xsi:type="dcterms:W3CDTF">2000-01-30T08:24:00Z</dcterms:created>
  <dcterms:modified xsi:type="dcterms:W3CDTF">2022-10-25T04:17:53Z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43529DE56EE1480A98DB1F20F9CFA895</vt:lpwstr>
  </property>
</Properties>
</file>