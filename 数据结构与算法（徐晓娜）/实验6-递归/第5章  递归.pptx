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75"/>
  </p:notesMasterIdLst>
  <p:handoutMasterIdLst>
    <p:handoutMasterId r:id="rId76"/>
  </p:handoutMasterIdLst>
  <p:sldIdLst>
    <p:sldId id="459" r:id="rId4"/>
    <p:sldId id="644" r:id="rId5"/>
    <p:sldId id="567" r:id="rId6"/>
    <p:sldId id="568" r:id="rId7"/>
    <p:sldId id="570" r:id="rId8"/>
    <p:sldId id="614" r:id="rId9"/>
    <p:sldId id="615" r:id="rId10"/>
    <p:sldId id="604" r:id="rId11"/>
    <p:sldId id="571" r:id="rId12"/>
    <p:sldId id="572" r:id="rId13"/>
    <p:sldId id="645" r:id="rId14"/>
    <p:sldId id="646" r:id="rId15"/>
    <p:sldId id="647" r:id="rId16"/>
    <p:sldId id="648" r:id="rId17"/>
    <p:sldId id="649" r:id="rId18"/>
    <p:sldId id="650" r:id="rId19"/>
    <p:sldId id="651" r:id="rId20"/>
    <p:sldId id="658" r:id="rId21"/>
    <p:sldId id="653" r:id="rId22"/>
    <p:sldId id="573" r:id="rId23"/>
    <p:sldId id="575" r:id="rId24"/>
    <p:sldId id="659" r:id="rId25"/>
    <p:sldId id="660" r:id="rId26"/>
    <p:sldId id="662" r:id="rId27"/>
    <p:sldId id="663" r:id="rId28"/>
    <p:sldId id="664" r:id="rId29"/>
    <p:sldId id="665" r:id="rId30"/>
    <p:sldId id="667" r:id="rId31"/>
    <p:sldId id="669" r:id="rId32"/>
    <p:sldId id="670" r:id="rId33"/>
    <p:sldId id="671" r:id="rId34"/>
    <p:sldId id="673" r:id="rId35"/>
    <p:sldId id="674" r:id="rId36"/>
    <p:sldId id="675" r:id="rId37"/>
    <p:sldId id="677" r:id="rId38"/>
    <p:sldId id="678" r:id="rId39"/>
    <p:sldId id="679" r:id="rId40"/>
    <p:sldId id="680" r:id="rId41"/>
    <p:sldId id="681" r:id="rId42"/>
    <p:sldId id="682" r:id="rId43"/>
    <p:sldId id="683" r:id="rId44"/>
    <p:sldId id="684" r:id="rId45"/>
    <p:sldId id="685" r:id="rId46"/>
    <p:sldId id="686" r:id="rId47"/>
    <p:sldId id="687" r:id="rId48"/>
    <p:sldId id="601" r:id="rId49"/>
    <p:sldId id="581" r:id="rId50"/>
    <p:sldId id="582" r:id="rId51"/>
    <p:sldId id="711" r:id="rId52"/>
    <p:sldId id="712" r:id="rId53"/>
    <p:sldId id="713" r:id="rId54"/>
    <p:sldId id="583" r:id="rId55"/>
    <p:sldId id="584" r:id="rId56"/>
    <p:sldId id="585" r:id="rId57"/>
    <p:sldId id="586" r:id="rId58"/>
    <p:sldId id="587" r:id="rId59"/>
    <p:sldId id="588" r:id="rId60"/>
    <p:sldId id="589" r:id="rId61"/>
    <p:sldId id="590" r:id="rId62"/>
    <p:sldId id="591" r:id="rId63"/>
    <p:sldId id="605" r:id="rId64"/>
    <p:sldId id="606" r:id="rId65"/>
    <p:sldId id="607" r:id="rId66"/>
    <p:sldId id="608" r:id="rId67"/>
    <p:sldId id="609" r:id="rId68"/>
    <p:sldId id="610" r:id="rId69"/>
    <p:sldId id="611" r:id="rId70"/>
    <p:sldId id="612" r:id="rId71"/>
    <p:sldId id="613" r:id="rId72"/>
    <p:sldId id="616" r:id="rId73"/>
    <p:sldId id="617" r:id="rId74"/>
  </p:sldIdLst>
  <p:sldSz cx="12192000" cy="6858000"/>
  <p:notesSz cx="6858000" cy="9144000"/>
  <p:custDataLst>
    <p:tags r:id="rId80"/>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2FDB2607-1784-4EEB-B798-7EB5836EED8A}">
        <p14:showMediaCtrls xmlns:p14="http://schemas.microsoft.com/office/powerpoint/2010/main" val="1"/>
      </p:ext>
    </p:extLst>
  </p:showPr>
  <p:clrMru>
    <a:srgbClr val="1D41D5"/>
    <a:srgbClr val="1552D1"/>
    <a:srgbClr val="FF0066"/>
    <a:srgbClr val="996633"/>
    <a:srgbClr val="336600"/>
    <a:srgbClr val="99CC00"/>
    <a:srgbClr val="CC9900"/>
    <a:srgbClr val="808000"/>
    <a:srgbClr val="FF3300"/>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p:scale>
          <a:sx n="66" d="100"/>
          <a:sy n="66" d="100"/>
        </p:scale>
        <p:origin x="786" y="321"/>
      </p:cViewPr>
      <p:guideLst>
        <p:guide orient="horz" pos="2213"/>
        <p:guide pos="379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9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gs" Target="tags/tag1.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notesMaster" Target="notesMasters/notes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46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646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44646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647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647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E71895C-7AD1-43C7-9124-F007B9691E33}" type="slidenum">
              <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pPr fontAlgn="auto"/>
            <a:r>
              <a:rPr lang="zh-CN" altLang="en-US" strike="noStrike" noProof="1" smtClean="0"/>
              <a:t>单击此处编辑母版标题样式</a:t>
            </a:r>
            <a:endParaRPr lang="en-US" strike="noStrike" noProof="1"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pPr fontAlgn="auto"/>
            <a:r>
              <a:rPr lang="zh-CN" altLang="en-US" strike="noStrike" noProof="1" smtClean="0"/>
              <a:t>单击此处编辑母版副标题样式</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pPr fontAlgn="auto"/>
            <a:r>
              <a:rPr lang="zh-CN" altLang="en-US" strike="noStrike" noProof="1" smtClean="0"/>
              <a:t>单击此处编辑母版标题样式</a:t>
            </a:r>
            <a:endParaRPr lang="en-US" strike="noStrike" noProof="1" dirty="0"/>
          </a:p>
        </p:txBody>
      </p:sp>
      <p:sp>
        <p:nvSpPr>
          <p:cNvPr id="3" name="Text Placeholder 2"/>
          <p:cNvSpPr>
            <a:spLocks noGrp="1"/>
          </p:cNvSpPr>
          <p:nvPr>
            <p:ph type="body" idx="1"/>
          </p:nvPr>
        </p:nvSpPr>
        <p:spPr>
          <a:xfrm>
            <a:off x="831851" y="4552634"/>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fontAlgn="auto"/>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sz="half" idx="1"/>
          </p:nvPr>
        </p:nvSpPr>
        <p:spPr>
          <a:xfrm>
            <a:off x="845127" y="1828801"/>
            <a:ext cx="5181600" cy="4351337"/>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Content Placeholder 3"/>
          <p:cNvSpPr>
            <a:spLocks noGrp="1"/>
          </p:cNvSpPr>
          <p:nvPr>
            <p:ph sz="half" idx="2"/>
          </p:nvPr>
        </p:nvSpPr>
        <p:spPr>
          <a:xfrm>
            <a:off x="6172200" y="1828801"/>
            <a:ext cx="5181600" cy="4351337"/>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1"/>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4" name="Content Placeholder 3"/>
          <p:cNvSpPr>
            <a:spLocks noGrp="1"/>
          </p:cNvSpPr>
          <p:nvPr>
            <p:ph sz="half" idx="2"/>
          </p:nvPr>
        </p:nvSpPr>
        <p:spPr>
          <a:xfrm>
            <a:off x="845127" y="2507551"/>
            <a:ext cx="5156200" cy="3680525"/>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6" name="Content Placeholder 5"/>
          <p:cNvSpPr>
            <a:spLocks noGrp="1"/>
          </p:cNvSpPr>
          <p:nvPr>
            <p:ph sz="quarter" idx="4"/>
          </p:nvPr>
        </p:nvSpPr>
        <p:spPr>
          <a:xfrm>
            <a:off x="6172200" y="2507551"/>
            <a:ext cx="5181601" cy="3680525"/>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a:p>
        </p:txBody>
      </p:sp>
      <p:sp>
        <p:nvSpPr>
          <p:cNvPr id="10" name="Title 9"/>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fontAlgn="auto"/>
            <a:r>
              <a:rPr lang="zh-CN" altLang="en-US" strike="noStrike" noProof="1" smtClean="0"/>
              <a:t>单击此处编辑母版标题样式</a:t>
            </a:r>
            <a:endParaRPr lang="en-US" strike="noStrike" noProof="1"/>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1"/>
            <a:ext cx="3931920" cy="1600197"/>
          </a:xfrm>
        </p:spPr>
        <p:txBody>
          <a:bodyPr anchor="b">
            <a:normAutofit/>
          </a:bodyPr>
          <a:lstStyle>
            <a:lvl1pPr>
              <a:defRPr sz="2400" b="0"/>
            </a:lvl1p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en-US" strike="noStrike" noProof="1"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auto"/>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pPr fontAlgn="auto"/>
            <a:r>
              <a:rPr lang="zh-CN" altLang="en-US" strike="noStrike" noProof="1" smtClean="0"/>
              <a:t>单击此处编辑母版标题样式</a:t>
            </a:r>
            <a:endParaRPr lang="en-US" strike="noStrike" noProof="1" dirty="0"/>
          </a:p>
        </p:txBody>
      </p:sp>
      <p:sp>
        <p:nvSpPr>
          <p:cNvPr id="3" name="Picture Placeholder 2"/>
          <p:cNvSpPr>
            <a:spLocks noGrp="1"/>
          </p:cNvSpPr>
          <p:nvPr>
            <p:ph type="pic" idx="1"/>
          </p:nvPr>
        </p:nvSpPr>
        <p:spPr>
          <a:xfrm>
            <a:off x="5181600" y="990600"/>
            <a:ext cx="6172200" cy="4876800"/>
          </a:xfrm>
        </p:spPr>
        <p:txBody>
          <a:bodyPr vert="horz" lIns="91440" tIns="45720" rIns="91440" bIns="45720"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1" fontAlgn="auto" latinLnBrk="0" hangingPunct="1">
              <a:lnSpc>
                <a:spcPct val="90000"/>
              </a:lnSpc>
              <a:spcBef>
                <a:spcPts val="750"/>
              </a:spcBef>
              <a:spcAft>
                <a:spcPts val="0"/>
              </a:spcAft>
              <a:buClrTx/>
              <a:buSzTx/>
              <a:buFont typeface="Wingdings 2" panose="05020102010507070707" pitchFamily="18" charset="2"/>
              <a:buNone/>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auto"/>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a:p>
        </p:txBody>
      </p:sp>
      <p:sp>
        <p:nvSpPr>
          <p:cNvPr id="3" name="Vertical Text Placeholder 2"/>
          <p:cNvSpPr>
            <a:spLocks noGrp="1"/>
          </p:cNvSpPr>
          <p:nvPr>
            <p:ph type="body" orient="vert" idx="1"/>
          </p:nvPr>
        </p:nvSpPr>
        <p:spPr/>
        <p:txBody>
          <a:bodyPr vert="eaVert"/>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pPr fontAlgn="auto"/>
            <a:r>
              <a:rPr lang="zh-CN" altLang="en-US" strike="noStrike" noProof="1" smtClean="0"/>
              <a:t>单击此处编辑母版标题样式</a:t>
            </a:r>
            <a:endParaRPr lang="en-US" strike="noStrike" noProof="1"/>
          </a:p>
        </p:txBody>
      </p:sp>
      <p:sp>
        <p:nvSpPr>
          <p:cNvPr id="3" name="Vertical Text Placeholder 2"/>
          <p:cNvSpPr>
            <a:spLocks noGrp="1"/>
          </p:cNvSpPr>
          <p:nvPr>
            <p:ph type="body" orient="vert" idx="1"/>
          </p:nvPr>
        </p:nvSpPr>
        <p:spPr>
          <a:xfrm>
            <a:off x="838200" y="360363"/>
            <a:ext cx="7734300" cy="5811837"/>
          </a:xfrm>
        </p:spPr>
        <p:txBody>
          <a:bodyPr vert="eaVert"/>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pPr fontAlgn="auto"/>
            <a:r>
              <a:rPr lang="zh-CN" altLang="en-US" strike="noStrike" noProof="1" smtClean="0"/>
              <a:t>单击此处编辑母版标题样式</a:t>
            </a:r>
            <a:endParaRPr lang="en-US" strike="noStrike" noProof="1"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pPr fontAlgn="auto"/>
            <a:r>
              <a:rPr lang="zh-CN" altLang="en-US" strike="noStrike" noProof="1" smtClean="0"/>
              <a:t>单击此处编辑母版副标题样式</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pPr fontAlgn="auto"/>
            <a:r>
              <a:rPr lang="zh-CN" altLang="en-US" strike="noStrike" noProof="1" smtClean="0"/>
              <a:t>单击此处编辑母版标题样式</a:t>
            </a:r>
            <a:endParaRPr lang="en-US" strike="noStrike" noProof="1" dirty="0"/>
          </a:p>
        </p:txBody>
      </p:sp>
      <p:sp>
        <p:nvSpPr>
          <p:cNvPr id="3" name="Text Placeholder 2"/>
          <p:cNvSpPr>
            <a:spLocks noGrp="1"/>
          </p:cNvSpPr>
          <p:nvPr>
            <p:ph type="body" idx="1"/>
          </p:nvPr>
        </p:nvSpPr>
        <p:spPr>
          <a:xfrm>
            <a:off x="831851" y="4552634"/>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fontAlgn="auto"/>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sz="half" idx="1"/>
          </p:nvPr>
        </p:nvSpPr>
        <p:spPr>
          <a:xfrm>
            <a:off x="845127" y="1828801"/>
            <a:ext cx="5181600" cy="4351337"/>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Content Placeholder 3"/>
          <p:cNvSpPr>
            <a:spLocks noGrp="1"/>
          </p:cNvSpPr>
          <p:nvPr>
            <p:ph sz="half" idx="2"/>
          </p:nvPr>
        </p:nvSpPr>
        <p:spPr>
          <a:xfrm>
            <a:off x="6172200" y="1828801"/>
            <a:ext cx="5181600" cy="4351337"/>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1"/>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4" name="Content Placeholder 3"/>
          <p:cNvSpPr>
            <a:spLocks noGrp="1"/>
          </p:cNvSpPr>
          <p:nvPr>
            <p:ph sz="half" idx="2"/>
          </p:nvPr>
        </p:nvSpPr>
        <p:spPr>
          <a:xfrm>
            <a:off x="845127" y="2507551"/>
            <a:ext cx="5156200" cy="3680525"/>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6" name="Content Placeholder 5"/>
          <p:cNvSpPr>
            <a:spLocks noGrp="1"/>
          </p:cNvSpPr>
          <p:nvPr>
            <p:ph sz="quarter" idx="4"/>
          </p:nvPr>
        </p:nvSpPr>
        <p:spPr>
          <a:xfrm>
            <a:off x="6172200" y="2507551"/>
            <a:ext cx="5181601" cy="3680525"/>
          </a:xfrm>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a:p>
        </p:txBody>
      </p:sp>
      <p:sp>
        <p:nvSpPr>
          <p:cNvPr id="10" name="Title 9"/>
          <p:cNvSpPr>
            <a:spLocks noGrp="1"/>
          </p:cNvSpPr>
          <p:nvPr>
            <p:ph type="title"/>
          </p:nvPr>
        </p:nvSpPr>
        <p:spPr/>
        <p:txBody>
          <a:bodyPr/>
          <a:lstStyle/>
          <a:p>
            <a:pPr fontAlgn="auto"/>
            <a:r>
              <a:rPr lang="zh-CN" altLang="en-US" strike="noStrike" noProof="1" smtClean="0"/>
              <a:t>单击此处编辑母版标题样式</a:t>
            </a:r>
            <a:endParaRPr lang="en-US" strike="noStrike" noProof="1" dirty="0"/>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fontAlgn="auto"/>
            <a:r>
              <a:rPr lang="zh-CN" altLang="en-US" strike="noStrike" noProof="1" smtClean="0"/>
              <a:t>单击此处编辑母版标题样式</a:t>
            </a:r>
            <a:endParaRPr lang="en-US" strike="noStrike" noProof="1"/>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1"/>
            <a:ext cx="3931920" cy="1600197"/>
          </a:xfrm>
        </p:spPr>
        <p:txBody>
          <a:bodyPr anchor="b">
            <a:normAutofit/>
          </a:bodyPr>
          <a:lstStyle>
            <a:lvl1pPr>
              <a:defRPr sz="2400" b="0"/>
            </a:lvl1pPr>
          </a:lstStyle>
          <a:p>
            <a:pPr fontAlgn="auto"/>
            <a:r>
              <a:rPr lang="zh-CN" altLang="en-US" strike="noStrike" noProof="1" smtClean="0"/>
              <a:t>单击此处编辑母版标题样式</a:t>
            </a:r>
            <a:endParaRPr lang="en-US" strike="noStrike" noProof="1"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en-US" strike="noStrike" noProof="1"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auto"/>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pPr fontAlgn="auto"/>
            <a:r>
              <a:rPr lang="zh-CN" altLang="en-US" strike="noStrike" noProof="1" smtClean="0"/>
              <a:t>单击此处编辑母版标题样式</a:t>
            </a:r>
            <a:endParaRPr lang="en-US" strike="noStrike" noProof="1" dirty="0"/>
          </a:p>
        </p:txBody>
      </p:sp>
      <p:sp>
        <p:nvSpPr>
          <p:cNvPr id="3" name="Picture Placeholder 2"/>
          <p:cNvSpPr>
            <a:spLocks noGrp="1"/>
          </p:cNvSpPr>
          <p:nvPr>
            <p:ph type="pic" idx="1"/>
          </p:nvPr>
        </p:nvSpPr>
        <p:spPr>
          <a:xfrm>
            <a:off x="5181600" y="990600"/>
            <a:ext cx="6172200" cy="4876800"/>
          </a:xfrm>
        </p:spPr>
        <p:txBody>
          <a:bodyPr vert="horz" lIns="91440" tIns="45720" rIns="91440" bIns="45720"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1" fontAlgn="auto" latinLnBrk="0" hangingPunct="1">
              <a:lnSpc>
                <a:spcPct val="90000"/>
              </a:lnSpc>
              <a:spcBef>
                <a:spcPts val="750"/>
              </a:spcBef>
              <a:spcAft>
                <a:spcPts val="0"/>
              </a:spcAft>
              <a:buClrTx/>
              <a:buSzTx/>
              <a:buFont typeface="Wingdings 2" panose="05020102010507070707" pitchFamily="18" charset="2"/>
              <a:buNone/>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auto"/>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smtClean="0"/>
              <a:t>单击此处编辑母版标题样式</a:t>
            </a:r>
            <a:endParaRPr lang="en-US" strike="noStrike" noProof="1"/>
          </a:p>
        </p:txBody>
      </p:sp>
      <p:sp>
        <p:nvSpPr>
          <p:cNvPr id="3" name="Vertical Text Placeholder 2"/>
          <p:cNvSpPr>
            <a:spLocks noGrp="1"/>
          </p:cNvSpPr>
          <p:nvPr>
            <p:ph type="body" orient="vert" idx="1"/>
          </p:nvPr>
        </p:nvSpPr>
        <p:spPr/>
        <p:txBody>
          <a:bodyPr vert="eaVert"/>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pPr fontAlgn="auto"/>
            <a:r>
              <a:rPr lang="zh-CN" altLang="en-US" strike="noStrike" noProof="1" smtClean="0"/>
              <a:t>单击此处编辑母版标题样式</a:t>
            </a:r>
            <a:endParaRPr lang="en-US" strike="noStrike" noProof="1"/>
          </a:p>
        </p:txBody>
      </p:sp>
      <p:sp>
        <p:nvSpPr>
          <p:cNvPr id="3" name="Vertical Text Placeholder 2"/>
          <p:cNvSpPr>
            <a:spLocks noGrp="1"/>
          </p:cNvSpPr>
          <p:nvPr>
            <p:ph type="body" orient="vert" idx="1"/>
          </p:nvPr>
        </p:nvSpPr>
        <p:spPr>
          <a:xfrm>
            <a:off x="838200" y="360363"/>
            <a:ext cx="7734300" cy="5811837"/>
          </a:xfrm>
        </p:spPr>
        <p:txBody>
          <a:bodyPr vert="eaVert"/>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p:sp>
        <p:nvSpPr>
          <p:cNvPr id="1026" name="Title Placeholder 1"/>
          <p:cNvSpPr>
            <a:spLocks noGrp="1"/>
          </p:cNvSpPr>
          <p:nvPr>
            <p:ph type="title"/>
          </p:nvPr>
        </p:nvSpPr>
        <p:spPr>
          <a:xfrm>
            <a:off x="844550" y="365125"/>
            <a:ext cx="10515600" cy="1325563"/>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3" name="Text Placeholder 2"/>
          <p:cNvSpPr>
            <a:spLocks noGrp="1"/>
          </p:cNvSpPr>
          <p:nvPr>
            <p:ph type="body" idx="1"/>
          </p:nvPr>
        </p:nvSpPr>
        <p:spPr>
          <a:xfrm>
            <a:off x="844550" y="1828800"/>
            <a:ext cx="10515600" cy="4351338"/>
          </a:xfrm>
          <a:prstGeom prst="rect">
            <a:avLst/>
          </a:prstGeom>
        </p:spPr>
        <p:txBody>
          <a:bodyPr vert="horz" lIns="91440" tIns="45720" rIns="91440" bIns="45720" rtlCol="0">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6950" y="6356350"/>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d"/>
  </p:transition>
  <p:hf sldNum="0" hdr="0" ftr="0" dt="0"/>
  <p:txStyles>
    <p:titleStyle>
      <a:lvl1pPr algn="l" defTabSz="6858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Wingdings 2" panose="05020102010507070707" pitchFamily="18" charset="2"/>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Wingdings 2" panose="05020102010507070707" pitchFamily="18" charset="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Wingdings 2" panose="05020102010507070707" pitchFamily="18" charset="2"/>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Wingdings 2" panose="05020102010507070707" pitchFamily="18" charset="2"/>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Wingdings 2" panose="05020102010507070707" pitchFamily="18" charset="2"/>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p:sp>
        <p:nvSpPr>
          <p:cNvPr id="1026" name="Title Placeholder 1"/>
          <p:cNvSpPr>
            <a:spLocks noGrp="1"/>
          </p:cNvSpPr>
          <p:nvPr>
            <p:ph type="title"/>
          </p:nvPr>
        </p:nvSpPr>
        <p:spPr>
          <a:xfrm>
            <a:off x="844550" y="365125"/>
            <a:ext cx="10515600" cy="1325563"/>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3" name="Text Placeholder 2"/>
          <p:cNvSpPr>
            <a:spLocks noGrp="1"/>
          </p:cNvSpPr>
          <p:nvPr>
            <p:ph type="body" idx="1"/>
          </p:nvPr>
        </p:nvSpPr>
        <p:spPr>
          <a:xfrm>
            <a:off x="844550" y="1828800"/>
            <a:ext cx="10515600" cy="4351338"/>
          </a:xfrm>
          <a:prstGeom prst="rect">
            <a:avLst/>
          </a:prstGeom>
        </p:spPr>
        <p:txBody>
          <a:bodyPr vert="horz" lIns="91440" tIns="45720" rIns="91440" bIns="45720" rtlCol="0">
            <a:normAutofit/>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en-US" strike="noStrike" noProof="1"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825" b="0" i="0" u="none" strike="noStrike" kern="1200" cap="none" spc="0" normalizeH="0" baseline="0" noProof="0">
              <a:ln>
                <a:noFill/>
              </a:ln>
              <a:solidFill>
                <a:schemeClr val="tx1">
                  <a:lumMod val="65000"/>
                  <a:lumOff val="35000"/>
                </a:schemeClr>
              </a:solidFill>
              <a:effectLst/>
              <a:uLnTx/>
              <a:uFillTx/>
              <a:cs typeface="+mn-cs"/>
            </a:endParaRPr>
          </a:p>
        </p:txBody>
      </p:sp>
      <p:sp>
        <p:nvSpPr>
          <p:cNvPr id="6" name="Slide Number Placeholder 5"/>
          <p:cNvSpPr>
            <a:spLocks noGrp="1"/>
          </p:cNvSpPr>
          <p:nvPr>
            <p:ph type="sldNum" sz="quarter" idx="4"/>
          </p:nvPr>
        </p:nvSpPr>
        <p:spPr>
          <a:xfrm>
            <a:off x="8616950" y="6356350"/>
            <a:ext cx="2743200" cy="365125"/>
          </a:xfrm>
          <a:prstGeom prst="rect">
            <a:avLst/>
          </a:prstGeom>
        </p:spPr>
        <p:txBody>
          <a:bodyPr vert="horz" lIns="91440" tIns="45720" rIns="91440" bIns="45720" rtlCol="0" anchor="ctr"/>
          <a:lstStyle>
            <a:lvl1pPr algn="r">
              <a:defRPr sz="825">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051F4C6-EB76-4854-A1E4-6A26AAE28F8D}" type="slidenum">
              <a:rPr kumimoji="1" lang="en-US" altLang="zh-CN" sz="825" b="0" i="0" u="none" strike="noStrike" kern="1200" cap="none" spc="0" normalizeH="0" baseline="0" noProof="0" smtClean="0">
                <a:ln>
                  <a:noFill/>
                </a:ln>
                <a:solidFill>
                  <a:schemeClr val="tx1">
                    <a:tint val="75000"/>
                  </a:schemeClr>
                </a:solidFill>
                <a:effectLst/>
                <a:uLnTx/>
                <a:uFillTx/>
                <a:cs typeface="+mn-cs"/>
              </a:rPr>
            </a:fld>
            <a:endParaRPr kumimoji="1" lang="en-US" altLang="zh-CN" sz="825"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wipe dir="d"/>
  </p:transition>
  <p:hf sldNum="0" hdr="0" ftr="0" dt="0"/>
  <p:txStyles>
    <p:titleStyle>
      <a:lvl1pPr algn="l" defTabSz="6858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Wingdings 2" panose="05020102010507070707" pitchFamily="18" charset="2"/>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Wingdings 2" panose="05020102010507070707" pitchFamily="18" charset="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Wingdings 2" panose="05020102010507070707" pitchFamily="18" charset="2"/>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Wingdings 2" panose="05020102010507070707" pitchFamily="18" charset="2"/>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Wingdings 2" panose="05020102010507070707" pitchFamily="18" charset="2"/>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GI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GI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GI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GI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WordArt 4"/>
          <p:cNvSpPr>
            <a:spLocks noTextEdit="1"/>
          </p:cNvSpPr>
          <p:nvPr/>
        </p:nvSpPr>
        <p:spPr>
          <a:xfrm>
            <a:off x="2711450" y="2060575"/>
            <a:ext cx="6934200" cy="838200"/>
          </a:xfrm>
          <a:prstGeom prst="rect">
            <a:avLst/>
          </a:prstGeom>
        </p:spPr>
        <p:txBody>
          <a:bodyPr wrap="none" fromWordArt="1">
            <a:prstTxWarp prst="textSlantUp">
              <a:avLst>
                <a:gd name="adj" fmla="val 616"/>
              </a:avLst>
            </a:prstTxWarp>
            <a:normAutofit/>
          </a:bodyPr>
          <a:p>
            <a:pPr algn="ctr"/>
            <a:r>
              <a:rPr lang="zh-CN" altLang="en-US" sz="3600" b="1">
                <a:ln w="9525" cap="flat" cmpd="sng">
                  <a:solidFill>
                    <a:srgbClr val="CC99FF"/>
                  </a:solidFill>
                  <a:prstDash val="solid"/>
                  <a:round/>
                  <a:headEnd type="none" w="med" len="med"/>
                  <a:tailEnd type="none" w="med" len="med"/>
                </a:ln>
                <a:gradFill rotWithShape="1">
                  <a:gsLst>
                    <a:gs pos="0">
                      <a:srgbClr val="6600CC"/>
                    </a:gs>
                    <a:gs pos="100000">
                      <a:srgbClr val="CC00CC"/>
                    </a:gs>
                  </a:gsLst>
                  <a:lin ang="5400000" scaled="1"/>
                  <a:tileRect/>
                </a:gradFill>
                <a:effectLst>
                  <a:outerShdw dist="53882" dir="2699999" algn="ctr" rotWithShape="0">
                    <a:srgbClr val="9999FF"/>
                  </a:outerShdw>
                </a:effectLst>
                <a:latin typeface="隶书" panose="02010509060101010101" pitchFamily="49" charset="-122"/>
                <a:ea typeface="隶书" panose="02010509060101010101" pitchFamily="49" charset="-122"/>
              </a:rPr>
              <a:t>第五章  递归</a:t>
            </a:r>
            <a:endParaRPr lang="zh-CN" altLang="en-US" sz="3600" b="1">
              <a:ln w="9525" cap="flat" cmpd="sng">
                <a:solidFill>
                  <a:srgbClr val="CC99FF"/>
                </a:solidFill>
                <a:prstDash val="solid"/>
                <a:round/>
                <a:headEnd type="none" w="med" len="med"/>
                <a:tailEnd type="none" w="med" len="med"/>
              </a:ln>
              <a:gradFill rotWithShape="1">
                <a:gsLst>
                  <a:gs pos="0">
                    <a:srgbClr val="6600CC"/>
                  </a:gs>
                  <a:gs pos="100000">
                    <a:srgbClr val="CC00CC"/>
                  </a:gs>
                </a:gsLst>
                <a:lin ang="5400000" scaled="1"/>
                <a:tileRect/>
              </a:gradFill>
              <a:effectLst>
                <a:outerShdw dist="53882" dir="2699999" algn="ctr" rotWithShape="0">
                  <a:srgbClr val="9999FF"/>
                </a:outerShdw>
              </a:effectLst>
              <a:latin typeface="隶书" panose="02010509060101010101" pitchFamily="49" charset="-122"/>
              <a:ea typeface="隶书" panose="02010509060101010101" pitchFamily="49" charset="-122"/>
            </a:endParaRPr>
          </a:p>
        </p:txBody>
      </p:sp>
    </p:spTree>
  </p:cSld>
  <p:clrMapOvr>
    <a:masterClrMapping/>
  </p:clrMapOvr>
  <p:transition>
    <p:blinds/>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descr="新闻纸">
            <a:hlinkClick r:id="" action="ppaction://hlinkshowjump?jump=nextslide"/>
          </p:cNvPr>
          <p:cNvSpPr>
            <a:spLocks noChangeArrowheads="1"/>
          </p:cNvSpPr>
          <p:nvPr/>
        </p:nvSpPr>
        <p:spPr bwMode="auto">
          <a:xfrm>
            <a:off x="3277870" y="1305560"/>
            <a:ext cx="5737860" cy="645160"/>
          </a:xfrm>
          <a:prstGeom prst="rect">
            <a:avLst/>
          </a:prstGeom>
          <a:noFill/>
          <a:ln>
            <a:solidFill>
              <a:schemeClr val="accent6"/>
            </a:solidFill>
          </a:ln>
        </p:spPr>
        <p:style>
          <a:lnRef idx="1">
            <a:schemeClr val="accent5"/>
          </a:lnRef>
          <a:fillRef idx="2">
            <a:schemeClr val="accent5"/>
          </a:fillRef>
          <a:effectRef idx="1">
            <a:schemeClr val="accent5"/>
          </a:effectRef>
          <a:fontRef idx="minor">
            <a:schemeClr val="dk1"/>
          </a:fontRef>
        </p:style>
        <p:txBody>
          <a:bodyPr wrap="square" lIns="28800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ct val="0"/>
              </a:spcBef>
            </a:pPr>
            <a:r>
              <a:rPr lang="en-US" altLang="zh-CN"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5.1 </a:t>
            </a:r>
            <a:r>
              <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什么是递归</a:t>
            </a:r>
            <a:endPar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Rectangle 4" descr="新闻纸">
            <a:hlinkClick r:id="" action="ppaction://noaction"/>
          </p:cNvPr>
          <p:cNvSpPr>
            <a:spLocks noChangeArrowheads="1"/>
          </p:cNvSpPr>
          <p:nvPr/>
        </p:nvSpPr>
        <p:spPr bwMode="auto">
          <a:xfrm>
            <a:off x="3277870" y="2090420"/>
            <a:ext cx="5737860" cy="645160"/>
          </a:xfrm>
          <a:prstGeom prst="rect">
            <a:avLst/>
          </a:prstGeom>
          <a:noFill/>
          <a:ln>
            <a:solidFill>
              <a:schemeClr val="accent6"/>
            </a:solidFill>
          </a:ln>
        </p:spPr>
        <p:style>
          <a:lnRef idx="1">
            <a:schemeClr val="accent5"/>
          </a:lnRef>
          <a:fillRef idx="2">
            <a:schemeClr val="accent5"/>
          </a:fillRef>
          <a:effectRef idx="1">
            <a:schemeClr val="accent5"/>
          </a:effectRef>
          <a:fontRef idx="minor">
            <a:schemeClr val="dk1"/>
          </a:fontRef>
        </p:style>
        <p:txBody>
          <a:bodyPr wrap="square" lIns="28800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ct val="0"/>
              </a:spcBef>
            </a:pPr>
            <a:r>
              <a:rPr lang="en-US" altLang="zh-CN"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5.2 </a:t>
            </a:r>
            <a:r>
              <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栈和递归 </a:t>
            </a:r>
            <a:endPar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Rectangle 4" descr="新闻纸">
            <a:hlinkClick r:id="" action="ppaction://noaction"/>
          </p:cNvPr>
          <p:cNvSpPr>
            <a:spLocks noChangeArrowheads="1"/>
          </p:cNvSpPr>
          <p:nvPr/>
        </p:nvSpPr>
        <p:spPr bwMode="auto">
          <a:xfrm>
            <a:off x="3277870" y="2876550"/>
            <a:ext cx="5737860" cy="645160"/>
          </a:xfrm>
          <a:prstGeom prst="rect">
            <a:avLst/>
          </a:prstGeom>
          <a:noFill/>
          <a:ln>
            <a:solidFill>
              <a:schemeClr val="accent6"/>
            </a:solidFill>
          </a:ln>
        </p:spPr>
        <p:style>
          <a:lnRef idx="1">
            <a:schemeClr val="accent5"/>
          </a:lnRef>
          <a:fillRef idx="2">
            <a:schemeClr val="accent5"/>
          </a:fillRef>
          <a:effectRef idx="1">
            <a:schemeClr val="accent5"/>
          </a:effectRef>
          <a:fontRef idx="minor">
            <a:schemeClr val="dk1"/>
          </a:fontRef>
        </p:style>
        <p:txBody>
          <a:bodyPr wrap="square" lIns="28800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ct val="0"/>
              </a:spcBef>
            </a:pPr>
            <a:r>
              <a:rPr lang="en-US" altLang="zh-CN"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5.3 </a:t>
            </a:r>
            <a:r>
              <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递归算法的设计</a:t>
            </a:r>
            <a:endParaRPr lang="zh-CN" altLang="en-US" sz="3600" b="1" spc="50" dirty="0">
              <a:ln w="11430"/>
              <a:solidFill>
                <a:schemeClr val="tx1"/>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58097" y="3729063"/>
            <a:ext cx="2932070" cy="293207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bldLvl="0" animBg="1"/>
      <p:bldP spid="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7362" name="Rectangle 2"/>
          <p:cNvSpPr>
            <a:spLocks noChangeArrowheads="1"/>
          </p:cNvSpPr>
          <p:nvPr/>
        </p:nvSpPr>
        <p:spPr bwMode="auto">
          <a:xfrm>
            <a:off x="908050" y="1238250"/>
            <a:ext cx="10258425" cy="4792663"/>
          </a:xfrm>
          <a:prstGeom prst="rect">
            <a:avLst/>
          </a:prstGeom>
          <a:noFill/>
          <a:ln w="9525">
            <a:noFill/>
            <a:miter lim="800000"/>
          </a:ln>
          <a:effectLst/>
        </p:spPr>
        <p:txBody>
          <a:bodyPr lIns="92075" tIns="46038" rIns="92075" bIns="46038"/>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递归的定义</a:t>
            </a: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若一个对象部分地包含它自己</a:t>
            </a:r>
            <a:r>
              <a:rPr kumimoji="1" lang="en-US" altLang="zh-CN"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或用它自己给自己定义</a:t>
            </a:r>
            <a:r>
              <a:rPr kumimoji="1" lang="en-US" altLang="zh-CN"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则称这个对象是递归的；若一个过程直接地或间接地调用自己</a:t>
            </a:r>
            <a:r>
              <a:rPr kumimoji="1" lang="en-US" altLang="zh-CN"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则称这个过程是递归的过程。</a:t>
            </a:r>
            <a:endPar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在以下三种情况下，常常用到递归方法。</a:t>
            </a:r>
            <a:endPar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定义是递归的</a:t>
            </a:r>
            <a:endPar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数据结构是递归的</a:t>
            </a:r>
            <a:endPar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问题的解法是递归的</a:t>
            </a:r>
            <a:endPar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27363" name="Rectangle 3"/>
          <p:cNvSpPr>
            <a:spLocks noChangeArrowheads="1"/>
          </p:cNvSpPr>
          <p:nvPr/>
        </p:nvSpPr>
        <p:spPr bwMode="auto">
          <a:xfrm>
            <a:off x="3962400" y="381000"/>
            <a:ext cx="4730750" cy="762000"/>
          </a:xfrm>
          <a:prstGeom prst="rect">
            <a:avLst/>
          </a:prstGeom>
          <a:noFill/>
          <a:ln w="9525">
            <a:noFill/>
            <a:miter lim="800000"/>
          </a:ln>
          <a:effectLst/>
        </p:spPr>
        <p:txBody>
          <a:bodyPr lIns="92075" tIns="46038" rIns="92075" bIns="46038"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1" i="0" u="sng" strike="noStrike" kern="1200" cap="none" spc="0" normalizeH="0" baseline="0" noProof="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5.1 </a:t>
            </a:r>
            <a:r>
              <a:rPr kumimoji="1" lang="zh-CN" altLang="en-US" sz="4000" b="1" i="0" u="sng" strike="noStrike" kern="1200" cap="none" spc="0" normalizeH="0" baseline="0" noProof="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递归的概念</a:t>
            </a:r>
            <a:endParaRPr kumimoji="1" lang="zh-CN" altLang="en-US" sz="4000" b="1" i="0" u="sng" strike="noStrike" kern="1200" cap="none" spc="0" normalizeH="0" baseline="0" noProof="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8386" name="Rectangle 2"/>
          <p:cNvSpPr>
            <a:spLocks noChangeArrowheads="1"/>
          </p:cNvSpPr>
          <p:nvPr/>
        </p:nvSpPr>
        <p:spPr bwMode="auto">
          <a:xfrm>
            <a:off x="263525" y="188595"/>
            <a:ext cx="3276600" cy="533400"/>
          </a:xfrm>
          <a:prstGeom prst="rect">
            <a:avLst/>
          </a:prstGeom>
          <a:noFill/>
          <a:ln w="9525">
            <a:noFill/>
            <a:miter lim="800000"/>
          </a:ln>
          <a:effectLst/>
        </p:spPr>
        <p:txBody>
          <a:bodyPr lIns="92075" tIns="46038" rIns="92075" bIns="46038"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sng" strike="noStrike" kern="1200" cap="none" spc="0" normalizeH="0" baseline="0" noProof="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定义是递归的</a:t>
            </a:r>
            <a:endParaRPr kumimoji="1" lang="zh-CN" altLang="en-US" sz="3200" b="0" i="0" u="sng" strike="noStrike" kern="1200" cap="none" spc="0" normalizeH="0" baseline="0" noProof="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p:txBody>
      </p:sp>
      <p:sp>
        <p:nvSpPr>
          <p:cNvPr id="5122" name="Text Box 3"/>
          <p:cNvSpPr txBox="1"/>
          <p:nvPr/>
        </p:nvSpPr>
        <p:spPr>
          <a:xfrm>
            <a:off x="1991360" y="3933825"/>
            <a:ext cx="8348663" cy="2614930"/>
          </a:xfrm>
          <a:prstGeom prst="rect">
            <a:avLst/>
          </a:prstGeom>
          <a:noFill/>
          <a:ln w="9525">
            <a:noFill/>
          </a:ln>
        </p:spPr>
        <p:txBody>
          <a:bodyPr anchor="t" anchorCtr="0">
            <a:spAutoFit/>
          </a:bodyPr>
          <a:p>
            <a:r>
              <a:rPr lang="zh-CN" altLang="en-US" sz="36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求解阶乘函数的递归算法</a:t>
            </a:r>
            <a:endParaRPr lang="zh-CN" altLang="en-US" sz="12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long</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Factorial</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long</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n </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if</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n == </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0 )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return </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else return</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Factorial</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i="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2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2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8388" name="Text Box 4"/>
          <p:cNvSpPr txBox="1">
            <a:spLocks noChangeArrowheads="1"/>
          </p:cNvSpPr>
          <p:nvPr/>
        </p:nvSpPr>
        <p:spPr bwMode="auto">
          <a:xfrm>
            <a:off x="407670" y="836930"/>
            <a:ext cx="11367135" cy="1568450"/>
          </a:xfrm>
          <a:prstGeom prst="rect">
            <a:avLst/>
          </a:prstGeom>
          <a:noFill/>
          <a:ln w="9525">
            <a:noFill/>
            <a:miter lim="800000"/>
          </a:ln>
          <a:effectLst/>
        </p:spPr>
        <p:txBody>
          <a:bodyPr wrap="square">
            <a:spAutoFit/>
          </a:bodyPr>
          <a:lstStyle/>
          <a:p>
            <a:pPr algn="l">
              <a:lnSpc>
                <a:spcPct val="100000"/>
              </a:lnSpc>
              <a:spcBef>
                <a:spcPct val="50000"/>
              </a:spcBef>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有许多数学公式、数列等的定义是递归的。例如，求</a:t>
            </a:r>
            <a:r>
              <a:rPr lang="en-US" altLang="zh-CN" sz="3200" b="1" i="1" dirty="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Fibonacci</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数列等。这些问题的求解过程可以将其递归定义直接转化为对应的递归算法。 </a:t>
            </a:r>
            <a:endParaRPr kumimoji="1" lang="zh-CN" altLang="en-US" sz="32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124" name="Object 5"/>
          <p:cNvGraphicFramePr>
            <a:graphicFrameLocks noChangeAspect="1"/>
          </p:cNvGraphicFramePr>
          <p:nvPr/>
        </p:nvGraphicFramePr>
        <p:xfrm>
          <a:off x="2279333" y="2637790"/>
          <a:ext cx="5867400" cy="1371600"/>
        </p:xfrm>
        <a:graphic>
          <a:graphicData uri="http://schemas.openxmlformats.org/presentationml/2006/ole">
            <mc:AlternateContent xmlns:mc="http://schemas.openxmlformats.org/markup-compatibility/2006">
              <mc:Choice xmlns:v="urn:schemas-microsoft-com:vml" Requires="v">
                <p:oleObj spid="_x0000_s3076" name="" r:id="rId1" imgW="1803400" imgH="457200" progId="Equation.3">
                  <p:embed/>
                </p:oleObj>
              </mc:Choice>
              <mc:Fallback>
                <p:oleObj name="" r:id="rId1" imgW="1803400" imgH="457200" progId="Equation.3">
                  <p:embed/>
                  <p:pic>
                    <p:nvPicPr>
                      <p:cNvPr id="0" name="图片 3075"/>
                      <p:cNvPicPr/>
                      <p:nvPr/>
                    </p:nvPicPr>
                    <p:blipFill>
                      <a:blip r:embed="rId2"/>
                      <a:stretch>
                        <a:fillRect/>
                      </a:stretch>
                    </p:blipFill>
                    <p:spPr>
                      <a:xfrm>
                        <a:off x="2279333" y="2637790"/>
                        <a:ext cx="5867400" cy="1371600"/>
                      </a:xfrm>
                      <a:prstGeom prst="rect">
                        <a:avLst/>
                      </a:prstGeom>
                      <a:noFill/>
                      <a:ln w="38100">
                        <a:noFill/>
                        <a:miter/>
                      </a:ln>
                    </p:spPr>
                  </p:pic>
                </p:oleObj>
              </mc:Fallback>
            </mc:AlternateContent>
          </a:graphicData>
        </a:graphic>
      </p:graphicFrame>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0434" name="Text Box 2"/>
          <p:cNvSpPr txBox="1">
            <a:spLocks noChangeArrowheads="1"/>
          </p:cNvSpPr>
          <p:nvPr/>
        </p:nvSpPr>
        <p:spPr bwMode="auto">
          <a:xfrm>
            <a:off x="551815" y="260985"/>
            <a:ext cx="4900613" cy="645160"/>
          </a:xfrm>
          <a:prstGeom prst="rect">
            <a:avLst/>
          </a:prstGeom>
          <a:noFill/>
          <a:ln w="9525">
            <a:noFill/>
            <a:miter lim="800000"/>
          </a:ln>
          <a:effectLst/>
        </p:spPr>
        <p:txBody>
          <a:bodyPr wrap="square">
            <a:spAutoFit/>
          </a:bodyPr>
          <a:lstStyle/>
          <a:p>
            <a:pPr marR="0" defTabSz="914400">
              <a:buClrTx/>
              <a:buSzTx/>
              <a:defRPr/>
            </a:pPr>
            <a:r>
              <a:rPr kumimoji="1" lang="zh-CN" altLang="en-US" sz="3600" b="1" u="sng" kern="1200" cap="none" spc="0" normalizeH="0" baseline="0"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rPr>
              <a:t>数据结构是递归的</a:t>
            </a:r>
            <a:endParaRPr kumimoji="1" lang="zh-CN" altLang="en-US" sz="3600" b="1" u="sng" kern="1200" cap="none" spc="0" normalizeH="0" baseline="0"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endParaRPr>
          </a:p>
        </p:txBody>
      </p:sp>
      <p:sp>
        <p:nvSpPr>
          <p:cNvPr id="530435" name="Text Box 3"/>
          <p:cNvSpPr txBox="1">
            <a:spLocks noChangeArrowheads="1"/>
          </p:cNvSpPr>
          <p:nvPr/>
        </p:nvSpPr>
        <p:spPr bwMode="auto">
          <a:xfrm>
            <a:off x="1066800" y="1343025"/>
            <a:ext cx="10252075" cy="2553335"/>
          </a:xfrm>
          <a:prstGeom prst="rect">
            <a:avLst/>
          </a:prstGeom>
          <a:noFill/>
          <a:ln w="9525">
            <a:noFill/>
            <a:miter lim="800000"/>
          </a:ln>
          <a:effectLst/>
        </p:spPr>
        <p:txBody>
          <a:bodyPr wrap="square">
            <a:spAutoFit/>
          </a:bodyPr>
          <a:lstStyle/>
          <a:p>
            <a:pPr marR="0" defTabSz="914400">
              <a:buClrTx/>
              <a:buSzTx/>
              <a:defRPr/>
            </a:pPr>
            <a:r>
              <a:rPr kumimoji="1" lang="zh-CN" altLang="en-US" sz="3200" b="1" kern="1200" cap="none" spc="0" normalizeH="0" baseline="0" noProof="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例如，单链表数据类型的递归定义</a:t>
            </a:r>
            <a:endParaRPr kumimoji="1" lang="zh-CN" altLang="en-US" sz="3200" b="1" kern="1200" cap="none" spc="0" normalizeH="0" baseline="0" noProof="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buClrTx/>
              <a:buSzTx/>
              <a:defRPr/>
            </a:pPr>
            <a:r>
              <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typedef  struct node</a:t>
            </a:r>
            <a:endPar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buClrTx/>
              <a:buSzTx/>
              <a:defRPr/>
            </a:pPr>
            <a:r>
              <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ElemType  data;</a:t>
            </a:r>
            <a:endPar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buClrTx/>
              <a:buSzTx/>
              <a:defRPr/>
            </a:pPr>
            <a:r>
              <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struct  node  *next;</a:t>
            </a:r>
            <a:endPar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buClrTx/>
              <a:buSzTx/>
              <a:defRPr/>
            </a:pPr>
            <a:r>
              <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}LinkList ;</a:t>
            </a:r>
            <a:endParaRPr kumimoji="1" lang="en-US" altLang="zh-CN" sz="3200" b="1" kern="1200" cap="none" spc="0" normalizeH="0" baseline="0" noProof="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2" name="Rectangle 6"/>
          <p:cNvSpPr>
            <a:spLocks noChangeArrowheads="1"/>
          </p:cNvSpPr>
          <p:nvPr/>
        </p:nvSpPr>
        <p:spPr bwMode="auto">
          <a:xfrm>
            <a:off x="2498725"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dirty="0" err="1">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a:t>
            </a:r>
            <a:r>
              <a:rPr kumimoji="1" lang="en-US" altLang="zh-CN" sz="2800" b="1" i="0" u="none" strike="noStrike" kern="1200" cap="none" spc="0" normalizeH="0" baseline="-25000" noProof="0" dirty="0" err="1">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1</a:t>
            </a:r>
            <a:endParaRPr kumimoji="1" lang="en-US" altLang="zh-CN" sz="2800" b="1" i="0" u="none" strike="noStrike" kern="1200" cap="none" spc="0" normalizeH="0" baseline="-25000" noProof="0" dirty="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1383" name="Rectangle 7"/>
          <p:cNvSpPr>
            <a:spLocks noChangeArrowheads="1"/>
          </p:cNvSpPr>
          <p:nvPr/>
        </p:nvSpPr>
        <p:spPr bwMode="auto">
          <a:xfrm>
            <a:off x="3040063"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800" b="1" i="0"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384" name="Rectangle 8"/>
          <p:cNvSpPr>
            <a:spLocks noChangeArrowheads="1"/>
          </p:cNvSpPr>
          <p:nvPr/>
        </p:nvSpPr>
        <p:spPr bwMode="auto">
          <a:xfrm>
            <a:off x="3937000"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a:t>
            </a:r>
            <a:r>
              <a:rPr kumimoji="1" lang="en-US" altLang="zh-CN" sz="2800" b="1" i="0"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2</a:t>
            </a:r>
            <a:endParaRPr kumimoji="1" lang="en-US" altLang="zh-CN" sz="2800" b="1" i="0"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1385" name="Rectangle 9"/>
          <p:cNvSpPr>
            <a:spLocks noChangeArrowheads="1"/>
          </p:cNvSpPr>
          <p:nvPr/>
        </p:nvSpPr>
        <p:spPr bwMode="auto">
          <a:xfrm>
            <a:off x="4478338"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800" b="1" i="0"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386" name="Rectangle 10"/>
          <p:cNvSpPr>
            <a:spLocks noChangeArrowheads="1"/>
          </p:cNvSpPr>
          <p:nvPr/>
        </p:nvSpPr>
        <p:spPr bwMode="auto">
          <a:xfrm>
            <a:off x="6818313"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a:t>
            </a:r>
            <a:r>
              <a:rPr kumimoji="1" lang="en-US" altLang="zh-CN" sz="2800" b="1" i="1"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n</a:t>
            </a:r>
            <a:endParaRPr kumimoji="1" lang="en-US" altLang="zh-CN" sz="2800" b="1" i="1" u="none" strike="noStrike" kern="1200" cap="none" spc="0" normalizeH="0" baseline="-25000" noProof="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1387" name="Rectangle 11"/>
          <p:cNvSpPr>
            <a:spLocks noChangeArrowheads="1"/>
          </p:cNvSpPr>
          <p:nvPr/>
        </p:nvSpPr>
        <p:spPr bwMode="auto">
          <a:xfrm>
            <a:off x="7359650" y="2106613"/>
            <a:ext cx="67468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dk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t>
            </a:r>
            <a:endParaRPr kumimoji="1" lang="en-US" altLang="zh-CN" sz="2800" b="1" i="0" u="none" strike="noStrike" kern="1200" cap="none" spc="0" normalizeH="0" baseline="0" noProof="0">
              <a:ln>
                <a:noFill/>
              </a:ln>
              <a:solidFill>
                <a:schemeClr val="dk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8199" name="Text Box 12"/>
          <p:cNvSpPr txBox="1"/>
          <p:nvPr/>
        </p:nvSpPr>
        <p:spPr>
          <a:xfrm>
            <a:off x="5522913" y="2106613"/>
            <a:ext cx="720725" cy="584200"/>
          </a:xfrm>
          <a:prstGeom prst="rect">
            <a:avLst/>
          </a:prstGeom>
          <a:noFill/>
          <a:ln w="38100">
            <a:noFill/>
          </a:ln>
        </p:spPr>
        <p:txBody>
          <a:bodyPr anchor="t" anchorCtr="0">
            <a:spAutoFit/>
          </a:bodyPr>
          <a:p>
            <a:pPr>
              <a:spcBef>
                <a:spcPct val="50000"/>
              </a:spcBef>
            </a:pPr>
            <a:r>
              <a:rPr lang="en-US" altLang="zh-CN" sz="3200" b="1" dirty="0">
                <a:solidFill>
                  <a:srgbClr val="3333FF"/>
                </a:solidFill>
                <a:latin typeface="微软雅黑" panose="020B0503020204020204" pitchFamily="34" charset="-122"/>
                <a:ea typeface="微软雅黑" panose="020B0503020204020204" pitchFamily="34" charset="-122"/>
              </a:rPr>
              <a:t>…</a:t>
            </a:r>
            <a:endParaRPr lang="en-US" altLang="zh-CN" sz="3200" b="1" dirty="0">
              <a:solidFill>
                <a:srgbClr val="3333FF"/>
              </a:solidFill>
              <a:latin typeface="微软雅黑" panose="020B0503020204020204" pitchFamily="34" charset="-122"/>
              <a:ea typeface="微软雅黑" panose="020B0503020204020204" pitchFamily="34" charset="-122"/>
            </a:endParaRPr>
          </a:p>
        </p:txBody>
      </p:sp>
      <p:sp>
        <p:nvSpPr>
          <p:cNvPr id="8200" name="Arc 13"/>
          <p:cNvSpPr/>
          <p:nvPr/>
        </p:nvSpPr>
        <p:spPr>
          <a:xfrm>
            <a:off x="2570163" y="1747838"/>
            <a:ext cx="450850" cy="358775"/>
          </a:xfrm>
          <a:custGeom>
            <a:avLst/>
            <a:gdLst/>
            <a:ahLst/>
            <a:cxnLst>
              <a:cxn ang="0">
                <a:pos x="0" y="0"/>
              </a:cxn>
              <a:cxn ang="0">
                <a:pos x="450696" y="358775"/>
              </a:cxn>
              <a:cxn ang="0">
                <a:pos x="0" y="358775"/>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00FF"/>
            </a:solidFill>
            <a:prstDash val="solid"/>
            <a:miter/>
            <a:headEnd type="none" w="med" len="med"/>
            <a:tailEnd type="stealth" w="lg" len="lg"/>
          </a:ln>
        </p:spPr>
        <p:txBody>
          <a:bodyPr/>
          <a:p>
            <a:endParaRPr lang="zh-CN" altLang="en-US">
              <a:latin typeface="微软雅黑" panose="020B0503020204020204" pitchFamily="34" charset="-122"/>
              <a:ea typeface="微软雅黑" panose="020B0503020204020204" pitchFamily="34" charset="-122"/>
            </a:endParaRPr>
          </a:p>
        </p:txBody>
      </p:sp>
      <p:sp>
        <p:nvSpPr>
          <p:cNvPr id="8201" name="Text Box 14"/>
          <p:cNvSpPr txBox="1"/>
          <p:nvPr/>
        </p:nvSpPr>
        <p:spPr>
          <a:xfrm>
            <a:off x="2209800" y="1387475"/>
            <a:ext cx="539750" cy="584200"/>
          </a:xfrm>
          <a:prstGeom prst="rect">
            <a:avLst/>
          </a:prstGeom>
          <a:noFill/>
          <a:ln w="9525">
            <a:noFill/>
          </a:ln>
        </p:spPr>
        <p:txBody>
          <a:bodyPr anchor="t" anchorCtr="0">
            <a:spAutoFit/>
          </a:bodyPr>
          <a:p>
            <a:pPr>
              <a:spcBef>
                <a:spcPct val="50000"/>
              </a:spcBef>
            </a:pPr>
            <a:r>
              <a:rPr lang="en-US" altLang="zh-CN" sz="3200" b="1" dirty="0">
                <a:latin typeface="微软雅黑" panose="020B0503020204020204" pitchFamily="34" charset="-122"/>
                <a:ea typeface="微软雅黑" panose="020B0503020204020204" pitchFamily="34" charset="-122"/>
              </a:rPr>
              <a:t>L</a:t>
            </a:r>
            <a:endParaRPr lang="en-US" altLang="zh-CN" sz="3200" b="1" dirty="0">
              <a:latin typeface="微软雅黑" panose="020B0503020204020204" pitchFamily="34" charset="-122"/>
              <a:ea typeface="微软雅黑" panose="020B0503020204020204" pitchFamily="34" charset="-122"/>
            </a:endParaRPr>
          </a:p>
        </p:txBody>
      </p:sp>
      <p:sp>
        <p:nvSpPr>
          <p:cNvPr id="8202" name="Line 16"/>
          <p:cNvSpPr/>
          <p:nvPr/>
        </p:nvSpPr>
        <p:spPr>
          <a:xfrm>
            <a:off x="3362325" y="2322513"/>
            <a:ext cx="720725" cy="0"/>
          </a:xfrm>
          <a:prstGeom prst="line">
            <a:avLst/>
          </a:prstGeom>
          <a:ln w="38100" cap="flat" cmpd="sng">
            <a:solidFill>
              <a:schemeClr val="tx1"/>
            </a:solidFill>
            <a:prstDash val="solid"/>
            <a:miter/>
            <a:headEnd type="none" w="med" len="med"/>
            <a:tailEnd type="triangle" w="med" len="med"/>
          </a:ln>
        </p:spPr>
      </p:sp>
      <p:sp>
        <p:nvSpPr>
          <p:cNvPr id="8203" name="Line 17"/>
          <p:cNvSpPr/>
          <p:nvPr/>
        </p:nvSpPr>
        <p:spPr>
          <a:xfrm>
            <a:off x="4803775" y="2322513"/>
            <a:ext cx="720725" cy="0"/>
          </a:xfrm>
          <a:prstGeom prst="line">
            <a:avLst/>
          </a:prstGeom>
          <a:ln w="38100" cap="flat" cmpd="sng">
            <a:solidFill>
              <a:schemeClr val="tx1"/>
            </a:solidFill>
            <a:prstDash val="solid"/>
            <a:miter/>
            <a:headEnd type="none" w="med" len="med"/>
            <a:tailEnd type="triangle" w="med" len="med"/>
          </a:ln>
        </p:spPr>
      </p:sp>
      <p:sp>
        <p:nvSpPr>
          <p:cNvPr id="8204" name="Line 18"/>
          <p:cNvSpPr/>
          <p:nvPr/>
        </p:nvSpPr>
        <p:spPr>
          <a:xfrm>
            <a:off x="6243638" y="2322513"/>
            <a:ext cx="720725" cy="0"/>
          </a:xfrm>
          <a:prstGeom prst="line">
            <a:avLst/>
          </a:prstGeom>
          <a:ln w="38100" cap="flat" cmpd="sng">
            <a:solidFill>
              <a:schemeClr val="tx1"/>
            </a:solidFill>
            <a:prstDash val="solid"/>
            <a:miter/>
            <a:headEnd type="none" w="med" len="med"/>
            <a:tailEnd type="triangle" w="med" len="med"/>
          </a:ln>
        </p:spPr>
      </p:sp>
      <p:sp>
        <p:nvSpPr>
          <p:cNvPr id="8205" name="Text Box 19"/>
          <p:cNvSpPr txBox="1"/>
          <p:nvPr/>
        </p:nvSpPr>
        <p:spPr>
          <a:xfrm>
            <a:off x="1633538" y="333375"/>
            <a:ext cx="5494337" cy="584200"/>
          </a:xfrm>
          <a:prstGeom prst="rect">
            <a:avLst/>
          </a:prstGeom>
          <a:noFill/>
          <a:ln w="9525">
            <a:noFill/>
          </a:ln>
        </p:spPr>
        <p:txBody>
          <a:bodyPr anchor="t" anchorCtr="0">
            <a:spAutoFit/>
          </a:bodyPr>
          <a:p>
            <a:pPr>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不带头结点</a:t>
            </a:r>
            <a:r>
              <a:rPr lang="zh-CN" altLang="en-US" sz="3200" b="1" dirty="0">
                <a:latin typeface="微软雅黑" panose="020B0503020204020204" pitchFamily="34" charset="-122"/>
                <a:ea typeface="微软雅黑" panose="020B0503020204020204" pitchFamily="34" charset="-122"/>
              </a:rPr>
              <a:t>单链表示意图</a:t>
            </a:r>
            <a:endParaRPr lang="zh-CN" altLang="en-US" sz="3200" b="1" dirty="0">
              <a:latin typeface="微软雅黑" panose="020B0503020204020204" pitchFamily="34" charset="-122"/>
              <a:ea typeface="微软雅黑" panose="020B0503020204020204" pitchFamily="34" charset="-122"/>
            </a:endParaRPr>
          </a:p>
        </p:txBody>
      </p:sp>
      <p:grpSp>
        <p:nvGrpSpPr>
          <p:cNvPr id="25" name="组合 24"/>
          <p:cNvGrpSpPr/>
          <p:nvPr/>
        </p:nvGrpSpPr>
        <p:grpSpPr>
          <a:xfrm>
            <a:off x="3090863" y="1212850"/>
            <a:ext cx="5743575" cy="727075"/>
            <a:chOff x="2285201" y="1212163"/>
            <a:chExt cx="5764970" cy="726970"/>
          </a:xfrm>
        </p:grpSpPr>
        <p:sp>
          <p:nvSpPr>
            <p:cNvPr id="8207" name="Text Box 20"/>
            <p:cNvSpPr txBox="1"/>
            <p:nvPr/>
          </p:nvSpPr>
          <p:spPr>
            <a:xfrm>
              <a:off x="2428860" y="1212163"/>
              <a:ext cx="5621311" cy="521895"/>
            </a:xfrm>
            <a:prstGeom prst="rect">
              <a:avLst/>
            </a:prstGeom>
            <a:noFill/>
            <a:ln w="9525">
              <a:noFill/>
            </a:ln>
          </p:spPr>
          <p:txBody>
            <a:bodyPr anchor="t" anchorCtr="0">
              <a:spAutoFit/>
            </a:bodyPr>
            <a:p>
              <a:pPr>
                <a:spcBef>
                  <a:spcPct val="50000"/>
                </a:spcBef>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为首结点指针的“大”单链表</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208" name="AutoShape 22"/>
            <p:cNvSpPr/>
            <p:nvPr/>
          </p:nvSpPr>
          <p:spPr>
            <a:xfrm rot="-5400000">
              <a:off x="4516430" y="-507999"/>
              <a:ext cx="215900" cy="4678363"/>
            </a:xfrm>
            <a:prstGeom prst="rightBrace">
              <a:avLst>
                <a:gd name="adj1" fmla="val 179873"/>
                <a:gd name="adj2" fmla="val 50000"/>
              </a:avLst>
            </a:prstGeom>
            <a:noFill/>
            <a:ln w="28575" cap="flat" cmpd="sng">
              <a:solidFill>
                <a:srgbClr val="0070C0"/>
              </a:solidFill>
              <a:prstDash val="solid"/>
              <a:miter/>
              <a:headEnd type="none" w="med" len="med"/>
              <a:tailEnd type="none" w="med" len="med"/>
            </a:ln>
          </p:spPr>
          <p:txBody>
            <a:bodyPr wrap="none" anchor="ctr" anchorCtr="0"/>
            <a:p>
              <a:endParaRPr lang="zh-CN" altLang="en-US" b="1" dirty="0">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3163888" y="2706688"/>
            <a:ext cx="6678612" cy="773112"/>
            <a:chOff x="2357422" y="2707476"/>
            <a:chExt cx="5340373" cy="770599"/>
          </a:xfrm>
        </p:grpSpPr>
        <p:sp>
          <p:nvSpPr>
            <p:cNvPr id="8210" name="AutoShape 21"/>
            <p:cNvSpPr/>
            <p:nvPr/>
          </p:nvSpPr>
          <p:spPr>
            <a:xfrm rot="5400000">
              <a:off x="4687462" y="1297399"/>
              <a:ext cx="45719" cy="2865868"/>
            </a:xfrm>
            <a:prstGeom prst="rightBrace">
              <a:avLst>
                <a:gd name="adj1" fmla="val 136977"/>
                <a:gd name="adj2" fmla="val 50000"/>
              </a:avLst>
            </a:prstGeom>
            <a:noFill/>
            <a:ln w="28575" cap="flat" cmpd="sng">
              <a:solidFill>
                <a:srgbClr val="0070C0"/>
              </a:solidFill>
              <a:prstDash val="solid"/>
              <a:miter/>
              <a:headEnd type="none" w="med" len="med"/>
              <a:tailEnd type="none" w="med" len="med"/>
            </a:ln>
          </p:spPr>
          <p:txBody>
            <a:bodyPr wrap="none" anchor="ctr" anchorCtr="0"/>
            <a:p>
              <a:endParaRPr lang="zh-CN" altLang="en-US" sz="2800" b="1" dirty="0">
                <a:latin typeface="微软雅黑" panose="020B0503020204020204" pitchFamily="34" charset="-122"/>
                <a:ea typeface="微软雅黑" panose="020B0503020204020204" pitchFamily="34" charset="-122"/>
              </a:endParaRPr>
            </a:p>
          </p:txBody>
        </p:sp>
        <p:sp>
          <p:nvSpPr>
            <p:cNvPr id="8211" name="Text Box 23"/>
            <p:cNvSpPr txBox="1"/>
            <p:nvPr/>
          </p:nvSpPr>
          <p:spPr>
            <a:xfrm>
              <a:off x="2357422" y="2957513"/>
              <a:ext cx="5340373" cy="520562"/>
            </a:xfrm>
            <a:prstGeom prst="rect">
              <a:avLst/>
            </a:prstGeom>
            <a:noFill/>
            <a:ln w="9525">
              <a:noFill/>
            </a:ln>
          </p:spPr>
          <p:txBody>
            <a:bodyPr wrap="square" anchor="t" anchorCtr="0">
              <a:spAutoFit/>
            </a:bodyPr>
            <a:p>
              <a:pPr>
                <a:spcBef>
                  <a:spcPct val="50000"/>
                </a:spcBef>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L-&gt;next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为首结点指针的“小”单链表</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1403" name="Group 27"/>
          <p:cNvGrpSpPr/>
          <p:nvPr/>
        </p:nvGrpSpPr>
        <p:grpSpPr>
          <a:xfrm>
            <a:off x="3362325" y="3644900"/>
            <a:ext cx="5832475" cy="1160463"/>
            <a:chOff x="1610" y="2296"/>
            <a:chExt cx="2449" cy="731"/>
          </a:xfrm>
        </p:grpSpPr>
        <p:sp>
          <p:nvSpPr>
            <p:cNvPr id="101401" name="AutoShape 25"/>
            <p:cNvSpPr>
              <a:spLocks noChangeArrowheads="1"/>
            </p:cNvSpPr>
            <p:nvPr/>
          </p:nvSpPr>
          <p:spPr bwMode="auto">
            <a:xfrm>
              <a:off x="2653" y="2296"/>
              <a:ext cx="227" cy="272"/>
            </a:xfrm>
            <a:prstGeom prst="downArrow">
              <a:avLst>
                <a:gd name="adj1" fmla="val 50000"/>
                <a:gd name="adj2" fmla="val 25000"/>
              </a:avLst>
            </a:prstGeom>
          </p:spPr>
          <p:style>
            <a:lnRef idx="0">
              <a:schemeClr val="accent4"/>
            </a:lnRef>
            <a:fillRef idx="3">
              <a:schemeClr val="accent4"/>
            </a:fillRef>
            <a:effectRef idx="3">
              <a:schemeClr val="accent4"/>
            </a:effectRef>
            <a:fontRef idx="minor">
              <a:schemeClr val="lt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1"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214" name="Text Box 26"/>
            <p:cNvSpPr txBox="1"/>
            <p:nvPr/>
          </p:nvSpPr>
          <p:spPr>
            <a:xfrm>
              <a:off x="1610" y="2659"/>
              <a:ext cx="2449" cy="368"/>
            </a:xfrm>
            <a:prstGeom prst="rect">
              <a:avLst/>
            </a:prstGeom>
            <a:noFill/>
            <a:ln w="9525">
              <a:noFill/>
            </a:ln>
          </p:spPr>
          <p:txBody>
            <a:bodyPr anchor="t" anchorCtr="0">
              <a:spAutoFit/>
            </a:bodyPr>
            <a:p>
              <a:pPr>
                <a:spcBef>
                  <a:spcPct val="50000"/>
                </a:spcBef>
              </a:pPr>
              <a:r>
                <a:rPr lang="zh-CN" altLang="en-US" sz="3200" b="1" dirty="0">
                  <a:solidFill>
                    <a:srgbClr val="336600"/>
                  </a:solidFill>
                  <a:latin typeface="微软雅黑" panose="020B0503020204020204" pitchFamily="34" charset="-122"/>
                  <a:ea typeface="微软雅黑" panose="020B0503020204020204" pitchFamily="34" charset="-122"/>
                </a:rPr>
                <a:t>体现出这种单链表的递归性。</a:t>
              </a:r>
              <a:endParaRPr lang="zh-CN" altLang="en-US" sz="3200" b="1" dirty="0">
                <a:solidFill>
                  <a:srgbClr val="336600"/>
                </a:solidFill>
                <a:latin typeface="微软雅黑" panose="020B0503020204020204" pitchFamily="34" charset="-122"/>
                <a:ea typeface="微软雅黑" panose="020B0503020204020204" pitchFamily="34" charset="-122"/>
              </a:endParaRPr>
            </a:p>
          </p:txBody>
        </p:sp>
      </p:grpSp>
      <p:sp>
        <p:nvSpPr>
          <p:cNvPr id="26" name="灯片编号占位符 25"/>
          <p:cNvSpPr txBox="1">
            <a:spLocks noGrp="1"/>
          </p:cNvSpPr>
          <p:nvPr>
            <p:ph type="sldNum" sz="quarter" idx="12"/>
          </p:nvPr>
        </p:nvSpPr>
        <p:spPr>
          <a:xfrm>
            <a:off x="7986713" y="6356350"/>
            <a:ext cx="2573338" cy="365125"/>
          </a:xfrm>
          <a:no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F225F2F7-8AD0-4BEA-91DC-61D82E2F5127}" type="slidenum">
              <a:rPr kumimoji="1" lang="en-US" altLang="zh-CN" sz="1000" b="1" i="0" u="none" strike="noStrike" kern="1200" cap="none" spc="0" normalizeH="0" baseline="0" noProof="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rPr>
            </a:fld>
            <a:r>
              <a:rPr kumimoji="1" lang="en-US" altLang="zh-CN" sz="1000" b="1" i="0" u="none" strike="noStrike" kern="1200" cap="none" spc="0" normalizeH="0" baseline="0" noProof="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rPr>
              <a:t>/23</a:t>
            </a:r>
            <a:endParaRPr kumimoji="1" lang="en-US" altLang="zh-CN" sz="1000" b="1" i="0" u="none" strike="noStrike" kern="1200" cap="none" spc="0" normalizeH="0" baseline="0" noProof="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708025" y="621030"/>
            <a:ext cx="11261090" cy="50774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例如，单链表数据结构中输出所有数据元素</a:t>
            </a: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无头结点</a:t>
            </a: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6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display</a:t>
            </a: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3600" b="1" i="0" u="none" strike="noStrike" kern="1200" cap="none" spc="0" normalizeH="0" baseline="0" noProof="0" dirty="0" err="1">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LinkList</a:t>
            </a: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*list)</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 </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if (list!=NULL)</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  </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600" b="1" i="0" u="none" strike="noStrike" kern="1200" cap="none" spc="0" normalizeH="0" baseline="0" noProof="0" dirty="0" err="1">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printf</a:t>
            </a: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3600" b="1" i="0" u="none" strike="noStrike" kern="1200" cap="none" spc="0" normalizeH="0" baseline="0" noProof="0" dirty="0" err="1">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d”,list</a:t>
            </a: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-&gt;data);</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600" b="1"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display</a:t>
            </a: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(list-&gt;next);</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ext Box 2"/>
          <p:cNvSpPr txBox="1"/>
          <p:nvPr/>
        </p:nvSpPr>
        <p:spPr>
          <a:xfrm>
            <a:off x="797560" y="857250"/>
            <a:ext cx="10405110" cy="1383665"/>
          </a:xfrm>
          <a:prstGeom prst="rect">
            <a:avLst/>
          </a:prstGeom>
          <a:noFill/>
          <a:ln w="9525">
            <a:noFill/>
          </a:ln>
        </p:spPr>
        <p:txBody>
          <a:bodyPr wrap="square" anchor="t" anchorCtr="0">
            <a:spAutoFit/>
          </a:bodyPr>
          <a:p>
            <a:pPr algn="just">
              <a:lnSpc>
                <a:spcPct val="100000"/>
              </a:lnSpc>
              <a:spcBef>
                <a:spcPct val="50000"/>
              </a:spcBef>
            </a:pP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Hanoi</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问题：</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的塔座，在塔座</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上有</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个直径各不相同，从小到大依次编号为</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的盘片。要求将</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塔座上的</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个盘片移到塔座</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上。</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42" name="Picture 2" descr="http://f.hiphotos.baidu.com/baike/w%3D268/sign=f56f08bb269759ee4a5067cd8afa434e/2934349b033b5bb5347f4c4836d3d539b700bcd8.jpg"/>
          <p:cNvPicPr>
            <a:picLocks noChangeAspect="1"/>
          </p:cNvPicPr>
          <p:nvPr/>
        </p:nvPicPr>
        <p:blipFill>
          <a:blip r:embed="rId1"/>
          <a:stretch>
            <a:fillRect/>
          </a:stretch>
        </p:blipFill>
        <p:spPr>
          <a:xfrm>
            <a:off x="8831898" y="2636838"/>
            <a:ext cx="2552700" cy="2552700"/>
          </a:xfrm>
          <a:prstGeom prst="rect">
            <a:avLst/>
          </a:prstGeom>
          <a:noFill/>
          <a:ln w="9525">
            <a:noFill/>
          </a:ln>
        </p:spPr>
      </p:pic>
      <p:sp>
        <p:nvSpPr>
          <p:cNvPr id="10243" name="TextBox 4"/>
          <p:cNvSpPr txBox="1"/>
          <p:nvPr/>
        </p:nvSpPr>
        <p:spPr>
          <a:xfrm>
            <a:off x="910908" y="2924810"/>
            <a:ext cx="2071687" cy="522288"/>
          </a:xfrm>
          <a:prstGeom prst="rect">
            <a:avLst/>
          </a:prstGeom>
          <a:noFill/>
          <a:ln w="9525">
            <a:noFill/>
          </a:ln>
        </p:spPr>
        <p:txBody>
          <a:bodyPr anchor="t" anchorCtr="0">
            <a:spAutoFit/>
          </a:bodyPr>
          <a:p>
            <a:pPr algn="just">
              <a:spcBef>
                <a:spcPct val="50000"/>
              </a:spcBef>
            </a:pPr>
            <a:r>
              <a:rPr lang="zh-CN" altLang="en-US" sz="2800" b="1" dirty="0">
                <a:solidFill>
                  <a:srgbClr val="FF00FF"/>
                </a:solidFill>
                <a:latin typeface="微软雅黑" panose="020B0503020204020204" pitchFamily="34" charset="-122"/>
                <a:ea typeface="微软雅黑" panose="020B0503020204020204" pitchFamily="34" charset="-122"/>
              </a:rPr>
              <a:t>移动规则：</a:t>
            </a:r>
            <a:endParaRPr lang="zh-CN" altLang="en-US" sz="2800" b="1" dirty="0">
              <a:solidFill>
                <a:srgbClr val="FF00FF"/>
              </a:solidFill>
              <a:latin typeface="微软雅黑" panose="020B0503020204020204" pitchFamily="34" charset="-122"/>
              <a:ea typeface="微软雅黑" panose="020B0503020204020204" pitchFamily="34" charset="-122"/>
            </a:endParaRPr>
          </a:p>
        </p:txBody>
      </p:sp>
      <p:sp>
        <p:nvSpPr>
          <p:cNvPr id="10244" name="TextBox 5"/>
          <p:cNvSpPr txBox="1"/>
          <p:nvPr/>
        </p:nvSpPr>
        <p:spPr>
          <a:xfrm>
            <a:off x="695008" y="3860800"/>
            <a:ext cx="7500937" cy="1733550"/>
          </a:xfrm>
          <a:prstGeom prst="rect">
            <a:avLst/>
          </a:prstGeom>
          <a:noFill/>
          <a:ln w="9525">
            <a:noFill/>
          </a:ln>
        </p:spPr>
        <p:txBody>
          <a:bodyPr anchor="t" anchorCtr="0">
            <a:spAutoFit/>
          </a:bodyPr>
          <a:p>
            <a:pPr marL="457200" indent="-457200">
              <a:lnSpc>
                <a:spcPts val="3200"/>
              </a:lnSpc>
              <a:buBlip>
                <a:blip r:embed="rId2"/>
              </a:buBlip>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每次只能移动一个盘片；</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ts val="3200"/>
              </a:lnSpc>
              <a:buBlip>
                <a:blip r:embed="rId2"/>
              </a:buBlip>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盘片可以插在</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b="1" i="1"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中任一塔座上；</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ts val="3200"/>
              </a:lnSpc>
              <a:buBlip>
                <a:blip r:embed="rId2"/>
              </a:buBlip>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任何时候都不能将一个较大的盘片放在较小的盘片上方。</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695325" y="260985"/>
            <a:ext cx="3844925" cy="584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sng"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问题的解法是递归的</a:t>
            </a:r>
            <a:r>
              <a:rPr kumimoji="1" lang="zh-CN" altLang="en-US" sz="32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zh-CN" altLang="en-US" sz="32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82" name="Text Box 2"/>
          <p:cNvSpPr txBox="1">
            <a:spLocks noChangeArrowheads="1"/>
          </p:cNvSpPr>
          <p:nvPr/>
        </p:nvSpPr>
        <p:spPr bwMode="auto">
          <a:xfrm>
            <a:off x="807720" y="69850"/>
            <a:ext cx="8336280" cy="1076325"/>
          </a:xfrm>
          <a:prstGeom prst="rect">
            <a:avLst/>
          </a:prstGeom>
          <a:noFill/>
          <a:ln w="9525">
            <a:noFill/>
            <a:miter lim="800000"/>
          </a:ln>
          <a:effectLst/>
        </p:spPr>
        <p:txBody>
          <a:bodyPr wrap="square">
            <a:spAutoFit/>
          </a:bodyPr>
          <a:lstStyle/>
          <a:p>
            <a:pPr marR="0" defTabSz="914400">
              <a:buClrTx/>
              <a:buSzTx/>
              <a:defRPr/>
            </a:pPr>
            <a:r>
              <a:rPr kumimoji="1" lang="zh-CN" altLang="en-US" sz="3200" b="1" u="sng" kern="1200" cap="none" spc="0" normalizeH="0" baseline="0"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问题的解法是递归的</a:t>
            </a:r>
            <a:r>
              <a:rPr kumimoji="1" lang="zh-CN" altLang="en-US" sz="3200" kern="1200" cap="none" spc="0" normalizeH="0" baseline="0" noProof="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zh-CN" altLang="en-US" sz="3200" kern="1200" cap="none" spc="0" normalizeH="0" baseline="0" noProof="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buClrTx/>
              <a:buSzTx/>
              <a:defRPr/>
            </a:pPr>
            <a:r>
              <a:rPr kumimoji="1" lang="zh-CN" altLang="en-US" sz="32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例如，汉诺塔</a:t>
            </a:r>
            <a:r>
              <a:rPr kumimoji="1" lang="en-US" altLang="zh-CN" sz="3200" b="1" kern="1200" cap="none" spc="0" normalizeH="0" baseline="0"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(Tower of Hanoi)</a:t>
            </a:r>
            <a:r>
              <a:rPr kumimoji="1" lang="zh-CN" altLang="en-US" sz="32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问题</a:t>
            </a:r>
            <a:endParaRPr kumimoji="1" lang="zh-CN" altLang="en-US" sz="3200" kern="1200" cap="none" spc="0" normalizeH="0" baseline="0" noProof="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1266" name="Picture 3"/>
          <p:cNvPicPr>
            <a:picLocks noChangeAspect="1"/>
          </p:cNvPicPr>
          <p:nvPr/>
        </p:nvPicPr>
        <p:blipFill>
          <a:blip r:embed="rId1"/>
          <a:stretch>
            <a:fillRect/>
          </a:stretch>
        </p:blipFill>
        <p:spPr>
          <a:xfrm>
            <a:off x="1905000" y="1219200"/>
            <a:ext cx="8077200" cy="5410200"/>
          </a:xfrm>
          <a:prstGeom prst="rect">
            <a:avLst/>
          </a:prstGeom>
          <a:noFill/>
          <a:ln w="9525">
            <a:noFill/>
          </a:ln>
        </p:spPr>
      </p:pic>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ext Box 2"/>
          <p:cNvSpPr txBox="1"/>
          <p:nvPr/>
        </p:nvSpPr>
        <p:spPr>
          <a:xfrm>
            <a:off x="223520" y="1371600"/>
            <a:ext cx="11322685" cy="4523105"/>
          </a:xfrm>
          <a:prstGeom prst="rect">
            <a:avLst/>
          </a:prstGeom>
          <a:noFill/>
          <a:ln w="9525">
            <a:noFill/>
          </a:ln>
        </p:spPr>
        <p:txBody>
          <a:bodyPr wrap="square" anchor="t" anchorCtr="0">
            <a:spAutoFit/>
          </a:bodyPr>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void</a:t>
            </a: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Hanoi1</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(int </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n,char</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A,char</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B,char</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C)</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if (n==1) 	</a:t>
            </a: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//只有一个盘片的情况</a:t>
            </a:r>
            <a:endPar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printf</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将第</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个盘片从</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移动到</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%c\n",</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n,A,C</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else	</a:t>
            </a: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//有两个或多个盘片的情况</a:t>
            </a:r>
            <a:endPar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Hanoi1</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(n-1,A,C,B);</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printf</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将第</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个盘片从</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移动到</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%c\n",</a:t>
            </a:r>
            <a:r>
              <a:rPr lang="en-US" altLang="zh-CN" sz="3200" b="1" dirty="0" err="1">
                <a:latin typeface="微软雅黑" panose="020B0503020204020204" pitchFamily="34" charset="-122"/>
                <a:ea typeface="微软雅黑" panose="020B0503020204020204" pitchFamily="34" charset="-122"/>
                <a:cs typeface="微软雅黑" panose="020B0503020204020204" pitchFamily="34" charset="-122"/>
                <a:sym typeface="+mn-ea"/>
              </a:rPr>
              <a:t>n,A,C</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Hanoi1</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(n-1,B,A,C);</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spcBef>
                <a:spcPts val="0"/>
              </a:spcBef>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3200" b="1" dirty="0">
              <a:solidFill>
                <a:schemeClr val="hlink"/>
              </a:solidFill>
              <a:latin typeface="Times New Roman" panose="02020603050405020304" pitchFamily="18" charset="0"/>
              <a:ea typeface="宋体" panose="02010600030101010101" pitchFamily="2" charset="-122"/>
              <a:cs typeface="微软雅黑" panose="020B0503020204020204" pitchFamily="34" charset="-122"/>
            </a:endParaRPr>
          </a:p>
        </p:txBody>
      </p:sp>
      <p:sp>
        <p:nvSpPr>
          <p:cNvPr id="533507" name="Text Box 3"/>
          <p:cNvSpPr txBox="1">
            <a:spLocks noChangeArrowheads="1"/>
          </p:cNvSpPr>
          <p:nvPr/>
        </p:nvSpPr>
        <p:spPr bwMode="auto">
          <a:xfrm>
            <a:off x="3200400" y="457200"/>
            <a:ext cx="4773930" cy="645160"/>
          </a:xfrm>
          <a:prstGeom prst="rect">
            <a:avLst/>
          </a:prstGeom>
          <a:noFill/>
          <a:ln w="9525">
            <a:noFill/>
            <a:miter lim="800000"/>
          </a:ln>
          <a:effectLst/>
        </p:spPr>
        <p:txBody>
          <a:bodyPr wrap="none">
            <a:spAutoFit/>
          </a:bodyPr>
          <a:lstStyle/>
          <a:p>
            <a:pPr marR="0" defTabSz="914400">
              <a:buClrTx/>
              <a:buSzTx/>
              <a:defRPr/>
            </a:pPr>
            <a:r>
              <a:rPr kumimoji="1" lang="zh-CN" altLang="en-US" sz="3600" b="1" kern="1200" cap="none" spc="0" normalizeH="0" baseline="0" noProof="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rPr>
              <a:t>解决汉诺塔问题的算法</a:t>
            </a:r>
            <a:endParaRPr kumimoji="1" lang="zh-CN" altLang="en-US" sz="3600" b="1" kern="1200" cap="none" spc="0" normalizeH="0" baseline="0" noProof="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24940" y="3068955"/>
            <a:ext cx="6101715" cy="1036320"/>
          </a:xfrm>
          <a:prstGeom prst="rect">
            <a:avLst/>
          </a:prstGeom>
          <a:no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lIns="216000" tIns="108000" bIns="108000">
            <a:spAutoFit/>
          </a:bodyPr>
          <a:lstStyle/>
          <a:p>
            <a:pPr algn="l">
              <a:lnSpc>
                <a:spcPts val="2600"/>
              </a:lnSpc>
              <a:spcBef>
                <a:spcPts val="1200"/>
              </a:spcBef>
            </a:pPr>
            <a:r>
              <a:rPr lang="en-US" altLang="zh-CN"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rPr>
              <a:t>fun(1)=1                          	 (1)   </a:t>
            </a:r>
            <a:endParaRPr lang="en-US" altLang="zh-CN"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endParaRPr>
          </a:p>
          <a:p>
            <a:pPr algn="l">
              <a:lnSpc>
                <a:spcPts val="2600"/>
              </a:lnSpc>
              <a:spcBef>
                <a:spcPts val="1200"/>
              </a:spcBef>
            </a:pPr>
            <a:r>
              <a:rPr lang="en-US" altLang="zh-CN"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rPr>
              <a:t>fun(n)=n*fun(n-1)     n&gt;1   	(2)      </a:t>
            </a:r>
            <a:endParaRPr lang="en-US" altLang="zh-CN" sz="2800"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 Box 4"/>
          <p:cNvSpPr txBox="1">
            <a:spLocks noChangeArrowheads="1"/>
          </p:cNvSpPr>
          <p:nvPr/>
        </p:nvSpPr>
        <p:spPr bwMode="auto">
          <a:xfrm>
            <a:off x="839470" y="1268730"/>
            <a:ext cx="11261725" cy="1322070"/>
          </a:xfrm>
          <a:prstGeom prst="rect">
            <a:avLst/>
          </a:prstGeom>
          <a:noFill/>
          <a:ln w="38100" algn="ctr">
            <a:noFill/>
            <a:miter lim="800000"/>
            <a:tailEnd type="none" w="lg" len="lg"/>
          </a:ln>
          <a:effectLst/>
        </p:spPr>
        <p:txBody>
          <a:bodyPr wrap="square">
            <a:spAutoFit/>
          </a:bodyPr>
          <a:lstStyle/>
          <a:p>
            <a:pPr algn="l">
              <a:spcBef>
                <a:spcPct val="50000"/>
              </a:spcBef>
            </a:pPr>
            <a:r>
              <a:rPr lang="zh-CN" altLang="en-US"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递归模型是递归算法的抽象，它反映一个递归问题的递归结构。</a:t>
            </a:r>
            <a:endParaRPr lang="en-US" altLang="zh-CN"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a:spcBef>
                <a:spcPct val="50000"/>
              </a:spcBef>
            </a:pPr>
            <a:r>
              <a:rPr lang="zh-CN" altLang="en-US"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例如求</a:t>
            </a:r>
            <a:r>
              <a:rPr lang="en-US" altLang="zh-CN" sz="3200" b="1" i="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递归算法对应的递归模型如下：</a:t>
            </a:r>
            <a:endParaRPr lang="zh-CN" altLang="en-US" sz="32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ext Box 5"/>
          <p:cNvSpPr txBox="1">
            <a:spLocks noChangeArrowheads="1"/>
          </p:cNvSpPr>
          <p:nvPr/>
        </p:nvSpPr>
        <p:spPr bwMode="auto">
          <a:xfrm>
            <a:off x="7499985" y="3097530"/>
            <a:ext cx="2948940" cy="521970"/>
          </a:xfrm>
          <a:prstGeom prst="rect">
            <a:avLst/>
          </a:prstGeom>
          <a:noFill/>
          <a:ln w="38100" algn="ctr">
            <a:noFill/>
            <a:miter lim="800000"/>
            <a:tailEnd type="none" w="lg" len="lg"/>
          </a:ln>
          <a:effectLst/>
        </p:spPr>
        <p:txBody>
          <a:bodyPr wrap="square">
            <a:spAutoFit/>
          </a:bodyPr>
          <a:lstStyle/>
          <a:p>
            <a:pPr algn="l">
              <a:lnSpc>
                <a:spcPct val="100000"/>
              </a:lnSpc>
              <a:spcBef>
                <a:spcPct val="50000"/>
              </a:spcBef>
              <a:buClrTx/>
              <a:buSzTx/>
              <a:buFontTx/>
              <a:defRPr/>
            </a:pPr>
            <a:r>
              <a:rPr kumimoji="1" lang="zh-CN" altLang="en-US" sz="2800" b="1" noProof="0">
                <a:solidFill>
                  <a:srgbClr val="0000CC"/>
                </a:solidFill>
                <a:effectLst/>
                <a:latin typeface="微软雅黑" panose="020B0503020204020204" pitchFamily="34" charset="-122"/>
                <a:ea typeface="微软雅黑" panose="020B0503020204020204" pitchFamily="34" charset="-122"/>
              </a:rPr>
              <a:t>递归出口</a:t>
            </a:r>
            <a:endParaRPr kumimoji="1" lang="zh-CN" altLang="en-US" sz="2800" b="1" noProof="0">
              <a:solidFill>
                <a:srgbClr val="0000CC"/>
              </a:solidFill>
              <a:effectLst/>
              <a:latin typeface="微软雅黑" panose="020B0503020204020204" pitchFamily="34" charset="-122"/>
              <a:ea typeface="微软雅黑" panose="020B0503020204020204" pitchFamily="34" charset="-122"/>
            </a:endParaRPr>
          </a:p>
        </p:txBody>
      </p:sp>
      <p:sp>
        <p:nvSpPr>
          <p:cNvPr id="6" name="TextBox 5"/>
          <p:cNvSpPr txBox="1"/>
          <p:nvPr/>
        </p:nvSpPr>
        <p:spPr>
          <a:xfrm>
            <a:off x="7571105" y="3669030"/>
            <a:ext cx="1267460" cy="521970"/>
          </a:xfrm>
          <a:prstGeom prst="rect">
            <a:avLst/>
          </a:prstGeom>
          <a:noFill/>
        </p:spPr>
        <p:txBody>
          <a:bodyPr wrap="square" rtlCol="0">
            <a:spAutoFit/>
          </a:bodyPr>
          <a:lstStyle/>
          <a:p>
            <a:pPr algn="l"/>
            <a:r>
              <a:rPr kumimoji="1" lang="zh-CN" altLang="en-US" sz="2800" b="1" noProof="0">
                <a:solidFill>
                  <a:srgbClr val="0000CC"/>
                </a:solidFill>
                <a:effectLst/>
                <a:latin typeface="微软雅黑" panose="020B0503020204020204" pitchFamily="34" charset="-122"/>
                <a:ea typeface="微软雅黑" panose="020B0503020204020204" pitchFamily="34" charset="-122"/>
              </a:rPr>
              <a:t>递归体</a:t>
            </a:r>
            <a:endParaRPr kumimoji="1" lang="zh-CN" altLang="en-US" sz="2800" b="1" noProof="0" dirty="0">
              <a:solidFill>
                <a:srgbClr val="0000CC"/>
              </a:solidFill>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Text Box 2"/>
          <p:cNvSpPr txBox="1">
            <a:spLocks noChangeArrowheads="1"/>
          </p:cNvSpPr>
          <p:nvPr/>
        </p:nvSpPr>
        <p:spPr bwMode="auto">
          <a:xfrm>
            <a:off x="839470" y="4364990"/>
            <a:ext cx="11965940" cy="700405"/>
          </a:xfrm>
          <a:prstGeom prst="rect">
            <a:avLst/>
          </a:prstGeom>
          <a:noFill/>
          <a:ln w="9525">
            <a:noFill/>
            <a:miter lim="800000"/>
          </a:ln>
          <a:effectLst/>
          <a:scene3d>
            <a:camera prst="orthographicFront">
              <a:rot lat="0" lon="0" rev="0"/>
            </a:camera>
            <a:lightRig rig="balanced" dir="t">
              <a:rot lat="0" lon="0" rev="8700000"/>
            </a:lightRig>
          </a:scene3d>
          <a:sp3d>
            <a:bevelT w="190500" h="38100"/>
          </a:sp3d>
        </p:spPr>
        <p:txBody>
          <a:bodyPr wrap="square">
            <a:spAutoFit/>
          </a:bodyPr>
          <a:lstStyle/>
          <a:p>
            <a:pPr algn="l">
              <a:lnSpc>
                <a:spcPct val="110000"/>
              </a:lnSpc>
              <a:spcBef>
                <a:spcPct val="50000"/>
              </a:spcBef>
            </a:pPr>
            <a:r>
              <a:rPr lang="zh-CN" altLang="en-US" sz="32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一般地，一个递归模型是由</a:t>
            </a:r>
            <a:r>
              <a:rPr kumimoji="1" lang="zh-CN" altLang="en-US" sz="3600" b="1" noProof="0">
                <a:solidFill>
                  <a:srgbClr val="0000CC"/>
                </a:solidFill>
                <a:effectLst/>
                <a:latin typeface="微软雅黑" panose="020B0503020204020204" pitchFamily="34" charset="-122"/>
                <a:ea typeface="微软雅黑" panose="020B0503020204020204" pitchFamily="34" charset="-122"/>
              </a:rPr>
              <a:t>递归出口</a:t>
            </a:r>
            <a:r>
              <a:rPr lang="zh-CN" altLang="en-US" sz="32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和</a:t>
            </a:r>
            <a:r>
              <a:rPr kumimoji="1" lang="zh-CN" altLang="en-US" sz="3600" b="1" noProof="0">
                <a:solidFill>
                  <a:srgbClr val="0000CC"/>
                </a:solidFill>
                <a:effectLst/>
                <a:latin typeface="微软雅黑" panose="020B0503020204020204" pitchFamily="34" charset="-122"/>
                <a:ea typeface="微软雅黑" panose="020B0503020204020204" pitchFamily="34" charset="-122"/>
              </a:rPr>
              <a:t>递归体</a:t>
            </a:r>
            <a:r>
              <a:rPr lang="zh-CN" altLang="en-US" sz="32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两部分组成。</a:t>
            </a:r>
            <a:endParaRPr lang="zh-CN" altLang="en-US" sz="32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Box 8"/>
          <p:cNvSpPr txBox="1"/>
          <p:nvPr/>
        </p:nvSpPr>
        <p:spPr>
          <a:xfrm>
            <a:off x="1015365" y="5396230"/>
            <a:ext cx="8371205" cy="1198880"/>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marL="457200" indent="-457200" algn="l">
              <a:lnSpc>
                <a:spcPct val="100000"/>
              </a:lnSpc>
              <a:buBlip>
                <a:blip r:embed="rId1"/>
              </a:buBlip>
            </a:pPr>
            <a:r>
              <a:rPr kumimoji="1" lang="zh-CN" altLang="en-US" sz="3600" b="1" noProof="0">
                <a:solidFill>
                  <a:srgbClr val="0000CC"/>
                </a:solidFill>
                <a:effectLst/>
                <a:latin typeface="微软雅黑" panose="020B0503020204020204" pitchFamily="34" charset="-122"/>
                <a:ea typeface="微软雅黑" panose="020B0503020204020204" pitchFamily="34" charset="-122"/>
              </a:rPr>
              <a:t>递归出口</a:t>
            </a:r>
            <a:r>
              <a:rPr lang="zh-CN" altLang="en-US" sz="3200"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rPr>
              <a:t>确定递归到何时结束。</a:t>
            </a:r>
            <a:endParaRPr lang="en-US" altLang="zh-CN" sz="3200"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buBlip>
                <a:blip r:embed="rId1"/>
              </a:buBlip>
            </a:pPr>
            <a:r>
              <a:rPr kumimoji="1" lang="zh-CN" altLang="en-US" sz="3600" b="1" noProof="0">
                <a:solidFill>
                  <a:srgbClr val="0000CC"/>
                </a:solidFill>
                <a:effectLst/>
                <a:latin typeface="微软雅黑" panose="020B0503020204020204" pitchFamily="34" charset="-122"/>
                <a:ea typeface="微软雅黑" panose="020B0503020204020204" pitchFamily="34" charset="-122"/>
              </a:rPr>
              <a:t>递归体</a:t>
            </a:r>
            <a:r>
              <a:rPr lang="zh-CN" altLang="en-US" sz="3200"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rPr>
              <a:t>确定递归求解时的递推关系。</a:t>
            </a:r>
            <a:endParaRPr lang="zh-CN" altLang="en-US" sz="3200" b="1" dirty="0">
              <a:solidFill>
                <a:schemeClr val="tx1"/>
              </a:solidFill>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9" name="文本框 8"/>
          <p:cNvSpPr txBox="1"/>
          <p:nvPr/>
        </p:nvSpPr>
        <p:spPr>
          <a:xfrm>
            <a:off x="1199515" y="332105"/>
            <a:ext cx="5725795" cy="645160"/>
          </a:xfrm>
          <a:prstGeom prst="rect">
            <a:avLst/>
          </a:prstGeom>
          <a:noFill/>
        </p:spPr>
        <p:txBody>
          <a:bodyPr wrap="square" rtlCol="0" anchor="t">
            <a:spAutoFit/>
          </a:bodyPr>
          <a:p>
            <a:pPr algn="l">
              <a:lnSpc>
                <a:spcPct val="100000"/>
              </a:lnSpc>
              <a:spcBef>
                <a:spcPct val="50000"/>
              </a:spcBef>
              <a:buClrTx/>
              <a:buSzTx/>
              <a:buFontTx/>
              <a:defRPr/>
            </a:pPr>
            <a:r>
              <a:rPr kumimoji="1" lang="zh-CN" altLang="en-US" sz="3600" b="1" u="sng" noProof="0" dirty="0">
                <a:ln>
                  <a:noFill/>
                </a:ln>
                <a:solidFill>
                  <a:schemeClr val="tx2"/>
                </a:solidFill>
                <a:effectLst/>
                <a:uLnTx/>
                <a:uFillTx/>
                <a:latin typeface="微软雅黑" panose="020B0503020204020204" pitchFamily="34" charset="-122"/>
                <a:ea typeface="微软雅黑" panose="020B0503020204020204" pitchFamily="34" charset="-122"/>
                <a:cs typeface="+mn-ea"/>
                <a:sym typeface="+mn-ea"/>
              </a:rPr>
              <a:t>递归模型</a:t>
            </a:r>
            <a:endParaRPr kumimoji="1" lang="zh-CN" altLang="en-US" sz="3600" b="1" u="sng" noProof="0" dirty="0">
              <a:ln>
                <a:noFill/>
              </a:ln>
              <a:solidFill>
                <a:schemeClr val="tx2"/>
              </a:solidFill>
              <a:effectLst/>
              <a:uLnTx/>
              <a:uFillTx/>
              <a:latin typeface="微软雅黑" panose="020B0503020204020204" pitchFamily="34" charset="-122"/>
              <a:ea typeface="微软雅黑" panose="020B0503020204020204" pitchFamily="34" charset="-122"/>
              <a:cs typeface="+mn-ea"/>
              <a:sym typeface="+mn-ea"/>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
                                            <p:txEl>
                                              <p:pRg st="0" end="0"/>
                                            </p:txEl>
                                          </p:spTgt>
                                        </p:tgtEl>
                                      </p:cBhvr>
                                    </p:animEffect>
                                    <p:animScale>
                                      <p:cBhvr>
                                        <p:cTn id="7" dur="250" autoRev="1" fill="hold"/>
                                        <p:tgtEl>
                                          <p:spTgt spid="2">
                                            <p:txEl>
                                              <p:pRg st="0" end="0"/>
                                            </p:txEl>
                                          </p:spTgt>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2">
                                            <p:txEl>
                                              <p:pRg st="1" end="1"/>
                                            </p:txEl>
                                          </p:spTgt>
                                        </p:tgtEl>
                                      </p:cBhvr>
                                    </p:animEffect>
                                    <p:animScale>
                                      <p:cBhvr>
                                        <p:cTn id="15" dur="250" autoRev="1" fill="hold"/>
                                        <p:tgtEl>
                                          <p:spTgt spid="2">
                                            <p:txEl>
                                              <p:pRg st="1" end="1"/>
                                            </p:txEl>
                                          </p:spTgt>
                                        </p:tgtEl>
                                      </p:cBhvr>
                                      <p:by x="105000" y="105000"/>
                                    </p:animScale>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animBg="1"/>
      <p:bldP spid="7" grpId="1" animBg="1"/>
      <p:bldP spid="8" grpId="0" bldLvl="0" animBg="1"/>
      <p:bldP spid="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
          <p:cNvSpPr txBox="1"/>
          <p:nvPr/>
        </p:nvSpPr>
        <p:spPr>
          <a:xfrm>
            <a:off x="695960" y="1052830"/>
            <a:ext cx="10723245" cy="2748280"/>
          </a:xfrm>
          <a:prstGeom prst="rect">
            <a:avLst/>
          </a:prstGeom>
          <a:noFill/>
        </p:spPr>
        <p:txBody>
          <a:bodyPr wrap="square" rtlCol="0">
            <a:spAutoFit/>
          </a:bodyPr>
          <a:lstStyle/>
          <a:p>
            <a:pPr algn="l">
              <a:lnSpc>
                <a:spcPct val="110000"/>
              </a:lnSpc>
              <a:spcBef>
                <a:spcPct val="50000"/>
              </a:spcBef>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递归出口</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的一般格式如下：</a:t>
            </a:r>
            <a:endPar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3200" b="1" dirty="0">
                <a:solidFill>
                  <a:srgbClr val="FF00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3200" b="1" baseline="-3000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这里的</a:t>
            </a:r>
            <a:r>
              <a:rPr lang="en-US" altLang="zh-CN" sz="3200"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3200"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3200" b="1" baseline="-300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均为常量，有些递归问题可能有几个递归出口。</a:t>
            </a:r>
            <a:endPar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63525" y="260985"/>
            <a:ext cx="11637010" cy="1419860"/>
          </a:xfrm>
          <a:prstGeom prst="rect">
            <a:avLst/>
          </a:prstGeom>
          <a:noFill/>
          <a:ln w="9525">
            <a:noFill/>
            <a:miter lim="800000"/>
          </a:ln>
          <a:effectLst/>
        </p:spPr>
        <p:txBody>
          <a:bodyPr wrap="square">
            <a:spAutoFit/>
          </a:bodyPr>
          <a:lstStyle/>
          <a:p>
            <a:pPr algn="l">
              <a:lnSpc>
                <a:spcPct val="110000"/>
              </a:lnSpc>
              <a:spcBef>
                <a:spcPct val="50000"/>
              </a:spcBef>
            </a:pPr>
            <a:r>
              <a:rPr lang="zh-CN" altLang="en-US" sz="32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递归体</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的一般格式如下：</a:t>
            </a:r>
            <a:endPar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f </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i+1</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3200" b="1" baseline="-30000"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n-1</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3200" b="1" baseline="-30000"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j</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3200" b="1" baseline="-30000" dirty="0" err="1">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j+1</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3200" b="1" baseline="-30000"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3200" b="1" dirty="0">
              <a:solidFill>
                <a:srgbClr val="FC9A4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0" name="组合 19"/>
          <p:cNvGrpSpPr/>
          <p:nvPr/>
        </p:nvGrpSpPr>
        <p:grpSpPr>
          <a:xfrm>
            <a:off x="1055370" y="1845310"/>
            <a:ext cx="3136265" cy="833120"/>
            <a:chOff x="3300" y="3358"/>
            <a:chExt cx="4939" cy="1312"/>
          </a:xfrm>
        </p:grpSpPr>
        <p:sp>
          <p:nvSpPr>
            <p:cNvPr id="3" name="TextBox 2"/>
            <p:cNvSpPr txBox="1"/>
            <p:nvPr/>
          </p:nvSpPr>
          <p:spPr>
            <a:xfrm>
              <a:off x="3300" y="3945"/>
              <a:ext cx="4939" cy="725"/>
            </a:xfrm>
            <a:prstGeom prst="rect">
              <a:avLst/>
            </a:prstGeom>
            <a:noFill/>
          </p:spPr>
          <p:txBody>
            <a:bodyPr wrap="square" rtlCol="0">
              <a:spAutoFit/>
            </a:bodyPr>
            <a:lstStyle/>
            <a:p>
              <a:pPr algn="l"/>
              <a:r>
                <a:rPr lang="en-US" altLang="zh-CN" sz="24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是一个非递归函数</a:t>
              </a:r>
              <a:endPar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接箭头连接符 3"/>
            <p:cNvCxnSpPr/>
            <p:nvPr/>
          </p:nvCxnSpPr>
          <p:spPr>
            <a:xfrm rot="16200000" flipV="1">
              <a:off x="4554" y="3641"/>
              <a:ext cx="56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组合 18"/>
          <p:cNvGrpSpPr/>
          <p:nvPr/>
        </p:nvGrpSpPr>
        <p:grpSpPr>
          <a:xfrm>
            <a:off x="1055441" y="3573561"/>
            <a:ext cx="10081120" cy="1871663"/>
            <a:chOff x="500034" y="3143248"/>
            <a:chExt cx="8208963" cy="1871663"/>
          </a:xfrm>
        </p:grpSpPr>
        <p:sp>
          <p:nvSpPr>
            <p:cNvPr id="6" name="Oval 7"/>
            <p:cNvSpPr>
              <a:spLocks noChangeArrowheads="1"/>
            </p:cNvSpPr>
            <p:nvPr/>
          </p:nvSpPr>
          <p:spPr bwMode="auto">
            <a:xfrm>
              <a:off x="2228822" y="3216273"/>
              <a:ext cx="1008063" cy="647700"/>
            </a:xfrm>
            <a:prstGeom prst="ellipse">
              <a:avLst/>
            </a:prstGeom>
            <a:solidFill>
              <a:schemeClr val="accent6">
                <a:lumMod val="20000"/>
                <a:lumOff val="80000"/>
              </a:schemeClr>
            </a:solidFill>
            <a:ln>
              <a:noFill/>
              <a:tailEnd type="none" w="lg" len="lg"/>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2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2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endParaRPr lang="en-US" altLang="zh-CN" sz="22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Oval 8"/>
            <p:cNvSpPr>
              <a:spLocks noChangeArrowheads="1"/>
            </p:cNvSpPr>
            <p:nvPr/>
          </p:nvSpPr>
          <p:spPr bwMode="auto">
            <a:xfrm>
              <a:off x="500034" y="4367211"/>
              <a:ext cx="1008063" cy="647700"/>
            </a:xfrm>
            <a:prstGeom prst="ellipse">
              <a:avLst/>
            </a:prstGeom>
            <a:solidFill>
              <a:schemeClr val="accent6">
                <a:lumMod val="20000"/>
                <a:lumOff val="80000"/>
              </a:schemeClr>
            </a:solidFill>
            <a:ln>
              <a:noFill/>
              <a:tailEnd type="none" w="lg" len="lg"/>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2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2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endParaRPr lang="en-US" altLang="zh-CN" sz="22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8" name="Oval 9"/>
            <p:cNvSpPr>
              <a:spLocks noChangeArrowheads="1"/>
            </p:cNvSpPr>
            <p:nvPr/>
          </p:nvSpPr>
          <p:spPr bwMode="auto">
            <a:xfrm>
              <a:off x="1723997" y="4367211"/>
              <a:ext cx="1008063" cy="647700"/>
            </a:xfrm>
            <a:prstGeom prst="ellipse">
              <a:avLst/>
            </a:prstGeom>
            <a:solidFill>
              <a:schemeClr val="accent6">
                <a:lumMod val="20000"/>
                <a:lumOff val="80000"/>
              </a:schemeClr>
            </a:solidFill>
            <a:ln>
              <a:noFill/>
              <a:tailEnd type="none" w="lg" len="lg"/>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2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2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i+1</a:t>
              </a:r>
              <a:endParaRPr lang="en-US" altLang="zh-CN" sz="22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9" name="Oval 10"/>
            <p:cNvSpPr>
              <a:spLocks noChangeArrowheads="1"/>
            </p:cNvSpPr>
            <p:nvPr/>
          </p:nvSpPr>
          <p:spPr bwMode="auto">
            <a:xfrm>
              <a:off x="4100484" y="4367211"/>
              <a:ext cx="1008063" cy="647700"/>
            </a:xfrm>
            <a:prstGeom prst="ellipse">
              <a:avLst/>
            </a:prstGeom>
            <a:solidFill>
              <a:schemeClr val="accent6">
                <a:lumMod val="20000"/>
                <a:lumOff val="80000"/>
              </a:schemeClr>
            </a:solidFill>
            <a:ln>
              <a:noFill/>
              <a:tailEnd type="none" w="lg" len="lg"/>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2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endParaRPr lang="en-US" altLang="zh-CN" sz="22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0" name="Text Box 11"/>
            <p:cNvSpPr txBox="1">
              <a:spLocks noChangeArrowheads="1"/>
            </p:cNvSpPr>
            <p:nvPr/>
          </p:nvSpPr>
          <p:spPr bwMode="auto">
            <a:xfrm>
              <a:off x="2876522" y="4511673"/>
              <a:ext cx="936625" cy="460375"/>
            </a:xfrm>
            <a:prstGeom prst="rect">
              <a:avLst/>
            </a:prstGeom>
            <a:noFill/>
            <a:ln w="38100" algn="ctr">
              <a:noFill/>
              <a:miter lim="800000"/>
              <a:tailEnd type="none" w="lg" len="lg"/>
            </a:ln>
            <a:effectLst/>
          </p:spPr>
          <p:txBody>
            <a:bodyPr>
              <a:spAutoFit/>
            </a:bodyPr>
            <a:lstStyle/>
            <a:p>
              <a:pPr>
                <a:spcBef>
                  <a:spcPct val="50000"/>
                </a:spcBef>
              </a:pPr>
              <a:r>
                <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Line 12"/>
            <p:cNvSpPr>
              <a:spLocks noChangeShapeType="1"/>
            </p:cNvSpPr>
            <p:nvPr/>
          </p:nvSpPr>
          <p:spPr bwMode="auto">
            <a:xfrm flipH="1">
              <a:off x="1292197" y="3719511"/>
              <a:ext cx="1008063" cy="720725"/>
            </a:xfrm>
            <a:prstGeom prst="line">
              <a:avLst/>
            </a:prstGeom>
            <a:noFill/>
            <a:ln w="38100">
              <a:solidFill>
                <a:schemeClr val="accent6">
                  <a:lumMod val="40000"/>
                  <a:lumOff val="60000"/>
                </a:schemeClr>
              </a:solidFill>
              <a:round/>
              <a:tailEnd type="stealth" w="lg" len="lg"/>
            </a:ln>
            <a:effectLst/>
          </p:spPr>
          <p:txBody>
            <a:bodyPr wrap="none"/>
            <a:lstStyle/>
            <a:p>
              <a:endParaRPr lang="zh-CN" altLang="en-US">
                <a:ln>
                  <a:solidFill>
                    <a:srgbClr val="FC9A48"/>
                  </a:solidFill>
                </a:ln>
              </a:endParaRPr>
            </a:p>
          </p:txBody>
        </p:sp>
        <p:sp>
          <p:nvSpPr>
            <p:cNvPr id="12" name="Line 13"/>
            <p:cNvSpPr>
              <a:spLocks noChangeShapeType="1"/>
            </p:cNvSpPr>
            <p:nvPr/>
          </p:nvSpPr>
          <p:spPr bwMode="auto">
            <a:xfrm flipH="1">
              <a:off x="2371697" y="3863973"/>
              <a:ext cx="215900" cy="503238"/>
            </a:xfrm>
            <a:prstGeom prst="line">
              <a:avLst/>
            </a:prstGeom>
            <a:noFill/>
            <a:ln w="38100">
              <a:solidFill>
                <a:schemeClr val="accent6">
                  <a:lumMod val="40000"/>
                  <a:lumOff val="60000"/>
                </a:schemeClr>
              </a:solidFill>
              <a:round/>
              <a:tailEnd type="stealth" w="lg" len="lg"/>
            </a:ln>
            <a:effectLst/>
          </p:spPr>
          <p:txBody>
            <a:bodyPr wrap="none"/>
            <a:lstStyle/>
            <a:p>
              <a:endParaRPr lang="zh-CN" altLang="en-US">
                <a:ln>
                  <a:solidFill>
                    <a:srgbClr val="FC9A48"/>
                  </a:solidFill>
                </a:ln>
              </a:endParaRPr>
            </a:p>
          </p:txBody>
        </p:sp>
        <p:sp>
          <p:nvSpPr>
            <p:cNvPr id="13" name="Freeform 14"/>
            <p:cNvSpPr/>
            <p:nvPr/>
          </p:nvSpPr>
          <p:spPr bwMode="auto">
            <a:xfrm>
              <a:off x="3194022" y="3703636"/>
              <a:ext cx="1054100" cy="774700"/>
            </a:xfrm>
            <a:custGeom>
              <a:avLst/>
              <a:gdLst/>
              <a:ahLst/>
              <a:cxnLst>
                <a:cxn ang="0">
                  <a:pos x="0" y="0"/>
                </a:cxn>
                <a:cxn ang="0">
                  <a:pos x="664" y="488"/>
                </a:cxn>
              </a:cxnLst>
              <a:rect l="0" t="0" r="r" b="b"/>
              <a:pathLst>
                <a:path w="664" h="488">
                  <a:moveTo>
                    <a:pt x="0" y="0"/>
                  </a:moveTo>
                  <a:lnTo>
                    <a:pt x="664" y="488"/>
                  </a:lnTo>
                </a:path>
              </a:pathLst>
            </a:custGeom>
            <a:noFill/>
            <a:ln w="38100" cap="flat" cmpd="sng">
              <a:solidFill>
                <a:schemeClr val="accent6">
                  <a:lumMod val="40000"/>
                  <a:lumOff val="60000"/>
                </a:schemeClr>
              </a:solidFill>
              <a:prstDash val="solid"/>
              <a:round/>
              <a:headEnd type="none" w="med" len="med"/>
              <a:tailEnd type="stealth" w="lg" len="lg"/>
            </a:ln>
            <a:effectLst/>
          </p:spPr>
          <p:txBody>
            <a:bodyPr wrap="none"/>
            <a:lstStyle/>
            <a:p>
              <a:endParaRPr lang="zh-CN" altLang="en-US" b="1">
                <a:ln>
                  <a:solidFill>
                    <a:srgbClr val="FC9A48"/>
                  </a:solidFill>
                </a:ln>
                <a:latin typeface="微软雅黑" panose="020B0503020204020204" pitchFamily="34" charset="-122"/>
                <a:ea typeface="微软雅黑" panose="020B0503020204020204" pitchFamily="34" charset="-122"/>
              </a:endParaRPr>
            </a:p>
          </p:txBody>
        </p:sp>
        <p:sp>
          <p:nvSpPr>
            <p:cNvPr id="14" name="Text Box 15"/>
            <p:cNvSpPr txBox="1">
              <a:spLocks noChangeArrowheads="1"/>
            </p:cNvSpPr>
            <p:nvPr/>
          </p:nvSpPr>
          <p:spPr bwMode="auto">
            <a:xfrm>
              <a:off x="5756247" y="3143248"/>
              <a:ext cx="2016125" cy="460375"/>
            </a:xfrm>
            <a:prstGeom prst="rect">
              <a:avLst/>
            </a:prstGeom>
            <a:noFill/>
            <a:ln w="38100" algn="ctr">
              <a:noFill/>
              <a:miter lim="800000"/>
              <a:tailEnd type="none" w="lg" len="lg"/>
            </a:ln>
            <a:effectLst/>
          </p:spPr>
          <p:txBody>
            <a:bodyPr>
              <a:spAutoFit/>
            </a:bodyPr>
            <a:lstStyle/>
            <a:p>
              <a:pPr>
                <a:spcBef>
                  <a:spcPct val="50000"/>
                </a:spcBef>
              </a:pPr>
              <a:r>
                <a:rPr lang="zh-CN" altLang="en-US" sz="2400" b="1" dirty="0">
                  <a:solidFill>
                    <a:schemeClr val="tx1"/>
                  </a:solidFill>
                  <a:latin typeface="微软雅黑" panose="020B0503020204020204" pitchFamily="34" charset="-122"/>
                  <a:ea typeface="微软雅黑" panose="020B0503020204020204" pitchFamily="34" charset="-122"/>
                </a:rPr>
                <a:t>大问题求解</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5" name="AutoShape 16"/>
            <p:cNvSpPr>
              <a:spLocks noChangeArrowheads="1"/>
            </p:cNvSpPr>
            <p:nvPr/>
          </p:nvSpPr>
          <p:spPr bwMode="auto">
            <a:xfrm>
              <a:off x="6692872" y="3790948"/>
              <a:ext cx="215900" cy="504825"/>
            </a:xfrm>
            <a:prstGeom prst="downArrow">
              <a:avLst>
                <a:gd name="adj1" fmla="val 50000"/>
                <a:gd name="adj2" fmla="val 58456"/>
              </a:avLst>
            </a:prstGeom>
            <a:ln>
              <a:tailEnd type="none" w="lg"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6" name="Text Box 17"/>
            <p:cNvSpPr txBox="1">
              <a:spLocks noChangeArrowheads="1"/>
            </p:cNvSpPr>
            <p:nvPr/>
          </p:nvSpPr>
          <p:spPr bwMode="auto">
            <a:xfrm>
              <a:off x="5324447" y="4511673"/>
              <a:ext cx="3384550" cy="460375"/>
            </a:xfrm>
            <a:prstGeom prst="rect">
              <a:avLst/>
            </a:prstGeom>
            <a:noFill/>
            <a:ln w="38100" algn="ctr">
              <a:noFill/>
              <a:miter lim="800000"/>
              <a:tailEnd type="none" w="lg" len="lg"/>
            </a:ln>
            <a:effectLst/>
          </p:spPr>
          <p:txBody>
            <a:bodyPr>
              <a:spAutoFit/>
            </a:bodyPr>
            <a:lstStyle/>
            <a:p>
              <a:pPr>
                <a:spcBef>
                  <a:spcPct val="50000"/>
                </a:spcBef>
              </a:pPr>
              <a:r>
                <a:rPr lang="zh-CN" altLang="en-US" sz="2400" b="1" dirty="0">
                  <a:solidFill>
                    <a:schemeClr val="tx1"/>
                  </a:solidFill>
                  <a:latin typeface="微软雅黑" panose="020B0503020204020204" pitchFamily="34" charset="-122"/>
                  <a:ea typeface="微软雅黑" panose="020B0503020204020204" pitchFamily="34" charset="-122"/>
                </a:rPr>
                <a:t>若干个相似子问题求解</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7" name="TextBox 17"/>
            <p:cNvSpPr txBox="1"/>
            <p:nvPr/>
          </p:nvSpPr>
          <p:spPr>
            <a:xfrm>
              <a:off x="7000892" y="3786190"/>
              <a:ext cx="928694" cy="460375"/>
            </a:xfrm>
            <a:prstGeom prst="rect">
              <a:avLst/>
            </a:prstGeom>
            <a:noFill/>
          </p:spPr>
          <p:txBody>
            <a:bodyPr wrap="square" rtlCol="0">
              <a:spAutoFit/>
            </a:bodyPr>
            <a:lstStyle/>
            <a:p>
              <a:pPr algn="l"/>
              <a:r>
                <a:rPr lang="zh-CN" altLang="en-US" sz="2400" b="1" dirty="0">
                  <a:solidFill>
                    <a:schemeClr val="tx1"/>
                  </a:solidFill>
                  <a:latin typeface="微软雅黑" panose="020B0503020204020204" pitchFamily="34" charset="-122"/>
                  <a:ea typeface="微软雅黑" panose="020B0503020204020204" pitchFamily="34" charset="-122"/>
                </a:rPr>
                <a:t>转化</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grpSp>
      <p:sp>
        <p:nvSpPr>
          <p:cNvPr id="18" name="右大括号 17"/>
          <p:cNvSpPr/>
          <p:nvPr/>
        </p:nvSpPr>
        <p:spPr>
          <a:xfrm rot="5400000">
            <a:off x="9058275" y="539750"/>
            <a:ext cx="172720" cy="2783205"/>
          </a:xfrm>
          <a:prstGeom prst="rightBrac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19" name="TextBox 21"/>
          <p:cNvSpPr txBox="1"/>
          <p:nvPr/>
        </p:nvSpPr>
        <p:spPr>
          <a:xfrm>
            <a:off x="8616006" y="2205445"/>
            <a:ext cx="1264459" cy="460375"/>
          </a:xfrm>
          <a:prstGeom prst="rect">
            <a:avLst/>
          </a:prstGeom>
          <a:noFill/>
        </p:spPr>
        <p:txBody>
          <a:bodyPr wrap="square" rtlCol="0">
            <a:spAutoFit/>
          </a:bodyPr>
          <a:lstStyle/>
          <a:p>
            <a:pPr algn="l"/>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常量</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051560" y="1557020"/>
            <a:ext cx="10204450" cy="1558290"/>
          </a:xfrm>
          <a:prstGeom prst="rect">
            <a:avLst/>
          </a:prstGeom>
          <a:noFill/>
          <a:ln w="9525">
            <a:noFill/>
            <a:miter lim="800000"/>
          </a:ln>
          <a:effectLst/>
        </p:spPr>
        <p:txBody>
          <a:bodyPr wrap="square">
            <a:spAutoFit/>
          </a:bodyPr>
          <a:lstStyle/>
          <a:p>
            <a:pPr marL="0" indent="0" algn="l">
              <a:lnSpc>
                <a:spcPts val="3200"/>
              </a:lnSpc>
            </a:pP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把一个不能或不好直接求解的“</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大问题</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”转化成一个或几个“</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小问题</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”来解决；</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spcBef>
                <a:spcPct val="50000"/>
              </a:spcBef>
            </a:pP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再把这些“</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小问题</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”进一步分解成更小的“</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小问题</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”来解决。　</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ext Box 3"/>
          <p:cNvSpPr txBox="1">
            <a:spLocks noChangeArrowheads="1"/>
          </p:cNvSpPr>
          <p:nvPr/>
        </p:nvSpPr>
        <p:spPr bwMode="auto">
          <a:xfrm>
            <a:off x="983615" y="548496"/>
            <a:ext cx="2160191" cy="583565"/>
          </a:xfrm>
          <a:prstGeom prst="rect">
            <a:avLst/>
          </a:prstGeom>
          <a:noFill/>
          <a:ln w="38100" algn="ctr">
            <a:noFill/>
            <a:miter lim="800000"/>
            <a:tailEnd type="none" w="lg" len="lg"/>
          </a:ln>
          <a:effectLst/>
        </p:spPr>
        <p:txBody>
          <a:bodyPr wrap="square">
            <a:spAutoFit/>
          </a:bodyPr>
          <a:lstStyle/>
          <a:p>
            <a:pPr algn="l">
              <a:lnSpc>
                <a:spcPct val="100000"/>
              </a:lnSpc>
              <a:spcBef>
                <a:spcPct val="50000"/>
              </a:spcBef>
              <a:buClrTx/>
              <a:buSzTx/>
              <a:buFontTx/>
              <a:defRPr/>
            </a:pPr>
            <a:r>
              <a:rPr kumimoji="1" lang="zh-CN" altLang="en-US" sz="3200" b="1" u="sng"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递归思路</a:t>
            </a:r>
            <a:endParaRPr kumimoji="1" lang="zh-CN" altLang="en-US" sz="3200" b="1" u="sng" noProof="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4" name="TextBox 4"/>
          <p:cNvSpPr txBox="1"/>
          <p:nvPr/>
        </p:nvSpPr>
        <p:spPr>
          <a:xfrm>
            <a:off x="1305788" y="4996094"/>
            <a:ext cx="9398724" cy="911860"/>
          </a:xfrm>
          <a:prstGeom prst="rect">
            <a:avLst/>
          </a:prstGeom>
          <a:noFill/>
        </p:spPr>
        <p:txBody>
          <a:bodyPr wrap="square" rtlCol="0">
            <a:spAutoFit/>
          </a:bodyPr>
          <a:lstStyle/>
          <a:p>
            <a:pPr algn="l">
              <a:lnSpc>
                <a:spcPts val="3200"/>
              </a:lnSpc>
            </a:pP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但递归分解不是随意的分解，递归分解要</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保证“大问题”与“小问题”相似</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，即求解过程与环境都相似。 </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 name="组合 9"/>
          <p:cNvGrpSpPr/>
          <p:nvPr/>
        </p:nvGrpSpPr>
        <p:grpSpPr>
          <a:xfrm>
            <a:off x="1703512" y="3416106"/>
            <a:ext cx="9624060" cy="1308100"/>
            <a:chOff x="714348" y="2786058"/>
            <a:chExt cx="9624060" cy="1308100"/>
          </a:xfrm>
        </p:grpSpPr>
        <p:sp>
          <p:nvSpPr>
            <p:cNvPr id="6" name="TextBox 6"/>
            <p:cNvSpPr txBox="1"/>
            <p:nvPr/>
          </p:nvSpPr>
          <p:spPr>
            <a:xfrm>
              <a:off x="714348" y="3572188"/>
              <a:ext cx="9624060" cy="521970"/>
            </a:xfrm>
            <a:prstGeom prst="rect">
              <a:avLst/>
            </a:prstGeom>
            <a:noFill/>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每个“小问题”都可以直接解决（此时分解到递归出口）</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下箭头 7"/>
            <p:cNvSpPr/>
            <p:nvPr/>
          </p:nvSpPr>
          <p:spPr>
            <a:xfrm>
              <a:off x="3857620" y="2786058"/>
              <a:ext cx="285752" cy="642942"/>
            </a:xfrm>
            <a:prstGeom prst="downArrow">
              <a:avLst/>
            </a:prstGeom>
            <a:solidFill>
              <a:srgbClr val="1552D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b="1">
                <a:latin typeface="微软雅黑" panose="020B0503020204020204" pitchFamily="34" charset="-122"/>
                <a:ea typeface="微软雅黑" panose="020B0503020204020204" pitchFamily="34" charset="-122"/>
                <a:cs typeface="Consolas" panose="020B0609020204030204" pitchFamily="49" charset="0"/>
              </a:endParaRPr>
            </a:p>
          </p:txBody>
        </p:sp>
        <p:sp>
          <p:nvSpPr>
            <p:cNvPr id="8" name="TextBox 8"/>
            <p:cNvSpPr txBox="1"/>
            <p:nvPr/>
          </p:nvSpPr>
          <p:spPr>
            <a:xfrm>
              <a:off x="4214810" y="2857496"/>
              <a:ext cx="857256" cy="368300"/>
            </a:xfrm>
            <a:prstGeom prst="rect">
              <a:avLst/>
            </a:prstGeom>
            <a:noFill/>
          </p:spPr>
          <p:txBody>
            <a:bodyPr wrap="square" rtlCol="0">
              <a:spAutoFit/>
            </a:bodyPr>
            <a:lstStyle/>
            <a:p>
              <a:pPr algn="l"/>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直到</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7368" y="692696"/>
            <a:ext cx="4540168" cy="645160"/>
          </a:xfrm>
          <a:prstGeom prst="rect">
            <a:avLst/>
          </a:prstGeom>
          <a:noFill/>
        </p:spPr>
        <p:txBody>
          <a:bodyPr wrap="square" rtlCol="0">
            <a:spAutoFit/>
          </a:bodyPr>
          <a:lstStyle/>
          <a:p>
            <a:pPr algn="l"/>
            <a:r>
              <a:rPr lang="zh-CN" altLang="en-US" sz="36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例如，统计全国</a:t>
            </a:r>
            <a:r>
              <a:rPr lang="en-US" altLang="zh-CN" sz="36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endParaRPr lang="zh-CN" altLang="en-US" sz="36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2"/>
          <p:cNvSpPr txBox="1"/>
          <p:nvPr/>
        </p:nvSpPr>
        <p:spPr>
          <a:xfrm>
            <a:off x="4667240" y="1944300"/>
            <a:ext cx="3500462" cy="460375"/>
          </a:xfrm>
          <a:prstGeom prst="rect">
            <a:avLst/>
          </a:prstGeom>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162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国家统计局（</a:t>
            </a:r>
            <a:r>
              <a:rPr lang="en-US" altLang="zh-CN"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4" name="组合 42"/>
          <p:cNvGrpSpPr/>
          <p:nvPr/>
        </p:nvGrpSpPr>
        <p:grpSpPr>
          <a:xfrm>
            <a:off x="1881158" y="4697044"/>
            <a:ext cx="3714776" cy="1031879"/>
            <a:chOff x="357158" y="4071942"/>
            <a:chExt cx="3714776" cy="1031879"/>
          </a:xfrm>
        </p:grpSpPr>
        <p:sp>
          <p:nvSpPr>
            <p:cNvPr id="5" name="TextBox 7"/>
            <p:cNvSpPr txBox="1"/>
            <p:nvPr/>
          </p:nvSpPr>
          <p:spPr>
            <a:xfrm>
              <a:off x="357158" y="4643446"/>
              <a:ext cx="2357454" cy="460375"/>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某企业（</a:t>
              </a:r>
              <a:r>
                <a:rPr lang="en-US" altLang="zh-CN"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Box 13"/>
            <p:cNvSpPr txBox="1"/>
            <p:nvPr/>
          </p:nvSpPr>
          <p:spPr>
            <a:xfrm>
              <a:off x="3000364" y="4643446"/>
              <a:ext cx="1071570" cy="398780"/>
            </a:xfrm>
            <a:prstGeom prst="rect">
              <a:avLst/>
            </a:prstGeom>
            <a:noFill/>
          </p:spPr>
          <p:txBody>
            <a:bodyPr wrap="squar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rPr>
                <a:t></a:t>
              </a:r>
              <a:endPar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endParaRPr>
            </a:p>
          </p:txBody>
        </p:sp>
        <p:cxnSp>
          <p:nvCxnSpPr>
            <p:cNvPr id="7" name="直接箭头连接符 6"/>
            <p:cNvCxnSpPr/>
            <p:nvPr/>
          </p:nvCxnSpPr>
          <p:spPr>
            <a:xfrm rot="5400000">
              <a:off x="1250133" y="4179099"/>
              <a:ext cx="571504" cy="357190"/>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16200000" flipH="1">
              <a:off x="2678893" y="4107661"/>
              <a:ext cx="714380" cy="642942"/>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组合 41"/>
          <p:cNvGrpSpPr/>
          <p:nvPr/>
        </p:nvGrpSpPr>
        <p:grpSpPr>
          <a:xfrm>
            <a:off x="2024034" y="3671512"/>
            <a:ext cx="7358114" cy="985841"/>
            <a:chOff x="500034" y="3046410"/>
            <a:chExt cx="7358114" cy="985841"/>
          </a:xfrm>
        </p:grpSpPr>
        <p:sp>
          <p:nvSpPr>
            <p:cNvPr id="10" name="TextBox 6"/>
            <p:cNvSpPr txBox="1"/>
            <p:nvPr/>
          </p:nvSpPr>
          <p:spPr>
            <a:xfrm>
              <a:off x="500034" y="3571876"/>
              <a:ext cx="3000396" cy="460375"/>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海淀区统计局（</a:t>
              </a:r>
              <a:r>
                <a:rPr lang="en-US" altLang="zh-CN"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1" name="TextBox 8"/>
            <p:cNvSpPr txBox="1"/>
            <p:nvPr/>
          </p:nvSpPr>
          <p:spPr>
            <a:xfrm>
              <a:off x="4143372" y="3546476"/>
              <a:ext cx="1071570" cy="398780"/>
            </a:xfrm>
            <a:prstGeom prst="rect">
              <a:avLst/>
            </a:prstGeom>
            <a:noFill/>
          </p:spPr>
          <p:txBody>
            <a:bodyPr wrap="squar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rPr>
                <a:t></a:t>
              </a:r>
              <a:endPar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endParaRPr>
            </a:p>
          </p:txBody>
        </p:sp>
        <p:cxnSp>
          <p:nvCxnSpPr>
            <p:cNvPr id="12" name="直接箭头连接符 11"/>
            <p:cNvCxnSpPr/>
            <p:nvPr/>
          </p:nvCxnSpPr>
          <p:spPr>
            <a:xfrm rot="5400000">
              <a:off x="1785918" y="3143248"/>
              <a:ext cx="500066" cy="357190"/>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rot="16200000" flipH="1">
              <a:off x="3536149" y="3153567"/>
              <a:ext cx="642942" cy="428628"/>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sp>
          <p:nvSpPr>
            <p:cNvPr id="14" name="TextBox 18"/>
            <p:cNvSpPr txBox="1"/>
            <p:nvPr/>
          </p:nvSpPr>
          <p:spPr>
            <a:xfrm>
              <a:off x="6786578" y="3571876"/>
              <a:ext cx="1071570" cy="398780"/>
            </a:xfrm>
            <a:prstGeom prst="rect">
              <a:avLst/>
            </a:prstGeom>
            <a:noFill/>
          </p:spPr>
          <p:txBody>
            <a:bodyPr wrap="squar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rPr>
                <a:t></a:t>
              </a:r>
              <a:endParaRPr lang="zh-CN" altLang="en-US" sz="2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Symbol" panose="05050102010706020507"/>
              </a:endParaRPr>
            </a:p>
          </p:txBody>
        </p:sp>
        <p:cxnSp>
          <p:nvCxnSpPr>
            <p:cNvPr id="15" name="直接箭头连接符 14"/>
            <p:cNvCxnSpPr/>
            <p:nvPr/>
          </p:nvCxnSpPr>
          <p:spPr>
            <a:xfrm rot="5400000">
              <a:off x="5072066" y="3143248"/>
              <a:ext cx="500066" cy="357190"/>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H="1">
              <a:off x="6536545" y="3178967"/>
              <a:ext cx="642942" cy="428628"/>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组合 33"/>
          <p:cNvGrpSpPr/>
          <p:nvPr/>
        </p:nvGrpSpPr>
        <p:grpSpPr>
          <a:xfrm>
            <a:off x="2738414" y="2411028"/>
            <a:ext cx="7286676" cy="1246193"/>
            <a:chOff x="1214414" y="1785926"/>
            <a:chExt cx="7286676" cy="1246193"/>
          </a:xfrm>
        </p:grpSpPr>
        <p:sp>
          <p:nvSpPr>
            <p:cNvPr id="18" name="TextBox 3"/>
            <p:cNvSpPr txBox="1"/>
            <p:nvPr/>
          </p:nvSpPr>
          <p:spPr>
            <a:xfrm>
              <a:off x="1214414" y="2571744"/>
              <a:ext cx="3000396" cy="460375"/>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北京统计局（</a:t>
              </a:r>
              <a:r>
                <a:rPr lang="en-US" altLang="zh-CN"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9" name="TextBox 4"/>
            <p:cNvSpPr txBox="1"/>
            <p:nvPr/>
          </p:nvSpPr>
          <p:spPr>
            <a:xfrm>
              <a:off x="4429124" y="2571744"/>
              <a:ext cx="3000396" cy="460375"/>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上海统计局（</a:t>
              </a:r>
              <a:r>
                <a:rPr lang="en-US" altLang="zh-CN"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GDP</a:t>
              </a:r>
              <a:r>
                <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0" name="TextBox 5"/>
            <p:cNvSpPr txBox="1"/>
            <p:nvPr/>
          </p:nvSpPr>
          <p:spPr>
            <a:xfrm>
              <a:off x="7715272" y="2571744"/>
              <a:ext cx="785818" cy="39878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Consolas" panose="020B0609020204030204" pitchFamily="49" charset="0"/>
                  <a:sym typeface="Symbol" panose="05050102010706020507"/>
                </a:rPr>
                <a:t></a:t>
              </a:r>
              <a:endParaRPr lang="zh-CN" altLang="en-US" sz="2000" dirty="0">
                <a:latin typeface="微软雅黑" panose="020B0503020204020204" pitchFamily="34" charset="-122"/>
                <a:ea typeface="微软雅黑" panose="020B0503020204020204" pitchFamily="34" charset="-122"/>
                <a:cs typeface="Consolas" panose="020B0609020204030204" pitchFamily="49" charset="0"/>
                <a:sym typeface="Symbol" panose="05050102010706020507"/>
              </a:endParaRPr>
            </a:p>
          </p:txBody>
        </p:sp>
        <p:cxnSp>
          <p:nvCxnSpPr>
            <p:cNvPr id="21" name="直接箭头连接符 20"/>
            <p:cNvCxnSpPr/>
            <p:nvPr/>
          </p:nvCxnSpPr>
          <p:spPr>
            <a:xfrm rot="5400000">
              <a:off x="3357554" y="1785926"/>
              <a:ext cx="785818" cy="785818"/>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rot="16200000" flipH="1">
              <a:off x="4929190" y="1928802"/>
              <a:ext cx="785818" cy="500066"/>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5988060" y="1793864"/>
              <a:ext cx="2071702" cy="928694"/>
            </a:xfrm>
            <a:prstGeom prst="straightConnector1">
              <a:avLst/>
            </a:prstGeom>
            <a:ln w="28575">
              <a:solidFill>
                <a:srgbClr val="FC9A48"/>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组合 40"/>
          <p:cNvGrpSpPr/>
          <p:nvPr/>
        </p:nvGrpSpPr>
        <p:grpSpPr>
          <a:xfrm>
            <a:off x="2166910" y="5769408"/>
            <a:ext cx="1878965" cy="949960"/>
            <a:chOff x="642910" y="5144306"/>
            <a:chExt cx="1878965" cy="949960"/>
          </a:xfrm>
        </p:grpSpPr>
        <p:cxnSp>
          <p:nvCxnSpPr>
            <p:cNvPr id="25" name="直接箭头连接符 24"/>
            <p:cNvCxnSpPr/>
            <p:nvPr/>
          </p:nvCxnSpPr>
          <p:spPr>
            <a:xfrm rot="5400000" flipH="1" flipV="1">
              <a:off x="1214414" y="5357826"/>
              <a:ext cx="428628"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9"/>
            <p:cNvSpPr txBox="1"/>
            <p:nvPr/>
          </p:nvSpPr>
          <p:spPr>
            <a:xfrm>
              <a:off x="642910" y="5572296"/>
              <a:ext cx="1878965" cy="521970"/>
            </a:xfrm>
            <a:prstGeom prst="rect">
              <a:avLst/>
            </a:prstGeom>
            <a:noFill/>
          </p:spPr>
          <p:txBody>
            <a:bodyPr wrap="square" rtlCol="0">
              <a:spAutoFit/>
            </a:bodyPr>
            <a:lstStyle/>
            <a:p>
              <a:r>
                <a:rPr lang="zh-CN" altLang="en-US" sz="28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递归出口</a:t>
              </a:r>
              <a:endParaRPr lang="zh-CN" altLang="en-US" sz="28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27" name="组合 38"/>
          <p:cNvGrpSpPr/>
          <p:nvPr/>
        </p:nvGrpSpPr>
        <p:grpSpPr>
          <a:xfrm>
            <a:off x="5524496" y="1196582"/>
            <a:ext cx="1719970" cy="715174"/>
            <a:chOff x="4000496" y="571480"/>
            <a:chExt cx="1719970" cy="715174"/>
          </a:xfrm>
        </p:grpSpPr>
        <p:cxnSp>
          <p:nvCxnSpPr>
            <p:cNvPr id="28" name="直接箭头连接符 27"/>
            <p:cNvCxnSpPr/>
            <p:nvPr/>
          </p:nvCxnSpPr>
          <p:spPr>
            <a:xfrm rot="5400000">
              <a:off x="4429124" y="1142984"/>
              <a:ext cx="285752"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TextBox 32"/>
            <p:cNvSpPr txBox="1"/>
            <p:nvPr/>
          </p:nvSpPr>
          <p:spPr>
            <a:xfrm>
              <a:off x="4000496" y="571480"/>
              <a:ext cx="1719970" cy="521970"/>
            </a:xfrm>
            <a:prstGeom prst="rect">
              <a:avLst/>
            </a:prstGeom>
            <a:noFill/>
          </p:spPr>
          <p:txBody>
            <a:bodyPr wrap="square" rtlCol="0">
              <a:spAutoFit/>
            </a:bodyPr>
            <a:lstStyle/>
            <a:p>
              <a:r>
                <a:rPr lang="zh-CN" altLang="en-US" sz="28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大问题</a:t>
              </a:r>
              <a:endParaRPr lang="zh-CN" altLang="en-US" sz="28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30" name="组合 45"/>
          <p:cNvGrpSpPr/>
          <p:nvPr/>
        </p:nvGrpSpPr>
        <p:grpSpPr>
          <a:xfrm>
            <a:off x="2297086" y="2339590"/>
            <a:ext cx="3727476" cy="1785950"/>
            <a:chOff x="773086" y="1714488"/>
            <a:chExt cx="3727476" cy="1785950"/>
          </a:xfrm>
        </p:grpSpPr>
        <p:cxnSp>
          <p:nvCxnSpPr>
            <p:cNvPr id="31" name="直接箭头连接符 30"/>
            <p:cNvCxnSpPr/>
            <p:nvPr/>
          </p:nvCxnSpPr>
          <p:spPr>
            <a:xfrm rot="16200000" flipH="1">
              <a:off x="1678761" y="2178835"/>
              <a:ext cx="357190" cy="285752"/>
            </a:xfrm>
            <a:prstGeom prst="straightConnector1">
              <a:avLst/>
            </a:prstGeom>
            <a:ln>
              <a:solidFill>
                <a:schemeClr val="tx1"/>
              </a:solidFill>
              <a:tailEnd type="arrow"/>
            </a:ln>
          </p:spPr>
          <p:style>
            <a:lnRef idx="1">
              <a:schemeClr val="accent2"/>
            </a:lnRef>
            <a:fillRef idx="0">
              <a:schemeClr val="accent2"/>
            </a:fillRef>
            <a:effectRef idx="0">
              <a:schemeClr val="accent2"/>
            </a:effectRef>
            <a:fontRef idx="minor">
              <a:schemeClr val="tx1"/>
            </a:fontRef>
          </p:style>
        </p:cxnSp>
        <p:sp>
          <p:nvSpPr>
            <p:cNvPr id="32" name="TextBox 35"/>
            <p:cNvSpPr txBox="1"/>
            <p:nvPr/>
          </p:nvSpPr>
          <p:spPr>
            <a:xfrm>
              <a:off x="773086" y="1714488"/>
              <a:ext cx="1512898" cy="521970"/>
            </a:xfrm>
            <a:prstGeom prst="rect">
              <a:avLst/>
            </a:prstGeom>
            <a:noFill/>
          </p:spPr>
          <p:txBody>
            <a:bodyPr wrap="square" rtlCol="0">
              <a:spAutoFit/>
            </a:bodyPr>
            <a:lstStyle/>
            <a:p>
              <a:r>
                <a:rPr lang="zh-CN" altLang="en-US" sz="28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小问题</a:t>
              </a:r>
              <a:endParaRPr lang="zh-CN" altLang="en-US" sz="2800"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33" name="直接箭头连接符 32"/>
            <p:cNvCxnSpPr/>
            <p:nvPr/>
          </p:nvCxnSpPr>
          <p:spPr>
            <a:xfrm>
              <a:off x="2000232" y="2143116"/>
              <a:ext cx="2500330" cy="428628"/>
            </a:xfrm>
            <a:prstGeom prst="straightConnector1">
              <a:avLst/>
            </a:prstGeom>
            <a:ln>
              <a:solidFill>
                <a:schemeClr val="tx1"/>
              </a:solidFill>
              <a:tailEnd type="arrow"/>
            </a:ln>
          </p:spPr>
          <p:style>
            <a:lnRef idx="1">
              <a:schemeClr val="accent2"/>
            </a:lnRef>
            <a:fillRef idx="0">
              <a:schemeClr val="accent2"/>
            </a:fillRef>
            <a:effectRef idx="0">
              <a:schemeClr val="accent2"/>
            </a:effectRef>
            <a:fontRef idx="minor">
              <a:schemeClr val="tx1"/>
            </a:fontRef>
          </p:style>
        </p:cxnSp>
        <p:cxnSp>
          <p:nvCxnSpPr>
            <p:cNvPr id="34" name="直接箭头连接符 33"/>
            <p:cNvCxnSpPr/>
            <p:nvPr/>
          </p:nvCxnSpPr>
          <p:spPr>
            <a:xfrm rot="5400000">
              <a:off x="785786" y="2786058"/>
              <a:ext cx="1214446" cy="214314"/>
            </a:xfrm>
            <a:prstGeom prst="straightConnector1">
              <a:avLst/>
            </a:prstGeom>
            <a:ln>
              <a:solidFill>
                <a:schemeClr val="tx1"/>
              </a:solidFill>
              <a:tailEnd type="arrow"/>
            </a:ln>
          </p:spPr>
          <p:style>
            <a:lnRef idx="1">
              <a:schemeClr val="accent2"/>
            </a:lnRef>
            <a:fillRef idx="0">
              <a:schemeClr val="accent2"/>
            </a:fillRef>
            <a:effectRef idx="0">
              <a:schemeClr val="accent2"/>
            </a:effectRef>
            <a:fontRef idx="minor">
              <a:schemeClr val="tx1"/>
            </a:fontRef>
          </p:style>
        </p:cxnSp>
      </p:grpSp>
      <p:pic>
        <p:nvPicPr>
          <p:cNvPr id="37" name="图片 36" descr="乐高玩具&#10;&#10;低可信度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14043" y="3892879"/>
            <a:ext cx="4507846" cy="3037089"/>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87805" y="1268730"/>
            <a:ext cx="4834255" cy="1190625"/>
          </a:xfrm>
          <a:prstGeom prst="rect">
            <a:avLst/>
          </a:prstGeom>
          <a:no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lIns="216000" tIns="144000" rIns="108000" bIns="144000">
            <a:spAutoFit/>
          </a:bodyPr>
          <a:lstStyle/>
          <a:p>
            <a:pPr algn="l">
              <a:lnSpc>
                <a:spcPct val="80000"/>
              </a:lnSpc>
              <a:spcBef>
                <a:spcPct val="50000"/>
              </a:spcBef>
            </a:pP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baseline="-30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m</a:t>
            </a:r>
            <a:r>
              <a:rPr lang="en-US" altLang="zh-CN" sz="2800" b="1" baseline="-30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lnSpc>
                <a:spcPct val="80000"/>
              </a:lnSpc>
              <a:spcBef>
                <a:spcPct val="50000"/>
              </a:spcBef>
            </a:pP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baseline="-30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baseline="-30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en-US" altLang="zh-CN" sz="28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 Box 3"/>
          <p:cNvSpPr txBox="1">
            <a:spLocks noChangeArrowheads="1"/>
          </p:cNvSpPr>
          <p:nvPr/>
        </p:nvSpPr>
        <p:spPr bwMode="auto">
          <a:xfrm>
            <a:off x="3125382" y="3325605"/>
            <a:ext cx="1314434" cy="3129280"/>
          </a:xfrm>
          <a:prstGeom prst="rect">
            <a:avLst/>
          </a:prstGeom>
          <a:noFill/>
          <a:ln>
            <a:solidFill>
              <a:schemeClr val="accent1"/>
            </a:solidFill>
            <a:tailEnd type="none" w="lg" len="lg"/>
          </a:ln>
          <a:effectLst/>
          <a:scene3d>
            <a:camera prst="orthographicFront">
              <a:rot lat="0" lon="0" rev="0"/>
            </a:camera>
            <a:lightRig rig="balanced" dir="t">
              <a:rot lat="0" lon="0" rev="8700000"/>
            </a:lightRig>
          </a:scene3d>
          <a:sp3d>
            <a:bevelT w="190500" h="38100"/>
          </a:sp3d>
        </p:spPr>
        <p:style>
          <a:lnRef idx="1">
            <a:schemeClr val="accent6"/>
          </a:lnRef>
          <a:fillRef idx="2">
            <a:schemeClr val="accent6"/>
          </a:fillRef>
          <a:effectRef idx="1">
            <a:schemeClr val="accent6"/>
          </a:effectRef>
          <a:fontRef idx="minor">
            <a:schemeClr val="dk1"/>
          </a:fontRef>
        </p:style>
        <p:txBody>
          <a:bodyPr wrap="square" tIns="180000" bIns="180000">
            <a:spAutoFit/>
          </a:bodyPr>
          <a:lstStyle/>
          <a:p>
            <a:pPr>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0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0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f</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0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0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0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0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 Box 4"/>
          <p:cNvSpPr txBox="1">
            <a:spLocks noChangeArrowheads="1"/>
          </p:cNvSpPr>
          <p:nvPr/>
        </p:nvSpPr>
        <p:spPr bwMode="auto">
          <a:xfrm>
            <a:off x="1775025" y="2636912"/>
            <a:ext cx="4104951" cy="521970"/>
          </a:xfrm>
          <a:prstGeom prst="rect">
            <a:avLst/>
          </a:prstGeom>
          <a:noFill/>
          <a:ln w="38100" algn="ctr">
            <a:noFill/>
            <a:miter lim="800000"/>
            <a:tailEnd type="none" w="lg" len="lg"/>
          </a:ln>
          <a:effectLst/>
        </p:spPr>
        <p:txBody>
          <a:bodyPr wrap="square">
            <a:spAutoFit/>
          </a:bodyPr>
          <a:lstStyle/>
          <a:p>
            <a:pPr>
              <a:spcBef>
                <a:spcPct val="50000"/>
              </a:spcBef>
            </a:pP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求</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分解过程</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如下：</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 Box 5"/>
          <p:cNvSpPr txBox="1">
            <a:spLocks noChangeArrowheads="1"/>
          </p:cNvSpPr>
          <p:nvPr/>
        </p:nvSpPr>
        <p:spPr bwMode="auto">
          <a:xfrm>
            <a:off x="191345" y="692696"/>
            <a:ext cx="7992220" cy="435610"/>
          </a:xfrm>
          <a:prstGeom prst="rect">
            <a:avLst/>
          </a:prstGeom>
          <a:noFill/>
          <a:ln w="38100" algn="ctr">
            <a:noFill/>
            <a:miter lim="800000"/>
            <a:tailEnd type="none" w="lg" len="lg"/>
          </a:ln>
          <a:effectLst/>
        </p:spPr>
        <p:txBody>
          <a:bodyPr wrap="square">
            <a:spAutoFit/>
          </a:bodyPr>
          <a:lstStyle/>
          <a:p>
            <a:pPr algn="l">
              <a:lnSpc>
                <a:spcPct val="80000"/>
              </a:lnSpc>
              <a:spcBef>
                <a:spcPct val="50000"/>
              </a:spcBef>
            </a:pP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为了讨论方便，简化上述递归模型为：</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248128" y="2388475"/>
            <a:ext cx="4725144" cy="472514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8" presetClass="entr" presetSubtype="6"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trips(down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407244" y="476667"/>
            <a:ext cx="11593288" cy="1076325"/>
          </a:xfrm>
          <a:prstGeom prst="rect">
            <a:avLst/>
          </a:prstGeom>
          <a:noFill/>
          <a:ln w="9525">
            <a:noFill/>
            <a:miter lim="800000"/>
          </a:ln>
          <a:effectLst/>
        </p:spPr>
        <p:txBody>
          <a:bodyPr wrap="square">
            <a:spAutoFit/>
          </a:bodyPr>
          <a:lstStyle/>
          <a:p>
            <a:pPr algn="just">
              <a:lnSpc>
                <a:spcPct val="100000"/>
              </a:lnSpc>
              <a:spcBef>
                <a:spcPts val="0"/>
              </a:spcBef>
            </a:pPr>
            <a:r>
              <a:rPr lang="en-US" altLang="zh-CN" sz="3200" b="1" dirty="0">
                <a:solidFill>
                  <a:srgbClr val="FF3300"/>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遇到递归出口</a:t>
            </a: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发生“质变”，即原递归问题便转化成可以直接求解的问题。求值过程：    </a:t>
            </a:r>
            <a:endPar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 Box 3"/>
          <p:cNvSpPr txBox="1">
            <a:spLocks noChangeArrowheads="1"/>
          </p:cNvSpPr>
          <p:nvPr/>
        </p:nvSpPr>
        <p:spPr bwMode="auto">
          <a:xfrm>
            <a:off x="5232400" y="1196340"/>
            <a:ext cx="4968875" cy="3646805"/>
          </a:xfrm>
          <a:prstGeom prst="rect">
            <a:avLst/>
          </a:prstGeom>
          <a:noFill/>
          <a:ln>
            <a:solidFill>
              <a:srgbClr val="FC9A48"/>
            </a:solidFill>
            <a:tailEnd type="none" w="lg" len="lg"/>
          </a:ln>
          <a:effectLst>
            <a:innerShdw blurRad="63500" dist="50800" dir="5400000">
              <a:prstClr val="black">
                <a:alpha val="50000"/>
              </a:prstClr>
            </a:innerShdw>
          </a:effectLst>
        </p:spPr>
        <p:style>
          <a:lnRef idx="1">
            <a:schemeClr val="accent5"/>
          </a:lnRef>
          <a:fillRef idx="2">
            <a:schemeClr val="accent5"/>
          </a:fillRef>
          <a:effectRef idx="1">
            <a:schemeClr val="accent5"/>
          </a:effectRef>
          <a:fontRef idx="minor">
            <a:schemeClr val="dk1"/>
          </a:fontRef>
        </p:style>
        <p:txBody>
          <a:bodyPr wrap="square" tIns="144000" bIns="180000">
            <a:spAutoFit/>
          </a:bodyPr>
          <a:lstStyle/>
          <a:p>
            <a:pPr>
              <a:lnSpc>
                <a:spcPct val="100000"/>
              </a:lnSpc>
            </a:pP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m</a:t>
            </a:r>
            <a:r>
              <a:rPr lang="en-US" altLang="zh-CN" sz="24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3</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nSpc>
                <a:spcPct val="100000"/>
              </a:lnSpc>
            </a:pP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 Box 4"/>
          <p:cNvSpPr txBox="1">
            <a:spLocks noChangeArrowheads="1"/>
          </p:cNvSpPr>
          <p:nvPr/>
        </p:nvSpPr>
        <p:spPr bwMode="auto">
          <a:xfrm>
            <a:off x="695400" y="5013176"/>
            <a:ext cx="11496600" cy="1124585"/>
          </a:xfrm>
          <a:prstGeom prst="rect">
            <a:avLst/>
          </a:prstGeom>
          <a:noFill/>
          <a:ln w="9525">
            <a:noFill/>
            <a:miter lim="800000"/>
          </a:ln>
          <a:effectLst/>
        </p:spPr>
        <p:txBody>
          <a:bodyPr wrap="square">
            <a:spAutoFit/>
          </a:bodyPr>
          <a:lstStyle/>
          <a:p>
            <a:pPr algn="l">
              <a:lnSpc>
                <a:spcPct val="120000"/>
              </a:lnSpc>
              <a:spcBef>
                <a:spcPct val="50000"/>
              </a:spcBef>
            </a:pPr>
            <a:r>
              <a:rPr lang="en-US" altLang="zh-CN" sz="2800" b="1" dirty="0">
                <a:solidFill>
                  <a:srgbClr val="FF3300"/>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这样</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f(sn)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便计算出来了，因此递归的执行过程由</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分解</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和</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求值</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两部分构成。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0"/>
                                  </p:iterate>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1000"/>
                                        <p:tgtEl>
                                          <p:spTgt spid="3"/>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5" name="Picture 2"/>
          <p:cNvPicPr>
            <a:picLocks noChangeAspect="1"/>
          </p:cNvPicPr>
          <p:nvPr/>
        </p:nvPicPr>
        <p:blipFill>
          <a:blip r:embed="rId1"/>
          <a:stretch>
            <a:fillRect/>
          </a:stretch>
        </p:blipFill>
        <p:spPr>
          <a:xfrm>
            <a:off x="1524000" y="896938"/>
            <a:ext cx="8915400" cy="5961062"/>
          </a:xfrm>
          <a:prstGeom prst="rect">
            <a:avLst/>
          </a:prstGeom>
          <a:noFill/>
          <a:ln w="9525">
            <a:noFill/>
          </a:ln>
        </p:spPr>
      </p:pic>
      <p:sp>
        <p:nvSpPr>
          <p:cNvPr id="6146" name="Rectangle 3"/>
          <p:cNvSpPr/>
          <p:nvPr/>
        </p:nvSpPr>
        <p:spPr>
          <a:xfrm>
            <a:off x="3200400" y="228600"/>
            <a:ext cx="5257800" cy="685800"/>
          </a:xfrm>
          <a:prstGeom prst="rect">
            <a:avLst/>
          </a:prstGeom>
          <a:noFill/>
          <a:ln w="9525">
            <a:noFill/>
          </a:ln>
        </p:spPr>
        <p:txBody>
          <a:bodyPr lIns="92075" tIns="46038" rIns="92075" bIns="46038" anchor="ctr" anchorCtr="0"/>
          <a:p>
            <a:pPr algn="ctr"/>
            <a:r>
              <a:rPr lang="zh-CN" altLang="en-US" sz="3600" b="1" dirty="0">
                <a:solidFill>
                  <a:schemeClr val="hlink"/>
                </a:solidFill>
                <a:latin typeface="Times New Roman" panose="02020603050405020304" pitchFamily="18" charset="0"/>
                <a:ea typeface="隶书" panose="02010509060101010101" pitchFamily="49" charset="-122"/>
              </a:rPr>
              <a:t>求解阶乘 </a:t>
            </a:r>
            <a:r>
              <a:rPr lang="en-US" altLang="zh-CN" sz="3600" b="1" i="1" dirty="0">
                <a:solidFill>
                  <a:schemeClr val="hlink"/>
                </a:solidFill>
                <a:latin typeface="Times New Roman" panose="02020603050405020304" pitchFamily="18" charset="0"/>
                <a:ea typeface="隶书" panose="02010509060101010101" pitchFamily="49" charset="-122"/>
              </a:rPr>
              <a:t>n</a:t>
            </a:r>
            <a:r>
              <a:rPr lang="en-US" altLang="zh-CN" sz="3600" b="1" dirty="0">
                <a:solidFill>
                  <a:schemeClr val="hlink"/>
                </a:solidFill>
                <a:latin typeface="Times New Roman" panose="02020603050405020304" pitchFamily="18" charset="0"/>
                <a:ea typeface="隶书" panose="02010509060101010101" pitchFamily="49" charset="-122"/>
              </a:rPr>
              <a:t>! </a:t>
            </a:r>
            <a:r>
              <a:rPr lang="zh-CN" altLang="en-US" sz="3600" b="1" dirty="0">
                <a:solidFill>
                  <a:schemeClr val="hlink"/>
                </a:solidFill>
                <a:latin typeface="Times New Roman" panose="02020603050405020304" pitchFamily="18" charset="0"/>
                <a:ea typeface="隶书" panose="02010509060101010101" pitchFamily="49" charset="-122"/>
              </a:rPr>
              <a:t>的过程</a:t>
            </a:r>
            <a:r>
              <a:rPr lang="en-US" altLang="zh-CN" sz="3600" b="1" dirty="0">
                <a:solidFill>
                  <a:schemeClr val="hlink"/>
                </a:solidFill>
                <a:latin typeface="Times New Roman" panose="02020603050405020304" pitchFamily="18" charset="0"/>
                <a:ea typeface="隶书" panose="02010509060101010101" pitchFamily="49" charset="-122"/>
              </a:rPr>
              <a:t>(n=4)</a:t>
            </a:r>
            <a:endParaRPr lang="en-US" altLang="zh-CN" sz="2000" b="1" dirty="0">
              <a:solidFill>
                <a:schemeClr val="tx2"/>
              </a:solidFill>
              <a:latin typeface="宋体" panose="02010600030101010101" pitchFamily="2" charset="-122"/>
              <a:ea typeface="宋体" panose="02010600030101010101" pitchFamily="2" charset="-122"/>
            </a:endParaRPr>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2620618" y="1292567"/>
            <a:ext cx="6643734" cy="829945"/>
          </a:xfrm>
          <a:prstGeom prst="rect">
            <a:avLst/>
          </a:prstGeom>
          <a:noFill/>
          <a:ln w="9525">
            <a:noFill/>
            <a:miter lim="800000"/>
          </a:ln>
          <a:effectLst/>
        </p:spPr>
        <p:txBody>
          <a:bodyPr wrap="square">
            <a:spAutoFit/>
          </a:bodyPr>
          <a:lstStyle/>
          <a:p>
            <a:pPr algn="l">
              <a:spcBef>
                <a:spcPts val="0"/>
              </a:spcBef>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F(1)=1</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F(2)=1</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0"/>
              </a:spcBef>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-1)+F(</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  </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&gt;2         </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求</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F(6) =  </a:t>
            </a:r>
            <a:r>
              <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58"/>
          <p:cNvSpPr txBox="1"/>
          <p:nvPr/>
        </p:nvSpPr>
        <p:spPr>
          <a:xfrm>
            <a:off x="335043" y="261278"/>
            <a:ext cx="10799612" cy="1383665"/>
          </a:xfrm>
          <a:prstGeom prst="rect">
            <a:avLst/>
          </a:prstGeom>
          <a:noFill/>
        </p:spPr>
        <p:txBody>
          <a:bodyPr wrap="square" rtlCol="0">
            <a:spAutoFit/>
          </a:bodyPr>
          <a:lstStyle/>
          <a:p>
            <a:pPr algn="l"/>
            <a:r>
              <a:rPr lang="zh-CN" altLang="en-US" sz="2800" b="1" dirty="0">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对于复杂的递归问题，在求解时需要进行</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多次分解和求值。</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endPar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例如：</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4" name="组合 73"/>
          <p:cNvGrpSpPr/>
          <p:nvPr/>
        </p:nvGrpSpPr>
        <p:grpSpPr>
          <a:xfrm>
            <a:off x="1889124" y="2420889"/>
            <a:ext cx="9463460" cy="4058469"/>
            <a:chOff x="365123" y="2278982"/>
            <a:chExt cx="7350149" cy="4058469"/>
          </a:xfrm>
        </p:grpSpPr>
        <p:sp>
          <p:nvSpPr>
            <p:cNvPr id="5" name="Text Box 5"/>
            <p:cNvSpPr txBox="1">
              <a:spLocks noChangeArrowheads="1"/>
            </p:cNvSpPr>
            <p:nvPr/>
          </p:nvSpPr>
          <p:spPr bwMode="auto">
            <a:xfrm>
              <a:off x="4539356" y="2639756"/>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F(6)</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 Box 12"/>
            <p:cNvSpPr txBox="1">
              <a:spLocks noChangeArrowheads="1"/>
            </p:cNvSpPr>
            <p:nvPr/>
          </p:nvSpPr>
          <p:spPr bwMode="auto">
            <a:xfrm>
              <a:off x="365123" y="5951395"/>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Text Box 13"/>
            <p:cNvSpPr txBox="1">
              <a:spLocks noChangeArrowheads="1"/>
            </p:cNvSpPr>
            <p:nvPr/>
          </p:nvSpPr>
          <p:spPr bwMode="auto">
            <a:xfrm>
              <a:off x="1595677" y="5951395"/>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F(1)</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8" name="Freeform 14"/>
            <p:cNvSpPr/>
            <p:nvPr/>
          </p:nvSpPr>
          <p:spPr bwMode="auto">
            <a:xfrm>
              <a:off x="844677" y="5527637"/>
              <a:ext cx="266921" cy="414709"/>
            </a:xfrm>
            <a:custGeom>
              <a:avLst/>
              <a:gdLst/>
              <a:ahLst/>
              <a:cxnLst>
                <a:cxn ang="0">
                  <a:pos x="177" y="0"/>
                </a:cxn>
                <a:cxn ang="0">
                  <a:pos x="0" y="275"/>
                </a:cxn>
              </a:cxnLst>
              <a:rect l="0" t="0" r="r" b="b"/>
              <a:pathLst>
                <a:path w="177" h="275">
                  <a:moveTo>
                    <a:pt x="177" y="0"/>
                  </a:moveTo>
                  <a:lnTo>
                    <a:pt x="0" y="275"/>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9" name="Freeform 15"/>
            <p:cNvSpPr/>
            <p:nvPr/>
          </p:nvSpPr>
          <p:spPr bwMode="auto">
            <a:xfrm>
              <a:off x="1509719" y="5515573"/>
              <a:ext cx="292558" cy="426774"/>
            </a:xfrm>
            <a:custGeom>
              <a:avLst/>
              <a:gdLst/>
              <a:ahLst/>
              <a:cxnLst>
                <a:cxn ang="0">
                  <a:pos x="0" y="0"/>
                </a:cxn>
                <a:cxn ang="0">
                  <a:pos x="194" y="283"/>
                </a:cxn>
              </a:cxnLst>
              <a:rect l="0" t="0" r="r" b="b"/>
              <a:pathLst>
                <a:path w="194" h="283">
                  <a:moveTo>
                    <a:pt x="0" y="0"/>
                  </a:moveTo>
                  <a:lnTo>
                    <a:pt x="194" y="283"/>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10" name="Text Box 17"/>
            <p:cNvSpPr txBox="1">
              <a:spLocks noChangeArrowheads="1"/>
            </p:cNvSpPr>
            <p:nvPr/>
          </p:nvSpPr>
          <p:spPr bwMode="auto">
            <a:xfrm>
              <a:off x="3103709" y="5099356"/>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1" name="Text Box 18"/>
            <p:cNvSpPr txBox="1">
              <a:spLocks noChangeArrowheads="1"/>
            </p:cNvSpPr>
            <p:nvPr/>
          </p:nvSpPr>
          <p:spPr bwMode="auto">
            <a:xfrm>
              <a:off x="4334264" y="5099356"/>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F(1)</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2" name="Freeform 19"/>
            <p:cNvSpPr/>
            <p:nvPr/>
          </p:nvSpPr>
          <p:spPr bwMode="auto">
            <a:xfrm>
              <a:off x="3583264" y="4671075"/>
              <a:ext cx="291050" cy="419233"/>
            </a:xfrm>
            <a:custGeom>
              <a:avLst/>
              <a:gdLst/>
              <a:ahLst/>
              <a:cxnLst>
                <a:cxn ang="0">
                  <a:pos x="193" y="0"/>
                </a:cxn>
                <a:cxn ang="0">
                  <a:pos x="0" y="278"/>
                </a:cxn>
              </a:cxnLst>
              <a:rect l="0" t="0" r="r" b="b"/>
              <a:pathLst>
                <a:path w="193" h="278">
                  <a:moveTo>
                    <a:pt x="193" y="0"/>
                  </a:moveTo>
                  <a:lnTo>
                    <a:pt x="0" y="278"/>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13" name="Freeform 20"/>
            <p:cNvSpPr/>
            <p:nvPr/>
          </p:nvSpPr>
          <p:spPr bwMode="auto">
            <a:xfrm>
              <a:off x="4248305" y="4663535"/>
              <a:ext cx="292558" cy="426773"/>
            </a:xfrm>
            <a:custGeom>
              <a:avLst/>
              <a:gdLst/>
              <a:ahLst/>
              <a:cxnLst>
                <a:cxn ang="0">
                  <a:pos x="0" y="0"/>
                </a:cxn>
                <a:cxn ang="0">
                  <a:pos x="194" y="283"/>
                </a:cxn>
              </a:cxnLst>
              <a:rect l="0" t="0" r="r" b="b"/>
              <a:pathLst>
                <a:path w="194" h="283">
                  <a:moveTo>
                    <a:pt x="0" y="0"/>
                  </a:moveTo>
                  <a:lnTo>
                    <a:pt x="194" y="283"/>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14" name="Text Box 10"/>
            <p:cNvSpPr txBox="1">
              <a:spLocks noChangeArrowheads="1"/>
            </p:cNvSpPr>
            <p:nvPr/>
          </p:nvSpPr>
          <p:spPr bwMode="auto">
            <a:xfrm>
              <a:off x="977384" y="5129517"/>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F(3)</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5" name="Text Box 11"/>
            <p:cNvSpPr txBox="1">
              <a:spLocks noChangeArrowheads="1"/>
            </p:cNvSpPr>
            <p:nvPr/>
          </p:nvSpPr>
          <p:spPr bwMode="auto">
            <a:xfrm>
              <a:off x="2075232" y="5153645"/>
              <a:ext cx="683138"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6" name="Freeform 21"/>
            <p:cNvSpPr/>
            <p:nvPr/>
          </p:nvSpPr>
          <p:spPr bwMode="auto">
            <a:xfrm>
              <a:off x="1435826" y="4659011"/>
              <a:ext cx="327243" cy="467490"/>
            </a:xfrm>
            <a:custGeom>
              <a:avLst/>
              <a:gdLst/>
              <a:ahLst/>
              <a:cxnLst>
                <a:cxn ang="0">
                  <a:pos x="217" y="0"/>
                </a:cxn>
                <a:cxn ang="0">
                  <a:pos x="0" y="310"/>
                </a:cxn>
              </a:cxnLst>
              <a:rect l="0" t="0" r="r" b="b"/>
              <a:pathLst>
                <a:path w="217" h="310">
                  <a:moveTo>
                    <a:pt x="217" y="0"/>
                  </a:moveTo>
                  <a:lnTo>
                    <a:pt x="0" y="310"/>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17" name="Freeform 22"/>
            <p:cNvSpPr/>
            <p:nvPr/>
          </p:nvSpPr>
          <p:spPr bwMode="auto">
            <a:xfrm>
              <a:off x="2076739" y="4659010"/>
              <a:ext cx="352121" cy="484501"/>
            </a:xfrm>
            <a:custGeom>
              <a:avLst/>
              <a:gdLst/>
              <a:ahLst/>
              <a:cxnLst>
                <a:cxn ang="0">
                  <a:pos x="0" y="0"/>
                </a:cxn>
                <a:cxn ang="0">
                  <a:pos x="210" y="310"/>
                </a:cxn>
              </a:cxnLst>
              <a:rect l="0" t="0" r="r" b="b"/>
              <a:pathLst>
                <a:path w="210" h="310">
                  <a:moveTo>
                    <a:pt x="0" y="0"/>
                  </a:moveTo>
                  <a:lnTo>
                    <a:pt x="210" y="310"/>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18" name="Text Box 8"/>
            <p:cNvSpPr txBox="1">
              <a:spLocks noChangeArrowheads="1"/>
            </p:cNvSpPr>
            <p:nvPr/>
          </p:nvSpPr>
          <p:spPr bwMode="auto">
            <a:xfrm>
              <a:off x="1560992" y="4280495"/>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F(4)</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9" name="Text Box 16"/>
            <p:cNvSpPr txBox="1">
              <a:spLocks noChangeArrowheads="1"/>
            </p:cNvSpPr>
            <p:nvPr/>
          </p:nvSpPr>
          <p:spPr bwMode="auto">
            <a:xfrm>
              <a:off x="3715971" y="4277479"/>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F(3)</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0" name="Freeform 23"/>
            <p:cNvSpPr/>
            <p:nvPr/>
          </p:nvSpPr>
          <p:spPr bwMode="auto">
            <a:xfrm>
              <a:off x="2143093" y="3911027"/>
              <a:ext cx="717823" cy="369468"/>
            </a:xfrm>
            <a:custGeom>
              <a:avLst/>
              <a:gdLst/>
              <a:ahLst/>
              <a:cxnLst>
                <a:cxn ang="0">
                  <a:pos x="476" y="0"/>
                </a:cxn>
                <a:cxn ang="0">
                  <a:pos x="0" y="245"/>
                </a:cxn>
              </a:cxnLst>
              <a:rect l="0" t="0" r="r" b="b"/>
              <a:pathLst>
                <a:path w="476" h="245">
                  <a:moveTo>
                    <a:pt x="476" y="0"/>
                  </a:moveTo>
                  <a:lnTo>
                    <a:pt x="0" y="245"/>
                  </a:lnTo>
                </a:path>
              </a:pathLst>
            </a:custGeom>
            <a:noFill/>
            <a:ln w="28575" cap="flat" cmpd="sng">
              <a:solidFill>
                <a:schemeClr val="tx1"/>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21" name="Freeform 24"/>
            <p:cNvSpPr/>
            <p:nvPr/>
          </p:nvSpPr>
          <p:spPr bwMode="auto">
            <a:xfrm>
              <a:off x="3174587" y="3917059"/>
              <a:ext cx="678614" cy="363436"/>
            </a:xfrm>
            <a:custGeom>
              <a:avLst/>
              <a:gdLst/>
              <a:ahLst/>
              <a:cxnLst>
                <a:cxn ang="0">
                  <a:pos x="0" y="0"/>
                </a:cxn>
                <a:cxn ang="0">
                  <a:pos x="450" y="241"/>
                </a:cxn>
              </a:cxnLst>
              <a:rect l="0" t="0" r="r" b="b"/>
              <a:pathLst>
                <a:path w="450" h="241">
                  <a:moveTo>
                    <a:pt x="0" y="0"/>
                  </a:moveTo>
                  <a:lnTo>
                    <a:pt x="450" y="241"/>
                  </a:lnTo>
                </a:path>
              </a:pathLst>
            </a:custGeom>
            <a:noFill/>
            <a:ln w="28575">
              <a:solidFill>
                <a:srgbClr val="000000"/>
              </a:solidFill>
              <a:miter lim="800000"/>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22" name="Text Box 28"/>
            <p:cNvSpPr txBox="1">
              <a:spLocks noChangeArrowheads="1"/>
            </p:cNvSpPr>
            <p:nvPr/>
          </p:nvSpPr>
          <p:spPr bwMode="auto">
            <a:xfrm>
              <a:off x="5322024" y="5114436"/>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3" name="Text Box 29"/>
            <p:cNvSpPr txBox="1">
              <a:spLocks noChangeArrowheads="1"/>
            </p:cNvSpPr>
            <p:nvPr/>
          </p:nvSpPr>
          <p:spPr bwMode="auto">
            <a:xfrm>
              <a:off x="6540742" y="5087131"/>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F(1)</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4" name="Freeform 30"/>
            <p:cNvSpPr/>
            <p:nvPr/>
          </p:nvSpPr>
          <p:spPr bwMode="auto">
            <a:xfrm>
              <a:off x="5801579" y="4690680"/>
              <a:ext cx="266922" cy="414708"/>
            </a:xfrm>
            <a:custGeom>
              <a:avLst/>
              <a:gdLst/>
              <a:ahLst/>
              <a:cxnLst>
                <a:cxn ang="0">
                  <a:pos x="177" y="0"/>
                </a:cxn>
                <a:cxn ang="0">
                  <a:pos x="0" y="275"/>
                </a:cxn>
              </a:cxnLst>
              <a:rect l="0" t="0" r="r" b="b"/>
              <a:pathLst>
                <a:path w="177" h="275">
                  <a:moveTo>
                    <a:pt x="177" y="0"/>
                  </a:moveTo>
                  <a:lnTo>
                    <a:pt x="0" y="275"/>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25" name="Freeform 31"/>
            <p:cNvSpPr/>
            <p:nvPr/>
          </p:nvSpPr>
          <p:spPr bwMode="auto">
            <a:xfrm>
              <a:off x="6466621" y="4678616"/>
              <a:ext cx="292558" cy="426773"/>
            </a:xfrm>
            <a:custGeom>
              <a:avLst/>
              <a:gdLst/>
              <a:ahLst/>
              <a:cxnLst>
                <a:cxn ang="0">
                  <a:pos x="0" y="0"/>
                </a:cxn>
                <a:cxn ang="0">
                  <a:pos x="194" y="283"/>
                </a:cxn>
              </a:cxnLst>
              <a:rect l="0" t="0" r="r" b="b"/>
              <a:pathLst>
                <a:path w="194" h="283">
                  <a:moveTo>
                    <a:pt x="0" y="0"/>
                  </a:moveTo>
                  <a:lnTo>
                    <a:pt x="194" y="283"/>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26" name="Text Box 26"/>
            <p:cNvSpPr txBox="1">
              <a:spLocks noChangeArrowheads="1"/>
            </p:cNvSpPr>
            <p:nvPr/>
          </p:nvSpPr>
          <p:spPr bwMode="auto">
            <a:xfrm>
              <a:off x="5934285" y="4292559"/>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F(3)</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7" name="Text Box 27"/>
            <p:cNvSpPr txBox="1">
              <a:spLocks noChangeArrowheads="1"/>
            </p:cNvSpPr>
            <p:nvPr/>
          </p:nvSpPr>
          <p:spPr bwMode="auto">
            <a:xfrm>
              <a:off x="7032133" y="4316688"/>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F(2)</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8" name="Freeform 32"/>
            <p:cNvSpPr/>
            <p:nvPr/>
          </p:nvSpPr>
          <p:spPr bwMode="auto">
            <a:xfrm>
              <a:off x="6392727" y="3832609"/>
              <a:ext cx="298590" cy="456934"/>
            </a:xfrm>
            <a:custGeom>
              <a:avLst/>
              <a:gdLst/>
              <a:ahLst/>
              <a:cxnLst>
                <a:cxn ang="0">
                  <a:pos x="198" y="0"/>
                </a:cxn>
                <a:cxn ang="0">
                  <a:pos x="0" y="303"/>
                </a:cxn>
              </a:cxnLst>
              <a:rect l="0" t="0" r="r" b="b"/>
              <a:pathLst>
                <a:path w="198" h="303">
                  <a:moveTo>
                    <a:pt x="198" y="0"/>
                  </a:moveTo>
                  <a:lnTo>
                    <a:pt x="0" y="303"/>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29" name="Freeform 33"/>
            <p:cNvSpPr/>
            <p:nvPr/>
          </p:nvSpPr>
          <p:spPr bwMode="auto">
            <a:xfrm>
              <a:off x="7035149" y="3838641"/>
              <a:ext cx="315179" cy="450902"/>
            </a:xfrm>
            <a:custGeom>
              <a:avLst/>
              <a:gdLst/>
              <a:ahLst/>
              <a:cxnLst>
                <a:cxn ang="0">
                  <a:pos x="0" y="0"/>
                </a:cxn>
                <a:cxn ang="0">
                  <a:pos x="209" y="299"/>
                </a:cxn>
              </a:cxnLst>
              <a:rect l="0" t="0" r="r" b="b"/>
              <a:pathLst>
                <a:path w="209" h="299">
                  <a:moveTo>
                    <a:pt x="0" y="0"/>
                  </a:moveTo>
                  <a:lnTo>
                    <a:pt x="209" y="299"/>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30" name="Freeform 34"/>
            <p:cNvSpPr/>
            <p:nvPr/>
          </p:nvSpPr>
          <p:spPr bwMode="auto">
            <a:xfrm>
              <a:off x="3308802" y="3030336"/>
              <a:ext cx="1229047" cy="497651"/>
            </a:xfrm>
            <a:custGeom>
              <a:avLst/>
              <a:gdLst/>
              <a:ahLst/>
              <a:cxnLst>
                <a:cxn ang="0">
                  <a:pos x="815" y="0"/>
                </a:cxn>
                <a:cxn ang="0">
                  <a:pos x="0" y="330"/>
                </a:cxn>
              </a:cxnLst>
              <a:rect l="0" t="0" r="r" b="b"/>
              <a:pathLst>
                <a:path w="815" h="330">
                  <a:moveTo>
                    <a:pt x="815" y="0"/>
                  </a:moveTo>
                  <a:lnTo>
                    <a:pt x="0" y="330"/>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31" name="Text Box 7"/>
            <p:cNvSpPr txBox="1">
              <a:spLocks noChangeArrowheads="1"/>
            </p:cNvSpPr>
            <p:nvPr/>
          </p:nvSpPr>
          <p:spPr bwMode="auto">
            <a:xfrm>
              <a:off x="2643759" y="3527987"/>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F(5)</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2" name="Text Box 25"/>
            <p:cNvSpPr txBox="1">
              <a:spLocks noChangeArrowheads="1"/>
            </p:cNvSpPr>
            <p:nvPr/>
          </p:nvSpPr>
          <p:spPr bwMode="auto">
            <a:xfrm>
              <a:off x="6517894" y="3443537"/>
              <a:ext cx="683139" cy="386056"/>
            </a:xfrm>
            <a:prstGeom prst="rect">
              <a:avLst/>
            </a:prstGeom>
            <a:noFill/>
          </p:spPr>
          <p:style>
            <a:lnRef idx="1">
              <a:schemeClr val="accent2"/>
            </a:lnRef>
            <a:fillRef idx="2">
              <a:schemeClr val="accent2"/>
            </a:fillRef>
            <a:effectRef idx="1">
              <a:schemeClr val="accent2"/>
            </a:effectRef>
            <a:fontRef idx="minor">
              <a:schemeClr val="dk1"/>
            </a:fontRef>
          </p:style>
          <p:txBody>
            <a:bodyPr/>
            <a:lstStyle/>
            <a:p>
              <a:pPr>
                <a:spcBef>
                  <a:spcPct val="50000"/>
                </a:spcBef>
              </a:pP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F(4)</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3" name="Freeform 35"/>
            <p:cNvSpPr/>
            <p:nvPr/>
          </p:nvSpPr>
          <p:spPr bwMode="auto">
            <a:xfrm>
              <a:off x="5225510" y="3030336"/>
              <a:ext cx="1295400" cy="429790"/>
            </a:xfrm>
            <a:custGeom>
              <a:avLst/>
              <a:gdLst/>
              <a:ahLst/>
              <a:cxnLst>
                <a:cxn ang="0">
                  <a:pos x="0" y="0"/>
                </a:cxn>
                <a:cxn ang="0">
                  <a:pos x="859" y="285"/>
                </a:cxn>
              </a:cxnLst>
              <a:rect l="0" t="0" r="r" b="b"/>
              <a:pathLst>
                <a:path w="859" h="285">
                  <a:moveTo>
                    <a:pt x="0" y="0"/>
                  </a:moveTo>
                  <a:lnTo>
                    <a:pt x="859" y="285"/>
                  </a:lnTo>
                </a:path>
              </a:pathLst>
            </a:custGeom>
            <a:noFill/>
            <a:ln w="28575" cap="flat" cmpd="sng">
              <a:solidFill>
                <a:srgbClr val="0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34" name="Text Box 45"/>
            <p:cNvSpPr txBox="1">
              <a:spLocks noChangeArrowheads="1"/>
            </p:cNvSpPr>
            <p:nvPr/>
          </p:nvSpPr>
          <p:spPr bwMode="auto">
            <a:xfrm>
              <a:off x="5465111" y="2380818"/>
              <a:ext cx="1915201" cy="398780"/>
            </a:xfrm>
            <a:prstGeom prst="rect">
              <a:avLst/>
            </a:prstGeom>
            <a:noFill/>
            <a:ln w="38100" algn="ctr">
              <a:noFill/>
              <a:miter lim="800000"/>
              <a:tailEnd type="none" w="lg" len="lg"/>
            </a:ln>
            <a:effectLst/>
          </p:spPr>
          <p:txBody>
            <a:bodyPr>
              <a:spAutoFit/>
            </a:bodyPr>
            <a:lstStyle/>
            <a:p>
              <a:pPr algn="l">
                <a:spcBef>
                  <a:spcPct val="50000"/>
                </a:spcBef>
              </a:pPr>
              <a:r>
                <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求得</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F(6)=8</a:t>
              </a:r>
              <a:endPar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5" name="TextBox 57"/>
            <p:cNvSpPr txBox="1"/>
            <p:nvPr/>
          </p:nvSpPr>
          <p:spPr>
            <a:xfrm>
              <a:off x="3786182" y="5896293"/>
              <a:ext cx="2214578" cy="398780"/>
            </a:xfrm>
            <a:prstGeom prst="rect">
              <a:avLst/>
            </a:prstGeom>
            <a:noFill/>
          </p:spPr>
          <p:txBody>
            <a:bodyPr wrap="square" rtlCol="0">
              <a:spAutoFit/>
            </a:bodyPr>
            <a:lstStyle/>
            <a:p>
              <a:pPr algn="l"/>
              <a:r>
                <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一颗递归树</a:t>
              </a:r>
              <a:endPar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36" name="直接箭头连接符 35"/>
            <p:cNvCxnSpPr/>
            <p:nvPr/>
          </p:nvCxnSpPr>
          <p:spPr>
            <a:xfrm rot="5400000">
              <a:off x="4463438" y="2458188"/>
              <a:ext cx="360000" cy="158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7" name="Freeform 34"/>
            <p:cNvSpPr/>
            <p:nvPr/>
          </p:nvSpPr>
          <p:spPr bwMode="auto">
            <a:xfrm>
              <a:off x="3155940" y="2905949"/>
              <a:ext cx="1346523" cy="569089"/>
            </a:xfrm>
            <a:custGeom>
              <a:avLst/>
              <a:gdLst/>
              <a:ahLst/>
              <a:cxnLst>
                <a:cxn ang="0">
                  <a:pos x="815" y="0"/>
                </a:cxn>
                <a:cxn ang="0">
                  <a:pos x="0" y="330"/>
                </a:cxn>
              </a:cxnLst>
              <a:rect l="0" t="0" r="r" b="b"/>
              <a:pathLst>
                <a:path w="815" h="330">
                  <a:moveTo>
                    <a:pt x="815" y="0"/>
                  </a:moveTo>
                  <a:lnTo>
                    <a:pt x="0" y="330"/>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dirty="0">
                <a:latin typeface="Consolas" panose="020B0609020204030204" pitchFamily="49" charset="0"/>
                <a:cs typeface="Consolas" panose="020B0609020204030204" pitchFamily="49" charset="0"/>
              </a:endParaRPr>
            </a:p>
          </p:txBody>
        </p:sp>
        <p:sp>
          <p:nvSpPr>
            <p:cNvPr id="38" name="Freeform 23"/>
            <p:cNvSpPr/>
            <p:nvPr/>
          </p:nvSpPr>
          <p:spPr bwMode="auto">
            <a:xfrm>
              <a:off x="1974832" y="3891388"/>
              <a:ext cx="717823" cy="369468"/>
            </a:xfrm>
            <a:custGeom>
              <a:avLst/>
              <a:gdLst/>
              <a:ahLst/>
              <a:cxnLst>
                <a:cxn ang="0">
                  <a:pos x="476" y="0"/>
                </a:cxn>
                <a:cxn ang="0">
                  <a:pos x="0" y="245"/>
                </a:cxn>
              </a:cxnLst>
              <a:rect l="0" t="0" r="r" b="b"/>
              <a:pathLst>
                <a:path w="476" h="245">
                  <a:moveTo>
                    <a:pt x="476" y="0"/>
                  </a:moveTo>
                  <a:lnTo>
                    <a:pt x="0" y="245"/>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39" name="Freeform 21"/>
            <p:cNvSpPr/>
            <p:nvPr/>
          </p:nvSpPr>
          <p:spPr bwMode="auto">
            <a:xfrm>
              <a:off x="1298552" y="4651384"/>
              <a:ext cx="327243" cy="467490"/>
            </a:xfrm>
            <a:custGeom>
              <a:avLst/>
              <a:gdLst/>
              <a:ahLst/>
              <a:cxnLst>
                <a:cxn ang="0">
                  <a:pos x="217" y="0"/>
                </a:cxn>
                <a:cxn ang="0">
                  <a:pos x="0" y="310"/>
                </a:cxn>
              </a:cxnLst>
              <a:rect l="0" t="0" r="r" b="b"/>
              <a:pathLst>
                <a:path w="217" h="310">
                  <a:moveTo>
                    <a:pt x="217" y="0"/>
                  </a:moveTo>
                  <a:lnTo>
                    <a:pt x="0" y="310"/>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0" name="Freeform 14"/>
            <p:cNvSpPr/>
            <p:nvPr/>
          </p:nvSpPr>
          <p:spPr bwMode="auto">
            <a:xfrm>
              <a:off x="701648" y="5534040"/>
              <a:ext cx="266921" cy="414709"/>
            </a:xfrm>
            <a:custGeom>
              <a:avLst/>
              <a:gdLst/>
              <a:ahLst/>
              <a:cxnLst>
                <a:cxn ang="0">
                  <a:pos x="177" y="0"/>
                </a:cxn>
                <a:cxn ang="0">
                  <a:pos x="0" y="275"/>
                </a:cxn>
              </a:cxnLst>
              <a:rect l="0" t="0" r="r" b="b"/>
              <a:pathLst>
                <a:path w="177" h="275">
                  <a:moveTo>
                    <a:pt x="177" y="0"/>
                  </a:moveTo>
                  <a:lnTo>
                    <a:pt x="0" y="275"/>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1" name="Freeform 14"/>
            <p:cNvSpPr/>
            <p:nvPr/>
          </p:nvSpPr>
          <p:spPr bwMode="auto">
            <a:xfrm>
              <a:off x="966762" y="5508640"/>
              <a:ext cx="266921" cy="414709"/>
            </a:xfrm>
            <a:custGeom>
              <a:avLst/>
              <a:gdLst/>
              <a:ahLst/>
              <a:cxnLst>
                <a:cxn ang="0">
                  <a:pos x="177" y="0"/>
                </a:cxn>
                <a:cxn ang="0">
                  <a:pos x="0" y="275"/>
                </a:cxn>
              </a:cxnLst>
              <a:rect l="0" t="0" r="r" b="b"/>
              <a:pathLst>
                <a:path w="177" h="275">
                  <a:moveTo>
                    <a:pt x="177" y="0"/>
                  </a:moveTo>
                  <a:lnTo>
                    <a:pt x="0" y="275"/>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2" name="Freeform 21"/>
            <p:cNvSpPr/>
            <p:nvPr/>
          </p:nvSpPr>
          <p:spPr bwMode="auto">
            <a:xfrm>
              <a:off x="1527152" y="4689484"/>
              <a:ext cx="327243" cy="467490"/>
            </a:xfrm>
            <a:custGeom>
              <a:avLst/>
              <a:gdLst/>
              <a:ahLst/>
              <a:cxnLst>
                <a:cxn ang="0">
                  <a:pos x="217" y="0"/>
                </a:cxn>
                <a:cxn ang="0">
                  <a:pos x="0" y="310"/>
                </a:cxn>
              </a:cxnLst>
              <a:rect l="0" t="0" r="r" b="b"/>
              <a:pathLst>
                <a:path w="217" h="310">
                  <a:moveTo>
                    <a:pt x="217" y="0"/>
                  </a:moveTo>
                  <a:lnTo>
                    <a:pt x="0" y="310"/>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3" name="Freeform 23"/>
            <p:cNvSpPr/>
            <p:nvPr/>
          </p:nvSpPr>
          <p:spPr bwMode="auto">
            <a:xfrm>
              <a:off x="2231741" y="3954466"/>
              <a:ext cx="717823" cy="369468"/>
            </a:xfrm>
            <a:custGeom>
              <a:avLst/>
              <a:gdLst/>
              <a:ahLst/>
              <a:cxnLst>
                <a:cxn ang="0">
                  <a:pos x="476" y="0"/>
                </a:cxn>
                <a:cxn ang="0">
                  <a:pos x="0" y="245"/>
                </a:cxn>
              </a:cxnLst>
              <a:rect l="0" t="0" r="r" b="b"/>
              <a:pathLst>
                <a:path w="476" h="245">
                  <a:moveTo>
                    <a:pt x="476" y="0"/>
                  </a:moveTo>
                  <a:lnTo>
                    <a:pt x="0" y="245"/>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4" name="Freeform 24"/>
            <p:cNvSpPr/>
            <p:nvPr/>
          </p:nvSpPr>
          <p:spPr bwMode="auto">
            <a:xfrm>
              <a:off x="3016240" y="3918058"/>
              <a:ext cx="678614" cy="363436"/>
            </a:xfrm>
            <a:custGeom>
              <a:avLst/>
              <a:gdLst/>
              <a:ahLst/>
              <a:cxnLst>
                <a:cxn ang="0">
                  <a:pos x="0" y="0"/>
                </a:cxn>
                <a:cxn ang="0">
                  <a:pos x="450" y="241"/>
                </a:cxn>
              </a:cxnLst>
              <a:rect l="0" t="0" r="r" b="b"/>
              <a:pathLst>
                <a:path w="450" h="241">
                  <a:moveTo>
                    <a:pt x="0" y="0"/>
                  </a:moveTo>
                  <a:lnTo>
                    <a:pt x="450" y="241"/>
                  </a:lnTo>
                </a:path>
              </a:pathLst>
            </a:custGeom>
            <a:noFill/>
            <a:ln w="38100">
              <a:solidFill>
                <a:srgbClr val="C00000"/>
              </a:solidFill>
              <a:miter lim="800000"/>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5" name="Freeform 19"/>
            <p:cNvSpPr/>
            <p:nvPr/>
          </p:nvSpPr>
          <p:spPr bwMode="auto">
            <a:xfrm>
              <a:off x="3441692" y="4676784"/>
              <a:ext cx="291050" cy="419233"/>
            </a:xfrm>
            <a:custGeom>
              <a:avLst/>
              <a:gdLst/>
              <a:ahLst/>
              <a:cxnLst>
                <a:cxn ang="0">
                  <a:pos x="193" y="0"/>
                </a:cxn>
                <a:cxn ang="0">
                  <a:pos x="0" y="278"/>
                </a:cxn>
              </a:cxnLst>
              <a:rect l="0" t="0" r="r" b="b"/>
              <a:pathLst>
                <a:path w="193" h="278">
                  <a:moveTo>
                    <a:pt x="193" y="0"/>
                  </a:moveTo>
                  <a:lnTo>
                    <a:pt x="0" y="278"/>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6" name="Freeform 20"/>
            <p:cNvSpPr/>
            <p:nvPr/>
          </p:nvSpPr>
          <p:spPr bwMode="auto">
            <a:xfrm>
              <a:off x="4151310" y="4689484"/>
              <a:ext cx="292558" cy="426773"/>
            </a:xfrm>
            <a:custGeom>
              <a:avLst/>
              <a:gdLst/>
              <a:ahLst/>
              <a:cxnLst>
                <a:cxn ang="0">
                  <a:pos x="0" y="0"/>
                </a:cxn>
                <a:cxn ang="0">
                  <a:pos x="194" y="283"/>
                </a:cxn>
              </a:cxnLst>
              <a:rect l="0" t="0" r="r" b="b"/>
              <a:pathLst>
                <a:path w="194" h="283">
                  <a:moveTo>
                    <a:pt x="0" y="0"/>
                  </a:moveTo>
                  <a:lnTo>
                    <a:pt x="194" y="283"/>
                  </a:lnTo>
                </a:path>
              </a:pathLst>
            </a:custGeom>
            <a:noFill/>
            <a:ln w="38100" cap="flat" cmpd="sng">
              <a:solidFill>
                <a:srgbClr val="C00000"/>
              </a:solidFill>
              <a:prstDash val="solid"/>
              <a:miter lim="800000"/>
              <a:headEnd type="none" w="med" len="med"/>
              <a:tailEnd type="triangl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7" name="Freeform 35"/>
            <p:cNvSpPr/>
            <p:nvPr/>
          </p:nvSpPr>
          <p:spPr bwMode="auto">
            <a:xfrm>
              <a:off x="5041904" y="3059110"/>
              <a:ext cx="1458922" cy="512766"/>
            </a:xfrm>
            <a:custGeom>
              <a:avLst/>
              <a:gdLst/>
              <a:ahLst/>
              <a:cxnLst>
                <a:cxn ang="0">
                  <a:pos x="0" y="0"/>
                </a:cxn>
                <a:cxn ang="0">
                  <a:pos x="859" y="285"/>
                </a:cxn>
              </a:cxnLst>
              <a:rect l="0" t="0" r="r" b="b"/>
              <a:pathLst>
                <a:path w="859" h="285">
                  <a:moveTo>
                    <a:pt x="0" y="0"/>
                  </a:moveTo>
                  <a:lnTo>
                    <a:pt x="859" y="285"/>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8" name="Freeform 19"/>
            <p:cNvSpPr/>
            <p:nvPr/>
          </p:nvSpPr>
          <p:spPr bwMode="auto">
            <a:xfrm>
              <a:off x="3684046" y="4668846"/>
              <a:ext cx="291050" cy="419233"/>
            </a:xfrm>
            <a:custGeom>
              <a:avLst/>
              <a:gdLst/>
              <a:ahLst/>
              <a:cxnLst>
                <a:cxn ang="0">
                  <a:pos x="193" y="0"/>
                </a:cxn>
                <a:cxn ang="0">
                  <a:pos x="0" y="278"/>
                </a:cxn>
              </a:cxnLst>
              <a:rect l="0" t="0" r="r" b="b"/>
              <a:pathLst>
                <a:path w="193" h="278">
                  <a:moveTo>
                    <a:pt x="193" y="0"/>
                  </a:moveTo>
                  <a:lnTo>
                    <a:pt x="0" y="278"/>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49" name="Freeform 20"/>
            <p:cNvSpPr/>
            <p:nvPr/>
          </p:nvSpPr>
          <p:spPr bwMode="auto">
            <a:xfrm>
              <a:off x="4401680" y="4694246"/>
              <a:ext cx="292558" cy="426773"/>
            </a:xfrm>
            <a:custGeom>
              <a:avLst/>
              <a:gdLst/>
              <a:ahLst/>
              <a:cxnLst>
                <a:cxn ang="0">
                  <a:pos x="0" y="0"/>
                </a:cxn>
                <a:cxn ang="0">
                  <a:pos x="194" y="283"/>
                </a:cxn>
              </a:cxnLst>
              <a:rect l="0" t="0" r="r" b="b"/>
              <a:pathLst>
                <a:path w="194" h="283">
                  <a:moveTo>
                    <a:pt x="0" y="0"/>
                  </a:moveTo>
                  <a:lnTo>
                    <a:pt x="194" y="283"/>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0" name="Freeform 24"/>
            <p:cNvSpPr/>
            <p:nvPr/>
          </p:nvSpPr>
          <p:spPr bwMode="auto">
            <a:xfrm>
              <a:off x="3329820" y="3883028"/>
              <a:ext cx="678614" cy="363436"/>
            </a:xfrm>
            <a:custGeom>
              <a:avLst/>
              <a:gdLst/>
              <a:ahLst/>
              <a:cxnLst>
                <a:cxn ang="0">
                  <a:pos x="0" y="0"/>
                </a:cxn>
                <a:cxn ang="0">
                  <a:pos x="450" y="241"/>
                </a:cxn>
              </a:cxnLst>
              <a:rect l="0" t="0" r="r" b="b"/>
              <a:pathLst>
                <a:path w="450" h="241">
                  <a:moveTo>
                    <a:pt x="0" y="0"/>
                  </a:moveTo>
                  <a:lnTo>
                    <a:pt x="450" y="241"/>
                  </a:lnTo>
                </a:path>
              </a:pathLst>
            </a:custGeom>
            <a:noFill/>
            <a:ln w="38100">
              <a:solidFill>
                <a:srgbClr val="FC9A48"/>
              </a:solidFill>
              <a:miter lim="800000"/>
              <a:headEnd type="arrow"/>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1" name="Freeform 34"/>
            <p:cNvSpPr/>
            <p:nvPr/>
          </p:nvSpPr>
          <p:spPr bwMode="auto">
            <a:xfrm>
              <a:off x="3308340" y="3074225"/>
              <a:ext cx="1346523" cy="569089"/>
            </a:xfrm>
            <a:custGeom>
              <a:avLst/>
              <a:gdLst/>
              <a:ahLst/>
              <a:cxnLst>
                <a:cxn ang="0">
                  <a:pos x="815" y="0"/>
                </a:cxn>
                <a:cxn ang="0">
                  <a:pos x="0" y="330"/>
                </a:cxn>
              </a:cxnLst>
              <a:rect l="0" t="0" r="r" b="b"/>
              <a:pathLst>
                <a:path w="815" h="330">
                  <a:moveTo>
                    <a:pt x="815" y="0"/>
                  </a:moveTo>
                  <a:lnTo>
                    <a:pt x="0" y="330"/>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2" name="Freeform 15"/>
            <p:cNvSpPr/>
            <p:nvPr/>
          </p:nvSpPr>
          <p:spPr bwMode="auto">
            <a:xfrm>
              <a:off x="1416028" y="5546740"/>
              <a:ext cx="292558" cy="426774"/>
            </a:xfrm>
            <a:custGeom>
              <a:avLst/>
              <a:gdLst/>
              <a:ahLst/>
              <a:cxnLst>
                <a:cxn ang="0">
                  <a:pos x="0" y="0"/>
                </a:cxn>
                <a:cxn ang="0">
                  <a:pos x="194" y="283"/>
                </a:cxn>
              </a:cxnLst>
              <a:rect l="0" t="0" r="r" b="b"/>
              <a:pathLst>
                <a:path w="194" h="283">
                  <a:moveTo>
                    <a:pt x="0" y="0"/>
                  </a:moveTo>
                  <a:lnTo>
                    <a:pt x="194" y="283"/>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3" name="Freeform 15"/>
            <p:cNvSpPr/>
            <p:nvPr/>
          </p:nvSpPr>
          <p:spPr bwMode="auto">
            <a:xfrm>
              <a:off x="1636236" y="5513402"/>
              <a:ext cx="292558" cy="426774"/>
            </a:xfrm>
            <a:custGeom>
              <a:avLst/>
              <a:gdLst/>
              <a:ahLst/>
              <a:cxnLst>
                <a:cxn ang="0">
                  <a:pos x="0" y="0"/>
                </a:cxn>
                <a:cxn ang="0">
                  <a:pos x="194" y="283"/>
                </a:cxn>
              </a:cxnLst>
              <a:rect l="0" t="0" r="r" b="b"/>
              <a:pathLst>
                <a:path w="194" h="283">
                  <a:moveTo>
                    <a:pt x="0" y="0"/>
                  </a:moveTo>
                  <a:lnTo>
                    <a:pt x="194" y="283"/>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4" name="Freeform 22"/>
            <p:cNvSpPr/>
            <p:nvPr/>
          </p:nvSpPr>
          <p:spPr bwMode="auto">
            <a:xfrm>
              <a:off x="1969297" y="4676784"/>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5" name="Freeform 22"/>
            <p:cNvSpPr/>
            <p:nvPr/>
          </p:nvSpPr>
          <p:spPr bwMode="auto">
            <a:xfrm>
              <a:off x="2221711" y="4681546"/>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6" name="Freeform 35"/>
            <p:cNvSpPr/>
            <p:nvPr/>
          </p:nvSpPr>
          <p:spPr bwMode="auto">
            <a:xfrm>
              <a:off x="5256218" y="2903534"/>
              <a:ext cx="1458922" cy="512766"/>
            </a:xfrm>
            <a:custGeom>
              <a:avLst/>
              <a:gdLst/>
              <a:ahLst/>
              <a:cxnLst>
                <a:cxn ang="0">
                  <a:pos x="0" y="0"/>
                </a:cxn>
                <a:cxn ang="0">
                  <a:pos x="859" y="285"/>
                </a:cxn>
              </a:cxnLst>
              <a:rect l="0" t="0" r="r" b="b"/>
              <a:pathLst>
                <a:path w="859" h="285">
                  <a:moveTo>
                    <a:pt x="0" y="0"/>
                  </a:moveTo>
                  <a:lnTo>
                    <a:pt x="859" y="285"/>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7" name="Freeform 32"/>
            <p:cNvSpPr/>
            <p:nvPr/>
          </p:nvSpPr>
          <p:spPr bwMode="auto">
            <a:xfrm>
              <a:off x="6260974" y="3832228"/>
              <a:ext cx="298590" cy="456934"/>
            </a:xfrm>
            <a:custGeom>
              <a:avLst/>
              <a:gdLst/>
              <a:ahLst/>
              <a:cxnLst>
                <a:cxn ang="0">
                  <a:pos x="198" y="0"/>
                </a:cxn>
                <a:cxn ang="0">
                  <a:pos x="0" y="303"/>
                </a:cxn>
              </a:cxnLst>
              <a:rect l="0" t="0" r="r" b="b"/>
              <a:pathLst>
                <a:path w="198" h="303">
                  <a:moveTo>
                    <a:pt x="198" y="0"/>
                  </a:moveTo>
                  <a:lnTo>
                    <a:pt x="0" y="303"/>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8" name="Freeform 32"/>
            <p:cNvSpPr/>
            <p:nvPr/>
          </p:nvSpPr>
          <p:spPr bwMode="auto">
            <a:xfrm>
              <a:off x="6470526" y="3857628"/>
              <a:ext cx="298590" cy="456934"/>
            </a:xfrm>
            <a:custGeom>
              <a:avLst/>
              <a:gdLst/>
              <a:ahLst/>
              <a:cxnLst>
                <a:cxn ang="0">
                  <a:pos x="198" y="0"/>
                </a:cxn>
                <a:cxn ang="0">
                  <a:pos x="0" y="303"/>
                </a:cxn>
              </a:cxnLst>
              <a:rect l="0" t="0" r="r" b="b"/>
              <a:pathLst>
                <a:path w="198" h="303">
                  <a:moveTo>
                    <a:pt x="198" y="0"/>
                  </a:moveTo>
                  <a:lnTo>
                    <a:pt x="0" y="303"/>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59" name="Freeform 30"/>
            <p:cNvSpPr/>
            <p:nvPr/>
          </p:nvSpPr>
          <p:spPr bwMode="auto">
            <a:xfrm>
              <a:off x="5681670" y="4689484"/>
              <a:ext cx="266922" cy="414708"/>
            </a:xfrm>
            <a:custGeom>
              <a:avLst/>
              <a:gdLst/>
              <a:ahLst/>
              <a:cxnLst>
                <a:cxn ang="0">
                  <a:pos x="177" y="0"/>
                </a:cxn>
                <a:cxn ang="0">
                  <a:pos x="0" y="275"/>
                </a:cxn>
              </a:cxnLst>
              <a:rect l="0" t="0" r="r" b="b"/>
              <a:pathLst>
                <a:path w="177" h="275">
                  <a:moveTo>
                    <a:pt x="177" y="0"/>
                  </a:moveTo>
                  <a:lnTo>
                    <a:pt x="0" y="275"/>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60" name="Freeform 30"/>
            <p:cNvSpPr/>
            <p:nvPr/>
          </p:nvSpPr>
          <p:spPr bwMode="auto">
            <a:xfrm>
              <a:off x="5902114" y="4689484"/>
              <a:ext cx="266922" cy="414708"/>
            </a:xfrm>
            <a:custGeom>
              <a:avLst/>
              <a:gdLst/>
              <a:ahLst/>
              <a:cxnLst>
                <a:cxn ang="0">
                  <a:pos x="177" y="0"/>
                </a:cxn>
                <a:cxn ang="0">
                  <a:pos x="0" y="275"/>
                </a:cxn>
              </a:cxnLst>
              <a:rect l="0" t="0" r="r" b="b"/>
              <a:pathLst>
                <a:path w="177" h="275">
                  <a:moveTo>
                    <a:pt x="177" y="0"/>
                  </a:moveTo>
                  <a:lnTo>
                    <a:pt x="0" y="275"/>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61" name="Freeform 22"/>
            <p:cNvSpPr/>
            <p:nvPr/>
          </p:nvSpPr>
          <p:spPr bwMode="auto">
            <a:xfrm>
              <a:off x="6931857" y="3865566"/>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62" name="Freeform 22"/>
            <p:cNvSpPr/>
            <p:nvPr/>
          </p:nvSpPr>
          <p:spPr bwMode="auto">
            <a:xfrm>
              <a:off x="7171571" y="3832228"/>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63" name="Freeform 22"/>
            <p:cNvSpPr/>
            <p:nvPr/>
          </p:nvSpPr>
          <p:spPr bwMode="auto">
            <a:xfrm>
              <a:off x="6345250" y="4676784"/>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C00000"/>
              </a:solidFill>
              <a:prstDash val="solid"/>
              <a:miter lim="800000"/>
              <a:headEnd type="none" w="med" len="med"/>
              <a:tailEnd type="arrow"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sp>
          <p:nvSpPr>
            <p:cNvPr id="64" name="Freeform 22"/>
            <p:cNvSpPr/>
            <p:nvPr/>
          </p:nvSpPr>
          <p:spPr bwMode="auto">
            <a:xfrm>
              <a:off x="6597664" y="4668846"/>
              <a:ext cx="316687" cy="467490"/>
            </a:xfrm>
            <a:custGeom>
              <a:avLst/>
              <a:gdLst/>
              <a:ahLst/>
              <a:cxnLst>
                <a:cxn ang="0">
                  <a:pos x="0" y="0"/>
                </a:cxn>
                <a:cxn ang="0">
                  <a:pos x="210" y="310"/>
                </a:cxn>
              </a:cxnLst>
              <a:rect l="0" t="0" r="r" b="b"/>
              <a:pathLst>
                <a:path w="210" h="310">
                  <a:moveTo>
                    <a:pt x="0" y="0"/>
                  </a:moveTo>
                  <a:lnTo>
                    <a:pt x="210" y="310"/>
                  </a:lnTo>
                </a:path>
              </a:pathLst>
            </a:custGeom>
            <a:noFill/>
            <a:ln w="38100" cap="flat" cmpd="sng">
              <a:solidFill>
                <a:srgbClr val="FC9A48"/>
              </a:solidFill>
              <a:prstDash val="solid"/>
              <a:miter lim="800000"/>
              <a:headEnd type="arrow" w="med" len="med"/>
              <a:tailEnd type="none" w="med" len="med"/>
            </a:ln>
            <a:effectLst/>
          </p:spPr>
          <p:txBody>
            <a:bodyPr wrap="none"/>
            <a:lstStyle/>
            <a:p>
              <a:endParaRPr lang="zh-CN" altLang="en-US" b="1">
                <a:latin typeface="Consolas" panose="020B0609020204030204" pitchFamily="49" charset="0"/>
                <a:cs typeface="Consolas" panose="020B0609020204030204" pitchFamily="49" charset="0"/>
              </a:endParaRPr>
            </a:p>
          </p:txBody>
        </p:sp>
        <p:cxnSp>
          <p:nvCxnSpPr>
            <p:cNvPr id="65" name="直接箭头连接符 64"/>
            <p:cNvCxnSpPr/>
            <p:nvPr/>
          </p:nvCxnSpPr>
          <p:spPr>
            <a:xfrm rot="5400000">
              <a:off x="4891272" y="2462388"/>
              <a:ext cx="360000" cy="1588"/>
            </a:xfrm>
            <a:prstGeom prst="straightConnector1">
              <a:avLst/>
            </a:prstGeom>
            <a:ln w="38100">
              <a:solidFill>
                <a:srgbClr val="FC9A48"/>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66" name="组合 81"/>
          <p:cNvGrpSpPr/>
          <p:nvPr/>
        </p:nvGrpSpPr>
        <p:grpSpPr>
          <a:xfrm>
            <a:off x="3359696" y="3363262"/>
            <a:ext cx="4572032" cy="785818"/>
            <a:chOff x="1000100" y="3214686"/>
            <a:chExt cx="4572032" cy="785818"/>
          </a:xfrm>
        </p:grpSpPr>
        <p:sp>
          <p:nvSpPr>
            <p:cNvPr id="67" name="TextBox 74"/>
            <p:cNvSpPr txBox="1"/>
            <p:nvPr/>
          </p:nvSpPr>
          <p:spPr>
            <a:xfrm>
              <a:off x="1000100" y="3214686"/>
              <a:ext cx="1000132" cy="39878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Consolas" panose="020B0609020204030204" pitchFamily="49" charset="0"/>
                </a:rPr>
                <a:t>分解</a:t>
              </a:r>
              <a:endParaRPr lang="zh-CN" altLang="en-US" sz="2000" b="1" dirty="0">
                <a:solidFill>
                  <a:srgbClr val="00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8" name="TextBox 75"/>
            <p:cNvSpPr txBox="1"/>
            <p:nvPr/>
          </p:nvSpPr>
          <p:spPr>
            <a:xfrm>
              <a:off x="4572000" y="3571876"/>
              <a:ext cx="1000132" cy="398780"/>
            </a:xfrm>
            <a:prstGeom prst="rect">
              <a:avLst/>
            </a:prstGeom>
            <a:noFill/>
          </p:spPr>
          <p:txBody>
            <a:bodyPr wrap="square" rtlCol="0">
              <a:spAutoFit/>
            </a:bodyPr>
            <a:lstStyle/>
            <a:p>
              <a:r>
                <a:rPr lang="zh-CN" altLang="en-US" sz="2000" b="1">
                  <a:solidFill>
                    <a:srgbClr val="000000"/>
                  </a:solidFill>
                  <a:latin typeface="微软雅黑" panose="020B0503020204020204" pitchFamily="34" charset="-122"/>
                  <a:ea typeface="微软雅黑" panose="020B0503020204020204" pitchFamily="34" charset="-122"/>
                  <a:cs typeface="Consolas" panose="020B0609020204030204" pitchFamily="49" charset="0"/>
                </a:rPr>
                <a:t>求值</a:t>
              </a:r>
              <a:endParaRPr lang="zh-CN" altLang="en-US" sz="2000" b="1">
                <a:solidFill>
                  <a:srgbClr val="000000"/>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69" name="直接箭头连接符 68"/>
            <p:cNvCxnSpPr/>
            <p:nvPr/>
          </p:nvCxnSpPr>
          <p:spPr>
            <a:xfrm>
              <a:off x="1785918" y="3643314"/>
              <a:ext cx="428628" cy="3571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rot="10800000">
              <a:off x="4286248" y="3286124"/>
              <a:ext cx="571504" cy="3571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4531" name="Rectangle 3"/>
          <p:cNvSpPr>
            <a:spLocks noChangeArrowheads="1"/>
          </p:cNvSpPr>
          <p:nvPr/>
        </p:nvSpPr>
        <p:spPr bwMode="auto">
          <a:xfrm>
            <a:off x="2514600" y="228600"/>
            <a:ext cx="6096000" cy="685800"/>
          </a:xfrm>
          <a:prstGeom prst="rect">
            <a:avLst/>
          </a:prstGeom>
          <a:noFill/>
          <a:ln w="9525">
            <a:noFill/>
            <a:miter lim="800000"/>
          </a:ln>
          <a:effectLst/>
        </p:spPr>
        <p:txBody>
          <a:bodyPr lIns="92075" tIns="46038" rIns="92075" bIns="46038"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5.2 </a:t>
            </a:r>
            <a:r>
              <a:rPr kumimoji="1" lang="zh-CN" altLang="en-US" sz="3200" b="1" i="0" u="none" strike="noStrike" kern="1200" cap="none" spc="0" normalizeH="0" baseline="0" noProof="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递归过程与递归工作栈</a:t>
            </a:r>
            <a:endParaRPr kumimoji="1" lang="zh-CN" altLang="en-US" sz="3200"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Group 16"/>
          <p:cNvGrpSpPr/>
          <p:nvPr/>
        </p:nvGrpSpPr>
        <p:grpSpPr>
          <a:xfrm>
            <a:off x="2362200" y="3657600"/>
            <a:ext cx="7467600" cy="609600"/>
            <a:chOff x="192" y="2016"/>
            <a:chExt cx="4704" cy="384"/>
          </a:xfrm>
        </p:grpSpPr>
        <p:sp>
          <p:nvSpPr>
            <p:cNvPr id="534532" name="Rectangle 4"/>
            <p:cNvSpPr>
              <a:spLocks noChangeArrowheads="1"/>
            </p:cNvSpPr>
            <p:nvPr/>
          </p:nvSpPr>
          <p:spPr bwMode="auto">
            <a:xfrm>
              <a:off x="192" y="2016"/>
              <a:ext cx="4704" cy="384"/>
            </a:xfrm>
            <a:prstGeom prst="rect">
              <a:avLst/>
            </a:prstGeom>
            <a:noFill/>
            <a:ln w="9525">
              <a:noFill/>
              <a:miter lim="800000"/>
            </a:ln>
            <a:effectLst/>
          </p:spPr>
          <p:txBody>
            <a:bodyPr lIns="92075" tIns="46038" rIns="92075" bIns="46038"/>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n</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n</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-1)!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n</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-2)!             1!          0!=1</a:t>
              </a:r>
              <a:r>
                <a:rPr kumimoji="1" lang="en-US" altLang="zh-CN" sz="2800" b="1" i="0" u="none" strike="noStrike" kern="1200" cap="none" spc="0" normalizeH="0" baseline="0" noProof="0">
                  <a:ln>
                    <a:noFill/>
                  </a:ln>
                  <a:solidFill>
                    <a:srgbClr val="FF33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                                                             </a:t>
              </a:r>
              <a:endPar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3316" name="AutoShape 5"/>
            <p:cNvSpPr/>
            <p:nvPr/>
          </p:nvSpPr>
          <p:spPr>
            <a:xfrm>
              <a:off x="576" y="2112"/>
              <a:ext cx="336" cy="144"/>
            </a:xfrm>
            <a:prstGeom prst="rightArrow">
              <a:avLst>
                <a:gd name="adj1" fmla="val 50000"/>
                <a:gd name="adj2" fmla="val 58257"/>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微软雅黑" panose="020B0503020204020204" pitchFamily="34" charset="-122"/>
                <a:ea typeface="微软雅黑" panose="020B0503020204020204" pitchFamily="34" charset="-122"/>
              </a:endParaRPr>
            </a:p>
          </p:txBody>
        </p:sp>
        <p:sp>
          <p:nvSpPr>
            <p:cNvPr id="13317" name="AutoShape 6"/>
            <p:cNvSpPr/>
            <p:nvPr/>
          </p:nvSpPr>
          <p:spPr>
            <a:xfrm>
              <a:off x="3648" y="2112"/>
              <a:ext cx="336" cy="144"/>
            </a:xfrm>
            <a:prstGeom prst="rightArrow">
              <a:avLst>
                <a:gd name="adj1" fmla="val 50000"/>
                <a:gd name="adj2" fmla="val 58257"/>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微软雅黑" panose="020B0503020204020204" pitchFamily="34" charset="-122"/>
                <a:ea typeface="微软雅黑" panose="020B0503020204020204" pitchFamily="34" charset="-122"/>
              </a:endParaRPr>
            </a:p>
          </p:txBody>
        </p:sp>
        <p:sp>
          <p:nvSpPr>
            <p:cNvPr id="13318" name="AutoShape 7"/>
            <p:cNvSpPr/>
            <p:nvPr/>
          </p:nvSpPr>
          <p:spPr>
            <a:xfrm>
              <a:off x="2736" y="2112"/>
              <a:ext cx="192" cy="144"/>
            </a:xfrm>
            <a:prstGeom prst="rightArrow">
              <a:avLst>
                <a:gd name="adj1" fmla="val 50000"/>
                <a:gd name="adj2" fmla="val 3329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微软雅黑" panose="020B0503020204020204" pitchFamily="34" charset="-122"/>
                <a:ea typeface="微软雅黑" panose="020B0503020204020204" pitchFamily="34" charset="-122"/>
              </a:endParaRPr>
            </a:p>
          </p:txBody>
        </p:sp>
        <p:sp>
          <p:nvSpPr>
            <p:cNvPr id="13319" name="AutoShape 8"/>
            <p:cNvSpPr/>
            <p:nvPr/>
          </p:nvSpPr>
          <p:spPr>
            <a:xfrm>
              <a:off x="2976" y="2112"/>
              <a:ext cx="336" cy="144"/>
            </a:xfrm>
            <a:custGeom>
              <a:avLst/>
              <a:gdLst/>
              <a:ahLst/>
              <a:cxnLst>
                <a:cxn ang="17694720">
                  <a:pos x="0" y="0"/>
                </a:cxn>
                <a:cxn ang="11796480">
                  <a:pos x="0" y="0"/>
                </a:cxn>
                <a:cxn ang="5898240">
                  <a:pos x="0" y="0"/>
                </a:cxn>
                <a:cxn ang="0">
                  <a:pos x="0" y="0"/>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latin typeface="微软雅黑" panose="020B0503020204020204" pitchFamily="34" charset="-122"/>
                <a:ea typeface="微软雅黑" panose="020B0503020204020204" pitchFamily="34" charset="-122"/>
              </a:endParaRPr>
            </a:p>
          </p:txBody>
        </p:sp>
        <p:sp>
          <p:nvSpPr>
            <p:cNvPr id="13320" name="AutoShape 9"/>
            <p:cNvSpPr/>
            <p:nvPr/>
          </p:nvSpPr>
          <p:spPr>
            <a:xfrm>
              <a:off x="1632" y="2112"/>
              <a:ext cx="336" cy="144"/>
            </a:xfrm>
            <a:prstGeom prst="rightArrow">
              <a:avLst>
                <a:gd name="adj1" fmla="val 50000"/>
                <a:gd name="adj2" fmla="val 58257"/>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微软雅黑" panose="020B0503020204020204" pitchFamily="34" charset="-122"/>
                <a:ea typeface="微软雅黑" panose="020B0503020204020204" pitchFamily="34" charset="-122"/>
              </a:endParaRPr>
            </a:p>
          </p:txBody>
        </p:sp>
      </p:grpSp>
      <p:sp>
        <p:nvSpPr>
          <p:cNvPr id="534540" name="Text Box 12"/>
          <p:cNvSpPr txBox="1">
            <a:spLocks noChangeArrowheads="1"/>
          </p:cNvSpPr>
          <p:nvPr/>
        </p:nvSpPr>
        <p:spPr bwMode="auto">
          <a:xfrm>
            <a:off x="458788" y="779463"/>
            <a:ext cx="11060113" cy="1470025"/>
          </a:xfrm>
          <a:prstGeom prst="rect">
            <a:avLst/>
          </a:prstGeom>
          <a:noFill/>
          <a:ln w="9525">
            <a:noFill/>
            <a:miter lim="800000"/>
          </a:ln>
          <a:effectLst/>
        </p:spPr>
        <p:txBody>
          <a:bodyPr wrap="square">
            <a:spAutoFit/>
          </a:bodyPr>
          <a:lstStyle/>
          <a:p>
            <a:pPr marR="0" defTabSz="914400">
              <a:spcBef>
                <a:spcPct val="20000"/>
              </a:spcBef>
              <a:buClrTx/>
              <a:buSzTx/>
              <a:buChar char="•"/>
              <a:defRPr/>
            </a:pPr>
            <a:r>
              <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递归过程在实现时，需要自己调用自己。</a:t>
            </a:r>
            <a:endPar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spcBef>
                <a:spcPct val="20000"/>
              </a:spcBef>
              <a:buClrTx/>
              <a:buSzTx/>
              <a:buChar char="•"/>
              <a:defRPr/>
            </a:pPr>
            <a:r>
              <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每一次递归调用进入下一层时，为了能正确返回并继续操作</a:t>
            </a:r>
            <a:r>
              <a:rPr kumimoji="1" lang="en-US" altLang="zh-CN"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需要</a:t>
            </a:r>
            <a:r>
              <a:rPr kumimoji="1" lang="zh-CN" altLang="en-US" sz="2800" b="1" kern="1200" cap="none" spc="0" normalizeH="0" baseline="0" noProof="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存储返回地址及过程中使用的参数、局部变量</a:t>
            </a:r>
            <a:r>
              <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等。</a:t>
            </a:r>
            <a:endParaRPr kumimoji="1" lang="zh-CN" altLang="en-US" sz="2800" b="1" kern="1200" cap="none" spc="0" normalizeH="0" baseline="0" noProof="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Group 18"/>
          <p:cNvGrpSpPr/>
          <p:nvPr/>
        </p:nvGrpSpPr>
        <p:grpSpPr>
          <a:xfrm>
            <a:off x="2133600" y="2895600"/>
            <a:ext cx="5867400" cy="685800"/>
            <a:chOff x="432" y="1584"/>
            <a:chExt cx="3696" cy="432"/>
          </a:xfrm>
        </p:grpSpPr>
        <p:sp>
          <p:nvSpPr>
            <p:cNvPr id="13323" name="Line 10"/>
            <p:cNvSpPr/>
            <p:nvPr/>
          </p:nvSpPr>
          <p:spPr>
            <a:xfrm>
              <a:off x="816" y="2016"/>
              <a:ext cx="3312" cy="0"/>
            </a:xfrm>
            <a:prstGeom prst="line">
              <a:avLst/>
            </a:prstGeom>
            <a:ln w="57150" cap="flat" cmpd="sng">
              <a:solidFill>
                <a:srgbClr val="FF0000"/>
              </a:solidFill>
              <a:prstDash val="solid"/>
              <a:round/>
              <a:headEnd type="none" w="med" len="med"/>
              <a:tailEnd type="triangle" w="med" len="med"/>
            </a:ln>
          </p:spPr>
        </p:sp>
        <p:sp>
          <p:nvSpPr>
            <p:cNvPr id="534541" name="Text Box 13"/>
            <p:cNvSpPr txBox="1">
              <a:spLocks noChangeArrowheads="1"/>
            </p:cNvSpPr>
            <p:nvPr/>
          </p:nvSpPr>
          <p:spPr bwMode="auto">
            <a:xfrm>
              <a:off x="432" y="1584"/>
              <a:ext cx="1016" cy="329"/>
            </a:xfrm>
            <a:prstGeom prst="rect">
              <a:avLst/>
            </a:prstGeom>
            <a:noFill/>
            <a:ln w="9525">
              <a:noFill/>
              <a:miter lim="800000"/>
            </a:ln>
            <a:effectLst/>
          </p:spPr>
          <p:txBody>
            <a:bodyPr wrap="none">
              <a:spAutoFit/>
            </a:bodyPr>
            <a:lstStyle/>
            <a:p>
              <a:pPr marR="0" defTabSz="914400">
                <a:buClrTx/>
                <a:buSzTx/>
                <a:defRPr/>
              </a:pPr>
              <a:r>
                <a:rPr kumimoji="1" lang="zh-CN" altLang="en-US" sz="2800" b="1" kern="1200" cap="none" spc="0" normalizeH="0" baseline="0" noProof="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rPr>
                <a:t>递归次序</a:t>
              </a:r>
              <a:endParaRPr kumimoji="1" lang="zh-CN" altLang="en-US" sz="2800" b="1" kern="1200" cap="none" spc="0" normalizeH="0" baseline="0" noProof="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endParaRPr>
            </a:p>
          </p:txBody>
        </p:sp>
      </p:grpSp>
      <p:grpSp>
        <p:nvGrpSpPr>
          <p:cNvPr id="4" name="Group 19"/>
          <p:cNvGrpSpPr/>
          <p:nvPr/>
        </p:nvGrpSpPr>
        <p:grpSpPr>
          <a:xfrm>
            <a:off x="3886200" y="4343400"/>
            <a:ext cx="5803900" cy="598488"/>
            <a:chOff x="1536" y="2448"/>
            <a:chExt cx="3656" cy="377"/>
          </a:xfrm>
        </p:grpSpPr>
        <p:sp>
          <p:nvSpPr>
            <p:cNvPr id="13326" name="Line 11"/>
            <p:cNvSpPr/>
            <p:nvPr/>
          </p:nvSpPr>
          <p:spPr>
            <a:xfrm>
              <a:off x="1536" y="2448"/>
              <a:ext cx="3312" cy="0"/>
            </a:xfrm>
            <a:prstGeom prst="line">
              <a:avLst/>
            </a:prstGeom>
            <a:ln w="57150" cap="flat" cmpd="sng">
              <a:solidFill>
                <a:srgbClr val="FF0000"/>
              </a:solidFill>
              <a:prstDash val="solid"/>
              <a:round/>
              <a:headEnd type="triangle" w="med" len="med"/>
              <a:tailEnd type="none" w="med" len="med"/>
            </a:ln>
          </p:spPr>
        </p:sp>
        <p:sp>
          <p:nvSpPr>
            <p:cNvPr id="534542" name="Text Box 14"/>
            <p:cNvSpPr txBox="1">
              <a:spLocks noChangeArrowheads="1"/>
            </p:cNvSpPr>
            <p:nvPr/>
          </p:nvSpPr>
          <p:spPr bwMode="auto">
            <a:xfrm>
              <a:off x="4176" y="2496"/>
              <a:ext cx="1016" cy="329"/>
            </a:xfrm>
            <a:prstGeom prst="rect">
              <a:avLst/>
            </a:prstGeom>
            <a:noFill/>
            <a:ln w="9525">
              <a:noFill/>
              <a:miter lim="800000"/>
            </a:ln>
            <a:effectLst/>
          </p:spPr>
          <p:txBody>
            <a:bodyPr wrap="none">
              <a:spAutoFit/>
            </a:bodyPr>
            <a:lstStyle/>
            <a:p>
              <a:pPr marR="0" defTabSz="914400">
                <a:buClrTx/>
                <a:buSzTx/>
                <a:defRPr/>
              </a:pPr>
              <a:r>
                <a:rPr kumimoji="1" lang="zh-CN" altLang="en-US" sz="2800" b="1" kern="1200" cap="none" spc="0" normalizeH="0" baseline="0" noProof="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rPr>
                <a:t>返回次序</a:t>
              </a:r>
              <a:endParaRPr kumimoji="1" lang="zh-CN" altLang="en-US" sz="2800" b="1" kern="1200" cap="none" spc="0" normalizeH="0" baseline="0" noProof="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endParaRPr>
            </a:p>
          </p:txBody>
        </p:sp>
      </p:grpSp>
      <p:sp>
        <p:nvSpPr>
          <p:cNvPr id="534548" name="Rectangle 20"/>
          <p:cNvSpPr>
            <a:spLocks noChangeArrowheads="1"/>
          </p:cNvSpPr>
          <p:nvPr/>
        </p:nvSpPr>
        <p:spPr bwMode="auto">
          <a:xfrm>
            <a:off x="366713" y="2362200"/>
            <a:ext cx="10821988" cy="533400"/>
          </a:xfrm>
          <a:prstGeom prst="rect">
            <a:avLst/>
          </a:prstGeom>
          <a:noFill/>
          <a:ln w="9525">
            <a:noFill/>
            <a:miter lim="800000"/>
          </a:ln>
          <a:effectLst/>
        </p:spPr>
        <p:txBody>
          <a:bodyPr lIns="92075" tIns="46038" rIns="92075" bIns="46038"/>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层层向下递归，返回时的次序与进入的次序正好相反：</a:t>
            </a:r>
            <a:endPar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p:txBody>
      </p:sp>
      <p:sp>
        <p:nvSpPr>
          <p:cNvPr id="534549" name="Rectangle 21"/>
          <p:cNvSpPr>
            <a:spLocks noChangeArrowheads="1"/>
          </p:cNvSpPr>
          <p:nvPr/>
        </p:nvSpPr>
        <p:spPr bwMode="auto">
          <a:xfrm>
            <a:off x="247650" y="5065713"/>
            <a:ext cx="11272838" cy="914400"/>
          </a:xfrm>
          <a:prstGeom prst="rect">
            <a:avLst/>
          </a:prstGeom>
          <a:noFill/>
          <a:ln w="9525">
            <a:noFill/>
            <a:miter lim="800000"/>
          </a:ln>
          <a:effectLst/>
        </p:spPr>
        <p:txBody>
          <a:bodyPr lIns="92075" tIns="46038" rIns="92075" bIns="46038"/>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28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由于需要保存的每层信息满足后进先出的原则，因此利用</a:t>
            </a:r>
            <a:r>
              <a:rPr kumimoji="1"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栈</a:t>
            </a:r>
            <a:r>
              <a:rPr kumimoji="1" lang="zh-CN" altLang="en-US" sz="28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的组织空间存储每层信息，从而形成递归工作栈。   </a:t>
            </a:r>
            <a:endParaRPr kumimoji="1" lang="zh-CN" altLang="en-US" sz="28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4540"/>
                                        </p:tgtEl>
                                        <p:attrNameLst>
                                          <p:attrName>style.visibility</p:attrName>
                                        </p:attrNameLst>
                                      </p:cBhvr>
                                      <p:to>
                                        <p:strVal val="visible"/>
                                      </p:to>
                                    </p:set>
                                    <p:animEffect transition="in" filter="box(out)">
                                      <p:cBhvr>
                                        <p:cTn id="7" dur="500"/>
                                        <p:tgtEl>
                                          <p:spTgt spid="53454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ppt_w/2"/>
                                          </p:val>
                                        </p:tav>
                                        <p:tav tm="100000">
                                          <p:val>
                                            <p:strVal val="#ppt_x"/>
                                          </p:val>
                                        </p:tav>
                                      </p:tavLst>
                                    </p:anim>
                                    <p:anim calcmode="lin" valueType="num">
                                      <p:cBhvr>
                                        <p:cTn id="13" dur="500" fill="hold"/>
                                        <p:tgtEl>
                                          <p:spTgt spid="2"/>
                                        </p:tgtEl>
                                        <p:attrNameLst>
                                          <p:attrName>ppt_y</p:attrName>
                                        </p:attrNameLst>
                                      </p:cBhvr>
                                      <p:tavLst>
                                        <p:tav tm="0">
                                          <p:val>
                                            <p:strVal val="#ppt_y"/>
                                          </p:val>
                                        </p:tav>
                                        <p:tav tm="100000">
                                          <p:val>
                                            <p:strVal val="#ppt_y"/>
                                          </p:val>
                                        </p:tav>
                                      </p:tavLst>
                                    </p:anim>
                                    <p:anim calcmode="lin" valueType="num">
                                      <p:cBhvr>
                                        <p:cTn id="14" dur="500" fill="hold"/>
                                        <p:tgtEl>
                                          <p:spTgt spid="2"/>
                                        </p:tgtEl>
                                        <p:attrNameLst>
                                          <p:attrName>ppt_w</p:attrName>
                                        </p:attrNameLst>
                                      </p:cBhvr>
                                      <p:tavLst>
                                        <p:tav tm="0">
                                          <p:val>
                                            <p:fltVal val="0.000000"/>
                                          </p:val>
                                        </p:tav>
                                        <p:tav tm="100000">
                                          <p:val>
                                            <p:strVal val="#ppt_w"/>
                                          </p:val>
                                        </p:tav>
                                      </p:tavLst>
                                    </p:anim>
                                    <p:anim calcmode="lin" valueType="num">
                                      <p:cBhvr>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ppt_w/2"/>
                                          </p:val>
                                        </p:tav>
                                        <p:tav tm="100000">
                                          <p:val>
                                            <p:strVal val="#ppt_x"/>
                                          </p:val>
                                        </p:tav>
                                      </p:tavLst>
                                    </p:anim>
                                    <p:anim calcmode="lin" valueType="num">
                                      <p:cBhvr>
                                        <p:cTn id="21" dur="500" fill="hold"/>
                                        <p:tgtEl>
                                          <p:spTgt spid="3"/>
                                        </p:tgtEl>
                                        <p:attrNameLst>
                                          <p:attrName>ppt_y</p:attrName>
                                        </p:attrNameLst>
                                      </p:cBhvr>
                                      <p:tavLst>
                                        <p:tav tm="0">
                                          <p:val>
                                            <p:strVal val="#ppt_y"/>
                                          </p:val>
                                        </p:tav>
                                        <p:tav tm="100000">
                                          <p:val>
                                            <p:strVal val="#ppt_y"/>
                                          </p:val>
                                        </p:tav>
                                      </p:tavLst>
                                    </p:anim>
                                    <p:anim calcmode="lin" valueType="num">
                                      <p:cBhvr>
                                        <p:cTn id="22" dur="500" fill="hold"/>
                                        <p:tgtEl>
                                          <p:spTgt spid="3"/>
                                        </p:tgtEl>
                                        <p:attrNameLst>
                                          <p:attrName>ppt_w</p:attrName>
                                        </p:attrNameLst>
                                      </p:cBhvr>
                                      <p:tavLst>
                                        <p:tav tm="0">
                                          <p:val>
                                            <p:fltVal val="0.000000"/>
                                          </p:val>
                                        </p:tav>
                                        <p:tav tm="100000">
                                          <p:val>
                                            <p:strVal val="#ppt_w"/>
                                          </p:val>
                                        </p:tav>
                                      </p:tavLst>
                                    </p:anim>
                                    <p:anim calcmode="lin" valueType="num">
                                      <p:cBhvr>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2"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ppt_x</p:attrName>
                                        </p:attrNameLst>
                                      </p:cBhvr>
                                      <p:tavLst>
                                        <p:tav tm="0">
                                          <p:val>
                                            <p:strVal val="#ppt_x+#ppt_w/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 calcmode="lin" valueType="num">
                                      <p:cBhvr>
                                        <p:cTn id="30" dur="500" fill="hold"/>
                                        <p:tgtEl>
                                          <p:spTgt spid="4"/>
                                        </p:tgtEl>
                                        <p:attrNameLst>
                                          <p:attrName>ppt_w</p:attrName>
                                        </p:attrNameLst>
                                      </p:cBhvr>
                                      <p:tavLst>
                                        <p:tav tm="0">
                                          <p:val>
                                            <p:fltVal val="0.000000"/>
                                          </p:val>
                                        </p:tav>
                                        <p:tav tm="100000">
                                          <p:val>
                                            <p:strVal val="#ppt_w"/>
                                          </p:val>
                                        </p:tav>
                                      </p:tavLst>
                                    </p:anim>
                                    <p:anim calcmode="lin" valueType="num">
                                      <p:cBhvr>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534548"/>
                                        </p:tgtEl>
                                        <p:attrNameLst>
                                          <p:attrName>style.visibility</p:attrName>
                                        </p:attrNameLst>
                                      </p:cBhvr>
                                      <p:to>
                                        <p:strVal val="visible"/>
                                      </p:to>
                                    </p:set>
                                    <p:animEffect transition="in" filter="box(out)">
                                      <p:cBhvr>
                                        <p:cTn id="36" dur="500"/>
                                        <p:tgtEl>
                                          <p:spTgt spid="53454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534549"/>
                                        </p:tgtEl>
                                        <p:attrNameLst>
                                          <p:attrName>style.visibility</p:attrName>
                                        </p:attrNameLst>
                                      </p:cBhvr>
                                      <p:to>
                                        <p:strVal val="visible"/>
                                      </p:to>
                                    </p:set>
                                    <p:anim calcmode="lin" valueType="num">
                                      <p:cBhvr additive="base">
                                        <p:cTn id="41" dur="500" fill="hold"/>
                                        <p:tgtEl>
                                          <p:spTgt spid="534549"/>
                                        </p:tgtEl>
                                        <p:attrNameLst>
                                          <p:attrName>ppt_x</p:attrName>
                                        </p:attrNameLst>
                                      </p:cBhvr>
                                      <p:tavLst>
                                        <p:tav tm="0">
                                          <p:val>
                                            <p:strVal val="0-#ppt_w/2"/>
                                          </p:val>
                                        </p:tav>
                                        <p:tav tm="100000">
                                          <p:val>
                                            <p:strVal val="#ppt_x"/>
                                          </p:val>
                                        </p:tav>
                                      </p:tavLst>
                                    </p:anim>
                                    <p:anim calcmode="lin" valueType="num">
                                      <p:cBhvr additive="base">
                                        <p:cTn id="42" dur="500" fill="hold"/>
                                        <p:tgtEl>
                                          <p:spTgt spid="5345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40" grpId="0" bldLvl="0" animBg="1"/>
      <p:bldP spid="534548" grpId="0" bldLvl="0" animBg="1"/>
      <p:bldP spid="534549"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6578" name="Rectangle 2"/>
          <p:cNvSpPr>
            <a:spLocks noChangeArrowheads="1"/>
          </p:cNvSpPr>
          <p:nvPr/>
        </p:nvSpPr>
        <p:spPr bwMode="auto">
          <a:xfrm>
            <a:off x="3048000" y="457200"/>
            <a:ext cx="6278880" cy="5835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递归工作栈的活动记录及工作过程</a:t>
            </a:r>
            <a:endParaRPr kumimoji="1" lang="zh-CN" altLang="en-US" sz="32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p:txBody>
      </p:sp>
      <p:grpSp>
        <p:nvGrpSpPr>
          <p:cNvPr id="2" name="Group 6"/>
          <p:cNvGrpSpPr/>
          <p:nvPr/>
        </p:nvGrpSpPr>
        <p:grpSpPr>
          <a:xfrm>
            <a:off x="2667000" y="1219200"/>
            <a:ext cx="6759575" cy="584200"/>
            <a:chOff x="576" y="960"/>
            <a:chExt cx="4258" cy="368"/>
          </a:xfrm>
        </p:grpSpPr>
        <p:sp>
          <p:nvSpPr>
            <p:cNvPr id="536579" name="Rectangle 3"/>
            <p:cNvSpPr>
              <a:spLocks noChangeArrowheads="1"/>
            </p:cNvSpPr>
            <p:nvPr/>
          </p:nvSpPr>
          <p:spPr bwMode="auto">
            <a:xfrm>
              <a:off x="576" y="960"/>
              <a:ext cx="1395" cy="36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活动记录：</a:t>
              </a:r>
              <a:endParaRPr kumimoji="1" lang="zh-CN" altLang="en-US"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4340" name="Text Box 4"/>
            <p:cNvSpPr txBox="1"/>
            <p:nvPr/>
          </p:nvSpPr>
          <p:spPr>
            <a:xfrm>
              <a:off x="1872" y="1008"/>
              <a:ext cx="2962" cy="290"/>
            </a:xfrm>
            <a:prstGeom prst="rect">
              <a:avLst/>
            </a:prstGeom>
            <a:solidFill>
              <a:srgbClr val="FFFF99"/>
            </a:solidFill>
            <a:ln w="9525" cap="flat" cmpd="sng">
              <a:solidFill>
                <a:srgbClr val="D60093"/>
              </a:solidFill>
              <a:prstDash val="solid"/>
              <a:miter/>
              <a:headEnd type="none" w="med" len="med"/>
              <a:tailEnd type="none" w="med" len="med"/>
            </a:ln>
          </p:spPr>
          <p:txBody>
            <a:bodyPr anchor="t" anchorCtr="0">
              <a:spAutoFit/>
            </a:bodyPr>
            <a:p>
              <a:pPr>
                <a:spcBef>
                  <a:spcPct val="50000"/>
                </a:spcBef>
              </a:pPr>
              <a:r>
                <a:rPr lang="zh-CN" altLang="en-US" b="1" dirty="0">
                  <a:solidFill>
                    <a:srgbClr val="D60093"/>
                  </a:solidFill>
                  <a:latin typeface="微软雅黑" panose="020B0503020204020204" pitchFamily="34" charset="-122"/>
                  <a:ea typeface="微软雅黑" panose="020B0503020204020204" pitchFamily="34" charset="-122"/>
                  <a:cs typeface="微软雅黑" panose="020B0503020204020204" pitchFamily="34" charset="-122"/>
                </a:rPr>
                <a:t>参数（实参）  返回地址（位置）</a:t>
              </a:r>
              <a:endParaRPr lang="zh-CN" altLang="en-US" b="1" dirty="0">
                <a:solidFill>
                  <a:srgbClr val="D6009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341" name="Line 5"/>
            <p:cNvSpPr/>
            <p:nvPr/>
          </p:nvSpPr>
          <p:spPr>
            <a:xfrm>
              <a:off x="3120" y="1008"/>
              <a:ext cx="0" cy="288"/>
            </a:xfrm>
            <a:prstGeom prst="line">
              <a:avLst/>
            </a:prstGeom>
            <a:ln w="9525" cap="flat" cmpd="sng">
              <a:solidFill>
                <a:srgbClr val="D60093"/>
              </a:solidFill>
              <a:prstDash val="solid"/>
              <a:round/>
              <a:headEnd type="none" w="med" len="med"/>
              <a:tailEnd type="none" w="med" len="med"/>
            </a:ln>
          </p:spPr>
        </p:sp>
      </p:grpSp>
      <p:sp>
        <p:nvSpPr>
          <p:cNvPr id="536583" name="Text Box 7"/>
          <p:cNvSpPr txBox="1"/>
          <p:nvPr/>
        </p:nvSpPr>
        <p:spPr>
          <a:xfrm>
            <a:off x="1905000" y="2209800"/>
            <a:ext cx="3429000" cy="3538220"/>
          </a:xfrm>
          <a:prstGeom prst="rect">
            <a:avLst/>
          </a:prstGeom>
          <a:noFill/>
          <a:ln w="9525">
            <a:noFill/>
          </a:ln>
        </p:spPr>
        <p:txBody>
          <a:bodyPr anchor="t" anchorCtr="0">
            <a:spAutoFit/>
          </a:bodyPr>
          <a:p>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int  fact(int n)</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int  x;</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①</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if  (n= =0)</a:t>
            </a:r>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②    </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x=1; </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③ </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else</a:t>
            </a:r>
            <a:endPar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④</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x=fact(n-1)*n; </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⑤</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return( x );          </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594" name="Rectangle 18"/>
          <p:cNvSpPr/>
          <p:nvPr/>
        </p:nvSpPr>
        <p:spPr>
          <a:xfrm>
            <a:off x="7162800" y="2514600"/>
            <a:ext cx="2915285" cy="460375"/>
          </a:xfrm>
          <a:prstGeom prst="rect">
            <a:avLst/>
          </a:prstGeom>
          <a:noFill/>
          <a:ln w="9525">
            <a:noFill/>
          </a:ln>
        </p:spPr>
        <p:txBody>
          <a:bodyPr wrap="none" anchor="t" anchorCtr="0">
            <a:spAutoFit/>
          </a:bodyPr>
          <a:p>
            <a:r>
              <a:rPr lang="zh-CN" altLang="en-US"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求</a:t>
            </a:r>
            <a:r>
              <a:rPr lang="en-US" altLang="zh-CN"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的递归执行过程</a:t>
            </a:r>
            <a:endParaRPr lang="zh-CN" altLang="en-US"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596" name="Text Box 20"/>
          <p:cNvSpPr txBox="1"/>
          <p:nvPr/>
        </p:nvSpPr>
        <p:spPr>
          <a:xfrm>
            <a:off x="7315200" y="3276600"/>
            <a:ext cx="1805305"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n=4 ①③④</a:t>
            </a:r>
            <a:endPar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Group 25"/>
          <p:cNvGrpSpPr/>
          <p:nvPr/>
        </p:nvGrpSpPr>
        <p:grpSpPr>
          <a:xfrm>
            <a:off x="4953000" y="2438400"/>
            <a:ext cx="2133600" cy="4021138"/>
            <a:chOff x="2112" y="1440"/>
            <a:chExt cx="1344" cy="2533"/>
          </a:xfrm>
        </p:grpSpPr>
        <p:grpSp>
          <p:nvGrpSpPr>
            <p:cNvPr id="14346" name="Group 23"/>
            <p:cNvGrpSpPr/>
            <p:nvPr/>
          </p:nvGrpSpPr>
          <p:grpSpPr>
            <a:xfrm>
              <a:off x="2304" y="1440"/>
              <a:ext cx="1152" cy="2284"/>
              <a:chOff x="2304" y="1296"/>
              <a:chExt cx="1152" cy="2284"/>
            </a:xfrm>
          </p:grpSpPr>
          <p:grpSp>
            <p:nvGrpSpPr>
              <p:cNvPr id="14347" name="Group 15"/>
              <p:cNvGrpSpPr/>
              <p:nvPr/>
            </p:nvGrpSpPr>
            <p:grpSpPr>
              <a:xfrm>
                <a:off x="2304" y="1584"/>
                <a:ext cx="1152" cy="1996"/>
                <a:chOff x="2880" y="1488"/>
                <a:chExt cx="1152" cy="1996"/>
              </a:xfrm>
            </p:grpSpPr>
            <p:sp>
              <p:nvSpPr>
                <p:cNvPr id="14348" name="Text Box 8"/>
                <p:cNvSpPr txBox="1"/>
                <p:nvPr/>
              </p:nvSpPr>
              <p:spPr>
                <a:xfrm>
                  <a:off x="2880" y="1488"/>
                  <a:ext cx="1152" cy="1996"/>
                </a:xfrm>
                <a:prstGeom prst="rect">
                  <a:avLst/>
                </a:prstGeom>
                <a:solidFill>
                  <a:srgbClr val="99FFCC"/>
                </a:solidFill>
                <a:ln w="28575" cap="flat" cmpd="sng">
                  <a:solidFill>
                    <a:srgbClr val="339933"/>
                  </a:solidFill>
                  <a:prstDash val="solid"/>
                  <a:miter/>
                  <a:headEnd type="none" w="med" len="med"/>
                  <a:tailEnd type="none" w="med" len="med"/>
                </a:ln>
              </p:spPr>
              <p:txBody>
                <a:bodyPr anchor="t" anchorCtr="0">
                  <a:spAutoFit/>
                </a:bodyPr>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a:p>
                  <a:pPr>
                    <a:spcBef>
                      <a:spcPct val="50000"/>
                    </a:spcBef>
                  </a:pPr>
                  <a:endParaRPr lang="en-US" altLang="zh-CN" sz="2000" b="1" dirty="0">
                    <a:latin typeface="微软雅黑" panose="020B0503020204020204" pitchFamily="34" charset="-122"/>
                    <a:ea typeface="微软雅黑" panose="020B0503020204020204" pitchFamily="34" charset="-122"/>
                  </a:endParaRPr>
                </a:p>
              </p:txBody>
            </p:sp>
            <p:sp>
              <p:nvSpPr>
                <p:cNvPr id="14349" name="Line 9"/>
                <p:cNvSpPr/>
                <p:nvPr/>
              </p:nvSpPr>
              <p:spPr>
                <a:xfrm>
                  <a:off x="2880" y="3216"/>
                  <a:ext cx="1152" cy="0"/>
                </a:xfrm>
                <a:prstGeom prst="line">
                  <a:avLst/>
                </a:prstGeom>
                <a:ln w="28575" cap="flat" cmpd="sng">
                  <a:solidFill>
                    <a:srgbClr val="339933"/>
                  </a:solidFill>
                  <a:prstDash val="solid"/>
                  <a:round/>
                  <a:headEnd type="none" w="med" len="med"/>
                  <a:tailEnd type="none" w="med" len="med"/>
                </a:ln>
              </p:spPr>
            </p:sp>
            <p:sp>
              <p:nvSpPr>
                <p:cNvPr id="14350" name="Line 10"/>
                <p:cNvSpPr/>
                <p:nvPr/>
              </p:nvSpPr>
              <p:spPr>
                <a:xfrm>
                  <a:off x="2880" y="2928"/>
                  <a:ext cx="1152" cy="0"/>
                </a:xfrm>
                <a:prstGeom prst="line">
                  <a:avLst/>
                </a:prstGeom>
                <a:ln w="28575" cap="flat" cmpd="sng">
                  <a:solidFill>
                    <a:srgbClr val="339933"/>
                  </a:solidFill>
                  <a:prstDash val="solid"/>
                  <a:round/>
                  <a:headEnd type="none" w="med" len="med"/>
                  <a:tailEnd type="none" w="med" len="med"/>
                </a:ln>
              </p:spPr>
            </p:sp>
            <p:sp>
              <p:nvSpPr>
                <p:cNvPr id="14351" name="Line 11"/>
                <p:cNvSpPr/>
                <p:nvPr/>
              </p:nvSpPr>
              <p:spPr>
                <a:xfrm>
                  <a:off x="2880" y="2640"/>
                  <a:ext cx="1152" cy="0"/>
                </a:xfrm>
                <a:prstGeom prst="line">
                  <a:avLst/>
                </a:prstGeom>
                <a:ln w="28575" cap="flat" cmpd="sng">
                  <a:solidFill>
                    <a:srgbClr val="339933"/>
                  </a:solidFill>
                  <a:prstDash val="solid"/>
                  <a:round/>
                  <a:headEnd type="none" w="med" len="med"/>
                  <a:tailEnd type="none" w="med" len="med"/>
                </a:ln>
              </p:spPr>
            </p:sp>
            <p:sp>
              <p:nvSpPr>
                <p:cNvPr id="14352" name="Line 12"/>
                <p:cNvSpPr/>
                <p:nvPr/>
              </p:nvSpPr>
              <p:spPr>
                <a:xfrm>
                  <a:off x="2880" y="2352"/>
                  <a:ext cx="1152" cy="0"/>
                </a:xfrm>
                <a:prstGeom prst="line">
                  <a:avLst/>
                </a:prstGeom>
                <a:ln w="28575" cap="flat" cmpd="sng">
                  <a:solidFill>
                    <a:srgbClr val="339933"/>
                  </a:solidFill>
                  <a:prstDash val="solid"/>
                  <a:round/>
                  <a:headEnd type="none" w="med" len="med"/>
                  <a:tailEnd type="none" w="med" len="med"/>
                </a:ln>
              </p:spPr>
            </p:sp>
            <p:sp>
              <p:nvSpPr>
                <p:cNvPr id="14353" name="Line 13"/>
                <p:cNvSpPr/>
                <p:nvPr/>
              </p:nvSpPr>
              <p:spPr>
                <a:xfrm>
                  <a:off x="2880" y="2064"/>
                  <a:ext cx="1152" cy="0"/>
                </a:xfrm>
                <a:prstGeom prst="line">
                  <a:avLst/>
                </a:prstGeom>
                <a:ln w="28575" cap="flat" cmpd="sng">
                  <a:solidFill>
                    <a:srgbClr val="339933"/>
                  </a:solidFill>
                  <a:prstDash val="solid"/>
                  <a:round/>
                  <a:headEnd type="none" w="med" len="med"/>
                  <a:tailEnd type="none" w="med" len="med"/>
                </a:ln>
              </p:spPr>
            </p:sp>
            <p:sp>
              <p:nvSpPr>
                <p:cNvPr id="14354" name="Line 14"/>
                <p:cNvSpPr/>
                <p:nvPr/>
              </p:nvSpPr>
              <p:spPr>
                <a:xfrm>
                  <a:off x="2880" y="1776"/>
                  <a:ext cx="1152" cy="0"/>
                </a:xfrm>
                <a:prstGeom prst="line">
                  <a:avLst/>
                </a:prstGeom>
                <a:ln w="28575" cap="flat" cmpd="sng">
                  <a:solidFill>
                    <a:srgbClr val="339933"/>
                  </a:solidFill>
                  <a:prstDash val="solid"/>
                  <a:round/>
                  <a:headEnd type="none" w="med" len="med"/>
                  <a:tailEnd type="none" w="med" len="med"/>
                </a:ln>
              </p:spPr>
            </p:sp>
          </p:grpSp>
          <p:sp>
            <p:nvSpPr>
              <p:cNvPr id="536593" name="Text Box 17"/>
              <p:cNvSpPr txBox="1">
                <a:spLocks noChangeArrowheads="1"/>
              </p:cNvSpPr>
              <p:nvPr/>
            </p:nvSpPr>
            <p:spPr bwMode="auto">
              <a:xfrm>
                <a:off x="2352" y="1296"/>
                <a:ext cx="1075" cy="290"/>
              </a:xfrm>
              <a:prstGeom prst="rect">
                <a:avLst/>
              </a:prstGeom>
              <a:noFill/>
              <a:ln w="9525">
                <a:noFill/>
                <a:miter lim="800000"/>
              </a:ln>
              <a:effectLst/>
            </p:spPr>
            <p:txBody>
              <a:bodyPr wrap="none">
                <a:spAutoFit/>
              </a:bodyPr>
              <a:lstStyle/>
              <a:p>
                <a:pPr marR="0" defTabSz="914400">
                  <a:buClrTx/>
                  <a:buSzTx/>
                  <a:defRPr/>
                </a:pPr>
                <a:r>
                  <a:rPr kumimoji="1" lang="zh-CN" altLang="en-US" b="1" kern="1200" cap="none" spc="0" normalizeH="0" baseline="0" noProof="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rPr>
                  <a:t>递归工作栈</a:t>
                </a:r>
                <a:endParaRPr kumimoji="1" lang="zh-CN" altLang="en-US" b="1" kern="1200" cap="none" spc="0" normalizeH="0" baseline="0" noProof="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n-cs"/>
                  <a:sym typeface="+mn-ea"/>
                </a:endParaRPr>
              </a:p>
            </p:txBody>
          </p:sp>
        </p:grpSp>
        <p:sp>
          <p:nvSpPr>
            <p:cNvPr id="14356" name="Text Box 24"/>
            <p:cNvSpPr txBox="1"/>
            <p:nvPr/>
          </p:nvSpPr>
          <p:spPr>
            <a:xfrm>
              <a:off x="2112" y="1744"/>
              <a:ext cx="253" cy="2229"/>
            </a:xfrm>
            <a:prstGeom prst="rect">
              <a:avLst/>
            </a:prstGeom>
            <a:noFill/>
            <a:ln w="9525">
              <a:noFill/>
            </a:ln>
          </p:spPr>
          <p:txBody>
            <a:bodyPr wrap="none" anchor="t" anchorCtr="0">
              <a:spAutoFit/>
            </a:bodyPr>
            <a:p>
              <a:r>
                <a:rPr lang="en-US" altLang="zh-CN" sz="2800" b="1" dirty="0">
                  <a:solidFill>
                    <a:srgbClr val="339933"/>
                  </a:solidFill>
                  <a:latin typeface="微软雅黑" panose="020B0503020204020204" pitchFamily="34" charset="-122"/>
                  <a:ea typeface="微软雅黑" panose="020B0503020204020204" pitchFamily="34" charset="-122"/>
                </a:rPr>
                <a:t>7</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6</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5</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4</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3</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2</a:t>
              </a:r>
              <a:endParaRPr lang="en-US" altLang="zh-CN" sz="2800" b="1" dirty="0">
                <a:solidFill>
                  <a:srgbClr val="339933"/>
                </a:solidFill>
                <a:latin typeface="微软雅黑" panose="020B0503020204020204" pitchFamily="34" charset="-122"/>
                <a:ea typeface="微软雅黑" panose="020B0503020204020204" pitchFamily="34" charset="-122"/>
              </a:endParaRPr>
            </a:p>
            <a:p>
              <a:r>
                <a:rPr lang="en-US" altLang="zh-CN" sz="2800" b="1" dirty="0">
                  <a:solidFill>
                    <a:srgbClr val="339933"/>
                  </a:solidFill>
                  <a:latin typeface="微软雅黑" panose="020B0503020204020204" pitchFamily="34" charset="-122"/>
                  <a:ea typeface="微软雅黑" panose="020B0503020204020204" pitchFamily="34" charset="-122"/>
                </a:rPr>
                <a:t>1</a:t>
              </a:r>
              <a:endParaRPr lang="en-US" altLang="zh-CN" sz="2800" b="1" dirty="0">
                <a:solidFill>
                  <a:srgbClr val="339933"/>
                </a:solidFill>
                <a:latin typeface="微软雅黑" panose="020B0503020204020204" pitchFamily="34" charset="-122"/>
                <a:ea typeface="微软雅黑" panose="020B0503020204020204" pitchFamily="34" charset="-122"/>
              </a:endParaRPr>
            </a:p>
            <a:p>
              <a:endParaRPr lang="en-US" altLang="zh-CN" sz="2800" b="1" dirty="0">
                <a:solidFill>
                  <a:srgbClr val="339933"/>
                </a:solidFill>
                <a:latin typeface="微软雅黑" panose="020B0503020204020204" pitchFamily="34" charset="-122"/>
                <a:ea typeface="微软雅黑" panose="020B0503020204020204" pitchFamily="34" charset="-122"/>
              </a:endParaRPr>
            </a:p>
          </p:txBody>
        </p:sp>
      </p:grpSp>
      <p:sp>
        <p:nvSpPr>
          <p:cNvPr id="536603" name="Text Box 27"/>
          <p:cNvSpPr txBox="1"/>
          <p:nvPr/>
        </p:nvSpPr>
        <p:spPr>
          <a:xfrm>
            <a:off x="5562600" y="5638800"/>
            <a:ext cx="1402080" cy="460375"/>
          </a:xfrm>
          <a:prstGeom prst="rect">
            <a:avLst/>
          </a:prstGeom>
          <a:noFill/>
          <a:ln w="9525">
            <a:noFill/>
          </a:ln>
        </p:spPr>
        <p:txBody>
          <a:bodyPr wrap="none" anchor="t" anchorCtr="0">
            <a:spAutoFit/>
          </a:bodyPr>
          <a:p>
            <a:r>
              <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4      ④</a:t>
            </a:r>
            <a:endPar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4" name="Text Box 28"/>
          <p:cNvSpPr txBox="1"/>
          <p:nvPr/>
        </p:nvSpPr>
        <p:spPr>
          <a:xfrm>
            <a:off x="7315200" y="3733800"/>
            <a:ext cx="1805305"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n=3 ①③④</a:t>
            </a:r>
            <a:endPar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5" name="Text Box 29"/>
          <p:cNvSpPr txBox="1"/>
          <p:nvPr/>
        </p:nvSpPr>
        <p:spPr>
          <a:xfrm>
            <a:off x="5562600" y="5181600"/>
            <a:ext cx="1402080" cy="460375"/>
          </a:xfrm>
          <a:prstGeom prst="rect">
            <a:avLst/>
          </a:prstGeom>
          <a:noFill/>
          <a:ln w="9525">
            <a:noFill/>
          </a:ln>
        </p:spPr>
        <p:txBody>
          <a:bodyPr wrap="none" anchor="t" anchorCtr="0">
            <a:spAutoFit/>
          </a:bodyPr>
          <a:p>
            <a:r>
              <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3      ④</a:t>
            </a:r>
            <a:endPar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6" name="Text Box 30"/>
          <p:cNvSpPr txBox="1"/>
          <p:nvPr/>
        </p:nvSpPr>
        <p:spPr>
          <a:xfrm>
            <a:off x="7315200" y="4191000"/>
            <a:ext cx="1805305"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n=2 ①③④</a:t>
            </a:r>
            <a:endPar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7" name="Text Box 31"/>
          <p:cNvSpPr txBox="1"/>
          <p:nvPr/>
        </p:nvSpPr>
        <p:spPr>
          <a:xfrm>
            <a:off x="5562600" y="4724400"/>
            <a:ext cx="1402080" cy="460375"/>
          </a:xfrm>
          <a:prstGeom prst="rect">
            <a:avLst/>
          </a:prstGeom>
          <a:noFill/>
          <a:ln w="9525">
            <a:noFill/>
          </a:ln>
        </p:spPr>
        <p:txBody>
          <a:bodyPr wrap="none" anchor="t" anchorCtr="0">
            <a:spAutoFit/>
          </a:bodyPr>
          <a:p>
            <a:r>
              <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2      ④</a:t>
            </a:r>
            <a:endPar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8" name="Text Box 32"/>
          <p:cNvSpPr txBox="1"/>
          <p:nvPr/>
        </p:nvSpPr>
        <p:spPr>
          <a:xfrm>
            <a:off x="7315200" y="4648200"/>
            <a:ext cx="1805305"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n=1 ①③④</a:t>
            </a:r>
            <a:endPar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09" name="Text Box 33"/>
          <p:cNvSpPr txBox="1"/>
          <p:nvPr/>
        </p:nvSpPr>
        <p:spPr>
          <a:xfrm>
            <a:off x="5562600" y="4267200"/>
            <a:ext cx="1402080" cy="460375"/>
          </a:xfrm>
          <a:prstGeom prst="rect">
            <a:avLst/>
          </a:prstGeom>
          <a:noFill/>
          <a:ln w="9525">
            <a:noFill/>
          </a:ln>
        </p:spPr>
        <p:txBody>
          <a:bodyPr wrap="none" anchor="t" anchorCtr="0">
            <a:spAutoFit/>
          </a:bodyPr>
          <a:p>
            <a:r>
              <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1      ④</a:t>
            </a:r>
            <a:endParaRPr lang="en-US" altLang="zh-CN" b="1"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10" name="Text Box 34"/>
          <p:cNvSpPr txBox="1"/>
          <p:nvPr/>
        </p:nvSpPr>
        <p:spPr>
          <a:xfrm>
            <a:off x="7315200" y="5105400"/>
            <a:ext cx="1805305"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n=0 ①②⑤</a:t>
            </a:r>
            <a:endPar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6615" name="Text Box 39"/>
          <p:cNvSpPr txBox="1"/>
          <p:nvPr/>
        </p:nvSpPr>
        <p:spPr>
          <a:xfrm>
            <a:off x="5562600" y="4343400"/>
            <a:ext cx="1219200" cy="368300"/>
          </a:xfrm>
          <a:prstGeom prst="rect">
            <a:avLst/>
          </a:prstGeom>
          <a:solidFill>
            <a:srgbClr val="99FFCC"/>
          </a:solidFill>
          <a:ln w="9525">
            <a:noFill/>
          </a:ln>
        </p:spPr>
        <p:txBody>
          <a:bodyPr anchor="t" anchorCtr="0">
            <a:spAutoFit/>
          </a:bodyPr>
          <a:p>
            <a:r>
              <a:rPr lang="en-US" altLang="zh-CN" sz="1800" b="1" dirty="0">
                <a:latin typeface="微软雅黑" panose="020B0503020204020204" pitchFamily="34" charset="-122"/>
                <a:ea typeface="微软雅黑" panose="020B0503020204020204" pitchFamily="34" charset="-122"/>
              </a:rPr>
              <a:t>               </a:t>
            </a:r>
            <a:endParaRPr lang="en-US" altLang="zh-CN" sz="1800" b="1" dirty="0">
              <a:latin typeface="微软雅黑" panose="020B0503020204020204" pitchFamily="34" charset="-122"/>
              <a:ea typeface="微软雅黑" panose="020B0503020204020204" pitchFamily="34" charset="-122"/>
            </a:endParaRPr>
          </a:p>
        </p:txBody>
      </p:sp>
      <p:sp>
        <p:nvSpPr>
          <p:cNvPr id="536617" name="Text Box 41"/>
          <p:cNvSpPr txBox="1"/>
          <p:nvPr/>
        </p:nvSpPr>
        <p:spPr>
          <a:xfrm>
            <a:off x="8915400" y="4648200"/>
            <a:ext cx="792480"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rPr>
              <a:t>④⑤</a:t>
            </a:r>
            <a:endParaRPr lang="en-US" altLang="zh-CN" b="1" dirty="0">
              <a:solidFill>
                <a:schemeClr val="accent2"/>
              </a:solidFill>
              <a:latin typeface="微软雅黑" panose="020B0503020204020204" pitchFamily="34" charset="-122"/>
              <a:ea typeface="微软雅黑" panose="020B0503020204020204" pitchFamily="34" charset="-122"/>
            </a:endParaRPr>
          </a:p>
        </p:txBody>
      </p:sp>
      <p:sp>
        <p:nvSpPr>
          <p:cNvPr id="536618" name="Text Box 42"/>
          <p:cNvSpPr txBox="1"/>
          <p:nvPr/>
        </p:nvSpPr>
        <p:spPr>
          <a:xfrm>
            <a:off x="5638800" y="4800600"/>
            <a:ext cx="1219200" cy="368300"/>
          </a:xfrm>
          <a:prstGeom prst="rect">
            <a:avLst/>
          </a:prstGeom>
          <a:solidFill>
            <a:srgbClr val="99FFCC"/>
          </a:solidFill>
          <a:ln w="9525">
            <a:noFill/>
          </a:ln>
        </p:spPr>
        <p:txBody>
          <a:bodyPr anchor="t" anchorCtr="0">
            <a:spAutoFit/>
          </a:bodyPr>
          <a:p>
            <a:r>
              <a:rPr lang="en-US" altLang="zh-CN" sz="1800" b="1" dirty="0">
                <a:latin typeface="微软雅黑" panose="020B0503020204020204" pitchFamily="34" charset="-122"/>
                <a:ea typeface="微软雅黑" panose="020B0503020204020204" pitchFamily="34" charset="-122"/>
              </a:rPr>
              <a:t>               </a:t>
            </a:r>
            <a:endParaRPr lang="en-US" altLang="zh-CN" sz="1800" b="1" dirty="0">
              <a:latin typeface="微软雅黑" panose="020B0503020204020204" pitchFamily="34" charset="-122"/>
              <a:ea typeface="微软雅黑" panose="020B0503020204020204" pitchFamily="34" charset="-122"/>
            </a:endParaRPr>
          </a:p>
        </p:txBody>
      </p:sp>
      <p:sp>
        <p:nvSpPr>
          <p:cNvPr id="536620" name="Text Box 44"/>
          <p:cNvSpPr txBox="1"/>
          <p:nvPr/>
        </p:nvSpPr>
        <p:spPr>
          <a:xfrm>
            <a:off x="8915400" y="4191000"/>
            <a:ext cx="792480"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rPr>
              <a:t>④⑤</a:t>
            </a:r>
            <a:endParaRPr lang="en-US" altLang="zh-CN" b="1" dirty="0">
              <a:solidFill>
                <a:schemeClr val="accent2"/>
              </a:solidFill>
              <a:latin typeface="微软雅黑" panose="020B0503020204020204" pitchFamily="34" charset="-122"/>
              <a:ea typeface="微软雅黑" panose="020B0503020204020204" pitchFamily="34" charset="-122"/>
            </a:endParaRPr>
          </a:p>
        </p:txBody>
      </p:sp>
      <p:sp>
        <p:nvSpPr>
          <p:cNvPr id="536621" name="Text Box 45"/>
          <p:cNvSpPr txBox="1"/>
          <p:nvPr/>
        </p:nvSpPr>
        <p:spPr>
          <a:xfrm>
            <a:off x="5638800" y="5257800"/>
            <a:ext cx="1219200" cy="368300"/>
          </a:xfrm>
          <a:prstGeom prst="rect">
            <a:avLst/>
          </a:prstGeom>
          <a:solidFill>
            <a:srgbClr val="99FFCC"/>
          </a:solidFill>
          <a:ln w="9525">
            <a:noFill/>
          </a:ln>
        </p:spPr>
        <p:txBody>
          <a:bodyPr anchor="t" anchorCtr="0">
            <a:spAutoFit/>
          </a:bodyPr>
          <a:p>
            <a:r>
              <a:rPr lang="en-US" altLang="zh-CN" sz="1800" b="1" dirty="0">
                <a:latin typeface="微软雅黑" panose="020B0503020204020204" pitchFamily="34" charset="-122"/>
                <a:ea typeface="微软雅黑" panose="020B0503020204020204" pitchFamily="34" charset="-122"/>
              </a:rPr>
              <a:t>               </a:t>
            </a:r>
            <a:endParaRPr lang="en-US" altLang="zh-CN" sz="1800" b="1" dirty="0">
              <a:latin typeface="微软雅黑" panose="020B0503020204020204" pitchFamily="34" charset="-122"/>
              <a:ea typeface="微软雅黑" panose="020B0503020204020204" pitchFamily="34" charset="-122"/>
            </a:endParaRPr>
          </a:p>
        </p:txBody>
      </p:sp>
      <p:sp>
        <p:nvSpPr>
          <p:cNvPr id="536623" name="Text Box 47"/>
          <p:cNvSpPr txBox="1"/>
          <p:nvPr/>
        </p:nvSpPr>
        <p:spPr>
          <a:xfrm>
            <a:off x="8915400" y="3733800"/>
            <a:ext cx="792480"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rPr>
              <a:t>④⑤</a:t>
            </a:r>
            <a:endParaRPr lang="en-US" altLang="zh-CN" b="1" dirty="0">
              <a:solidFill>
                <a:schemeClr val="accent2"/>
              </a:solidFill>
              <a:latin typeface="微软雅黑" panose="020B0503020204020204" pitchFamily="34" charset="-122"/>
              <a:ea typeface="微软雅黑" panose="020B0503020204020204" pitchFamily="34" charset="-122"/>
            </a:endParaRPr>
          </a:p>
        </p:txBody>
      </p:sp>
      <p:sp>
        <p:nvSpPr>
          <p:cNvPr id="536624" name="Text Box 48"/>
          <p:cNvSpPr txBox="1"/>
          <p:nvPr/>
        </p:nvSpPr>
        <p:spPr>
          <a:xfrm>
            <a:off x="5638800" y="5672138"/>
            <a:ext cx="1219200" cy="368300"/>
          </a:xfrm>
          <a:prstGeom prst="rect">
            <a:avLst/>
          </a:prstGeom>
          <a:solidFill>
            <a:srgbClr val="99FFCC"/>
          </a:solidFill>
          <a:ln w="9525">
            <a:noFill/>
          </a:ln>
        </p:spPr>
        <p:txBody>
          <a:bodyPr anchor="t" anchorCtr="0">
            <a:spAutoFit/>
          </a:bodyPr>
          <a:p>
            <a:r>
              <a:rPr lang="en-US" altLang="zh-CN" sz="1800" b="1" dirty="0">
                <a:latin typeface="微软雅黑" panose="020B0503020204020204" pitchFamily="34" charset="-122"/>
                <a:ea typeface="微软雅黑" panose="020B0503020204020204" pitchFamily="34" charset="-122"/>
              </a:rPr>
              <a:t>               </a:t>
            </a:r>
            <a:endParaRPr lang="en-US" altLang="zh-CN" sz="1800" b="1" dirty="0">
              <a:latin typeface="微软雅黑" panose="020B0503020204020204" pitchFamily="34" charset="-122"/>
              <a:ea typeface="微软雅黑" panose="020B0503020204020204" pitchFamily="34" charset="-122"/>
            </a:endParaRPr>
          </a:p>
        </p:txBody>
      </p:sp>
      <p:sp>
        <p:nvSpPr>
          <p:cNvPr id="536626" name="Text Box 50"/>
          <p:cNvSpPr txBox="1"/>
          <p:nvPr/>
        </p:nvSpPr>
        <p:spPr>
          <a:xfrm>
            <a:off x="8915400" y="3276600"/>
            <a:ext cx="792480" cy="460375"/>
          </a:xfrm>
          <a:prstGeom prst="rect">
            <a:avLst/>
          </a:prstGeom>
          <a:noFill/>
          <a:ln w="9525">
            <a:noFill/>
          </a:ln>
        </p:spPr>
        <p:txBody>
          <a:bodyPr wrap="none" anchor="t" anchorCtr="0">
            <a:spAutoFit/>
          </a:bodyPr>
          <a:p>
            <a:r>
              <a:rPr lang="en-US" altLang="zh-CN" b="1" dirty="0">
                <a:solidFill>
                  <a:schemeClr val="accent2"/>
                </a:solidFill>
                <a:latin typeface="微软雅黑" panose="020B0503020204020204" pitchFamily="34" charset="-122"/>
                <a:ea typeface="微软雅黑" panose="020B0503020204020204" pitchFamily="34" charset="-122"/>
              </a:rPr>
              <a:t>④⑤</a:t>
            </a:r>
            <a:endParaRPr lang="en-US" altLang="zh-CN" b="1" dirty="0">
              <a:solidFill>
                <a:schemeClr val="accent2"/>
              </a:solidFill>
              <a:latin typeface="微软雅黑" panose="020B0503020204020204" pitchFamily="34" charset="-122"/>
              <a:ea typeface="微软雅黑" panose="020B0503020204020204" pitchFamily="34" charset="-122"/>
            </a:endParaRPr>
          </a:p>
        </p:txBody>
      </p:sp>
      <p:sp>
        <p:nvSpPr>
          <p:cNvPr id="536631" name="Line 55"/>
          <p:cNvSpPr/>
          <p:nvPr/>
        </p:nvSpPr>
        <p:spPr>
          <a:xfrm flipV="1">
            <a:off x="8915400" y="4953000"/>
            <a:ext cx="228600" cy="381000"/>
          </a:xfrm>
          <a:prstGeom prst="line">
            <a:avLst/>
          </a:prstGeom>
          <a:ln w="57150" cap="flat" cmpd="sng">
            <a:solidFill>
              <a:srgbClr val="FF3300"/>
            </a:solidFill>
            <a:prstDash val="solid"/>
            <a:round/>
            <a:headEnd type="none" w="med" len="med"/>
            <a:tailEnd type="triangle" w="med" len="med"/>
          </a:ln>
        </p:spPr>
      </p:sp>
      <p:sp>
        <p:nvSpPr>
          <p:cNvPr id="536632" name="Line 56"/>
          <p:cNvSpPr/>
          <p:nvPr/>
        </p:nvSpPr>
        <p:spPr>
          <a:xfrm flipH="1" flipV="1">
            <a:off x="9220200" y="4495800"/>
            <a:ext cx="381000" cy="304800"/>
          </a:xfrm>
          <a:prstGeom prst="line">
            <a:avLst/>
          </a:prstGeom>
          <a:ln w="57150" cap="flat" cmpd="sng">
            <a:solidFill>
              <a:srgbClr val="FF3300"/>
            </a:solidFill>
            <a:prstDash val="solid"/>
            <a:round/>
            <a:headEnd type="none" w="med" len="med"/>
            <a:tailEnd type="triangle" w="med" len="med"/>
          </a:ln>
        </p:spPr>
      </p:sp>
      <p:sp>
        <p:nvSpPr>
          <p:cNvPr id="536633" name="Line 57"/>
          <p:cNvSpPr/>
          <p:nvPr/>
        </p:nvSpPr>
        <p:spPr>
          <a:xfrm flipH="1" flipV="1">
            <a:off x="9220200" y="4038600"/>
            <a:ext cx="457200" cy="381000"/>
          </a:xfrm>
          <a:prstGeom prst="line">
            <a:avLst/>
          </a:prstGeom>
          <a:ln w="57150" cap="flat" cmpd="sng">
            <a:solidFill>
              <a:srgbClr val="FF3300"/>
            </a:solidFill>
            <a:prstDash val="solid"/>
            <a:round/>
            <a:headEnd type="none" w="med" len="med"/>
            <a:tailEnd type="triangle" w="med" len="med"/>
          </a:ln>
        </p:spPr>
      </p:sp>
      <p:sp>
        <p:nvSpPr>
          <p:cNvPr id="536634" name="Line 58"/>
          <p:cNvSpPr/>
          <p:nvPr/>
        </p:nvSpPr>
        <p:spPr>
          <a:xfrm flipH="1" flipV="1">
            <a:off x="9220200" y="3581400"/>
            <a:ext cx="381000" cy="304800"/>
          </a:xfrm>
          <a:prstGeom prst="line">
            <a:avLst/>
          </a:prstGeom>
          <a:ln w="57150" cap="flat" cmpd="sng">
            <a:solidFill>
              <a:srgbClr val="FF3300"/>
            </a:solidFill>
            <a:prstDash val="solid"/>
            <a:round/>
            <a:headEnd type="none" w="med" len="med"/>
            <a:tailEnd type="triangle" w="med" len="med"/>
          </a:ln>
        </p:spPr>
      </p:sp>
      <p:sp>
        <p:nvSpPr>
          <p:cNvPr id="536636" name="AutoShape 60"/>
          <p:cNvSpPr/>
          <p:nvPr/>
        </p:nvSpPr>
        <p:spPr>
          <a:xfrm>
            <a:off x="8077200" y="5867400"/>
            <a:ext cx="838200" cy="457200"/>
          </a:xfrm>
          <a:prstGeom prst="wedgeRoundRectCallout">
            <a:avLst>
              <a:gd name="adj1" fmla="val 35796"/>
              <a:gd name="adj2" fmla="val -146181"/>
              <a:gd name="adj3" fmla="val 16667"/>
            </a:avLst>
          </a:prstGeom>
          <a:solidFill>
            <a:srgbClr val="FFFF99"/>
          </a:solidFill>
          <a:ln w="9525" cap="flat" cmpd="sng">
            <a:solidFill>
              <a:schemeClr val="tx1"/>
            </a:solidFill>
            <a:prstDash val="solid"/>
            <a:miter/>
            <a:headEnd type="none" w="med" len="med"/>
            <a:tailEnd type="none" w="med" len="med"/>
          </a:ln>
        </p:spPr>
        <p:txBody>
          <a:bodyPr anchor="t" anchorCtr="0"/>
          <a:p>
            <a:pPr algn="ctr"/>
            <a:r>
              <a:rPr lang="en-US" altLang="zh-CN" b="1" dirty="0">
                <a:solidFill>
                  <a:schemeClr val="tx2"/>
                </a:solidFill>
                <a:latin typeface="微软雅黑" panose="020B0503020204020204" pitchFamily="34" charset="-122"/>
                <a:ea typeface="微软雅黑" panose="020B0503020204020204" pitchFamily="34" charset="-122"/>
              </a:rPr>
              <a:t>x=1</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36637" name="AutoShape 61"/>
          <p:cNvSpPr/>
          <p:nvPr/>
        </p:nvSpPr>
        <p:spPr>
          <a:xfrm>
            <a:off x="9829800" y="3962400"/>
            <a:ext cx="838200" cy="457200"/>
          </a:xfrm>
          <a:prstGeom prst="wedgeRoundRectCallout">
            <a:avLst>
              <a:gd name="adj1" fmla="val -88449"/>
              <a:gd name="adj2" fmla="val -53472"/>
              <a:gd name="adj3" fmla="val 16667"/>
            </a:avLst>
          </a:prstGeom>
          <a:solidFill>
            <a:srgbClr val="FFFF99"/>
          </a:solidFill>
          <a:ln w="9525" cap="flat" cmpd="sng">
            <a:solidFill>
              <a:schemeClr val="tx1"/>
            </a:solidFill>
            <a:prstDash val="solid"/>
            <a:miter/>
            <a:headEnd type="none" w="med" len="med"/>
            <a:tailEnd type="none" w="med" len="med"/>
          </a:ln>
        </p:spPr>
        <p:txBody>
          <a:bodyPr anchor="t" anchorCtr="0"/>
          <a:p>
            <a:pPr algn="ctr"/>
            <a:r>
              <a:rPr lang="en-US" altLang="zh-CN" b="1" dirty="0">
                <a:solidFill>
                  <a:schemeClr val="tx2"/>
                </a:solidFill>
                <a:latin typeface="微软雅黑" panose="020B0503020204020204" pitchFamily="34" charset="-122"/>
                <a:ea typeface="微软雅黑" panose="020B0503020204020204" pitchFamily="34" charset="-122"/>
              </a:rPr>
              <a:t>x=6</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36638" name="AutoShape 62"/>
          <p:cNvSpPr/>
          <p:nvPr/>
        </p:nvSpPr>
        <p:spPr>
          <a:xfrm>
            <a:off x="9220200" y="5562600"/>
            <a:ext cx="838200" cy="457200"/>
          </a:xfrm>
          <a:prstGeom prst="wedgeRoundRectCallout">
            <a:avLst>
              <a:gd name="adj1" fmla="val -20454"/>
              <a:gd name="adj2" fmla="val -171181"/>
              <a:gd name="adj3" fmla="val 16667"/>
            </a:avLst>
          </a:prstGeom>
          <a:solidFill>
            <a:srgbClr val="FFFF99"/>
          </a:solidFill>
          <a:ln w="9525" cap="flat" cmpd="sng">
            <a:solidFill>
              <a:schemeClr val="tx1"/>
            </a:solidFill>
            <a:prstDash val="solid"/>
            <a:miter/>
            <a:headEnd type="none" w="med" len="med"/>
            <a:tailEnd type="none" w="med" len="med"/>
          </a:ln>
        </p:spPr>
        <p:txBody>
          <a:bodyPr anchor="t" anchorCtr="0"/>
          <a:p>
            <a:pPr algn="ctr"/>
            <a:r>
              <a:rPr lang="en-US" altLang="zh-CN" b="1" dirty="0">
                <a:solidFill>
                  <a:schemeClr val="tx2"/>
                </a:solidFill>
                <a:latin typeface="微软雅黑" panose="020B0503020204020204" pitchFamily="34" charset="-122"/>
                <a:ea typeface="微软雅黑" panose="020B0503020204020204" pitchFamily="34" charset="-122"/>
              </a:rPr>
              <a:t>x=1</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36639" name="AutoShape 63"/>
          <p:cNvSpPr/>
          <p:nvPr/>
        </p:nvSpPr>
        <p:spPr>
          <a:xfrm>
            <a:off x="9829800" y="4800600"/>
            <a:ext cx="838200" cy="457200"/>
          </a:xfrm>
          <a:prstGeom prst="wedgeRoundRectCallout">
            <a:avLst>
              <a:gd name="adj1" fmla="val -89204"/>
              <a:gd name="adj2" fmla="val -123264"/>
              <a:gd name="adj3" fmla="val 16667"/>
            </a:avLst>
          </a:prstGeom>
          <a:solidFill>
            <a:srgbClr val="FFFF99"/>
          </a:solidFill>
          <a:ln w="9525" cap="flat" cmpd="sng">
            <a:solidFill>
              <a:schemeClr val="tx1"/>
            </a:solidFill>
            <a:prstDash val="solid"/>
            <a:miter/>
            <a:headEnd type="none" w="med" len="med"/>
            <a:tailEnd type="none" w="med" len="med"/>
          </a:ln>
        </p:spPr>
        <p:txBody>
          <a:bodyPr anchor="t" anchorCtr="0"/>
          <a:p>
            <a:pPr algn="ctr"/>
            <a:r>
              <a:rPr lang="en-US" altLang="zh-CN" b="1" dirty="0">
                <a:solidFill>
                  <a:schemeClr val="tx2"/>
                </a:solidFill>
                <a:latin typeface="微软雅黑" panose="020B0503020204020204" pitchFamily="34" charset="-122"/>
                <a:ea typeface="微软雅黑" panose="020B0503020204020204" pitchFamily="34" charset="-122"/>
              </a:rPr>
              <a:t>x=2</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36641" name="Text Box 65"/>
          <p:cNvSpPr txBox="1"/>
          <p:nvPr/>
        </p:nvSpPr>
        <p:spPr>
          <a:xfrm>
            <a:off x="9677400" y="3124200"/>
            <a:ext cx="969010" cy="460375"/>
          </a:xfrm>
          <a:prstGeom prst="rect">
            <a:avLst/>
          </a:prstGeom>
          <a:solidFill>
            <a:srgbClr val="FFFF99"/>
          </a:solidFill>
          <a:ln w="9525" cap="flat" cmpd="sng">
            <a:solidFill>
              <a:schemeClr val="tx1"/>
            </a:solidFill>
            <a:prstDash val="solid"/>
            <a:miter/>
            <a:headEnd type="none" w="med" len="med"/>
            <a:tailEnd type="none" w="med" len="med"/>
          </a:ln>
        </p:spPr>
        <p:txBody>
          <a:bodyPr wrap="none" anchor="t" anchorCtr="0">
            <a:spAutoFit/>
          </a:bodyPr>
          <a:p>
            <a:r>
              <a:rPr lang="en-US" altLang="zh-CN" b="1" dirty="0">
                <a:solidFill>
                  <a:schemeClr val="tx2"/>
                </a:solidFill>
                <a:latin typeface="微软雅黑" panose="020B0503020204020204" pitchFamily="34" charset="-122"/>
                <a:ea typeface="微软雅黑" panose="020B0503020204020204" pitchFamily="34" charset="-122"/>
              </a:rPr>
              <a:t>x=24</a:t>
            </a:r>
            <a:endParaRPr lang="en-US" altLang="zh-CN" b="1"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36583"/>
                                        </p:tgtEl>
                                        <p:attrNameLst>
                                          <p:attrName>style.visibility</p:attrName>
                                        </p:attrNameLst>
                                      </p:cBhvr>
                                      <p:to>
                                        <p:strVal val="visible"/>
                                      </p:to>
                                    </p:set>
                                    <p:animEffect transition="in" filter="box(out)">
                                      <p:cBhvr>
                                        <p:cTn id="12" dur="500"/>
                                        <p:tgtEl>
                                          <p:spTgt spid="53658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36594"/>
                                        </p:tgtEl>
                                        <p:attrNameLst>
                                          <p:attrName>style.visibility</p:attrName>
                                        </p:attrNameLst>
                                      </p:cBhvr>
                                      <p:to>
                                        <p:strVal val="visible"/>
                                      </p:to>
                                    </p:set>
                                    <p:animEffect transition="in" filter="box(out)">
                                      <p:cBhvr>
                                        <p:cTn id="22" dur="500"/>
                                        <p:tgtEl>
                                          <p:spTgt spid="5365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36596"/>
                                        </p:tgtEl>
                                        <p:attrNameLst>
                                          <p:attrName>style.visibility</p:attrName>
                                        </p:attrNameLst>
                                      </p:cBhvr>
                                      <p:to>
                                        <p:strVal val="visible"/>
                                      </p:to>
                                    </p:set>
                                    <p:animEffect transition="in" filter="box(out)">
                                      <p:cBhvr>
                                        <p:cTn id="27" dur="500"/>
                                        <p:tgtEl>
                                          <p:spTgt spid="53659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36603"/>
                                        </p:tgtEl>
                                        <p:attrNameLst>
                                          <p:attrName>style.visibility</p:attrName>
                                        </p:attrNameLst>
                                      </p:cBhvr>
                                      <p:to>
                                        <p:strVal val="visible"/>
                                      </p:to>
                                    </p:set>
                                    <p:animEffect transition="in" filter="box(out)">
                                      <p:cBhvr>
                                        <p:cTn id="32" dur="500"/>
                                        <p:tgtEl>
                                          <p:spTgt spid="53660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36604"/>
                                        </p:tgtEl>
                                        <p:attrNameLst>
                                          <p:attrName>style.visibility</p:attrName>
                                        </p:attrNameLst>
                                      </p:cBhvr>
                                      <p:to>
                                        <p:strVal val="visible"/>
                                      </p:to>
                                    </p:set>
                                    <p:animEffect transition="in" filter="box(out)">
                                      <p:cBhvr>
                                        <p:cTn id="37" dur="500"/>
                                        <p:tgtEl>
                                          <p:spTgt spid="53660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36605"/>
                                        </p:tgtEl>
                                        <p:attrNameLst>
                                          <p:attrName>style.visibility</p:attrName>
                                        </p:attrNameLst>
                                      </p:cBhvr>
                                      <p:to>
                                        <p:strVal val="visible"/>
                                      </p:to>
                                    </p:set>
                                    <p:animEffect transition="in" filter="box(out)">
                                      <p:cBhvr>
                                        <p:cTn id="42" dur="500"/>
                                        <p:tgtEl>
                                          <p:spTgt spid="53660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36606"/>
                                        </p:tgtEl>
                                        <p:attrNameLst>
                                          <p:attrName>style.visibility</p:attrName>
                                        </p:attrNameLst>
                                      </p:cBhvr>
                                      <p:to>
                                        <p:strVal val="visible"/>
                                      </p:to>
                                    </p:set>
                                    <p:animEffect transition="in" filter="box(out)">
                                      <p:cBhvr>
                                        <p:cTn id="47" dur="500"/>
                                        <p:tgtEl>
                                          <p:spTgt spid="53660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536607"/>
                                        </p:tgtEl>
                                        <p:attrNameLst>
                                          <p:attrName>style.visibility</p:attrName>
                                        </p:attrNameLst>
                                      </p:cBhvr>
                                      <p:to>
                                        <p:strVal val="visible"/>
                                      </p:to>
                                    </p:set>
                                    <p:animEffect transition="in" filter="box(out)">
                                      <p:cBhvr>
                                        <p:cTn id="52" dur="500"/>
                                        <p:tgtEl>
                                          <p:spTgt spid="536607"/>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36608"/>
                                        </p:tgtEl>
                                        <p:attrNameLst>
                                          <p:attrName>style.visibility</p:attrName>
                                        </p:attrNameLst>
                                      </p:cBhvr>
                                      <p:to>
                                        <p:strVal val="visible"/>
                                      </p:to>
                                    </p:set>
                                    <p:animEffect transition="in" filter="box(out)">
                                      <p:cBhvr>
                                        <p:cTn id="57" dur="500"/>
                                        <p:tgtEl>
                                          <p:spTgt spid="536608"/>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536609"/>
                                        </p:tgtEl>
                                        <p:attrNameLst>
                                          <p:attrName>style.visibility</p:attrName>
                                        </p:attrNameLst>
                                      </p:cBhvr>
                                      <p:to>
                                        <p:strVal val="visible"/>
                                      </p:to>
                                    </p:set>
                                    <p:animEffect transition="in" filter="box(out)">
                                      <p:cBhvr>
                                        <p:cTn id="62" dur="500"/>
                                        <p:tgtEl>
                                          <p:spTgt spid="536609"/>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536610"/>
                                        </p:tgtEl>
                                        <p:attrNameLst>
                                          <p:attrName>style.visibility</p:attrName>
                                        </p:attrNameLst>
                                      </p:cBhvr>
                                      <p:to>
                                        <p:strVal val="visible"/>
                                      </p:to>
                                    </p:set>
                                    <p:animEffect transition="in" filter="box(out)">
                                      <p:cBhvr>
                                        <p:cTn id="67" dur="500"/>
                                        <p:tgtEl>
                                          <p:spTgt spid="536610"/>
                                        </p:tgtEl>
                                      </p:cBhvr>
                                    </p:animEffect>
                                  </p:childTnLst>
                                </p:cTn>
                              </p:par>
                            </p:childTnLst>
                          </p:cTn>
                        </p:par>
                      </p:childTnLst>
                    </p:cTn>
                  </p:par>
                  <p:par>
                    <p:cTn id="68" fill="hold">
                      <p:stCondLst>
                        <p:cond delay="indefinite"/>
                      </p:stCondLst>
                      <p:childTnLst>
                        <p:par>
                          <p:cTn id="69" fill="hold">
                            <p:stCondLst>
                              <p:cond delay="0"/>
                            </p:stCondLst>
                            <p:childTnLst>
                              <p:par>
                                <p:cTn id="70" presetID="17" presetClass="entr" presetSubtype="4" fill="hold" grpId="0" nodeType="clickEffect">
                                  <p:stCondLst>
                                    <p:cond delay="0"/>
                                  </p:stCondLst>
                                  <p:childTnLst>
                                    <p:set>
                                      <p:cBhvr>
                                        <p:cTn id="71" dur="1" fill="hold">
                                          <p:stCondLst>
                                            <p:cond delay="0"/>
                                          </p:stCondLst>
                                        </p:cTn>
                                        <p:tgtEl>
                                          <p:spTgt spid="536636"/>
                                        </p:tgtEl>
                                        <p:attrNameLst>
                                          <p:attrName>style.visibility</p:attrName>
                                        </p:attrNameLst>
                                      </p:cBhvr>
                                      <p:to>
                                        <p:strVal val="visible"/>
                                      </p:to>
                                    </p:set>
                                    <p:anim calcmode="lin" valueType="num">
                                      <p:cBhvr>
                                        <p:cTn id="72" dur="500" fill="hold"/>
                                        <p:tgtEl>
                                          <p:spTgt spid="536636"/>
                                        </p:tgtEl>
                                        <p:attrNameLst>
                                          <p:attrName>ppt_x</p:attrName>
                                        </p:attrNameLst>
                                      </p:cBhvr>
                                      <p:tavLst>
                                        <p:tav tm="0">
                                          <p:val>
                                            <p:strVal val="#ppt_x"/>
                                          </p:val>
                                        </p:tav>
                                        <p:tav tm="100000">
                                          <p:val>
                                            <p:strVal val="#ppt_x"/>
                                          </p:val>
                                        </p:tav>
                                      </p:tavLst>
                                    </p:anim>
                                    <p:anim calcmode="lin" valueType="num">
                                      <p:cBhvr>
                                        <p:cTn id="73" dur="500" fill="hold"/>
                                        <p:tgtEl>
                                          <p:spTgt spid="536636"/>
                                        </p:tgtEl>
                                        <p:attrNameLst>
                                          <p:attrName>ppt_y</p:attrName>
                                        </p:attrNameLst>
                                      </p:cBhvr>
                                      <p:tavLst>
                                        <p:tav tm="0">
                                          <p:val>
                                            <p:strVal val="#ppt_y+#ppt_h/2"/>
                                          </p:val>
                                        </p:tav>
                                        <p:tav tm="100000">
                                          <p:val>
                                            <p:strVal val="#ppt_y"/>
                                          </p:val>
                                        </p:tav>
                                      </p:tavLst>
                                    </p:anim>
                                    <p:anim calcmode="lin" valueType="num">
                                      <p:cBhvr>
                                        <p:cTn id="74" dur="500" fill="hold"/>
                                        <p:tgtEl>
                                          <p:spTgt spid="536636"/>
                                        </p:tgtEl>
                                        <p:attrNameLst>
                                          <p:attrName>ppt_w</p:attrName>
                                        </p:attrNameLst>
                                      </p:cBhvr>
                                      <p:tavLst>
                                        <p:tav tm="0">
                                          <p:val>
                                            <p:strVal val="#ppt_w"/>
                                          </p:val>
                                        </p:tav>
                                        <p:tav tm="100000">
                                          <p:val>
                                            <p:strVal val="#ppt_w"/>
                                          </p:val>
                                        </p:tav>
                                      </p:tavLst>
                                    </p:anim>
                                    <p:anim calcmode="lin" valueType="num">
                                      <p:cBhvr>
                                        <p:cTn id="75" dur="500" fill="hold"/>
                                        <p:tgtEl>
                                          <p:spTgt spid="536636"/>
                                        </p:tgtEl>
                                        <p:attrNameLst>
                                          <p:attrName>ppt_h</p:attrName>
                                        </p:attrNameLst>
                                      </p:cBhvr>
                                      <p:tavLst>
                                        <p:tav tm="0">
                                          <p:val>
                                            <p:fltVal val="0.00000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53661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7" presetClass="entr" presetSubtype="4" fill="hold" nodeType="clickEffect">
                                  <p:stCondLst>
                                    <p:cond delay="0"/>
                                  </p:stCondLst>
                                  <p:childTnLst>
                                    <p:set>
                                      <p:cBhvr>
                                        <p:cTn id="83" dur="1" fill="hold">
                                          <p:stCondLst>
                                            <p:cond delay="0"/>
                                          </p:stCondLst>
                                        </p:cTn>
                                        <p:tgtEl>
                                          <p:spTgt spid="536631"/>
                                        </p:tgtEl>
                                        <p:attrNameLst>
                                          <p:attrName>style.visibility</p:attrName>
                                        </p:attrNameLst>
                                      </p:cBhvr>
                                      <p:to>
                                        <p:strVal val="visible"/>
                                      </p:to>
                                    </p:set>
                                    <p:anim calcmode="lin" valueType="num">
                                      <p:cBhvr>
                                        <p:cTn id="84" dur="500" fill="hold"/>
                                        <p:tgtEl>
                                          <p:spTgt spid="536631"/>
                                        </p:tgtEl>
                                        <p:attrNameLst>
                                          <p:attrName>ppt_x</p:attrName>
                                        </p:attrNameLst>
                                      </p:cBhvr>
                                      <p:tavLst>
                                        <p:tav tm="0">
                                          <p:val>
                                            <p:strVal val="#ppt_x"/>
                                          </p:val>
                                        </p:tav>
                                        <p:tav tm="100000">
                                          <p:val>
                                            <p:strVal val="#ppt_x"/>
                                          </p:val>
                                        </p:tav>
                                      </p:tavLst>
                                    </p:anim>
                                    <p:anim calcmode="lin" valueType="num">
                                      <p:cBhvr>
                                        <p:cTn id="85" dur="500" fill="hold"/>
                                        <p:tgtEl>
                                          <p:spTgt spid="536631"/>
                                        </p:tgtEl>
                                        <p:attrNameLst>
                                          <p:attrName>ppt_y</p:attrName>
                                        </p:attrNameLst>
                                      </p:cBhvr>
                                      <p:tavLst>
                                        <p:tav tm="0">
                                          <p:val>
                                            <p:strVal val="#ppt_y+#ppt_h/2"/>
                                          </p:val>
                                        </p:tav>
                                        <p:tav tm="100000">
                                          <p:val>
                                            <p:strVal val="#ppt_y"/>
                                          </p:val>
                                        </p:tav>
                                      </p:tavLst>
                                    </p:anim>
                                    <p:anim calcmode="lin" valueType="num">
                                      <p:cBhvr>
                                        <p:cTn id="86" dur="500" fill="hold"/>
                                        <p:tgtEl>
                                          <p:spTgt spid="536631"/>
                                        </p:tgtEl>
                                        <p:attrNameLst>
                                          <p:attrName>ppt_w</p:attrName>
                                        </p:attrNameLst>
                                      </p:cBhvr>
                                      <p:tavLst>
                                        <p:tav tm="0">
                                          <p:val>
                                            <p:strVal val="#ppt_w"/>
                                          </p:val>
                                        </p:tav>
                                        <p:tav tm="100000">
                                          <p:val>
                                            <p:strVal val="#ppt_w"/>
                                          </p:val>
                                        </p:tav>
                                      </p:tavLst>
                                    </p:anim>
                                    <p:anim calcmode="lin" valueType="num">
                                      <p:cBhvr>
                                        <p:cTn id="87" dur="500" fill="hold"/>
                                        <p:tgtEl>
                                          <p:spTgt spid="536631"/>
                                        </p:tgtEl>
                                        <p:attrNameLst>
                                          <p:attrName>ppt_h</p:attrName>
                                        </p:attrNameLst>
                                      </p:cBhvr>
                                      <p:tavLst>
                                        <p:tav tm="0">
                                          <p:val>
                                            <p:fltVal val="0.00000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536617"/>
                                        </p:tgtEl>
                                        <p:attrNameLst>
                                          <p:attrName>style.visibility</p:attrName>
                                        </p:attrNameLst>
                                      </p:cBhvr>
                                      <p:to>
                                        <p:strVal val="visible"/>
                                      </p:to>
                                    </p:set>
                                    <p:animEffect transition="in" filter="box(out)">
                                      <p:cBhvr>
                                        <p:cTn id="92" dur="500"/>
                                        <p:tgtEl>
                                          <p:spTgt spid="536617"/>
                                        </p:tgtEl>
                                      </p:cBhvr>
                                    </p:animEffect>
                                  </p:childTnLst>
                                </p:cTn>
                              </p:par>
                            </p:childTnLst>
                          </p:cTn>
                        </p:par>
                      </p:childTnLst>
                    </p:cTn>
                  </p:par>
                  <p:par>
                    <p:cTn id="93" fill="hold">
                      <p:stCondLst>
                        <p:cond delay="indefinite"/>
                      </p:stCondLst>
                      <p:childTnLst>
                        <p:par>
                          <p:cTn id="94" fill="hold">
                            <p:stCondLst>
                              <p:cond delay="0"/>
                            </p:stCondLst>
                            <p:childTnLst>
                              <p:par>
                                <p:cTn id="95" presetID="17" presetClass="entr" presetSubtype="4" fill="hold" grpId="0" nodeType="clickEffect">
                                  <p:stCondLst>
                                    <p:cond delay="0"/>
                                  </p:stCondLst>
                                  <p:childTnLst>
                                    <p:set>
                                      <p:cBhvr>
                                        <p:cTn id="96" dur="1" fill="hold">
                                          <p:stCondLst>
                                            <p:cond delay="0"/>
                                          </p:stCondLst>
                                        </p:cTn>
                                        <p:tgtEl>
                                          <p:spTgt spid="536638"/>
                                        </p:tgtEl>
                                        <p:attrNameLst>
                                          <p:attrName>style.visibility</p:attrName>
                                        </p:attrNameLst>
                                      </p:cBhvr>
                                      <p:to>
                                        <p:strVal val="visible"/>
                                      </p:to>
                                    </p:set>
                                    <p:anim calcmode="lin" valueType="num">
                                      <p:cBhvr>
                                        <p:cTn id="97" dur="500" fill="hold"/>
                                        <p:tgtEl>
                                          <p:spTgt spid="536638"/>
                                        </p:tgtEl>
                                        <p:attrNameLst>
                                          <p:attrName>ppt_x</p:attrName>
                                        </p:attrNameLst>
                                      </p:cBhvr>
                                      <p:tavLst>
                                        <p:tav tm="0">
                                          <p:val>
                                            <p:strVal val="#ppt_x"/>
                                          </p:val>
                                        </p:tav>
                                        <p:tav tm="100000">
                                          <p:val>
                                            <p:strVal val="#ppt_x"/>
                                          </p:val>
                                        </p:tav>
                                      </p:tavLst>
                                    </p:anim>
                                    <p:anim calcmode="lin" valueType="num">
                                      <p:cBhvr>
                                        <p:cTn id="98" dur="500" fill="hold"/>
                                        <p:tgtEl>
                                          <p:spTgt spid="536638"/>
                                        </p:tgtEl>
                                        <p:attrNameLst>
                                          <p:attrName>ppt_y</p:attrName>
                                        </p:attrNameLst>
                                      </p:cBhvr>
                                      <p:tavLst>
                                        <p:tav tm="0">
                                          <p:val>
                                            <p:strVal val="#ppt_y+#ppt_h/2"/>
                                          </p:val>
                                        </p:tav>
                                        <p:tav tm="100000">
                                          <p:val>
                                            <p:strVal val="#ppt_y"/>
                                          </p:val>
                                        </p:tav>
                                      </p:tavLst>
                                    </p:anim>
                                    <p:anim calcmode="lin" valueType="num">
                                      <p:cBhvr>
                                        <p:cTn id="99" dur="500" fill="hold"/>
                                        <p:tgtEl>
                                          <p:spTgt spid="536638"/>
                                        </p:tgtEl>
                                        <p:attrNameLst>
                                          <p:attrName>ppt_w</p:attrName>
                                        </p:attrNameLst>
                                      </p:cBhvr>
                                      <p:tavLst>
                                        <p:tav tm="0">
                                          <p:val>
                                            <p:strVal val="#ppt_w"/>
                                          </p:val>
                                        </p:tav>
                                        <p:tav tm="100000">
                                          <p:val>
                                            <p:strVal val="#ppt_w"/>
                                          </p:val>
                                        </p:tav>
                                      </p:tavLst>
                                    </p:anim>
                                    <p:anim calcmode="lin" valueType="num">
                                      <p:cBhvr>
                                        <p:cTn id="100" dur="500" fill="hold"/>
                                        <p:tgtEl>
                                          <p:spTgt spid="536638"/>
                                        </p:tgtEl>
                                        <p:attrNameLst>
                                          <p:attrName>ppt_h</p:attrName>
                                        </p:attrNameLst>
                                      </p:cBhvr>
                                      <p:tavLst>
                                        <p:tav tm="0">
                                          <p:val>
                                            <p:fltVal val="0.00000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499"/>
                                          </p:stCondLst>
                                        </p:cTn>
                                        <p:tgtEl>
                                          <p:spTgt spid="53661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7" presetClass="entr" presetSubtype="4" fill="hold" nodeType="clickEffect">
                                  <p:stCondLst>
                                    <p:cond delay="0"/>
                                  </p:stCondLst>
                                  <p:childTnLst>
                                    <p:set>
                                      <p:cBhvr>
                                        <p:cTn id="108" dur="1" fill="hold">
                                          <p:stCondLst>
                                            <p:cond delay="0"/>
                                          </p:stCondLst>
                                        </p:cTn>
                                        <p:tgtEl>
                                          <p:spTgt spid="536632"/>
                                        </p:tgtEl>
                                        <p:attrNameLst>
                                          <p:attrName>style.visibility</p:attrName>
                                        </p:attrNameLst>
                                      </p:cBhvr>
                                      <p:to>
                                        <p:strVal val="visible"/>
                                      </p:to>
                                    </p:set>
                                    <p:anim calcmode="lin" valueType="num">
                                      <p:cBhvr>
                                        <p:cTn id="109" dur="500" fill="hold"/>
                                        <p:tgtEl>
                                          <p:spTgt spid="536632"/>
                                        </p:tgtEl>
                                        <p:attrNameLst>
                                          <p:attrName>ppt_x</p:attrName>
                                        </p:attrNameLst>
                                      </p:cBhvr>
                                      <p:tavLst>
                                        <p:tav tm="0">
                                          <p:val>
                                            <p:strVal val="#ppt_x"/>
                                          </p:val>
                                        </p:tav>
                                        <p:tav tm="100000">
                                          <p:val>
                                            <p:strVal val="#ppt_x"/>
                                          </p:val>
                                        </p:tav>
                                      </p:tavLst>
                                    </p:anim>
                                    <p:anim calcmode="lin" valueType="num">
                                      <p:cBhvr>
                                        <p:cTn id="110" dur="500" fill="hold"/>
                                        <p:tgtEl>
                                          <p:spTgt spid="536632"/>
                                        </p:tgtEl>
                                        <p:attrNameLst>
                                          <p:attrName>ppt_y</p:attrName>
                                        </p:attrNameLst>
                                      </p:cBhvr>
                                      <p:tavLst>
                                        <p:tav tm="0">
                                          <p:val>
                                            <p:strVal val="#ppt_y+#ppt_h/2"/>
                                          </p:val>
                                        </p:tav>
                                        <p:tav tm="100000">
                                          <p:val>
                                            <p:strVal val="#ppt_y"/>
                                          </p:val>
                                        </p:tav>
                                      </p:tavLst>
                                    </p:anim>
                                    <p:anim calcmode="lin" valueType="num">
                                      <p:cBhvr>
                                        <p:cTn id="111" dur="500" fill="hold"/>
                                        <p:tgtEl>
                                          <p:spTgt spid="536632"/>
                                        </p:tgtEl>
                                        <p:attrNameLst>
                                          <p:attrName>ppt_w</p:attrName>
                                        </p:attrNameLst>
                                      </p:cBhvr>
                                      <p:tavLst>
                                        <p:tav tm="0">
                                          <p:val>
                                            <p:strVal val="#ppt_w"/>
                                          </p:val>
                                        </p:tav>
                                        <p:tav tm="100000">
                                          <p:val>
                                            <p:strVal val="#ppt_w"/>
                                          </p:val>
                                        </p:tav>
                                      </p:tavLst>
                                    </p:anim>
                                    <p:anim calcmode="lin" valueType="num">
                                      <p:cBhvr>
                                        <p:cTn id="112" dur="500" fill="hold"/>
                                        <p:tgtEl>
                                          <p:spTgt spid="536632"/>
                                        </p:tgtEl>
                                        <p:attrNameLst>
                                          <p:attrName>ppt_h</p:attrName>
                                        </p:attrNameLst>
                                      </p:cBhvr>
                                      <p:tavLst>
                                        <p:tav tm="0">
                                          <p:val>
                                            <p:fltVal val="0.00000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536620"/>
                                        </p:tgtEl>
                                        <p:attrNameLst>
                                          <p:attrName>style.visibility</p:attrName>
                                        </p:attrNameLst>
                                      </p:cBhvr>
                                      <p:to>
                                        <p:strVal val="visible"/>
                                      </p:to>
                                    </p:set>
                                    <p:animEffect transition="in" filter="box(out)">
                                      <p:cBhvr>
                                        <p:cTn id="117" dur="500"/>
                                        <p:tgtEl>
                                          <p:spTgt spid="536620"/>
                                        </p:tgtEl>
                                      </p:cBhvr>
                                    </p:animEffect>
                                  </p:childTnLst>
                                </p:cTn>
                              </p:par>
                            </p:childTnLst>
                          </p:cTn>
                        </p:par>
                      </p:childTnLst>
                    </p:cTn>
                  </p:par>
                  <p:par>
                    <p:cTn id="118" fill="hold">
                      <p:stCondLst>
                        <p:cond delay="indefinite"/>
                      </p:stCondLst>
                      <p:childTnLst>
                        <p:par>
                          <p:cTn id="119" fill="hold">
                            <p:stCondLst>
                              <p:cond delay="0"/>
                            </p:stCondLst>
                            <p:childTnLst>
                              <p:par>
                                <p:cTn id="120" presetID="17" presetClass="entr" presetSubtype="4" fill="hold" grpId="0" nodeType="clickEffect">
                                  <p:stCondLst>
                                    <p:cond delay="0"/>
                                  </p:stCondLst>
                                  <p:childTnLst>
                                    <p:set>
                                      <p:cBhvr>
                                        <p:cTn id="121" dur="1" fill="hold">
                                          <p:stCondLst>
                                            <p:cond delay="0"/>
                                          </p:stCondLst>
                                        </p:cTn>
                                        <p:tgtEl>
                                          <p:spTgt spid="536639"/>
                                        </p:tgtEl>
                                        <p:attrNameLst>
                                          <p:attrName>style.visibility</p:attrName>
                                        </p:attrNameLst>
                                      </p:cBhvr>
                                      <p:to>
                                        <p:strVal val="visible"/>
                                      </p:to>
                                    </p:set>
                                    <p:anim calcmode="lin" valueType="num">
                                      <p:cBhvr>
                                        <p:cTn id="122" dur="500" fill="hold"/>
                                        <p:tgtEl>
                                          <p:spTgt spid="536639"/>
                                        </p:tgtEl>
                                        <p:attrNameLst>
                                          <p:attrName>ppt_x</p:attrName>
                                        </p:attrNameLst>
                                      </p:cBhvr>
                                      <p:tavLst>
                                        <p:tav tm="0">
                                          <p:val>
                                            <p:strVal val="#ppt_x"/>
                                          </p:val>
                                        </p:tav>
                                        <p:tav tm="100000">
                                          <p:val>
                                            <p:strVal val="#ppt_x"/>
                                          </p:val>
                                        </p:tav>
                                      </p:tavLst>
                                    </p:anim>
                                    <p:anim calcmode="lin" valueType="num">
                                      <p:cBhvr>
                                        <p:cTn id="123" dur="500" fill="hold"/>
                                        <p:tgtEl>
                                          <p:spTgt spid="536639"/>
                                        </p:tgtEl>
                                        <p:attrNameLst>
                                          <p:attrName>ppt_y</p:attrName>
                                        </p:attrNameLst>
                                      </p:cBhvr>
                                      <p:tavLst>
                                        <p:tav tm="0">
                                          <p:val>
                                            <p:strVal val="#ppt_y+#ppt_h/2"/>
                                          </p:val>
                                        </p:tav>
                                        <p:tav tm="100000">
                                          <p:val>
                                            <p:strVal val="#ppt_y"/>
                                          </p:val>
                                        </p:tav>
                                      </p:tavLst>
                                    </p:anim>
                                    <p:anim calcmode="lin" valueType="num">
                                      <p:cBhvr>
                                        <p:cTn id="124" dur="500" fill="hold"/>
                                        <p:tgtEl>
                                          <p:spTgt spid="536639"/>
                                        </p:tgtEl>
                                        <p:attrNameLst>
                                          <p:attrName>ppt_w</p:attrName>
                                        </p:attrNameLst>
                                      </p:cBhvr>
                                      <p:tavLst>
                                        <p:tav tm="0">
                                          <p:val>
                                            <p:strVal val="#ppt_w"/>
                                          </p:val>
                                        </p:tav>
                                        <p:tav tm="100000">
                                          <p:val>
                                            <p:strVal val="#ppt_w"/>
                                          </p:val>
                                        </p:tav>
                                      </p:tavLst>
                                    </p:anim>
                                    <p:anim calcmode="lin" valueType="num">
                                      <p:cBhvr>
                                        <p:cTn id="125" dur="500" fill="hold"/>
                                        <p:tgtEl>
                                          <p:spTgt spid="536639"/>
                                        </p:tgtEl>
                                        <p:attrNameLst>
                                          <p:attrName>ppt_h</p:attrName>
                                        </p:attrNameLst>
                                      </p:cBhvr>
                                      <p:tavLst>
                                        <p:tav tm="0">
                                          <p:val>
                                            <p:fltVal val="0.00000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499"/>
                                          </p:stCondLst>
                                        </p:cTn>
                                        <p:tgtEl>
                                          <p:spTgt spid="536621"/>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7" presetClass="entr" presetSubtype="4" fill="hold" nodeType="clickEffect">
                                  <p:stCondLst>
                                    <p:cond delay="0"/>
                                  </p:stCondLst>
                                  <p:childTnLst>
                                    <p:set>
                                      <p:cBhvr>
                                        <p:cTn id="133" dur="1" fill="hold">
                                          <p:stCondLst>
                                            <p:cond delay="0"/>
                                          </p:stCondLst>
                                        </p:cTn>
                                        <p:tgtEl>
                                          <p:spTgt spid="536633"/>
                                        </p:tgtEl>
                                        <p:attrNameLst>
                                          <p:attrName>style.visibility</p:attrName>
                                        </p:attrNameLst>
                                      </p:cBhvr>
                                      <p:to>
                                        <p:strVal val="visible"/>
                                      </p:to>
                                    </p:set>
                                    <p:anim calcmode="lin" valueType="num">
                                      <p:cBhvr>
                                        <p:cTn id="134" dur="500" fill="hold"/>
                                        <p:tgtEl>
                                          <p:spTgt spid="536633"/>
                                        </p:tgtEl>
                                        <p:attrNameLst>
                                          <p:attrName>ppt_x</p:attrName>
                                        </p:attrNameLst>
                                      </p:cBhvr>
                                      <p:tavLst>
                                        <p:tav tm="0">
                                          <p:val>
                                            <p:strVal val="#ppt_x"/>
                                          </p:val>
                                        </p:tav>
                                        <p:tav tm="100000">
                                          <p:val>
                                            <p:strVal val="#ppt_x"/>
                                          </p:val>
                                        </p:tav>
                                      </p:tavLst>
                                    </p:anim>
                                    <p:anim calcmode="lin" valueType="num">
                                      <p:cBhvr>
                                        <p:cTn id="135" dur="500" fill="hold"/>
                                        <p:tgtEl>
                                          <p:spTgt spid="536633"/>
                                        </p:tgtEl>
                                        <p:attrNameLst>
                                          <p:attrName>ppt_y</p:attrName>
                                        </p:attrNameLst>
                                      </p:cBhvr>
                                      <p:tavLst>
                                        <p:tav tm="0">
                                          <p:val>
                                            <p:strVal val="#ppt_y+#ppt_h/2"/>
                                          </p:val>
                                        </p:tav>
                                        <p:tav tm="100000">
                                          <p:val>
                                            <p:strVal val="#ppt_y"/>
                                          </p:val>
                                        </p:tav>
                                      </p:tavLst>
                                    </p:anim>
                                    <p:anim calcmode="lin" valueType="num">
                                      <p:cBhvr>
                                        <p:cTn id="136" dur="500" fill="hold"/>
                                        <p:tgtEl>
                                          <p:spTgt spid="536633"/>
                                        </p:tgtEl>
                                        <p:attrNameLst>
                                          <p:attrName>ppt_w</p:attrName>
                                        </p:attrNameLst>
                                      </p:cBhvr>
                                      <p:tavLst>
                                        <p:tav tm="0">
                                          <p:val>
                                            <p:strVal val="#ppt_w"/>
                                          </p:val>
                                        </p:tav>
                                        <p:tav tm="100000">
                                          <p:val>
                                            <p:strVal val="#ppt_w"/>
                                          </p:val>
                                        </p:tav>
                                      </p:tavLst>
                                    </p:anim>
                                    <p:anim calcmode="lin" valueType="num">
                                      <p:cBhvr>
                                        <p:cTn id="137" dur="500" fill="hold"/>
                                        <p:tgtEl>
                                          <p:spTgt spid="536633"/>
                                        </p:tgtEl>
                                        <p:attrNameLst>
                                          <p:attrName>ppt_h</p:attrName>
                                        </p:attrNameLst>
                                      </p:cBhvr>
                                      <p:tavLst>
                                        <p:tav tm="0">
                                          <p:val>
                                            <p:fltVal val="0.00000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4" presetClass="entr" presetSubtype="32" fill="hold" grpId="0" nodeType="clickEffect">
                                  <p:stCondLst>
                                    <p:cond delay="0"/>
                                  </p:stCondLst>
                                  <p:childTnLst>
                                    <p:set>
                                      <p:cBhvr>
                                        <p:cTn id="141" dur="1" fill="hold">
                                          <p:stCondLst>
                                            <p:cond delay="0"/>
                                          </p:stCondLst>
                                        </p:cTn>
                                        <p:tgtEl>
                                          <p:spTgt spid="536623"/>
                                        </p:tgtEl>
                                        <p:attrNameLst>
                                          <p:attrName>style.visibility</p:attrName>
                                        </p:attrNameLst>
                                      </p:cBhvr>
                                      <p:to>
                                        <p:strVal val="visible"/>
                                      </p:to>
                                    </p:set>
                                    <p:animEffect transition="in" filter="box(out)">
                                      <p:cBhvr>
                                        <p:cTn id="142" dur="500"/>
                                        <p:tgtEl>
                                          <p:spTgt spid="536623"/>
                                        </p:tgtEl>
                                      </p:cBhvr>
                                    </p:animEffect>
                                  </p:childTnLst>
                                </p:cTn>
                              </p:par>
                            </p:childTnLst>
                          </p:cTn>
                        </p:par>
                      </p:childTnLst>
                    </p:cTn>
                  </p:par>
                  <p:par>
                    <p:cTn id="143" fill="hold">
                      <p:stCondLst>
                        <p:cond delay="indefinite"/>
                      </p:stCondLst>
                      <p:childTnLst>
                        <p:par>
                          <p:cTn id="144" fill="hold">
                            <p:stCondLst>
                              <p:cond delay="0"/>
                            </p:stCondLst>
                            <p:childTnLst>
                              <p:par>
                                <p:cTn id="145" presetID="17" presetClass="entr" presetSubtype="4" fill="hold" grpId="0" nodeType="clickEffect">
                                  <p:stCondLst>
                                    <p:cond delay="0"/>
                                  </p:stCondLst>
                                  <p:childTnLst>
                                    <p:set>
                                      <p:cBhvr>
                                        <p:cTn id="146" dur="1" fill="hold">
                                          <p:stCondLst>
                                            <p:cond delay="0"/>
                                          </p:stCondLst>
                                        </p:cTn>
                                        <p:tgtEl>
                                          <p:spTgt spid="536637"/>
                                        </p:tgtEl>
                                        <p:attrNameLst>
                                          <p:attrName>style.visibility</p:attrName>
                                        </p:attrNameLst>
                                      </p:cBhvr>
                                      <p:to>
                                        <p:strVal val="visible"/>
                                      </p:to>
                                    </p:set>
                                    <p:anim calcmode="lin" valueType="num">
                                      <p:cBhvr>
                                        <p:cTn id="147" dur="500" fill="hold"/>
                                        <p:tgtEl>
                                          <p:spTgt spid="536637"/>
                                        </p:tgtEl>
                                        <p:attrNameLst>
                                          <p:attrName>ppt_x</p:attrName>
                                        </p:attrNameLst>
                                      </p:cBhvr>
                                      <p:tavLst>
                                        <p:tav tm="0">
                                          <p:val>
                                            <p:strVal val="#ppt_x"/>
                                          </p:val>
                                        </p:tav>
                                        <p:tav tm="100000">
                                          <p:val>
                                            <p:strVal val="#ppt_x"/>
                                          </p:val>
                                        </p:tav>
                                      </p:tavLst>
                                    </p:anim>
                                    <p:anim calcmode="lin" valueType="num">
                                      <p:cBhvr>
                                        <p:cTn id="148" dur="500" fill="hold"/>
                                        <p:tgtEl>
                                          <p:spTgt spid="536637"/>
                                        </p:tgtEl>
                                        <p:attrNameLst>
                                          <p:attrName>ppt_y</p:attrName>
                                        </p:attrNameLst>
                                      </p:cBhvr>
                                      <p:tavLst>
                                        <p:tav tm="0">
                                          <p:val>
                                            <p:strVal val="#ppt_y+#ppt_h/2"/>
                                          </p:val>
                                        </p:tav>
                                        <p:tav tm="100000">
                                          <p:val>
                                            <p:strVal val="#ppt_y"/>
                                          </p:val>
                                        </p:tav>
                                      </p:tavLst>
                                    </p:anim>
                                    <p:anim calcmode="lin" valueType="num">
                                      <p:cBhvr>
                                        <p:cTn id="149" dur="500" fill="hold"/>
                                        <p:tgtEl>
                                          <p:spTgt spid="536637"/>
                                        </p:tgtEl>
                                        <p:attrNameLst>
                                          <p:attrName>ppt_w</p:attrName>
                                        </p:attrNameLst>
                                      </p:cBhvr>
                                      <p:tavLst>
                                        <p:tav tm="0">
                                          <p:val>
                                            <p:strVal val="#ppt_w"/>
                                          </p:val>
                                        </p:tav>
                                        <p:tav tm="100000">
                                          <p:val>
                                            <p:strVal val="#ppt_w"/>
                                          </p:val>
                                        </p:tav>
                                      </p:tavLst>
                                    </p:anim>
                                    <p:anim calcmode="lin" valueType="num">
                                      <p:cBhvr>
                                        <p:cTn id="150" dur="500" fill="hold"/>
                                        <p:tgtEl>
                                          <p:spTgt spid="536637"/>
                                        </p:tgtEl>
                                        <p:attrNameLst>
                                          <p:attrName>ppt_h</p:attrName>
                                        </p:attrNameLst>
                                      </p:cBhvr>
                                      <p:tavLst>
                                        <p:tav tm="0">
                                          <p:val>
                                            <p:fltVal val="0.00000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53662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7" presetClass="entr" presetSubtype="4" fill="hold" nodeType="clickEffect">
                                  <p:stCondLst>
                                    <p:cond delay="0"/>
                                  </p:stCondLst>
                                  <p:childTnLst>
                                    <p:set>
                                      <p:cBhvr>
                                        <p:cTn id="158" dur="1" fill="hold">
                                          <p:stCondLst>
                                            <p:cond delay="0"/>
                                          </p:stCondLst>
                                        </p:cTn>
                                        <p:tgtEl>
                                          <p:spTgt spid="536634"/>
                                        </p:tgtEl>
                                        <p:attrNameLst>
                                          <p:attrName>style.visibility</p:attrName>
                                        </p:attrNameLst>
                                      </p:cBhvr>
                                      <p:to>
                                        <p:strVal val="visible"/>
                                      </p:to>
                                    </p:set>
                                    <p:anim calcmode="lin" valueType="num">
                                      <p:cBhvr>
                                        <p:cTn id="159" dur="500" fill="hold"/>
                                        <p:tgtEl>
                                          <p:spTgt spid="536634"/>
                                        </p:tgtEl>
                                        <p:attrNameLst>
                                          <p:attrName>ppt_x</p:attrName>
                                        </p:attrNameLst>
                                      </p:cBhvr>
                                      <p:tavLst>
                                        <p:tav tm="0">
                                          <p:val>
                                            <p:strVal val="#ppt_x"/>
                                          </p:val>
                                        </p:tav>
                                        <p:tav tm="100000">
                                          <p:val>
                                            <p:strVal val="#ppt_x"/>
                                          </p:val>
                                        </p:tav>
                                      </p:tavLst>
                                    </p:anim>
                                    <p:anim calcmode="lin" valueType="num">
                                      <p:cBhvr>
                                        <p:cTn id="160" dur="500" fill="hold"/>
                                        <p:tgtEl>
                                          <p:spTgt spid="536634"/>
                                        </p:tgtEl>
                                        <p:attrNameLst>
                                          <p:attrName>ppt_y</p:attrName>
                                        </p:attrNameLst>
                                      </p:cBhvr>
                                      <p:tavLst>
                                        <p:tav tm="0">
                                          <p:val>
                                            <p:strVal val="#ppt_y+#ppt_h/2"/>
                                          </p:val>
                                        </p:tav>
                                        <p:tav tm="100000">
                                          <p:val>
                                            <p:strVal val="#ppt_y"/>
                                          </p:val>
                                        </p:tav>
                                      </p:tavLst>
                                    </p:anim>
                                    <p:anim calcmode="lin" valueType="num">
                                      <p:cBhvr>
                                        <p:cTn id="161" dur="500" fill="hold"/>
                                        <p:tgtEl>
                                          <p:spTgt spid="536634"/>
                                        </p:tgtEl>
                                        <p:attrNameLst>
                                          <p:attrName>ppt_w</p:attrName>
                                        </p:attrNameLst>
                                      </p:cBhvr>
                                      <p:tavLst>
                                        <p:tav tm="0">
                                          <p:val>
                                            <p:strVal val="#ppt_w"/>
                                          </p:val>
                                        </p:tav>
                                        <p:tav tm="100000">
                                          <p:val>
                                            <p:strVal val="#ppt_w"/>
                                          </p:val>
                                        </p:tav>
                                      </p:tavLst>
                                    </p:anim>
                                    <p:anim calcmode="lin" valueType="num">
                                      <p:cBhvr>
                                        <p:cTn id="162" dur="500" fill="hold"/>
                                        <p:tgtEl>
                                          <p:spTgt spid="536634"/>
                                        </p:tgtEl>
                                        <p:attrNameLst>
                                          <p:attrName>ppt_h</p:attrName>
                                        </p:attrNameLst>
                                      </p:cBhvr>
                                      <p:tavLst>
                                        <p:tav tm="0">
                                          <p:val>
                                            <p:fltVal val="0.000000"/>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4" presetClass="entr" presetSubtype="32" fill="hold" grpId="0" nodeType="clickEffect">
                                  <p:stCondLst>
                                    <p:cond delay="0"/>
                                  </p:stCondLst>
                                  <p:childTnLst>
                                    <p:set>
                                      <p:cBhvr>
                                        <p:cTn id="166" dur="1" fill="hold">
                                          <p:stCondLst>
                                            <p:cond delay="0"/>
                                          </p:stCondLst>
                                        </p:cTn>
                                        <p:tgtEl>
                                          <p:spTgt spid="536626"/>
                                        </p:tgtEl>
                                        <p:attrNameLst>
                                          <p:attrName>style.visibility</p:attrName>
                                        </p:attrNameLst>
                                      </p:cBhvr>
                                      <p:to>
                                        <p:strVal val="visible"/>
                                      </p:to>
                                    </p:set>
                                    <p:animEffect transition="in" filter="box(out)">
                                      <p:cBhvr>
                                        <p:cTn id="167" dur="500"/>
                                        <p:tgtEl>
                                          <p:spTgt spid="536626"/>
                                        </p:tgtEl>
                                      </p:cBhvr>
                                    </p:animEffect>
                                  </p:childTnLst>
                                </p:cTn>
                              </p:par>
                            </p:childTnLst>
                          </p:cTn>
                        </p:par>
                      </p:childTnLst>
                    </p:cTn>
                  </p:par>
                  <p:par>
                    <p:cTn id="168" fill="hold">
                      <p:stCondLst>
                        <p:cond delay="indefinite"/>
                      </p:stCondLst>
                      <p:childTnLst>
                        <p:par>
                          <p:cTn id="169" fill="hold">
                            <p:stCondLst>
                              <p:cond delay="0"/>
                            </p:stCondLst>
                            <p:childTnLst>
                              <p:par>
                                <p:cTn id="170" presetID="17" presetClass="entr" presetSubtype="4" fill="hold" grpId="0" nodeType="clickEffect">
                                  <p:stCondLst>
                                    <p:cond delay="0"/>
                                  </p:stCondLst>
                                  <p:childTnLst>
                                    <p:set>
                                      <p:cBhvr>
                                        <p:cTn id="171" dur="1" fill="hold">
                                          <p:stCondLst>
                                            <p:cond delay="0"/>
                                          </p:stCondLst>
                                        </p:cTn>
                                        <p:tgtEl>
                                          <p:spTgt spid="536641"/>
                                        </p:tgtEl>
                                        <p:attrNameLst>
                                          <p:attrName>style.visibility</p:attrName>
                                        </p:attrNameLst>
                                      </p:cBhvr>
                                      <p:to>
                                        <p:strVal val="visible"/>
                                      </p:to>
                                    </p:set>
                                    <p:anim calcmode="lin" valueType="num">
                                      <p:cBhvr>
                                        <p:cTn id="172" dur="500" fill="hold"/>
                                        <p:tgtEl>
                                          <p:spTgt spid="536641"/>
                                        </p:tgtEl>
                                        <p:attrNameLst>
                                          <p:attrName>ppt_x</p:attrName>
                                        </p:attrNameLst>
                                      </p:cBhvr>
                                      <p:tavLst>
                                        <p:tav tm="0">
                                          <p:val>
                                            <p:strVal val="#ppt_x"/>
                                          </p:val>
                                        </p:tav>
                                        <p:tav tm="100000">
                                          <p:val>
                                            <p:strVal val="#ppt_x"/>
                                          </p:val>
                                        </p:tav>
                                      </p:tavLst>
                                    </p:anim>
                                    <p:anim calcmode="lin" valueType="num">
                                      <p:cBhvr>
                                        <p:cTn id="173" dur="500" fill="hold"/>
                                        <p:tgtEl>
                                          <p:spTgt spid="536641"/>
                                        </p:tgtEl>
                                        <p:attrNameLst>
                                          <p:attrName>ppt_y</p:attrName>
                                        </p:attrNameLst>
                                      </p:cBhvr>
                                      <p:tavLst>
                                        <p:tav tm="0">
                                          <p:val>
                                            <p:strVal val="#ppt_y+#ppt_h/2"/>
                                          </p:val>
                                        </p:tav>
                                        <p:tav tm="100000">
                                          <p:val>
                                            <p:strVal val="#ppt_y"/>
                                          </p:val>
                                        </p:tav>
                                      </p:tavLst>
                                    </p:anim>
                                    <p:anim calcmode="lin" valueType="num">
                                      <p:cBhvr>
                                        <p:cTn id="174" dur="500" fill="hold"/>
                                        <p:tgtEl>
                                          <p:spTgt spid="536641"/>
                                        </p:tgtEl>
                                        <p:attrNameLst>
                                          <p:attrName>ppt_w</p:attrName>
                                        </p:attrNameLst>
                                      </p:cBhvr>
                                      <p:tavLst>
                                        <p:tav tm="0">
                                          <p:val>
                                            <p:strVal val="#ppt_w"/>
                                          </p:val>
                                        </p:tav>
                                        <p:tav tm="100000">
                                          <p:val>
                                            <p:strVal val="#ppt_w"/>
                                          </p:val>
                                        </p:tav>
                                      </p:tavLst>
                                    </p:anim>
                                    <p:anim calcmode="lin" valueType="num">
                                      <p:cBhvr>
                                        <p:cTn id="175" dur="500" fill="hold"/>
                                        <p:tgtEl>
                                          <p:spTgt spid="53664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3" grpId="0"/>
      <p:bldP spid="536594" grpId="0"/>
      <p:bldP spid="536596" grpId="0"/>
      <p:bldP spid="536603" grpId="0"/>
      <p:bldP spid="536604" grpId="0"/>
      <p:bldP spid="536605" grpId="0"/>
      <p:bldP spid="536606" grpId="0"/>
      <p:bldP spid="536607" grpId="0"/>
      <p:bldP spid="536608" grpId="0"/>
      <p:bldP spid="536609" grpId="0"/>
      <p:bldP spid="536610" grpId="0"/>
      <p:bldP spid="536615" grpId="0" bldLvl="0" animBg="1"/>
      <p:bldP spid="536617" grpId="0"/>
      <p:bldP spid="536618" grpId="0" bldLvl="0" animBg="1"/>
      <p:bldP spid="536620" grpId="0"/>
      <p:bldP spid="536621" grpId="0" bldLvl="0" animBg="1"/>
      <p:bldP spid="536623" grpId="0"/>
      <p:bldP spid="536624" grpId="0" bldLvl="0" animBg="1"/>
      <p:bldP spid="536626" grpId="0"/>
      <p:bldP spid="536636" grpId="0" bldLvl="0" animBg="1"/>
      <p:bldP spid="536637" grpId="0" bldLvl="0" animBg="1"/>
      <p:bldP spid="536638" grpId="0" bldLvl="0" animBg="1"/>
      <p:bldP spid="536639" grpId="0" bldLvl="0" animBg="1"/>
      <p:bldP spid="53664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p:cNvSpPr txBox="1"/>
          <p:nvPr/>
        </p:nvSpPr>
        <p:spPr>
          <a:xfrm>
            <a:off x="695782" y="2204469"/>
            <a:ext cx="7395164" cy="521970"/>
          </a:xfrm>
          <a:prstGeom prst="rect">
            <a:avLst/>
          </a:prstGeom>
          <a:noFill/>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rPr>
              <a:t>递归算法是指算法中出现调用自己的成分。</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51815" y="260985"/>
            <a:ext cx="4314825" cy="645160"/>
          </a:xfrm>
          <a:prstGeom prst="rect">
            <a:avLst/>
          </a:prstGeom>
          <a:noFill/>
        </p:spPr>
        <p:txBody>
          <a:bodyPr wrap="none" rtlCol="0" anchor="t">
            <a:spAutoFit/>
          </a:bodyPr>
          <a:p>
            <a:pPr algn="l">
              <a:lnSpc>
                <a:spcPct val="100000"/>
              </a:lnSpc>
              <a:spcBef>
                <a:spcPct val="50000"/>
              </a:spcBef>
              <a:buClrTx/>
              <a:buSzTx/>
              <a:buFontTx/>
              <a:defRPr/>
            </a:pPr>
            <a:r>
              <a:rPr kumimoji="1" lang="zh-CN" altLang="en-US" sz="3600" b="1"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sym typeface="+mn-ea"/>
              </a:rPr>
              <a:t>递归算法的时空分析</a:t>
            </a:r>
            <a:endParaRPr kumimoji="1" lang="zh-CN" altLang="en-US" sz="3600" b="1"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07670" y="1196975"/>
            <a:ext cx="5547995" cy="583565"/>
          </a:xfrm>
          <a:prstGeom prst="rect">
            <a:avLst/>
          </a:prstGeom>
          <a:noFill/>
        </p:spPr>
        <p:txBody>
          <a:bodyPr wrap="none" rtlCol="0" anchor="t">
            <a:spAutoFit/>
          </a:bodyPr>
          <a:p>
            <a:pPr algn="l">
              <a:buClrTx/>
              <a:buSzTx/>
              <a:buFontTx/>
              <a:defRPr/>
            </a:pPr>
            <a:r>
              <a:rPr kumimoji="1" lang="zh-CN" altLang="en-US" sz="3200" b="1" noProof="0" dirty="0">
                <a:ln>
                  <a:noFill/>
                </a:ln>
                <a:solidFill>
                  <a:schemeClr val="hlin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 递归算法的时间复杂度分析</a:t>
            </a:r>
            <a:endParaRPr kumimoji="1" lang="zh-CN" altLang="en-US" sz="3200" b="1" noProof="0" dirty="0">
              <a:ln>
                <a:noFill/>
              </a:ln>
              <a:solidFill>
                <a:schemeClr val="hlin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839470" y="3213100"/>
            <a:ext cx="8439785" cy="958215"/>
          </a:xfrm>
          <a:prstGeom prst="rect">
            <a:avLst/>
          </a:prstGeom>
          <a:noFill/>
        </p:spPr>
        <p:txBody>
          <a:bodyPr wrap="square" rtlCol="0" anchor="t">
            <a:spAutoFit/>
          </a:bodyPr>
          <a:p>
            <a:pPr marL="457200" indent="-457200" algn="l">
              <a:lnSpc>
                <a:spcPct val="100000"/>
              </a:lnSpc>
              <a:spcBef>
                <a:spcPts val="600"/>
              </a:spcBef>
              <a:buBlip>
                <a:blip r:embed="rId1"/>
              </a:buBlip>
            </a:pPr>
            <a:r>
              <a:rPr lang="zh-CN" altLang="en-US" sz="2800" b="1" dirty="0">
                <a:latin typeface="微软雅黑" panose="020B0503020204020204" pitchFamily="34" charset="-122"/>
                <a:ea typeface="微软雅黑" panose="020B0503020204020204" pitchFamily="34" charset="-122"/>
                <a:cs typeface="Consolas" panose="020B0609020204030204" pitchFamily="49" charset="0"/>
                <a:sym typeface="+mn-ea"/>
              </a:rPr>
              <a:t>递归算法分析也称为</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sym typeface="+mn-ea"/>
              </a:rPr>
              <a:t>变长时空分析。</a:t>
            </a:r>
            <a:endParaRPr lang="en-US" altLang="zh-CN" sz="2800" b="1" dirty="0">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800"/>
              </a:lnSpc>
              <a:spcBef>
                <a:spcPts val="600"/>
              </a:spcBef>
              <a:buBlip>
                <a:blip r:embed="rId1"/>
              </a:buBlip>
            </a:pPr>
            <a:r>
              <a:rPr lang="zh-CN" altLang="en-US" sz="2800" b="1" dirty="0">
                <a:latin typeface="微软雅黑" panose="020B0503020204020204" pitchFamily="34" charset="-122"/>
                <a:ea typeface="微软雅黑" panose="020B0503020204020204" pitchFamily="34" charset="-122"/>
                <a:cs typeface="Consolas" panose="020B0609020204030204" pitchFamily="49" charset="0"/>
                <a:sym typeface="+mn-ea"/>
              </a:rPr>
              <a:t>非递归算法分析也称为</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sym typeface="+mn-ea"/>
              </a:rPr>
              <a:t>定长时空分析</a:t>
            </a:r>
            <a:r>
              <a:rPr lang="zh-CN" altLang="en-US" sz="2800" b="1" dirty="0">
                <a:latin typeface="微软雅黑" panose="020B0503020204020204" pitchFamily="34" charset="-122"/>
                <a:ea typeface="微软雅黑" panose="020B0503020204020204" pitchFamily="34" charset="-122"/>
                <a:cs typeface="Consolas" panose="020B0609020204030204" pitchFamily="49" charset="0"/>
                <a:sym typeface="+mn-ea"/>
              </a:rPr>
              <a:t>。</a:t>
            </a:r>
            <a:endParaRPr lang="zh-CN" altLang="en-US" sz="2800" b="1" dirty="0">
              <a:latin typeface="微软雅黑" panose="020B0503020204020204" pitchFamily="34" charset="-122"/>
              <a:ea typeface="微软雅黑" panose="020B0503020204020204" pitchFamily="34" charset="-122"/>
              <a:cs typeface="Consolas" panose="020B0609020204030204" pitchFamily="49" charset="0"/>
              <a:sym typeface="+mn-ea"/>
            </a:endParaRPr>
          </a:p>
        </p:txBody>
      </p:sp>
    </p:spTree>
  </p:cSld>
  <p:clrMapOvr>
    <a:masterClrMapping/>
  </p:clrMapOvr>
  <p:transition>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5360" y="551106"/>
            <a:ext cx="6189268" cy="645160"/>
          </a:xfrm>
          <a:prstGeom prst="rect">
            <a:avLst/>
          </a:prstGeom>
          <a:noFill/>
        </p:spPr>
        <p:txBody>
          <a:bodyPr wrap="square" rtlCol="0">
            <a:spAutoFit/>
          </a:bodyPr>
          <a:lstStyle/>
          <a:p>
            <a:pPr algn="l"/>
            <a:r>
              <a:rPr lang="zh-CN" altLang="en-US" sz="36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例如，求</a:t>
            </a:r>
            <a:r>
              <a:rPr lang="en-US" altLang="zh-CN" sz="3600" b="1" i="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6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6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的递归算法：</a:t>
            </a:r>
            <a:endParaRPr lang="zh-CN" altLang="en-US" sz="36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extBox 3"/>
          <p:cNvSpPr txBox="1"/>
          <p:nvPr/>
        </p:nvSpPr>
        <p:spPr>
          <a:xfrm>
            <a:off x="767715" y="1557020"/>
            <a:ext cx="5539105" cy="2010410"/>
          </a:xfrm>
          <a:prstGeom prst="rect">
            <a:avLst/>
          </a:prstGeom>
          <a:noFill/>
          <a:ln>
            <a:solidFill>
              <a:srgbClr val="1552D1"/>
            </a:solidFill>
          </a:ln>
        </p:spPr>
        <p:style>
          <a:lnRef idx="1">
            <a:schemeClr val="accent3"/>
          </a:lnRef>
          <a:fillRef idx="2">
            <a:schemeClr val="accent3"/>
          </a:fillRef>
          <a:effectRef idx="1">
            <a:schemeClr val="accent3"/>
          </a:effectRef>
          <a:fontRef idx="minor">
            <a:schemeClr val="dk1"/>
          </a:fontRef>
        </p:style>
        <p:txBody>
          <a:bodyPr wrap="square" lIns="180000" tIns="144000" bIns="144000"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 fact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return 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return n*</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fact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4"/>
          <p:cNvSpPr txBox="1"/>
          <p:nvPr/>
        </p:nvSpPr>
        <p:spPr>
          <a:xfrm>
            <a:off x="7594875" y="2752948"/>
            <a:ext cx="1285884" cy="2335530"/>
          </a:xfrm>
          <a:prstGeom prst="rect">
            <a:avLst/>
          </a:prstGeom>
          <a:noFill/>
        </p:spPr>
        <p:txBody>
          <a:bodyPr wrap="square" rtlCol="0">
            <a:spAutoFit/>
          </a:bodyPr>
          <a:lstStyle/>
          <a:p>
            <a:pPr>
              <a:lnSpc>
                <a:spcPts val="25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fact(4)</a:t>
            </a:r>
            <a:endPar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ts val="2500"/>
              </a:lnSpc>
              <a:spcBef>
                <a:spcPts val="0"/>
              </a:spcBef>
            </a:pP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a:t>
            </a: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a:p>
            <a:pPr>
              <a:lnSpc>
                <a:spcPts val="25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fact(3)</a:t>
            </a:r>
            <a:endPar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a:p>
            <a:pPr>
              <a:lnSpc>
                <a:spcPts val="2500"/>
              </a:lnSpc>
              <a:spcBef>
                <a:spcPts val="0"/>
              </a:spcBef>
            </a:pP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a:t>
            </a: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a:p>
            <a:pPr>
              <a:lnSpc>
                <a:spcPts val="25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fact(2)</a:t>
            </a:r>
            <a:endPar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a:p>
            <a:pPr>
              <a:lnSpc>
                <a:spcPts val="2500"/>
              </a:lnSpc>
              <a:spcBef>
                <a:spcPts val="0"/>
              </a:spcBef>
            </a:pP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a:t>
            </a: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a:p>
            <a:pPr>
              <a:lnSpc>
                <a:spcPts val="25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rPr>
              <a:t>fact(1)</a:t>
            </a:r>
            <a:endPar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a:endParaRPr>
          </a:p>
        </p:txBody>
      </p:sp>
      <p:grpSp>
        <p:nvGrpSpPr>
          <p:cNvPr id="5" name="组合 7"/>
          <p:cNvGrpSpPr/>
          <p:nvPr/>
        </p:nvGrpSpPr>
        <p:grpSpPr>
          <a:xfrm>
            <a:off x="8841669" y="2776442"/>
            <a:ext cx="1610726" cy="521970"/>
            <a:chOff x="2175456" y="3738247"/>
            <a:chExt cx="1610726" cy="521970"/>
          </a:xfrm>
        </p:grpSpPr>
        <p:sp>
          <p:nvSpPr>
            <p:cNvPr id="6" name="右箭头 5"/>
            <p:cNvSpPr/>
            <p:nvPr/>
          </p:nvSpPr>
          <p:spPr>
            <a:xfrm>
              <a:off x="2175456" y="3838634"/>
              <a:ext cx="642942" cy="142876"/>
            </a:xfrm>
            <a:prstGeom prst="rightArrow">
              <a:avLst/>
            </a:prstGeom>
            <a:solidFill>
              <a:schemeClr val="accent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7" name="TextBox 6"/>
            <p:cNvSpPr txBox="1"/>
            <p:nvPr/>
          </p:nvSpPr>
          <p:spPr>
            <a:xfrm>
              <a:off x="2857488" y="3738247"/>
              <a:ext cx="928694" cy="521970"/>
            </a:xfrm>
            <a:prstGeom prst="rect">
              <a:avLst/>
            </a:prstGeom>
            <a:noFill/>
          </p:spPr>
          <p:txBody>
            <a:bodyPr wrap="square"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8" name="组合 8"/>
          <p:cNvGrpSpPr/>
          <p:nvPr/>
        </p:nvGrpSpPr>
        <p:grpSpPr>
          <a:xfrm>
            <a:off x="8829417" y="3424514"/>
            <a:ext cx="1610726" cy="521970"/>
            <a:chOff x="2175456" y="3743377"/>
            <a:chExt cx="1610726" cy="521970"/>
          </a:xfrm>
        </p:grpSpPr>
        <p:sp>
          <p:nvSpPr>
            <p:cNvPr id="9" name="右箭头 9"/>
            <p:cNvSpPr/>
            <p:nvPr/>
          </p:nvSpPr>
          <p:spPr>
            <a:xfrm>
              <a:off x="2175456" y="3838634"/>
              <a:ext cx="642942" cy="142876"/>
            </a:xfrm>
            <a:prstGeom prst="rightArrow">
              <a:avLst/>
            </a:prstGeom>
            <a:solidFill>
              <a:schemeClr val="accent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10" name="TextBox 10"/>
            <p:cNvSpPr txBox="1"/>
            <p:nvPr/>
          </p:nvSpPr>
          <p:spPr>
            <a:xfrm>
              <a:off x="2857488" y="3743377"/>
              <a:ext cx="928694" cy="521970"/>
            </a:xfrm>
            <a:prstGeom prst="rect">
              <a:avLst/>
            </a:prstGeom>
            <a:noFill/>
          </p:spPr>
          <p:txBody>
            <a:bodyPr wrap="square"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11" name="组合 11"/>
          <p:cNvGrpSpPr/>
          <p:nvPr/>
        </p:nvGrpSpPr>
        <p:grpSpPr>
          <a:xfrm>
            <a:off x="8827064" y="4093572"/>
            <a:ext cx="1610726" cy="521970"/>
            <a:chOff x="2175456" y="3778383"/>
            <a:chExt cx="1610726" cy="521970"/>
          </a:xfrm>
        </p:grpSpPr>
        <p:sp>
          <p:nvSpPr>
            <p:cNvPr id="12" name="右箭头 12"/>
            <p:cNvSpPr/>
            <p:nvPr/>
          </p:nvSpPr>
          <p:spPr>
            <a:xfrm>
              <a:off x="2175456" y="3838634"/>
              <a:ext cx="642942" cy="142876"/>
            </a:xfrm>
            <a:prstGeom prst="rightArrow">
              <a:avLst/>
            </a:prstGeom>
            <a:solidFill>
              <a:schemeClr val="accent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13" name="TextBox 13"/>
            <p:cNvSpPr txBox="1"/>
            <p:nvPr/>
          </p:nvSpPr>
          <p:spPr>
            <a:xfrm>
              <a:off x="2857488" y="3778383"/>
              <a:ext cx="928694" cy="521970"/>
            </a:xfrm>
            <a:prstGeom prst="rect">
              <a:avLst/>
            </a:prstGeom>
            <a:noFill/>
          </p:spPr>
          <p:txBody>
            <a:bodyPr wrap="square"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14" name="组合 14"/>
          <p:cNvGrpSpPr/>
          <p:nvPr/>
        </p:nvGrpSpPr>
        <p:grpSpPr>
          <a:xfrm>
            <a:off x="8841669" y="4720658"/>
            <a:ext cx="1610726" cy="521970"/>
            <a:chOff x="2175456" y="3753637"/>
            <a:chExt cx="1610726" cy="521970"/>
          </a:xfrm>
        </p:grpSpPr>
        <p:sp>
          <p:nvSpPr>
            <p:cNvPr id="15" name="右箭头 15"/>
            <p:cNvSpPr/>
            <p:nvPr/>
          </p:nvSpPr>
          <p:spPr>
            <a:xfrm>
              <a:off x="2175456" y="3838634"/>
              <a:ext cx="642942" cy="142876"/>
            </a:xfrm>
            <a:prstGeom prst="rightArrow">
              <a:avLst/>
            </a:prstGeom>
            <a:solidFill>
              <a:schemeClr val="accent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16" name="TextBox 16"/>
            <p:cNvSpPr txBox="1"/>
            <p:nvPr/>
          </p:nvSpPr>
          <p:spPr>
            <a:xfrm>
              <a:off x="2857488" y="3753637"/>
              <a:ext cx="928694" cy="521970"/>
            </a:xfrm>
            <a:prstGeom prst="rect">
              <a:avLst/>
            </a:prstGeom>
            <a:noFill/>
          </p:spPr>
          <p:txBody>
            <a:bodyPr wrap="square"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grpSp>
        <p:nvGrpSpPr>
          <p:cNvPr id="17" name="组合 20"/>
          <p:cNvGrpSpPr/>
          <p:nvPr/>
        </p:nvGrpSpPr>
        <p:grpSpPr>
          <a:xfrm>
            <a:off x="10380957" y="2824068"/>
            <a:ext cx="1214446" cy="2071702"/>
            <a:chOff x="4429124" y="4164297"/>
            <a:chExt cx="1214446" cy="2071702"/>
          </a:xfrm>
        </p:grpSpPr>
        <p:sp>
          <p:nvSpPr>
            <p:cNvPr id="18" name="右大括号 17"/>
            <p:cNvSpPr/>
            <p:nvPr/>
          </p:nvSpPr>
          <p:spPr>
            <a:xfrm>
              <a:off x="4429124" y="4164297"/>
              <a:ext cx="214314" cy="2071702"/>
            </a:xfrm>
            <a:prstGeom prst="rightBrace">
              <a:avLst/>
            </a:prstGeom>
            <a:ln>
              <a:solidFill>
                <a:srgbClr val="1D41D5"/>
              </a:solidFill>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3600" b="1" dirty="0">
                <a:latin typeface="微软雅黑" panose="020B0503020204020204" pitchFamily="34" charset="-122"/>
                <a:ea typeface="微软雅黑" panose="020B0503020204020204" pitchFamily="34" charset="-122"/>
              </a:endParaRPr>
            </a:p>
          </p:txBody>
        </p:sp>
        <p:sp>
          <p:nvSpPr>
            <p:cNvPr id="19" name="TextBox 18"/>
            <p:cNvSpPr txBox="1"/>
            <p:nvPr/>
          </p:nvSpPr>
          <p:spPr>
            <a:xfrm>
              <a:off x="4714876" y="5032232"/>
              <a:ext cx="928694" cy="521970"/>
            </a:xfrm>
            <a:prstGeom prst="rect">
              <a:avLst/>
            </a:prstGeom>
            <a:noFill/>
          </p:spPr>
          <p:txBody>
            <a:bodyPr wrap="square"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20" name="TextBox 19"/>
          <p:cNvSpPr txBox="1"/>
          <p:nvPr/>
        </p:nvSpPr>
        <p:spPr>
          <a:xfrm>
            <a:off x="6953250" y="1657985"/>
            <a:ext cx="3885565" cy="583565"/>
          </a:xfrm>
          <a:prstGeom prst="rect">
            <a:avLst/>
          </a:prstGeom>
          <a:noFill/>
        </p:spPr>
        <p:txBody>
          <a:bodyPr wrap="square" rtlCol="0">
            <a:spAutoFit/>
          </a:bodyPr>
          <a:lstStyle/>
          <a:p>
            <a:pPr algn="l"/>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求</a:t>
            </a:r>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fact(4),</a:t>
            </a:r>
            <a:r>
              <a:rPr lang="en-US" altLang="zh-CN" sz="32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2495" y="3917315"/>
            <a:ext cx="10274300" cy="2045335"/>
          </a:xfrm>
          <a:prstGeom prst="rect">
            <a:avLst/>
          </a:prstGeom>
          <a:ln>
            <a:noFill/>
          </a:ln>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6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y</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执行时间</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则两个问题规模为</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的子问题的</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执行时间</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均为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总</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执行时间</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是</a:t>
            </a:r>
            <a:r>
              <a:rPr lang="zh-CN" altLang="zh-CN" sz="2800" b="1" dirty="0">
                <a:solidFill>
                  <a:schemeClr val="tx1"/>
                </a:solidFill>
                <a:latin typeface="微软雅黑" panose="020B0503020204020204" pitchFamily="34" charset="-122"/>
                <a:ea typeface="微软雅黑" panose="020B0503020204020204" pitchFamily="34" charset="-122"/>
              </a:rPr>
              <a:t>累加</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关系</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递推式如下</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4"/>
          <p:cNvSpPr txBox="1"/>
          <p:nvPr/>
        </p:nvSpPr>
        <p:spPr>
          <a:xfrm>
            <a:off x="3863782" y="5517300"/>
            <a:ext cx="6607066" cy="954405"/>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tIns="108000" bIns="108000" rtlCol="0">
            <a:spAutoFit/>
          </a:bodyPr>
          <a:lstStyle/>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-1)+1	</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&gt;1</a:t>
            </a:r>
            <a:r>
              <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3"/>
          <p:cNvSpPr txBox="1"/>
          <p:nvPr/>
        </p:nvSpPr>
        <p:spPr>
          <a:xfrm>
            <a:off x="551815" y="188595"/>
            <a:ext cx="10205085" cy="402145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n,char</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X,char</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Y,char</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Z)</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//只有一个盘片的情况</a:t>
            </a:r>
            <a:endPar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//有两个或多个盘片的情况</a:t>
            </a:r>
            <a:endPar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(n-1,X,Z,Y);</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(n-1,Y,X,Z);</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9470" y="2493010"/>
            <a:ext cx="10308590" cy="3107690"/>
          </a:xfrm>
          <a:prstGeom prst="rect">
            <a:avLst/>
          </a:prstGeom>
          <a:noFill/>
        </p:spPr>
        <p:txBody>
          <a:bodyPr wrap="square" rtlCol="0">
            <a:spAutoFit/>
          </a:bodyPr>
          <a:lstStyle/>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 = 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T(n-1)+1 = 2(2T(n-2)+1)+1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T(n-2)+2+1 =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(2T(n-3)+1)+2+1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3</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T(n-3)+2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T(1)+2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O(2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767715" y="692785"/>
            <a:ext cx="10208260" cy="1077595"/>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tIns="108000" bIns="108000"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&gt;1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91850" y="332912"/>
            <a:ext cx="5617765" cy="583565"/>
          </a:xfrm>
          <a:prstGeom prst="rect">
            <a:avLst/>
          </a:prstGeom>
          <a:noFill/>
          <a:ln w="9525">
            <a:noFill/>
            <a:miter lim="800000"/>
          </a:ln>
          <a:effectLst/>
        </p:spPr>
        <p:txBody>
          <a:bodyPr wrap="square">
            <a:spAutoFit/>
          </a:bodyPr>
          <a:lstStyle/>
          <a:p>
            <a:pPr algn="l">
              <a:lnSpc>
                <a:spcPct val="100000"/>
              </a:lnSpc>
            </a:pPr>
            <a:r>
              <a:rPr lang="en-US" altLang="zh-CN" sz="32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32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例</a:t>
            </a:r>
            <a:r>
              <a:rPr lang="en-US" altLang="zh-CN" sz="32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5.2】</a:t>
            </a: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有如下递归算法</a:t>
            </a:r>
            <a:r>
              <a:rPr lang="zh-CN" altLang="en-US" sz="3200" b="1" dirty="0">
                <a:latin typeface="微软雅黑" panose="020B0503020204020204" pitchFamily="34" charset="-122"/>
                <a:ea typeface="微软雅黑" panose="020B0503020204020204" pitchFamily="34" charset="-122"/>
                <a:cs typeface="Consolas" panose="020B0609020204030204" pitchFamily="49" charset="0"/>
              </a:rPr>
              <a:t>：</a:t>
            </a:r>
            <a:endParaRPr lang="zh-CN" altLang="en-US" sz="3200" b="1" dirty="0">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4"/>
          <p:cNvSpPr txBox="1"/>
          <p:nvPr/>
        </p:nvSpPr>
        <p:spPr>
          <a:xfrm>
            <a:off x="2063750" y="5973445"/>
            <a:ext cx="8909685" cy="521970"/>
          </a:xfrm>
          <a:prstGeom prst="rect">
            <a:avLst/>
          </a:prstGeom>
          <a:noFill/>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调用上述算法的语句为</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i="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，求其时间复杂度。</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7"/>
          <p:cNvSpPr txBox="1"/>
          <p:nvPr/>
        </p:nvSpPr>
        <p:spPr>
          <a:xfrm>
            <a:off x="1055370" y="836930"/>
            <a:ext cx="9908540" cy="499110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k) 	</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数组</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共有</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个元素</a:t>
            </a:r>
            <a:endPar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if (k==n-1)</a:t>
            </a:r>
            <a:endPar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for (</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=0;i&lt;</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(“%d\n”</a:t>
            </a:r>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else</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for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n-k</a:t>
            </a:r>
            <a:r>
              <a:rPr lang="zh-CN" altLang="en-US"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800" b="1" dirty="0">
              <a:solidFill>
                <a:schemeClr val="accent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 fun(a</a:t>
            </a:r>
            <a:r>
              <a:rPr lang="zh-CN" alt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k+1);</a:t>
            </a:r>
            <a:endPar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63560" y="260955"/>
            <a:ext cx="5072097" cy="583565"/>
          </a:xfrm>
          <a:prstGeom prst="rect">
            <a:avLst/>
          </a:prstGeom>
          <a:noFill/>
          <a:ln w="9525">
            <a:noFill/>
            <a:miter lim="800000"/>
          </a:ln>
          <a:effectLst/>
        </p:spPr>
        <p:txBody>
          <a:bodyPr wrap="square">
            <a:spAutoFit/>
          </a:bodyPr>
          <a:lstStyle/>
          <a:p>
            <a:pPr algn="just">
              <a:lnSpc>
                <a:spcPct val="100000"/>
              </a:lnSpc>
            </a:pPr>
            <a:r>
              <a:rPr lang="zh-CN" altLang="en-US" sz="32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递归算法：</a:t>
            </a:r>
            <a:endParaRPr lang="zh-CN" altLang="en-US" sz="32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TextBox 15"/>
          <p:cNvSpPr txBox="1"/>
          <p:nvPr/>
        </p:nvSpPr>
        <p:spPr>
          <a:xfrm>
            <a:off x="911860" y="1268730"/>
            <a:ext cx="9603740" cy="499110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k) </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数组</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共有</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个元素</a:t>
            </a:r>
            <a:endPar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if (k==n-1)</a:t>
            </a:r>
            <a:endPar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for (</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=0;i&lt;</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(“%d\n”</a:t>
            </a:r>
            <a:r>
              <a:rPr lang="zh-CN" altLang="en-US"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else</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for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n-k</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k+1);</a:t>
            </a:r>
            <a:endPar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1664335" y="3051810"/>
            <a:ext cx="9283700" cy="2861310"/>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just">
              <a:lnSpc>
                <a:spcPct val="100000"/>
              </a:lnSpc>
              <a:spcBef>
                <a:spcPts val="18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 = T</a:t>
            </a:r>
            <a:r>
              <a:rPr lang="en-US" altLang="zh-CN"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 = n + T</a:t>
            </a:r>
            <a:r>
              <a:rPr lang="en-US" altLang="zh-CN"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 n + (n-1) + T</a:t>
            </a:r>
            <a:r>
              <a:rPr lang="en-US" altLang="zh-CN"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lnSpc>
                <a:spcPct val="100000"/>
              </a:lnSpc>
              <a:spcBef>
                <a:spcPts val="1800"/>
              </a:spcBef>
            </a:pP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 n+(n-1) + … + 2+T</a:t>
            </a:r>
            <a:r>
              <a:rPr lang="en-US" altLang="zh-CN"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lnSpc>
                <a:spcPct val="100000"/>
              </a:lnSpc>
              <a:spcBef>
                <a:spcPts val="1800"/>
              </a:spcBef>
            </a:pP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n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(n-1) + … + 2 + n</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lnSpc>
                <a:spcPct val="100000"/>
              </a:lnSpc>
              <a:spcBef>
                <a:spcPts val="1800"/>
              </a:spcBef>
            </a:pP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n+1)/2+n-1</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lnSpc>
                <a:spcPct val="100000"/>
              </a:lnSpc>
              <a:spcBef>
                <a:spcPts val="18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O(n</a:t>
            </a:r>
            <a:r>
              <a:rPr lang="en-US" altLang="zh-CN"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3" name="组合 6"/>
          <p:cNvGrpSpPr/>
          <p:nvPr/>
        </p:nvGrpSpPr>
        <p:grpSpPr>
          <a:xfrm>
            <a:off x="6167438" y="4168482"/>
            <a:ext cx="393700" cy="333375"/>
            <a:chOff x="3856038" y="4098925"/>
            <a:chExt cx="393700" cy="333375"/>
          </a:xfrm>
        </p:grpSpPr>
        <p:sp>
          <p:nvSpPr>
            <p:cNvPr id="4" name="Line 3"/>
            <p:cNvSpPr>
              <a:spLocks noChangeShapeType="1"/>
            </p:cNvSpPr>
            <p:nvPr/>
          </p:nvSpPr>
          <p:spPr bwMode="auto">
            <a:xfrm flipH="1">
              <a:off x="3856038" y="4098925"/>
              <a:ext cx="360362" cy="287338"/>
            </a:xfrm>
            <a:prstGeom prst="line">
              <a:avLst/>
            </a:prstGeom>
            <a:noFill/>
            <a:ln w="9525">
              <a:solidFill>
                <a:srgbClr val="C00000"/>
              </a:solidFill>
              <a:round/>
            </a:ln>
            <a:effectLst/>
          </p:spPr>
          <p:txBody>
            <a:bodyPr>
              <a:spAutoFit/>
            </a:bodyPr>
            <a:lstStyle/>
            <a:p>
              <a:endParaRPr lang="zh-CN" altLang="en-US" dirty="0"/>
            </a:p>
          </p:txBody>
        </p:sp>
        <p:sp>
          <p:nvSpPr>
            <p:cNvPr id="5" name="Line 4"/>
            <p:cNvSpPr>
              <a:spLocks noChangeShapeType="1"/>
            </p:cNvSpPr>
            <p:nvPr/>
          </p:nvSpPr>
          <p:spPr bwMode="auto">
            <a:xfrm flipH="1">
              <a:off x="3889375" y="4144963"/>
              <a:ext cx="360363" cy="287337"/>
            </a:xfrm>
            <a:prstGeom prst="line">
              <a:avLst/>
            </a:prstGeom>
            <a:noFill/>
            <a:ln w="9525">
              <a:solidFill>
                <a:srgbClr val="C00000"/>
              </a:solidFill>
              <a:round/>
            </a:ln>
            <a:effectLst/>
          </p:spPr>
          <p:txBody>
            <a:bodyPr>
              <a:spAutoFit/>
            </a:bodyPr>
            <a:lstStyle/>
            <a:p>
              <a:endParaRPr lang="zh-CN" altLang="en-US" dirty="0"/>
            </a:p>
          </p:txBody>
        </p:sp>
      </p:grpSp>
      <p:sp>
        <p:nvSpPr>
          <p:cNvPr id="6" name="TextBox 7"/>
          <p:cNvSpPr txBox="1"/>
          <p:nvPr/>
        </p:nvSpPr>
        <p:spPr>
          <a:xfrm>
            <a:off x="2095500" y="6195060"/>
            <a:ext cx="7976235" cy="521970"/>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所以调用</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fun(a</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的时间复杂度为</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O(</a:t>
            </a:r>
            <a:r>
              <a:rPr lang="en-US" altLang="zh-CN" sz="2800"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baseline="30000"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Text Box 2"/>
          <p:cNvSpPr txBox="1">
            <a:spLocks noChangeArrowheads="1"/>
          </p:cNvSpPr>
          <p:nvPr/>
        </p:nvSpPr>
        <p:spPr bwMode="auto">
          <a:xfrm>
            <a:off x="839470" y="476885"/>
            <a:ext cx="8710930" cy="1077595"/>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tIns="108000" bIns="108000">
            <a:spAutoFit/>
          </a:bodyPr>
          <a:lstStyle/>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 = n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k=n-1</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 = (n-k)+T</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其他情况</a:t>
            </a:r>
            <a:endPar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8" name="组合 18"/>
          <p:cNvGrpSpPr/>
          <p:nvPr/>
        </p:nvGrpSpPr>
        <p:grpSpPr>
          <a:xfrm>
            <a:off x="498756" y="1908407"/>
            <a:ext cx="9291924" cy="953135"/>
            <a:chOff x="-1025244" y="1571612"/>
            <a:chExt cx="9291924" cy="953135"/>
          </a:xfrm>
        </p:grpSpPr>
        <p:sp>
          <p:nvSpPr>
            <p:cNvPr id="9" name="TextBox 5"/>
            <p:cNvSpPr txBox="1"/>
            <p:nvPr/>
          </p:nvSpPr>
          <p:spPr>
            <a:xfrm>
              <a:off x="-1025244" y="1571612"/>
              <a:ext cx="6740525" cy="953135"/>
            </a:xfrm>
            <a:prstGeom prst="rect">
              <a:avLst/>
            </a:prstGeom>
            <a:noFill/>
          </p:spPr>
          <p:txBody>
            <a:bodyPr wrap="square" rtlCol="0">
              <a:spAutoFit/>
            </a:bodyPr>
            <a:lstStyle/>
            <a:p>
              <a:pPr marL="457200" indent="-457200" algn="l">
                <a:lnSpc>
                  <a:spcPct val="100000"/>
                </a:lnSpc>
                <a:spcBef>
                  <a:spcPts val="0"/>
                </a:spcBef>
                <a:buBlip>
                  <a:blip r:embed="rId1"/>
                </a:buBlip>
              </a:pP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fun(a</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的执行时间为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0"/>
                </a:spcBef>
                <a:buBlip>
                  <a:blip r:embed="rId1"/>
                </a:buBlip>
              </a:pP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而</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fun(a</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的执行时间为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0" name="TextBox 15"/>
            <p:cNvSpPr txBox="1"/>
            <p:nvPr/>
          </p:nvSpPr>
          <p:spPr>
            <a:xfrm>
              <a:off x="6123540" y="1683242"/>
              <a:ext cx="2143140" cy="398780"/>
            </a:xfrm>
            <a:prstGeom prst="rect">
              <a:avLst/>
            </a:prstGeom>
            <a:noFill/>
          </p:spPr>
          <p:txBody>
            <a:bodyPr wrap="square" rtlCol="0">
              <a:spAutoFit/>
            </a:bodyPr>
            <a:lstStyle/>
            <a:p>
              <a:pPr algn="l"/>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T(n)=T</a:t>
              </a:r>
              <a:r>
                <a:rPr lang="en-US" altLang="zh-CN" sz="20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1</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(n</a:t>
              </a:r>
              <a:r>
                <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0)</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1" name="右箭头 17"/>
            <p:cNvSpPr/>
            <p:nvPr/>
          </p:nvSpPr>
          <p:spPr>
            <a:xfrm>
              <a:off x="5643570" y="1785926"/>
              <a:ext cx="357190"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21360" y="476885"/>
            <a:ext cx="6193155" cy="521970"/>
          </a:xfrm>
          <a:prstGeom prst="rect">
            <a:avLst/>
          </a:prstGeom>
          <a:noFill/>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Find(a,0,n-1,x)</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的执行时间为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endParaRPr>
          </a:p>
        </p:txBody>
      </p:sp>
      <p:grpSp>
        <p:nvGrpSpPr>
          <p:cNvPr id="4" name="组合 13"/>
          <p:cNvGrpSpPr/>
          <p:nvPr/>
        </p:nvGrpSpPr>
        <p:grpSpPr>
          <a:xfrm>
            <a:off x="7133370" y="1877884"/>
            <a:ext cx="3428992" cy="1621794"/>
            <a:chOff x="5715008" y="1071546"/>
            <a:chExt cx="3428992" cy="1621794"/>
          </a:xfrm>
        </p:grpSpPr>
        <p:sp>
          <p:nvSpPr>
            <p:cNvPr id="5" name="TextBox 4"/>
            <p:cNvSpPr txBox="1"/>
            <p:nvPr/>
          </p:nvSpPr>
          <p:spPr>
            <a:xfrm>
              <a:off x="5715008" y="1071546"/>
              <a:ext cx="3143272" cy="398780"/>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Box 5"/>
            <p:cNvSpPr txBox="1"/>
            <p:nvPr/>
          </p:nvSpPr>
          <p:spPr>
            <a:xfrm>
              <a:off x="5715008" y="2294560"/>
              <a:ext cx="1357322" cy="398780"/>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endPar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TextBox 6"/>
            <p:cNvSpPr txBox="1"/>
            <p:nvPr/>
          </p:nvSpPr>
          <p:spPr>
            <a:xfrm>
              <a:off x="7143768" y="2275902"/>
              <a:ext cx="2000232" cy="398780"/>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C9A48"/>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pP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8" name="直接箭头连接符 7"/>
            <p:cNvCxnSpPr/>
            <p:nvPr/>
          </p:nvCxnSpPr>
          <p:spPr>
            <a:xfrm flipH="1">
              <a:off x="6500828" y="1519154"/>
              <a:ext cx="785816" cy="671460"/>
            </a:xfrm>
            <a:prstGeom prst="straightConnector1">
              <a:avLst/>
            </a:prstGeom>
            <a:ln>
              <a:solidFill>
                <a:srgbClr val="FC9A48"/>
              </a:solidFill>
              <a:tailEnd type="arrow"/>
            </a:ln>
          </p:spPr>
          <p:style>
            <a:lnRef idx="2">
              <a:schemeClr val="accent5"/>
            </a:lnRef>
            <a:fillRef idx="0">
              <a:schemeClr val="accent5"/>
            </a:fillRef>
            <a:effectRef idx="1">
              <a:schemeClr val="accent5"/>
            </a:effectRef>
            <a:fontRef idx="minor">
              <a:schemeClr val="tx1"/>
            </a:fontRef>
          </p:style>
        </p:cxnSp>
        <p:cxnSp>
          <p:nvCxnSpPr>
            <p:cNvPr id="9" name="直接箭头连接符 8"/>
            <p:cNvCxnSpPr/>
            <p:nvPr/>
          </p:nvCxnSpPr>
          <p:spPr>
            <a:xfrm>
              <a:off x="7286644" y="1519154"/>
              <a:ext cx="857240" cy="671460"/>
            </a:xfrm>
            <a:prstGeom prst="straightConnector1">
              <a:avLst/>
            </a:prstGeom>
            <a:ln>
              <a:solidFill>
                <a:srgbClr val="FC9A48"/>
              </a:solidFill>
              <a:tailEnd type="arrow"/>
            </a:ln>
          </p:spPr>
          <p:style>
            <a:lnRef idx="2">
              <a:schemeClr val="accent5"/>
            </a:lnRef>
            <a:fillRef idx="0">
              <a:schemeClr val="accent5"/>
            </a:fillRef>
            <a:effectRef idx="1">
              <a:schemeClr val="accent5"/>
            </a:effectRef>
            <a:fontRef idx="minor">
              <a:schemeClr val="tx1"/>
            </a:fontRef>
          </p:style>
        </p:cxnSp>
      </p:grpSp>
      <p:grpSp>
        <p:nvGrpSpPr>
          <p:cNvPr id="10" name="组合 14"/>
          <p:cNvGrpSpPr/>
          <p:nvPr/>
        </p:nvGrpSpPr>
        <p:grpSpPr>
          <a:xfrm>
            <a:off x="7276246" y="3592397"/>
            <a:ext cx="3957320" cy="1597660"/>
            <a:chOff x="5857884" y="2786058"/>
            <a:chExt cx="3957320" cy="1597660"/>
          </a:xfrm>
        </p:grpSpPr>
        <p:sp>
          <p:nvSpPr>
            <p:cNvPr id="11" name="TextBox 11"/>
            <p:cNvSpPr txBox="1"/>
            <p:nvPr/>
          </p:nvSpPr>
          <p:spPr>
            <a:xfrm>
              <a:off x="5857884" y="3429313"/>
              <a:ext cx="3957320" cy="954405"/>
            </a:xfrm>
            <a:prstGeom prst="rect">
              <a:avLst/>
            </a:prstGeom>
            <a:no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&gt;1</a:t>
              </a:r>
              <a:endParaRPr lang="en-US" altLang="zh-CN"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2" name="下箭头 12"/>
            <p:cNvSpPr/>
            <p:nvPr/>
          </p:nvSpPr>
          <p:spPr>
            <a:xfrm>
              <a:off x="7143768" y="2786058"/>
              <a:ext cx="214314" cy="500066"/>
            </a:xfrm>
            <a:prstGeom prst="downArrow">
              <a:avLst/>
            </a:prstGeom>
            <a:gradFill>
              <a:gsLst>
                <a:gs pos="0">
                  <a:srgbClr val="FC9A48"/>
                </a:gs>
                <a:gs pos="100000">
                  <a:srgbClr val="FC9A48"/>
                </a:gs>
              </a:gsLst>
            </a:gradFill>
            <a:ln>
              <a:solidFill>
                <a:srgbClr val="FC9A48"/>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dirty="0"/>
            </a:p>
          </p:txBody>
        </p:sp>
      </p:grpSp>
      <p:sp>
        <p:nvSpPr>
          <p:cNvPr id="14" name="TextBox 10"/>
          <p:cNvSpPr txBox="1"/>
          <p:nvPr/>
        </p:nvSpPr>
        <p:spPr>
          <a:xfrm>
            <a:off x="837565" y="1053465"/>
            <a:ext cx="5437505" cy="588835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lIns="216000" tIns="144000" bIns="144000" rtlCol="0">
            <a:spAutoFit/>
          </a:bodyPr>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a:t>
            </a:r>
            <a:r>
              <a:rPr lang="en-US" altLang="zh-CN" sz="2800" b="1" dirty="0">
                <a:solidFill>
                  <a:srgbClr val="1552D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Consolas" panose="020B0609020204030204" pitchFamily="49" charset="0"/>
              </a:rPr>
              <a:t> Find</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a[],int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s,int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t,int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x) </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(s&lt;=t)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if (a[m]==x)</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m;</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if (x&lt;a[m])</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Find</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s,m-1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Find</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m+1,t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83615" y="332740"/>
            <a:ext cx="5124450" cy="1323340"/>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tIns="108000" bIns="108000" rtlCol="0">
            <a:spAutoFit/>
          </a:bodyPr>
          <a:lstStyle/>
          <a:p>
            <a:pPr algn="l">
              <a:lnSpc>
                <a:spcPct val="15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4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50000"/>
              </a:lnSpc>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	</a:t>
            </a:r>
            <a:r>
              <a:rPr lang="zh-CN"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4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&gt;1</a:t>
            </a:r>
            <a:endPar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911806" y="1989117"/>
            <a:ext cx="7643866" cy="3969385"/>
          </a:xfrm>
          <a:prstGeom prst="rect">
            <a:avLst/>
          </a:prstGeom>
          <a:noFill/>
        </p:spPr>
        <p:txBody>
          <a:bodyPr wrap="square" rtlCol="0">
            <a:spAutoFit/>
          </a:bodyPr>
          <a:lstStyle/>
          <a:p>
            <a:pPr algn="l"/>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不妨设</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，即</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k=log</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T(n/2)+1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T(n/2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)+2=T(n/2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3</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)+3</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T(n/2</a:t>
            </a:r>
            <a:r>
              <a:rPr lang="en-US" altLang="zh-CN" sz="2800" b="1" baseline="30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1+k</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log</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O(log</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Find(a,0,n-1,x)</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的时间复杂度是</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O(log</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p:cNvSpPr txBox="1"/>
          <p:nvPr/>
        </p:nvSpPr>
        <p:spPr>
          <a:xfrm>
            <a:off x="623570" y="1628775"/>
            <a:ext cx="8678545" cy="583565"/>
          </a:xfrm>
          <a:prstGeom prst="rect">
            <a:avLst/>
          </a:prstGeom>
          <a:noFill/>
        </p:spPr>
        <p:txBody>
          <a:bodyPr wrap="square" rtlCol="0">
            <a:spAutoFit/>
          </a:bodyPr>
          <a:lstStyle/>
          <a:p>
            <a:pPr algn="l"/>
            <a:r>
              <a:rPr lang="zh-CN" altLang="en-US" sz="3200" b="1" dirty="0">
                <a:solidFill>
                  <a:schemeClr val="tx1"/>
                </a:solidFill>
                <a:latin typeface="微软雅黑" panose="020B0503020204020204" pitchFamily="34" charset="-122"/>
                <a:ea typeface="微软雅黑" panose="020B0503020204020204" pitchFamily="34" charset="-122"/>
              </a:rPr>
              <a:t>递归算法是指算法中出现调用自己的成分。</a:t>
            </a:r>
            <a:endParaRPr lang="zh-CN" altLang="en-US" sz="3200" b="1" dirty="0">
              <a:solidFill>
                <a:schemeClr val="tx1"/>
              </a:solidFill>
              <a:latin typeface="微软雅黑" panose="020B0503020204020204" pitchFamily="34" charset="-122"/>
              <a:ea typeface="微软雅黑" panose="020B0503020204020204" pitchFamily="34" charset="-122"/>
            </a:endParaRPr>
          </a:p>
        </p:txBody>
      </p:sp>
      <p:sp>
        <p:nvSpPr>
          <p:cNvPr id="4" name="TextBox 9"/>
          <p:cNvSpPr txBox="1"/>
          <p:nvPr/>
        </p:nvSpPr>
        <p:spPr>
          <a:xfrm>
            <a:off x="551815" y="2493010"/>
            <a:ext cx="8056880" cy="1277620"/>
          </a:xfrm>
          <a:prstGeom prst="rect">
            <a:avLst/>
          </a:prstGeom>
          <a:noFill/>
          <a:ln>
            <a:noFill/>
          </a:ln>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ct val="100000"/>
              </a:lnSpc>
              <a:spcBef>
                <a:spcPts val="600"/>
              </a:spcBef>
              <a:buBlip>
                <a:blip r:embed="rId1"/>
              </a:buBlip>
            </a:pP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递归算法分析也称为</a:t>
            </a:r>
            <a:r>
              <a:rPr lang="zh-CN" altLang="en-US" sz="32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变长时空分析。</a:t>
            </a:r>
            <a:endParaRPr lang="en-US" altLang="zh-CN" sz="32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非递归算法分析也称为</a:t>
            </a:r>
            <a:r>
              <a:rPr lang="zh-CN" altLang="en-US" sz="32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定长时空分析。</a:t>
            </a:r>
            <a:endParaRPr lang="zh-CN" altLang="en-US" sz="3200"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文本框 4"/>
          <p:cNvSpPr txBox="1"/>
          <p:nvPr/>
        </p:nvSpPr>
        <p:spPr>
          <a:xfrm>
            <a:off x="191770" y="404495"/>
            <a:ext cx="6313170" cy="645160"/>
          </a:xfrm>
          <a:prstGeom prst="rect">
            <a:avLst/>
          </a:prstGeom>
          <a:noFill/>
        </p:spPr>
        <p:txBody>
          <a:bodyPr wrap="none" rtlCol="0" anchor="t">
            <a:spAutoFit/>
          </a:bodyPr>
          <a:p>
            <a:r>
              <a:rPr lang="en-US" altLang="zh-CN" sz="3600" b="1" spc="50" dirty="0">
                <a:ln w="11430"/>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mn-ea"/>
              </a:rPr>
              <a:t>2. </a:t>
            </a:r>
            <a:r>
              <a:rPr lang="zh-CN" altLang="en-US" sz="3600" b="1" spc="50" dirty="0">
                <a:ln w="11430"/>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mn-ea"/>
              </a:rPr>
              <a:t>递归算法的空间复杂度分析</a:t>
            </a:r>
            <a:endParaRPr lang="zh-CN" altLang="en-US" sz="3600" b="1" spc="50" dirty="0">
              <a:ln w="11430"/>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3660" y="3716655"/>
            <a:ext cx="8743315" cy="1553210"/>
          </a:xfrm>
          <a:prstGeom prst="rect">
            <a:avLst/>
          </a:prstGeom>
          <a:ln>
            <a:noFill/>
          </a:ln>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400"/>
              </a:lnSpc>
              <a:spcBef>
                <a:spcPts val="600"/>
              </a:spcBef>
              <a:buBlip>
                <a:blip r:embed="rId1"/>
              </a:buBlip>
            </a:pP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y</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的临时空间为</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400"/>
              </a:lnSpc>
              <a:spcBef>
                <a:spcPts val="600"/>
              </a:spcBef>
              <a:buBlip>
                <a:blip r:embed="rId1"/>
              </a:buBlip>
            </a:pP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则两个问题规模为</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的子问题的临时空间均为</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400"/>
              </a:lnSpc>
              <a:spcBef>
                <a:spcPts val="600"/>
              </a:spcBef>
              <a:buBlip>
                <a:blip r:embed="rId1"/>
              </a:buBlip>
            </a:pP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总空间是</a:t>
            </a:r>
            <a:r>
              <a:rPr lang="zh-CN"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最大值</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关系</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400"/>
              </a:lnSpc>
              <a:spcBef>
                <a:spcPts val="600"/>
              </a:spcBef>
              <a:buBlip>
                <a:blip r:embed="rId1"/>
              </a:buBlip>
            </a:pP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递推式如下</a:t>
            </a:r>
            <a:r>
              <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4"/>
          <p:cNvSpPr txBox="1"/>
          <p:nvPr/>
        </p:nvSpPr>
        <p:spPr>
          <a:xfrm>
            <a:off x="1842770" y="5302250"/>
            <a:ext cx="7485380" cy="856615"/>
          </a:xfrm>
          <a:prstGeom prst="rect">
            <a:avLst/>
          </a:prstGeom>
          <a:noFill/>
        </p:spPr>
        <p:style>
          <a:lnRef idx="3">
            <a:schemeClr val="lt1"/>
          </a:lnRef>
          <a:fillRef idx="1">
            <a:schemeClr val="accent6"/>
          </a:fillRef>
          <a:effectRef idx="1">
            <a:schemeClr val="accent6"/>
          </a:effectRef>
          <a:fontRef idx="minor">
            <a:schemeClr val="lt1"/>
          </a:fontRef>
        </p:style>
        <p:txBody>
          <a:bodyPr wrap="square" lIns="180000" tIns="108000" bIns="108000" rtlCol="0">
            <a:spAutoFit/>
          </a:bodyPr>
          <a:lstStyle/>
          <a:p>
            <a:pPr algn="l">
              <a:lnSpc>
                <a:spcPts val="2500"/>
              </a:lnSpc>
            </a:pP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b="1" i="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)=1				</a:t>
            </a:r>
            <a:r>
              <a:rPr lang="zh-CN"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500"/>
              </a:lnSpc>
            </a:pP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b="1" i="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b="1" i="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-1)+1</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i="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&gt;1</a:t>
            </a:r>
            <a:r>
              <a:rPr lang="zh-CN"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3"/>
          <p:cNvSpPr txBox="1"/>
          <p:nvPr/>
        </p:nvSpPr>
        <p:spPr>
          <a:xfrm>
            <a:off x="1270635" y="116840"/>
            <a:ext cx="9133205" cy="346710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n,char</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X,char</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Y,char</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Z)</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只有一个盘片的情况</a:t>
            </a:r>
            <a:endParaRPr lang="zh-CN"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有两个或多个盘片的情况</a:t>
            </a:r>
            <a:endParaRPr lang="zh-CN"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Hanoi1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(n-1,X,Z,Y);</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1552D1"/>
                </a:solidFill>
                <a:latin typeface="微软雅黑" panose="020B0503020204020204" pitchFamily="34" charset="-122"/>
                <a:ea typeface="微软雅黑" panose="020B0503020204020204" pitchFamily="34" charset="-122"/>
                <a:cs typeface="Consolas" panose="020B0609020204030204" pitchFamily="49" charset="0"/>
              </a:rPr>
              <a:t> Hanoi1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(n-1,Y,X,Z);</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spcBef>
                <a:spcPts val="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95030" y="2338620"/>
            <a:ext cx="4071966" cy="3107690"/>
          </a:xfrm>
          <a:prstGeom prst="rect">
            <a:avLst/>
          </a:prstGeom>
          <a:noFill/>
        </p:spPr>
        <p:txBody>
          <a:bodyPr wrap="square" rtlCol="0">
            <a:spAutoFit/>
          </a:bodyPr>
          <a:lstStyle/>
          <a:p>
            <a:pPr algn="l">
              <a:lnSpc>
                <a:spcPct val="100000"/>
              </a:lnSpc>
            </a:pP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S(</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-2)+1)+1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+ 1 +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=1 + 1 + </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=O(</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2063750" y="908685"/>
            <a:ext cx="7043420" cy="1077595"/>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tIns="108000" bIns="108000" rtlCol="0">
            <a:spAutoFit/>
          </a:bodyPr>
          <a:lstStyle/>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2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&gt;1</a:t>
            </a:r>
            <a:r>
              <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4" name="组合 6"/>
          <p:cNvGrpSpPr/>
          <p:nvPr/>
        </p:nvGrpSpPr>
        <p:grpSpPr>
          <a:xfrm>
            <a:off x="3466465" y="4508500"/>
            <a:ext cx="2214245" cy="532565"/>
            <a:chOff x="2043095" y="4162430"/>
            <a:chExt cx="1857388" cy="532249"/>
          </a:xfrm>
        </p:grpSpPr>
        <p:sp>
          <p:nvSpPr>
            <p:cNvPr id="5" name="左大括号 4"/>
            <p:cNvSpPr/>
            <p:nvPr/>
          </p:nvSpPr>
          <p:spPr>
            <a:xfrm rot="16200000">
              <a:off x="2900351" y="3305174"/>
              <a:ext cx="142876" cy="185738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1"/>
            </a:p>
          </p:txBody>
        </p:sp>
        <p:sp>
          <p:nvSpPr>
            <p:cNvPr id="6" name="TextBox 5"/>
            <p:cNvSpPr txBox="1"/>
            <p:nvPr/>
          </p:nvSpPr>
          <p:spPr>
            <a:xfrm>
              <a:off x="2666987" y="4357694"/>
              <a:ext cx="642942" cy="336985"/>
            </a:xfrm>
            <a:prstGeom prst="rect">
              <a:avLst/>
            </a:prstGeom>
            <a:noFill/>
          </p:spPr>
          <p:txBody>
            <a:bodyPr wrap="square" rtlCol="0">
              <a:spAutoFit/>
            </a:bodyPr>
            <a:lstStyle/>
            <a:p>
              <a:r>
                <a:rPr lang="en-US" altLang="zh-CN" sz="16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6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a:t>
              </a:r>
              <a:r>
                <a:rPr lang="en-US" altLang="zh-CN" sz="16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en-US" sz="16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335360" y="499929"/>
            <a:ext cx="11305256" cy="521970"/>
          </a:xfrm>
          <a:prstGeom prst="rect">
            <a:avLst/>
          </a:prstGeom>
          <a:noFill/>
          <a:ln w="19050" algn="ctr">
            <a:noFill/>
            <a:miter lim="800000"/>
          </a:ln>
          <a:effectLst/>
        </p:spPr>
        <p:txBody>
          <a:bodyPr wrap="square">
            <a:spAutoFit/>
          </a:bodyPr>
          <a:lstStyle/>
          <a:p>
            <a:pPr algn="just"/>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例</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5.3】</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有如下递归算法，分析调用</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i="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的空间复杂度。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7"/>
          <p:cNvSpPr txBox="1"/>
          <p:nvPr/>
        </p:nvSpPr>
        <p:spPr>
          <a:xfrm>
            <a:off x="2166620" y="1264920"/>
            <a:ext cx="8072755" cy="431419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 </a:t>
            </a:r>
            <a:r>
              <a:rPr lang="en-US" altLang="zh-CN"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k) </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数组</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共有</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个元素</a:t>
            </a:r>
            <a:endPar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if (k==n-1)</a:t>
            </a:r>
            <a:endPar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for (</a:t>
            </a:r>
            <a:r>
              <a:rPr lang="en-US" altLang="zh-CN" sz="24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=0;i&lt;</a:t>
            </a:r>
            <a:r>
              <a:rPr lang="en-US" altLang="zh-CN" sz="24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zh-CN" altLang="en-US"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("%d\n"</a:t>
            </a:r>
            <a:r>
              <a:rPr lang="zh-CN" altLang="en-US"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4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else</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for (</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n-k</a:t>
            </a:r>
            <a:r>
              <a:rPr lang="zh-CN" altLang="en-US"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24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k+1);</a:t>
            </a:r>
            <a:endPar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3"/>
          <p:cNvSpPr txBox="1"/>
          <p:nvPr/>
        </p:nvSpPr>
        <p:spPr>
          <a:xfrm>
            <a:off x="2024034" y="1408962"/>
            <a:ext cx="5357850" cy="358013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2360"/>
              </a:lnSpc>
            </a:pP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 </a:t>
            </a:r>
            <a:r>
              <a:rPr lang="en-US" altLang="zh-CN" sz="1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k) </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if (k==n-1)</a:t>
            </a:r>
            <a:endPar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for (</a:t>
            </a:r>
            <a:r>
              <a:rPr lang="en-US" altLang="zh-CN" sz="1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=0;i&lt;</a:t>
            </a:r>
            <a:r>
              <a:rPr lang="en-US" altLang="zh-CN" sz="1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zh-CN" altLang="en-US"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printf</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(“%d\n”</a:t>
            </a:r>
            <a:r>
              <a:rPr lang="zh-CN" altLang="en-US"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1800" b="1" dirty="0" err="1">
                <a:solidFill>
                  <a:srgbClr val="6600CC"/>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rgbClr val="6600CC"/>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else</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for (</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&lt;</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执行</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n-k</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次</a:t>
            </a:r>
            <a:endPar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1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k+1);</a:t>
            </a:r>
            <a:endParaRPr lang="en-US" altLang="zh-CN"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pP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 Box 5"/>
          <p:cNvSpPr txBox="1">
            <a:spLocks noChangeArrowheads="1"/>
          </p:cNvSpPr>
          <p:nvPr/>
        </p:nvSpPr>
        <p:spPr bwMode="auto">
          <a:xfrm>
            <a:off x="1416130" y="404277"/>
            <a:ext cx="5805288" cy="521970"/>
          </a:xfrm>
          <a:prstGeom prst="rect">
            <a:avLst/>
          </a:prstGeom>
          <a:noFill/>
          <a:ln w="9525" algn="ctr">
            <a:noFill/>
            <a:miter lim="800000"/>
          </a:ln>
          <a:effectLst/>
        </p:spPr>
        <p:txBody>
          <a:bodyPr wrap="square">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8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的空间为</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4" name="组合 22"/>
          <p:cNvGrpSpPr/>
          <p:nvPr/>
        </p:nvGrpSpPr>
        <p:grpSpPr>
          <a:xfrm>
            <a:off x="2309786" y="1856224"/>
            <a:ext cx="7358114" cy="1428760"/>
            <a:chOff x="642910" y="1214422"/>
            <a:chExt cx="7358114" cy="1428760"/>
          </a:xfrm>
        </p:grpSpPr>
        <p:sp>
          <p:nvSpPr>
            <p:cNvPr id="5" name="TextBox 15"/>
            <p:cNvSpPr txBox="1"/>
            <p:nvPr/>
          </p:nvSpPr>
          <p:spPr>
            <a:xfrm>
              <a:off x="6153161" y="1526810"/>
              <a:ext cx="1847863" cy="758190"/>
            </a:xfrm>
            <a:prstGeom prst="rect">
              <a:avLst/>
            </a:prstGeom>
            <a:noFill/>
          </p:spPr>
          <p:txBody>
            <a:bodyPr wrap="square" rtlCol="0">
              <a:spAutoFit/>
            </a:bodyPr>
            <a:lstStyle/>
            <a:p>
              <a:pPr algn="l">
                <a:lnSpc>
                  <a:spcPts val="2600"/>
                </a:lnSpc>
                <a:spcBef>
                  <a:spcPts val="0"/>
                </a:spcBef>
              </a:pP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时</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600"/>
                </a:lnSpc>
                <a:spcBef>
                  <a:spcPts val="0"/>
                </a:spcBef>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圆角矩形 16"/>
            <p:cNvSpPr/>
            <p:nvPr/>
          </p:nvSpPr>
          <p:spPr>
            <a:xfrm>
              <a:off x="642910" y="1214422"/>
              <a:ext cx="4857784" cy="1428760"/>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b="1" dirty="0"/>
            </a:p>
          </p:txBody>
        </p:sp>
        <p:sp>
          <p:nvSpPr>
            <p:cNvPr id="7" name="左箭头 17"/>
            <p:cNvSpPr/>
            <p:nvPr/>
          </p:nvSpPr>
          <p:spPr>
            <a:xfrm>
              <a:off x="5635444" y="1855425"/>
              <a:ext cx="468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b="1"/>
            </a:p>
          </p:txBody>
        </p:sp>
      </p:grpSp>
      <p:grpSp>
        <p:nvGrpSpPr>
          <p:cNvPr id="8" name="组合 23"/>
          <p:cNvGrpSpPr/>
          <p:nvPr/>
        </p:nvGrpSpPr>
        <p:grpSpPr>
          <a:xfrm>
            <a:off x="2496360" y="3356486"/>
            <a:ext cx="7796267" cy="1143008"/>
            <a:chOff x="1062013" y="3000372"/>
            <a:chExt cx="7796267" cy="1143008"/>
          </a:xfrm>
        </p:grpSpPr>
        <p:sp>
          <p:nvSpPr>
            <p:cNvPr id="9" name="TextBox 19"/>
            <p:cNvSpPr txBox="1"/>
            <p:nvPr/>
          </p:nvSpPr>
          <p:spPr>
            <a:xfrm>
              <a:off x="6143636" y="3071810"/>
              <a:ext cx="2714644" cy="696595"/>
            </a:xfrm>
            <a:prstGeom prst="rect">
              <a:avLst/>
            </a:prstGeom>
            <a:noFill/>
          </p:spPr>
          <p:txBody>
            <a:bodyPr wrap="square" rtlCol="0">
              <a:spAutoFit/>
            </a:bodyPr>
            <a:lstStyle/>
            <a:p>
              <a:pPr algn="l">
                <a:lnSpc>
                  <a:spcPts val="2360"/>
                </a:lnSpc>
                <a:spcBef>
                  <a:spcPts val="0"/>
                </a:spcBef>
              </a:pP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时</a:t>
              </a:r>
              <a:endPar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360"/>
                </a:lnSpc>
                <a:spcBef>
                  <a:spcPts val="0"/>
                </a:spcBef>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0" name="圆角矩形 20"/>
            <p:cNvSpPr/>
            <p:nvPr/>
          </p:nvSpPr>
          <p:spPr>
            <a:xfrm>
              <a:off x="1062013" y="3000372"/>
              <a:ext cx="4510119" cy="1143008"/>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360"/>
                </a:lnSpc>
              </a:pPr>
              <a:endParaRPr lang="zh-CN" altLang="en-US" b="1"/>
            </a:p>
          </p:txBody>
        </p:sp>
        <p:sp>
          <p:nvSpPr>
            <p:cNvPr id="11" name="左箭头 21"/>
            <p:cNvSpPr/>
            <p:nvPr/>
          </p:nvSpPr>
          <p:spPr>
            <a:xfrm>
              <a:off x="5643570" y="3400425"/>
              <a:ext cx="468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lnSpc>
                  <a:spcPts val="2360"/>
                </a:lnSpc>
              </a:pPr>
              <a:endParaRPr lang="zh-CN" altLang="en-US" b="1"/>
            </a:p>
          </p:txBody>
        </p:sp>
      </p:grpSp>
      <p:grpSp>
        <p:nvGrpSpPr>
          <p:cNvPr id="13" name="组合 27"/>
          <p:cNvGrpSpPr/>
          <p:nvPr/>
        </p:nvGrpSpPr>
        <p:grpSpPr>
          <a:xfrm>
            <a:off x="2351585" y="5229201"/>
            <a:ext cx="4957771" cy="1320685"/>
            <a:chOff x="1071538" y="5143512"/>
            <a:chExt cx="4957771" cy="1320685"/>
          </a:xfrm>
        </p:grpSpPr>
        <p:sp>
          <p:nvSpPr>
            <p:cNvPr id="14" name="Text Box 6"/>
            <p:cNvSpPr txBox="1">
              <a:spLocks noChangeArrowheads="1"/>
            </p:cNvSpPr>
            <p:nvPr/>
          </p:nvSpPr>
          <p:spPr bwMode="auto">
            <a:xfrm>
              <a:off x="1071538" y="5732042"/>
              <a:ext cx="4957771" cy="732155"/>
            </a:xfrm>
            <a:prstGeom prst="rect">
              <a:avLst/>
            </a:prstGeom>
            <a:noFill/>
            <a:ln>
              <a:solidFill>
                <a:schemeClr val="accent1"/>
              </a:solidFill>
            </a:ln>
          </p:spPr>
          <p:style>
            <a:lnRef idx="3">
              <a:schemeClr val="lt1"/>
            </a:lnRef>
            <a:fillRef idx="1">
              <a:schemeClr val="accent6"/>
            </a:fillRef>
            <a:effectRef idx="1">
              <a:schemeClr val="accent6"/>
            </a:effectRef>
            <a:fontRef idx="minor">
              <a:schemeClr val="lt1"/>
            </a:fontRef>
          </p:style>
          <p:txBody>
            <a:bodyPr wrap="square" lIns="180000">
              <a:spAutoFit/>
            </a:bodyPr>
            <a:lstStyle/>
            <a:p>
              <a:pPr algn="l">
                <a:lnSpc>
                  <a:spcPts val="2500"/>
                </a:lnSpc>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1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500"/>
                </a:lnSpc>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其他情况</a:t>
              </a:r>
              <a:endPar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5" name="TextBox 24"/>
            <p:cNvSpPr txBox="1"/>
            <p:nvPr/>
          </p:nvSpPr>
          <p:spPr>
            <a:xfrm>
              <a:off x="3143240" y="5214950"/>
              <a:ext cx="2071702" cy="368300"/>
            </a:xfrm>
            <a:prstGeom prst="rect">
              <a:avLst/>
            </a:prstGeom>
            <a:noFill/>
          </p:spPr>
          <p:txBody>
            <a:bodyPr wrap="square" rtlCol="0">
              <a:spAutoFit/>
            </a:bodyPr>
            <a:lstStyle/>
            <a:p>
              <a:pPr algn="l"/>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的递推式</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6" name="下箭头 26"/>
            <p:cNvSpPr/>
            <p:nvPr/>
          </p:nvSpPr>
          <p:spPr>
            <a:xfrm>
              <a:off x="2857488" y="5143512"/>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910665" y="478696"/>
            <a:ext cx="5972104" cy="906780"/>
          </a:xfrm>
          <a:prstGeom prst="rect">
            <a:avLst/>
          </a:prstGeom>
          <a:noFill/>
          <a:ln w="9525" algn="ctr">
            <a:noFill/>
            <a:miter lim="800000"/>
          </a:ln>
          <a:effectLst/>
        </p:spPr>
        <p:txBody>
          <a:bodyPr wrap="square">
            <a:spAutoFit/>
          </a:bodyPr>
          <a:lstStyle/>
          <a:p>
            <a:pPr marL="457200" indent="-457200" algn="l">
              <a:lnSpc>
                <a:spcPct val="100000"/>
              </a:lnSpc>
              <a:spcBef>
                <a:spcPts val="600"/>
              </a:spcBef>
              <a:buBlip>
                <a:blip r:embed="rId1"/>
              </a:buBlip>
            </a:pP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的空间为</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而</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的空间为</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 Box 8"/>
          <p:cNvSpPr txBox="1">
            <a:spLocks noChangeArrowheads="1"/>
          </p:cNvSpPr>
          <p:nvPr/>
        </p:nvSpPr>
        <p:spPr bwMode="auto">
          <a:xfrm>
            <a:off x="1054681" y="2710944"/>
            <a:ext cx="8280772" cy="1198880"/>
          </a:xfrm>
          <a:prstGeom prst="rect">
            <a:avLst/>
          </a:prstGeom>
          <a:noFill/>
          <a:ln w="9525" algn="ctr">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l"/>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则： </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S(</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 = 1+S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 = 1+1+S</a:t>
            </a:r>
            <a:r>
              <a:rPr lang="en-US" altLang="zh-CN" sz="24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 + 1 + … + 1 = O(</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4" name="组合 13"/>
          <p:cNvGrpSpPr/>
          <p:nvPr/>
        </p:nvGrpSpPr>
        <p:grpSpPr>
          <a:xfrm>
            <a:off x="2312968" y="3863149"/>
            <a:ext cx="3168351" cy="990890"/>
            <a:chOff x="2479675" y="4488804"/>
            <a:chExt cx="792163" cy="990890"/>
          </a:xfrm>
        </p:grpSpPr>
        <p:sp>
          <p:nvSpPr>
            <p:cNvPr id="5" name="AutoShape 9"/>
            <p:cNvSpPr/>
            <p:nvPr/>
          </p:nvSpPr>
          <p:spPr bwMode="auto">
            <a:xfrm rot="5400000">
              <a:off x="2621904" y="4518141"/>
              <a:ext cx="518818" cy="460143"/>
            </a:xfrm>
            <a:prstGeom prst="rightBrace">
              <a:avLst>
                <a:gd name="adj1" fmla="val 61152"/>
                <a:gd name="adj2" fmla="val 50000"/>
              </a:avLst>
            </a:prstGeom>
            <a:ln>
              <a:solidFill>
                <a:srgbClr val="FC9A48"/>
              </a:solidFill>
            </a:ln>
          </p:spPr>
          <p:style>
            <a:lnRef idx="2">
              <a:schemeClr val="accent5"/>
            </a:lnRef>
            <a:fillRef idx="0">
              <a:schemeClr val="accent5"/>
            </a:fillRef>
            <a:effectRef idx="1">
              <a:schemeClr val="accent5"/>
            </a:effectRef>
            <a:fontRef idx="minor">
              <a:schemeClr val="tx1"/>
            </a:fontRef>
          </p:style>
          <p:txBody>
            <a:bodyPr wrap="none" anchor="ctr">
              <a:spAutoFit/>
            </a:bodyPr>
            <a:lstStyle/>
            <a:p>
              <a:endParaRPr lang="zh-CN" altLang="en-US" b="1"/>
            </a:p>
          </p:txBody>
        </p:sp>
        <p:sp>
          <p:nvSpPr>
            <p:cNvPr id="6" name="Text Box 10"/>
            <p:cNvSpPr txBox="1">
              <a:spLocks noChangeArrowheads="1"/>
            </p:cNvSpPr>
            <p:nvPr/>
          </p:nvSpPr>
          <p:spPr bwMode="auto">
            <a:xfrm>
              <a:off x="2479675" y="5111394"/>
              <a:ext cx="792163" cy="368300"/>
            </a:xfrm>
            <a:prstGeom prst="rect">
              <a:avLst/>
            </a:prstGeom>
            <a:noFill/>
            <a:ln w="38100" algn="ctr">
              <a:noFill/>
              <a:miter lim="800000"/>
            </a:ln>
            <a:effectLst/>
          </p:spPr>
          <p:txBody>
            <a:bodyPr>
              <a:spAutoFit/>
            </a:bodyPr>
            <a:lstStyle/>
            <a:p>
              <a:pPr algn="ctr"/>
              <a:r>
                <a:rPr lang="en-US" altLang="zh-CN" sz="1800" b="1" i="1" dirty="0">
                  <a:solidFill>
                    <a:srgbClr val="660066"/>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1800" b="1" dirty="0">
                  <a:solidFill>
                    <a:srgbClr val="660066"/>
                  </a:solidFill>
                  <a:latin typeface="微软雅黑" panose="020B0503020204020204" pitchFamily="34" charset="-122"/>
                  <a:ea typeface="微软雅黑" panose="020B0503020204020204" pitchFamily="34" charset="-122"/>
                  <a:cs typeface="Consolas" panose="020B0609020204030204" pitchFamily="49" charset="0"/>
                </a:rPr>
                <a:t>个</a:t>
              </a:r>
              <a:r>
                <a:rPr lang="en-US" altLang="zh-CN" sz="1800" b="1" dirty="0">
                  <a:solidFill>
                    <a:srgbClr val="660066"/>
                  </a:solidFill>
                  <a:latin typeface="微软雅黑" panose="020B0503020204020204" pitchFamily="34" charset="-122"/>
                  <a:ea typeface="微软雅黑" panose="020B0503020204020204" pitchFamily="34" charset="-122"/>
                  <a:cs typeface="Consolas" panose="020B0609020204030204" pitchFamily="49" charset="0"/>
                </a:rPr>
                <a:t>1</a:t>
              </a:r>
              <a:endParaRPr lang="en-US" altLang="zh-CN" sz="1800" b="1" dirty="0">
                <a:solidFill>
                  <a:srgbClr val="660066"/>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7" name="TextBox 9"/>
          <p:cNvSpPr txBox="1"/>
          <p:nvPr/>
        </p:nvSpPr>
        <p:spPr>
          <a:xfrm>
            <a:off x="2278817" y="5015200"/>
            <a:ext cx="7314606" cy="460375"/>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所以调用</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fun(</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的空间复杂度为</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O(</a:t>
            </a:r>
            <a:r>
              <a:rPr lang="en-US" altLang="zh-CN" sz="2400" b="1" i="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8" name="Text Box 6"/>
          <p:cNvSpPr txBox="1">
            <a:spLocks noChangeArrowheads="1"/>
          </p:cNvSpPr>
          <p:nvPr/>
        </p:nvSpPr>
        <p:spPr bwMode="auto">
          <a:xfrm>
            <a:off x="2667928" y="1693143"/>
            <a:ext cx="4957771" cy="732155"/>
          </a:xfrm>
          <a:prstGeom prst="rect">
            <a:avLst/>
          </a:prstGeom>
          <a:noFill/>
          <a:ln>
            <a:solidFill>
              <a:srgbClr val="00B0F0"/>
            </a:solidFill>
          </a:ln>
        </p:spPr>
        <p:style>
          <a:lnRef idx="3">
            <a:schemeClr val="lt1"/>
          </a:lnRef>
          <a:fillRef idx="1">
            <a:schemeClr val="accent6"/>
          </a:fillRef>
          <a:effectRef idx="1">
            <a:schemeClr val="accent6"/>
          </a:effectRef>
          <a:fontRef idx="minor">
            <a:schemeClr val="lt1"/>
          </a:fontRef>
        </p:style>
        <p:txBody>
          <a:bodyPr wrap="square" lIns="180000">
            <a:spAutoFit/>
          </a:bodyPr>
          <a:lstStyle/>
          <a:p>
            <a:pPr algn="l">
              <a:lnSpc>
                <a:spcPts val="2500"/>
              </a:lnSpc>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sz="1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-1</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时</a:t>
            </a:r>
            <a:endPar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2500"/>
              </a:lnSpc>
            </a:pP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1+</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S</a:t>
            </a:r>
            <a:r>
              <a:rPr lang="en-US" altLang="zh-CN" sz="18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k</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+1)</a:t>
            </a:r>
            <a:r>
              <a:rPr lang="en-US" altLang="zh-CN" sz="1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rPr>
              <a:t>其他情况</a:t>
            </a:r>
            <a:endParaRPr lang="zh-CN" altLang="en-US" sz="1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9" name="TextBox 16"/>
          <p:cNvSpPr txBox="1"/>
          <p:nvPr/>
        </p:nvSpPr>
        <p:spPr>
          <a:xfrm>
            <a:off x="7454273" y="651716"/>
            <a:ext cx="2714644" cy="398780"/>
          </a:xfrm>
          <a:prstGeom prst="rect">
            <a:avLst/>
          </a:prstGeom>
          <a:noFill/>
        </p:spPr>
        <p:txBody>
          <a:bodyPr wrap="square" rtlCol="0">
            <a:spAutoFit/>
          </a:bodyPr>
          <a:lstStyle/>
          <a:p>
            <a:pPr algn="l"/>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S</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n</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 </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S</a:t>
            </a:r>
            <a:r>
              <a:rPr lang="en-US" altLang="zh-CN" sz="2000" b="1" baseline="-25000"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1</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altLang="zh-CN" sz="2000" b="1" i="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n</a:t>
            </a:r>
            <a:r>
              <a:rPr lang="zh-CN" altLang="en-US"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altLang="zh-CN" sz="20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0)</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0" name="右箭头 17"/>
          <p:cNvSpPr/>
          <p:nvPr/>
        </p:nvSpPr>
        <p:spPr>
          <a:xfrm>
            <a:off x="6882769" y="764448"/>
            <a:ext cx="42862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txBox="1"/>
          <p:nvPr/>
        </p:nvSpPr>
        <p:spPr>
          <a:xfrm>
            <a:off x="1847850" y="1484630"/>
            <a:ext cx="2776855" cy="583565"/>
          </a:xfrm>
          <a:prstGeom prst="rect">
            <a:avLst/>
          </a:prstGeom>
          <a:noFill/>
        </p:spPr>
        <p:txBody>
          <a:bodyPr wrap="square" rtlCol="0">
            <a:spAutoFit/>
          </a:bodyPr>
          <a:lstStyle/>
          <a:p>
            <a:pPr algn="l">
              <a:lnSpc>
                <a:spcPct val="100000"/>
              </a:lnSpc>
            </a:pPr>
            <a:r>
              <a:rPr lang="zh-CN" altLang="en-US" sz="3200" b="1" dirty="0">
                <a:solidFill>
                  <a:schemeClr val="tx1"/>
                </a:solidFill>
                <a:latin typeface="微软雅黑" panose="020B0503020204020204" pitchFamily="34" charset="-122"/>
                <a:ea typeface="微软雅黑" panose="020B0503020204020204" pitchFamily="34" charset="-122"/>
              </a:rPr>
              <a:t>直接转换法</a:t>
            </a:r>
            <a:endParaRPr lang="zh-CN" altLang="en-US" sz="32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TextBox 8"/>
          <p:cNvSpPr txBox="1"/>
          <p:nvPr/>
        </p:nvSpPr>
        <p:spPr>
          <a:xfrm>
            <a:off x="1056005" y="2205990"/>
            <a:ext cx="10066020" cy="2954655"/>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ct val="100000"/>
              </a:lnSpc>
              <a:spcBef>
                <a:spcPts val="600"/>
              </a:spcBef>
              <a:buBlip>
                <a:blip r:embed="rId1"/>
              </a:buBlip>
            </a:pP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直接转换法</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就是用迭代方式或者循环语言替代多次重复的递归调用。</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直接转换法</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通常用来消除尾递归和单向递归。</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00000"/>
              </a:lnSpc>
              <a:spcBef>
                <a:spcPts val="6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如果一个递归函数中递归调用语句是最后一条执行语句且把当前运算结果放在参数里传给下层函数，称这种递归调用称为</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尾递归</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5" name="组合 9"/>
          <p:cNvGrpSpPr/>
          <p:nvPr/>
        </p:nvGrpSpPr>
        <p:grpSpPr>
          <a:xfrm>
            <a:off x="983498" y="1484763"/>
            <a:ext cx="664106" cy="575063"/>
            <a:chOff x="3836456" y="2172988"/>
            <a:chExt cx="664106" cy="575063"/>
          </a:xfrm>
          <a:scene3d>
            <a:camera prst="orthographicFront">
              <a:rot lat="0" lon="0" rev="0"/>
            </a:camera>
            <a:lightRig rig="contrasting" dir="t">
              <a:rot lat="0" lon="0" rev="1500000"/>
            </a:lightRig>
          </a:scene3d>
        </p:grpSpPr>
        <p:sp>
          <p:nvSpPr>
            <p:cNvPr id="6" name="AutoShape 5"/>
            <p:cNvSpPr>
              <a:spLocks noChangeArrowheads="1"/>
            </p:cNvSpPr>
            <p:nvPr/>
          </p:nvSpPr>
          <p:spPr bwMode="gray">
            <a:xfrm>
              <a:off x="3836456" y="2172988"/>
              <a:ext cx="664106" cy="575063"/>
            </a:xfrm>
            <a:prstGeom prst="hexagon">
              <a:avLst>
                <a:gd name="adj" fmla="val 28896"/>
                <a:gd name="vf" fmla="val 115470"/>
              </a:avLst>
            </a:prstGeom>
            <a:solidFill>
              <a:srgbClr val="FC9A48"/>
            </a:solidFill>
            <a:ln w="9525">
              <a:solidFill>
                <a:srgbClr val="FC9A48"/>
              </a:solidFill>
              <a:miter lim="800000"/>
            </a:ln>
            <a:effectLst>
              <a:outerShdw blurRad="149987" dist="250190" dir="8460000" algn="ctr">
                <a:srgbClr val="000000">
                  <a:alpha val="28000"/>
                </a:srgbClr>
              </a:outerShdw>
            </a:effectLst>
            <a:sp3d prstMaterial="metal">
              <a:bevelT w="88900" h="88900"/>
            </a:sp3d>
          </p:spPr>
          <p:txBody>
            <a:bodyPr wrap="none" anchor="ctr"/>
            <a:lstStyle/>
            <a:p>
              <a:endParaRPr lang="zh-CN" altLang="en-US" b="1" dirty="0">
                <a:latin typeface="+mn-lt"/>
              </a:endParaRPr>
            </a:p>
          </p:txBody>
        </p:sp>
        <p:sp>
          <p:nvSpPr>
            <p:cNvPr id="7" name="Text Box 12"/>
            <p:cNvSpPr txBox="1">
              <a:spLocks noChangeArrowheads="1"/>
            </p:cNvSpPr>
            <p:nvPr/>
          </p:nvSpPr>
          <p:spPr bwMode="gray">
            <a:xfrm>
              <a:off x="3995960" y="2232025"/>
              <a:ext cx="370840" cy="460375"/>
            </a:xfrm>
            <a:prstGeom prst="rect">
              <a:avLst/>
            </a:prstGeom>
            <a:noFill/>
            <a:ln w="9525" algn="ctr">
              <a:noFill/>
              <a:miter lim="800000"/>
            </a:ln>
            <a:effectLst>
              <a:outerShdw blurRad="149987" dist="250190" dir="8460000" algn="ctr">
                <a:srgbClr val="000000">
                  <a:alpha val="28000"/>
                </a:srgbClr>
              </a:outerShdw>
            </a:effectLst>
            <a:sp3d prstMaterial="metal">
              <a:bevelT w="88900" h="88900"/>
            </a:sp3d>
          </p:spPr>
          <p:txBody>
            <a:bodyPr wrap="none">
              <a:spAutoFit/>
            </a:bodyPr>
            <a:lstStyle/>
            <a:p>
              <a:r>
                <a:rPr lang="en-US" altLang="zh-CN" b="1">
                  <a:solidFill>
                    <a:srgbClr val="FFFFFF"/>
                  </a:solidFill>
                  <a:latin typeface="微软雅黑" panose="020B0503020204020204" pitchFamily="34" charset="-122"/>
                  <a:ea typeface="微软雅黑" panose="020B0503020204020204" pitchFamily="34" charset="-122"/>
                </a:rPr>
                <a:t>1</a:t>
              </a:r>
              <a:endParaRPr lang="en-US" altLang="zh-CN" b="1">
                <a:solidFill>
                  <a:srgbClr val="FFFFFF"/>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191770" y="260985"/>
            <a:ext cx="5269230" cy="768350"/>
          </a:xfrm>
          <a:prstGeom prst="rect">
            <a:avLst/>
          </a:prstGeom>
          <a:noFill/>
        </p:spPr>
        <p:txBody>
          <a:bodyPr wrap="none" rtlCol="0" anchor="t">
            <a:spAutoFit/>
          </a:bodyPr>
          <a:p>
            <a:pPr>
              <a:spcBef>
                <a:spcPct val="50000"/>
              </a:spcBef>
            </a:pPr>
            <a:r>
              <a:rPr lang="zh-CN" altLang="en-US" sz="4400" b="1" spc="50" dirty="0">
                <a:ln w="11430"/>
                <a:effectLst/>
                <a:latin typeface="微软雅黑" panose="020B0503020204020204" pitchFamily="34" charset="-122"/>
                <a:ea typeface="微软雅黑" panose="020B0503020204020204" pitchFamily="34" charset="-122"/>
                <a:cs typeface="Consolas" panose="020B0609020204030204" pitchFamily="49" charset="0"/>
                <a:sym typeface="+mn-ea"/>
              </a:rPr>
              <a:t>递归到非递归的转换</a:t>
            </a:r>
            <a:endParaRPr lang="zh-CN" altLang="en-US" sz="4400" b="1" spc="50" dirty="0">
              <a:ln w="11430"/>
              <a:effectLst/>
              <a:latin typeface="微软雅黑" panose="020B0503020204020204" pitchFamily="34" charset="-122"/>
              <a:ea typeface="微软雅黑" panose="020B0503020204020204" pitchFamily="34" charset="-122"/>
              <a:cs typeface="Consolas" panose="020B0609020204030204" pitchFamily="49" charset="0"/>
              <a:sym typeface="+mn-ea"/>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136140" y="118110"/>
            <a:ext cx="6804660" cy="294449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216000" tIns="180000" rIns="144000" bIns="180000">
            <a:spAutoFit/>
          </a:bodyPr>
          <a:lstStyle/>
          <a:p>
            <a:pPr algn="just"/>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fact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just"/>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//语句1</a:t>
            </a:r>
            <a:endPar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just"/>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return 1;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//语句2</a:t>
            </a:r>
            <a:endParaRPr lang="en-US"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just"/>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//语句3</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just"/>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n*</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fact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//语句4</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just"/>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2095500" y="4090035"/>
            <a:ext cx="8882380" cy="280098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fact1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n,int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ans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	//求n!的尾递归算法</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if(n==1)</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ans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fact1</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(n-1,n*</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ans</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下箭头 4"/>
          <p:cNvSpPr/>
          <p:nvPr/>
        </p:nvSpPr>
        <p:spPr>
          <a:xfrm>
            <a:off x="3564424" y="3142486"/>
            <a:ext cx="285752" cy="85725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p>
        </p:txBody>
      </p:sp>
      <p:sp>
        <p:nvSpPr>
          <p:cNvPr id="5" name="TextBox 5"/>
          <p:cNvSpPr txBox="1"/>
          <p:nvPr/>
        </p:nvSpPr>
        <p:spPr>
          <a:xfrm>
            <a:off x="3881422" y="3142487"/>
            <a:ext cx="6463050" cy="906780"/>
          </a:xfrm>
          <a:prstGeom prst="rect">
            <a:avLst/>
          </a:prstGeom>
          <a:noFill/>
        </p:spPr>
        <p:txBody>
          <a:bodyPr wrap="square" rtlCol="0">
            <a:spAutoFit/>
          </a:bodyPr>
          <a:lstStyle/>
          <a:p>
            <a:pPr marL="342900" indent="-342900" algn="l">
              <a:spcBef>
                <a:spcPts val="600"/>
              </a:spcBef>
              <a:buBlip>
                <a:blip r:embed="rId1"/>
              </a:buBlip>
            </a:pPr>
            <a:r>
              <a:rPr lang="zh-CN"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递归调用语句是最后一条执行语句</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342900" indent="-342900" algn="l">
              <a:spcBef>
                <a:spcPts val="600"/>
              </a:spcBef>
              <a:buBlip>
                <a:blip r:embed="rId1"/>
              </a:buBlip>
            </a:pPr>
            <a:r>
              <a:rPr lang="zh-CN"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把当前运算结果放在参数里传给下层函数</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702310" y="1728470"/>
            <a:ext cx="5465445" cy="2980690"/>
          </a:xfrm>
          <a:prstGeom prst="rect">
            <a:avLst/>
          </a:prstGeom>
          <a:noFill/>
          <a:ln>
            <a:solidFill>
              <a:schemeClr val="accent1"/>
            </a:solidFill>
          </a:ln>
        </p:spPr>
        <p:style>
          <a:lnRef idx="1">
            <a:schemeClr val="accent3"/>
          </a:lnRef>
          <a:fillRef idx="2">
            <a:schemeClr val="accent3"/>
          </a:fillRef>
          <a:effectRef idx="1">
            <a:schemeClr val="accent3"/>
          </a:effectRef>
          <a:fontRef idx="minor">
            <a:schemeClr val="dk1"/>
          </a:fontRef>
        </p:style>
        <p:txBody>
          <a:bodyPr wrap="square" tIns="180000" bIns="216000" rtlCol="0">
            <a:spAutoFit/>
          </a:bodyPr>
          <a:lstStyle/>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Fib1</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 	</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 n==2)</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return(1);</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pt-BR"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a:t>
            </a:r>
            <a:r>
              <a:rPr lang="pt-BR"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Fib1</a:t>
            </a:r>
            <a:r>
              <a:rPr lang="pt-BR"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a:t>
            </a:r>
            <a:r>
              <a:rPr lang="pt-BR"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Fib1</a:t>
            </a:r>
            <a:r>
              <a:rPr lang="pt-BR"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(n-2));</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6"/>
          <p:cNvSpPr txBox="1"/>
          <p:nvPr/>
        </p:nvSpPr>
        <p:spPr>
          <a:xfrm>
            <a:off x="6844665" y="1557655"/>
            <a:ext cx="4175760" cy="516064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08000" tIns="180000" bIns="180000" rtlCol="0">
            <a:spAutoFit/>
          </a:bodyPr>
          <a:lstStyle/>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Fib2</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n)</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nt a=1，b=1，i，s;</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 n==2)</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return(1);</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or (</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=3;i&lt;=</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n;i</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s=</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a+b</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a=b;</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b=s;</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s;</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右箭头 9"/>
          <p:cNvSpPr/>
          <p:nvPr/>
        </p:nvSpPr>
        <p:spPr>
          <a:xfrm>
            <a:off x="6342942" y="4236194"/>
            <a:ext cx="396000" cy="252000"/>
          </a:xfrm>
          <a:prstGeom prst="rightArrow">
            <a:avLst/>
          </a:prstGeom>
          <a:solidFill>
            <a:schemeClr val="accent1"/>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latin typeface="Consolas" panose="020B0609020204030204" pitchFamily="49" charset="0"/>
              <a:cs typeface="Consolas" panose="020B0609020204030204" pitchFamily="49" charset="0"/>
            </a:endParaRPr>
          </a:p>
        </p:txBody>
      </p:sp>
      <p:sp>
        <p:nvSpPr>
          <p:cNvPr id="5" name="TextBox 7"/>
          <p:cNvSpPr txBox="1"/>
          <p:nvPr/>
        </p:nvSpPr>
        <p:spPr>
          <a:xfrm>
            <a:off x="263525" y="260017"/>
            <a:ext cx="11017175" cy="70802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buBlip>
                <a:blip r:embed="rId1"/>
              </a:buBlip>
            </a:pPr>
            <a:r>
              <a:rPr lang="zh-CN" altLang="zh-CN" sz="32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单向递归</a:t>
            </a:r>
            <a:r>
              <a:rPr lang="zh-CN" altLang="zh-CN"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是指递归的求值过程总是朝着一个方向进行的</a:t>
            </a: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6" name="组合 15"/>
          <p:cNvGrpSpPr/>
          <p:nvPr/>
        </p:nvGrpSpPr>
        <p:grpSpPr>
          <a:xfrm>
            <a:off x="1952596" y="5153144"/>
            <a:ext cx="3999388" cy="939177"/>
            <a:chOff x="428596" y="4205923"/>
            <a:chExt cx="3999388" cy="939177"/>
          </a:xfrm>
        </p:grpSpPr>
        <p:sp>
          <p:nvSpPr>
            <p:cNvPr id="7" name="TextBox 12"/>
            <p:cNvSpPr txBox="1"/>
            <p:nvPr/>
          </p:nvSpPr>
          <p:spPr>
            <a:xfrm>
              <a:off x="428596" y="4205923"/>
              <a:ext cx="3999388" cy="906780"/>
            </a:xfrm>
            <a:prstGeom prst="rect">
              <a:avLst/>
            </a:prstGeom>
            <a:noFill/>
          </p:spPr>
          <p:txBody>
            <a:bodyPr wrap="square" rtlCol="0">
              <a:spAutoFit/>
            </a:bodyPr>
            <a:lstStyle/>
            <a:p>
              <a:pPr algn="l">
                <a:spcBef>
                  <a:spcPts val="600"/>
                </a:spcBef>
              </a:pPr>
              <a:r>
                <a:rPr lang="zh-CN"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求</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Fibonacci</a:t>
              </a:r>
              <a:r>
                <a:rPr lang="zh-CN"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数列</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1 1 2 3 5 8 …</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8" name="直接箭头连接符 7"/>
            <p:cNvCxnSpPr/>
            <p:nvPr/>
          </p:nvCxnSpPr>
          <p:spPr>
            <a:xfrm>
              <a:off x="928662" y="5143512"/>
              <a:ext cx="2000264"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2696" y="1128734"/>
            <a:ext cx="2599128" cy="521970"/>
          </a:xfrm>
          <a:prstGeom prst="rect">
            <a:avLst/>
          </a:prstGeom>
          <a:noFill/>
        </p:spPr>
        <p:txBody>
          <a:bodyPr wrap="square" rtlCol="0">
            <a:spAutoFit/>
          </a:bodyPr>
          <a:lstStyle/>
          <a:p>
            <a:pPr algn="l"/>
            <a:r>
              <a:rPr lang="zh-CN" altLang="zh-CN" sz="2800" b="1" dirty="0">
                <a:solidFill>
                  <a:schemeClr val="tx1"/>
                </a:solidFill>
                <a:latin typeface="微软雅黑" panose="020B0503020204020204" pitchFamily="34" charset="-122"/>
                <a:ea typeface="微软雅黑" panose="020B0503020204020204" pitchFamily="34" charset="-122"/>
              </a:rPr>
              <a:t>间接转换法</a:t>
            </a:r>
            <a:endParaRPr lang="zh-CN" altLang="zh-CN" sz="28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3"/>
          <p:cNvGrpSpPr/>
          <p:nvPr/>
        </p:nvGrpSpPr>
        <p:grpSpPr>
          <a:xfrm>
            <a:off x="1055440" y="1053738"/>
            <a:ext cx="664106" cy="575063"/>
            <a:chOff x="3836456" y="2172988"/>
            <a:chExt cx="664106" cy="575063"/>
          </a:xfrm>
          <a:solidFill>
            <a:srgbClr val="FC9A48"/>
          </a:solidFill>
          <a:scene3d>
            <a:camera prst="orthographicFront">
              <a:rot lat="0" lon="0" rev="0"/>
            </a:camera>
            <a:lightRig rig="contrasting" dir="t">
              <a:rot lat="0" lon="0" rev="1500000"/>
            </a:lightRig>
          </a:scene3d>
        </p:grpSpPr>
        <p:sp>
          <p:nvSpPr>
            <p:cNvPr id="4" name="AutoShape 5"/>
            <p:cNvSpPr>
              <a:spLocks noChangeArrowheads="1"/>
            </p:cNvSpPr>
            <p:nvPr/>
          </p:nvSpPr>
          <p:spPr bwMode="gray">
            <a:xfrm>
              <a:off x="3836456" y="2172988"/>
              <a:ext cx="664106" cy="575063"/>
            </a:xfrm>
            <a:prstGeom prst="hexagon">
              <a:avLst>
                <a:gd name="adj" fmla="val 28896"/>
                <a:gd name="vf" fmla="val 115470"/>
              </a:avLst>
            </a:prstGeom>
            <a:grpFill/>
            <a:ln w="9525">
              <a:noFill/>
              <a:miter lim="800000"/>
            </a:ln>
            <a:effectLst>
              <a:outerShdw blurRad="149987" dist="250190" dir="8460000" algn="ctr">
                <a:srgbClr val="000000">
                  <a:alpha val="28000"/>
                </a:srgbClr>
              </a:outerShdw>
            </a:effectLst>
            <a:sp3d prstMaterial="metal">
              <a:bevelT w="88900" h="88900"/>
            </a:sp3d>
          </p:spPr>
          <p:txBody>
            <a:bodyPr wrap="none" anchor="ctr"/>
            <a:lstStyle/>
            <a:p>
              <a:endParaRPr lang="zh-CN" altLang="en-US" b="1">
                <a:latin typeface="+mn-lt"/>
              </a:endParaRPr>
            </a:p>
          </p:txBody>
        </p:sp>
        <p:sp>
          <p:nvSpPr>
            <p:cNvPr id="5" name="Text Box 12"/>
            <p:cNvSpPr txBox="1">
              <a:spLocks noChangeArrowheads="1"/>
            </p:cNvSpPr>
            <p:nvPr/>
          </p:nvSpPr>
          <p:spPr bwMode="gray">
            <a:xfrm>
              <a:off x="3989032" y="2232025"/>
              <a:ext cx="370840" cy="460375"/>
            </a:xfrm>
            <a:prstGeom prst="rect">
              <a:avLst/>
            </a:prstGeom>
            <a:grpFill/>
            <a:ln w="9525" algn="ctr">
              <a:noFill/>
              <a:miter lim="800000"/>
            </a:ln>
            <a:effectLst>
              <a:outerShdw blurRad="149987" dist="250190" dir="8460000" algn="ctr">
                <a:srgbClr val="000000">
                  <a:alpha val="28000"/>
                </a:srgbClr>
              </a:outerShdw>
            </a:effectLst>
            <a:sp3d prstMaterial="metal">
              <a:bevelT w="88900" h="88900"/>
            </a:sp3d>
          </p:spPr>
          <p:txBody>
            <a:bodyPr wrap="none">
              <a:spAutoFit/>
            </a:bodyPr>
            <a:lstStyle/>
            <a:p>
              <a:r>
                <a:rPr lang="en-US" altLang="zh-CN" b="1">
                  <a:solidFill>
                    <a:srgbClr val="FFFFFF"/>
                  </a:solidFill>
                  <a:latin typeface="微软雅黑" panose="020B0503020204020204" pitchFamily="34" charset="-122"/>
                  <a:ea typeface="微软雅黑" panose="020B0503020204020204" pitchFamily="34" charset="-122"/>
                </a:rPr>
                <a:t>2</a:t>
              </a:r>
              <a:endParaRPr lang="en-US" altLang="zh-CN" b="1">
                <a:solidFill>
                  <a:srgbClr val="FFFFFF"/>
                </a:solidFill>
                <a:latin typeface="微软雅黑" panose="020B0503020204020204" pitchFamily="34" charset="-122"/>
                <a:ea typeface="微软雅黑" panose="020B0503020204020204" pitchFamily="34" charset="-122"/>
              </a:endParaRPr>
            </a:p>
          </p:txBody>
        </p:sp>
      </p:grpSp>
      <p:sp>
        <p:nvSpPr>
          <p:cNvPr id="6" name="TextBox 6"/>
          <p:cNvSpPr txBox="1"/>
          <p:nvPr/>
        </p:nvSpPr>
        <p:spPr>
          <a:xfrm>
            <a:off x="1127125" y="1830070"/>
            <a:ext cx="10003790" cy="2954655"/>
          </a:xfrm>
          <a:prstGeom prst="rect">
            <a:avLst/>
          </a:prstGeom>
          <a:noFill/>
          <a:ln>
            <a:noFill/>
          </a:ln>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ct val="150000"/>
              </a:lnSpc>
              <a:spcBef>
                <a:spcPts val="12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其他相对复杂的递归算法不能直接求值，执行中需要</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回溯</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ct val="150000"/>
              </a:lnSpc>
              <a:spcBef>
                <a:spcPts val="1200"/>
              </a:spcBef>
              <a:buBlip>
                <a:blip r:embed="rId1"/>
              </a:buBlip>
            </a:pP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可以在理解递归调用实现过程的基础上，用栈来模拟递归执行过程即使用栈保存中间结果，从而将其转换为等效的非递归算法。称为</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间接转换法</a:t>
            </a:r>
            <a:r>
              <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3660" y="1341120"/>
            <a:ext cx="10430510" cy="459549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144000" bIns="144000" rtlCol="0">
            <a:spAutoFit/>
          </a:bodyPr>
          <a:lstStyle/>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Hanoi1</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X，char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Y，char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Z)</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(n==1)	</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//只有一个盘片的情况</a:t>
            </a:r>
            <a:endParaRPr lang="zh-CN" altLang="en-US"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		</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//有两个或多个盘片的情况</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Hanoi1(n-1，X，Z，Y);</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printf</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将第</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%d</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个盘片从</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移动到</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%c\n"，</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n，X，Z</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Hanoi1(n-1，Y，X，Z);</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4"/>
          <p:cNvSpPr txBox="1"/>
          <p:nvPr/>
        </p:nvSpPr>
        <p:spPr>
          <a:xfrm>
            <a:off x="335915" y="548618"/>
            <a:ext cx="5616575" cy="583565"/>
          </a:xfrm>
          <a:prstGeom prst="rect">
            <a:avLst/>
          </a:prstGeom>
          <a:noFill/>
        </p:spPr>
        <p:txBody>
          <a:bodyPr wrap="square" rtlCol="0">
            <a:spAutoFit/>
          </a:bodyPr>
          <a:lstStyle/>
          <a:p>
            <a:pPr algn="l"/>
            <a:r>
              <a:rPr 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Hanoi</a:t>
            </a: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问题求解递归算法</a:t>
            </a:r>
            <a:endPar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9425" y="413583"/>
            <a:ext cx="5616575" cy="583565"/>
          </a:xfrm>
          <a:prstGeom prst="rect">
            <a:avLst/>
          </a:prstGeom>
          <a:noFill/>
        </p:spPr>
        <p:txBody>
          <a:bodyPr wrap="square" rtlCol="0">
            <a:spAutoFit/>
          </a:bodyPr>
          <a:lstStyle/>
          <a:p>
            <a:pPr algn="l"/>
            <a:r>
              <a:rPr 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Hanoi</a:t>
            </a:r>
            <a:r>
              <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问题求解非递归算法</a:t>
            </a:r>
            <a:endParaRPr lang="zh-CN" altLang="en-US" sz="32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304165" y="1845310"/>
            <a:ext cx="11729720" cy="416496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144000" bIns="144000" rtlCol="0">
            <a:spAutoFit/>
          </a:bodyPr>
          <a:lstStyle/>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typedef struct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n;	</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盘片个数</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char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x，y，z</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//3个塔座</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bool </a:t>
            </a:r>
            <a:r>
              <a:rPr 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flag</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 //可直接移动盘片时为true，否则为false</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ElemType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//顺序栈中元素类型</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typedef struct</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data[</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MaxSize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//存放元素</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top;</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//栈顶指针</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StackTyp</a:t>
            </a:r>
            <a:r>
              <a:rPr lang="en-US" sz="2800" b="1"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Consolas" panose="020B0609020204030204" pitchFamily="49" charset="0"/>
              </a:rPr>
              <a:t>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//顺序栈类型</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4"/>
          <p:cNvSpPr txBox="1"/>
          <p:nvPr/>
        </p:nvSpPr>
        <p:spPr>
          <a:xfrm>
            <a:off x="911424" y="1127962"/>
            <a:ext cx="5041700" cy="521970"/>
          </a:xfrm>
          <a:prstGeom prst="rect">
            <a:avLst/>
          </a:prstGeom>
          <a:noFill/>
        </p:spPr>
        <p:txBody>
          <a:bodyPr wrap="square" rtlCol="0">
            <a:spAutoFit/>
          </a:body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设计顺序栈的类型如下</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1860" y="404495"/>
            <a:ext cx="9976485" cy="373380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4"/>
          </a:lnRef>
          <a:fillRef idx="2">
            <a:schemeClr val="accent4"/>
          </a:fillRef>
          <a:effectRef idx="1">
            <a:schemeClr val="accent4"/>
          </a:effectRef>
          <a:fontRef idx="minor">
            <a:schemeClr val="dk1"/>
          </a:fontRef>
        </p:style>
        <p:txBody>
          <a:bodyPr wrap="square" lIns="180000" tIns="144000" bIns="144000" rtlCol="0">
            <a:spAutoFit/>
          </a:bodyPr>
          <a:lstStyle/>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void</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Hanoi2</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(int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x，char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y，char</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z)</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StackType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//定义顺序栈指针</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e，e1，e2，e3;</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(n&lt;=0) return;	</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//参数错误时直接返回</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InitStack</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//初始化栈</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e.n</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e.x</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e.y</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=y;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e.z</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 </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e.flag</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=false;</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Push(</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st，e</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//元素e进栈</a:t>
            </a:r>
            <a:endParaRPr 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3" name="组合 5"/>
          <p:cNvGrpSpPr/>
          <p:nvPr/>
        </p:nvGrpSpPr>
        <p:grpSpPr>
          <a:xfrm>
            <a:off x="1952596" y="4364423"/>
            <a:ext cx="6015612" cy="1379226"/>
            <a:chOff x="428596" y="4214818"/>
            <a:chExt cx="6015612" cy="1379226"/>
          </a:xfrm>
        </p:grpSpPr>
        <p:sp>
          <p:nvSpPr>
            <p:cNvPr id="4" name="TextBox 3"/>
            <p:cNvSpPr txBox="1"/>
            <p:nvPr/>
          </p:nvSpPr>
          <p:spPr>
            <a:xfrm>
              <a:off x="428596" y="5072074"/>
              <a:ext cx="6015612" cy="521970"/>
            </a:xfrm>
            <a:prstGeom prst="rect">
              <a:avLst/>
            </a:prstGeom>
            <a:noFill/>
          </p:spPr>
          <p:txBody>
            <a:bodyPr wrap="square" rtlCol="0">
              <a:spAutoFit/>
            </a:bodyPr>
            <a:lstStyle/>
            <a:p>
              <a:pPr algn="l"/>
              <a:r>
                <a:rPr lang="en-US" sz="2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n，X，Y，Z</a:t>
              </a:r>
              <a:r>
                <a:rPr 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任务进栈</a:t>
              </a:r>
              <a:endPar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上箭头 4"/>
            <p:cNvSpPr/>
            <p:nvPr/>
          </p:nvSpPr>
          <p:spPr>
            <a:xfrm>
              <a:off x="1571604" y="4214818"/>
              <a:ext cx="214314" cy="78581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latin typeface="Consolas" panose="020B0609020204030204" pitchFamily="49" charset="0"/>
                <a:cs typeface="Consolas" panose="020B0609020204030204" pitchFamily="49"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
          <p:cNvSpPr txBox="1"/>
          <p:nvPr/>
        </p:nvSpPr>
        <p:spPr>
          <a:xfrm>
            <a:off x="1416685" y="332740"/>
            <a:ext cx="10236835" cy="382587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4"/>
          </a:lnRef>
          <a:fillRef idx="2">
            <a:schemeClr val="accent4"/>
          </a:fillRef>
          <a:effectRef idx="1">
            <a:schemeClr val="accent4"/>
          </a:effectRef>
          <a:fontRef idx="minor">
            <a:schemeClr val="dk1"/>
          </a:fontRef>
        </p:style>
        <p:txBody>
          <a:bodyPr wrap="square" rtlCol="0">
            <a:spAutoFit/>
          </a:bodyPr>
          <a:lstStyle/>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while (!</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StackEmpty</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//栈不空循环</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Pop(</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st，e</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//出栈元素e</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if (</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e.flag</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==false)</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0070C0"/>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//当不能直接移动盘片时</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e1.n=e.n-1; e1.x=</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e.y</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e1.y=</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e.x</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e1.z=</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e.z</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(e1.n==1)         </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//只有一个盘片时可直接移动</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e1.flag=true;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//有一个以上盘片时不能直接移动</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e1.flag=false;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Push(st，e1);</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//处理Hanoi(n-1，y，x，z)步骤</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ts val="3200"/>
              </a:lnSpc>
            </a:pPr>
            <a:endParaRPr lang="en-US" alt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0" name="TextBox 3"/>
          <p:cNvSpPr txBox="1"/>
          <p:nvPr/>
        </p:nvSpPr>
        <p:spPr>
          <a:xfrm>
            <a:off x="374090" y="5134039"/>
            <a:ext cx="3825544" cy="460375"/>
          </a:xfrm>
          <a:prstGeom prst="rect">
            <a:avLst/>
          </a:prstGeom>
          <a:noFill/>
        </p:spPr>
        <p:txBody>
          <a:bodyPr wrap="square" rtlCol="0">
            <a:spAutoFit/>
          </a:bodyPr>
          <a:lstStyle/>
          <a:p>
            <a:pPr algn="l"/>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n，X，Y，Z</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1" name="TextBox 4"/>
          <p:cNvSpPr txBox="1"/>
          <p:nvPr/>
        </p:nvSpPr>
        <p:spPr>
          <a:xfrm>
            <a:off x="4272212" y="5658420"/>
            <a:ext cx="4598822" cy="460375"/>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a:t>
            </a:r>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(n-1，Y，X，Z)</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2" name="TextBox 5"/>
          <p:cNvSpPr txBox="1"/>
          <p:nvPr/>
        </p:nvSpPr>
        <p:spPr>
          <a:xfrm>
            <a:off x="4272212" y="5099058"/>
            <a:ext cx="6471030" cy="460375"/>
          </a:xfrm>
          <a:prstGeom prst="rect">
            <a:avLst/>
          </a:prstGeom>
          <a:noFill/>
        </p:spPr>
        <p:txBody>
          <a:bodyPr wrap="square" rtlCol="0">
            <a:spAutoFit/>
          </a:bodyPr>
          <a:lstStyle/>
          <a:p>
            <a:pPr algn="l"/>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Move</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sz="24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flag=true</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3" name="TextBox 6"/>
          <p:cNvSpPr txBox="1"/>
          <p:nvPr/>
        </p:nvSpPr>
        <p:spPr>
          <a:xfrm>
            <a:off x="4272212" y="4598992"/>
            <a:ext cx="4598822" cy="460375"/>
          </a:xfrm>
          <a:prstGeom prst="rect">
            <a:avLst/>
          </a:prstGeom>
          <a:noFill/>
        </p:spPr>
        <p:txBody>
          <a:bodyPr wrap="square" rtlCol="0">
            <a:spAutoFit/>
          </a:bodyPr>
          <a:lstStyle/>
          <a:p>
            <a:pPr algn="l"/>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a:t>
            </a:r>
            <a:r>
              <a:rPr lang="en-US" sz="24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(n-1，X，</a:t>
            </a:r>
            <a:r>
              <a:rPr lang="en-US" altLang="zh-CN"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，Y)</a:t>
            </a:r>
            <a:r>
              <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a:t>
            </a:r>
            <a:endParaRPr lang="zh-CN" altLang="en-US" sz="24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4" name="左大括号 13"/>
          <p:cNvSpPr/>
          <p:nvPr/>
        </p:nvSpPr>
        <p:spPr>
          <a:xfrm>
            <a:off x="3986460" y="4813306"/>
            <a:ext cx="285752" cy="1071570"/>
          </a:xfrm>
          <a:prstGeom prst="leftBrace">
            <a:avLst/>
          </a:prstGeom>
          <a:ln w="2857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0" b="1" dirty="0">
              <a:latin typeface="Consolas" panose="020B0609020204030204" pitchFamily="49" charset="0"/>
              <a:ea typeface="仿宋" panose="02010609060101010101" charset="-122"/>
              <a:cs typeface="Consolas" panose="020B0609020204030204" pitchFamily="49" charset="0"/>
            </a:endParaRPr>
          </a:p>
        </p:txBody>
      </p:sp>
      <p:grpSp>
        <p:nvGrpSpPr>
          <p:cNvPr id="15" name="组合 15"/>
          <p:cNvGrpSpPr/>
          <p:nvPr/>
        </p:nvGrpSpPr>
        <p:grpSpPr>
          <a:xfrm>
            <a:off x="1867535" y="1150620"/>
            <a:ext cx="9411970" cy="4266565"/>
            <a:chOff x="1214414" y="1393396"/>
            <a:chExt cx="8279657" cy="4266425"/>
          </a:xfrm>
        </p:grpSpPr>
        <p:sp>
          <p:nvSpPr>
            <p:cNvPr id="16" name="任意多边形 12"/>
            <p:cNvSpPr/>
            <p:nvPr/>
          </p:nvSpPr>
          <p:spPr>
            <a:xfrm>
              <a:off x="6731876" y="2529683"/>
              <a:ext cx="1709378" cy="3130138"/>
            </a:xfrm>
            <a:custGeom>
              <a:avLst/>
              <a:gdLst>
                <a:gd name="connsiteX0" fmla="*/ 1324303 w 1676400"/>
                <a:gd name="connsiteY0" fmla="*/ 13138 h 2850931"/>
                <a:gd name="connsiteX1" fmla="*/ 1671145 w 1676400"/>
                <a:gd name="connsiteY1" fmla="*/ 328448 h 2850931"/>
                <a:gd name="connsiteX2" fmla="*/ 1355834 w 1676400"/>
                <a:gd name="connsiteY2" fmla="*/ 1983827 h 2850931"/>
                <a:gd name="connsiteX3" fmla="*/ 0 w 1676400"/>
                <a:gd name="connsiteY3" fmla="*/ 2850931 h 2850931"/>
                <a:gd name="connsiteX0-1" fmla="*/ 1538585 w 1709378"/>
                <a:gd name="connsiteY0-2" fmla="*/ 6569 h 3130138"/>
                <a:gd name="connsiteX1-3" fmla="*/ 1671145 w 1709378"/>
                <a:gd name="connsiteY1-4" fmla="*/ 607655 h 3130138"/>
                <a:gd name="connsiteX2-5" fmla="*/ 1355834 w 1709378"/>
                <a:gd name="connsiteY2-6" fmla="*/ 2263034 h 3130138"/>
                <a:gd name="connsiteX3-7" fmla="*/ 0 w 1709378"/>
                <a:gd name="connsiteY3-8" fmla="*/ 3130138 h 3130138"/>
              </a:gdLst>
              <a:ahLst/>
              <a:cxnLst>
                <a:cxn ang="0">
                  <a:pos x="connsiteX0-1" y="connsiteY0-2"/>
                </a:cxn>
                <a:cxn ang="0">
                  <a:pos x="connsiteX1-3" y="connsiteY1-4"/>
                </a:cxn>
                <a:cxn ang="0">
                  <a:pos x="connsiteX2-5" y="connsiteY2-6"/>
                </a:cxn>
                <a:cxn ang="0">
                  <a:pos x="connsiteX3-7" y="connsiteY3-8"/>
                </a:cxn>
              </a:cxnLst>
              <a:rect l="l" t="t" r="r" b="b"/>
              <a:pathLst>
                <a:path w="1709378" h="3130138">
                  <a:moveTo>
                    <a:pt x="1538585" y="6569"/>
                  </a:moveTo>
                  <a:cubicBezTo>
                    <a:pt x="1709378" y="0"/>
                    <a:pt x="1701604" y="231577"/>
                    <a:pt x="1671145" y="607655"/>
                  </a:cubicBezTo>
                  <a:cubicBezTo>
                    <a:pt x="1640686" y="983733"/>
                    <a:pt x="1634358" y="1842620"/>
                    <a:pt x="1355834" y="2263034"/>
                  </a:cubicBezTo>
                  <a:cubicBezTo>
                    <a:pt x="1077310" y="2683448"/>
                    <a:pt x="538655" y="2906793"/>
                    <a:pt x="0" y="3130138"/>
                  </a:cubicBezTo>
                </a:path>
              </a:pathLst>
            </a:cu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Consolas" panose="020B0609020204030204" pitchFamily="49" charset="0"/>
                <a:ea typeface="仿宋" panose="02010609060101010101" charset="-122"/>
                <a:cs typeface="Consolas" panose="020B0609020204030204" pitchFamily="49" charset="0"/>
              </a:endParaRPr>
            </a:p>
          </p:txBody>
        </p:sp>
        <p:sp>
          <p:nvSpPr>
            <p:cNvPr id="17" name="矩形 16"/>
            <p:cNvSpPr/>
            <p:nvPr/>
          </p:nvSpPr>
          <p:spPr>
            <a:xfrm>
              <a:off x="1214414" y="1393396"/>
              <a:ext cx="8279657" cy="2717076"/>
            </a:xfrm>
            <a:prstGeom prst="rect">
              <a:avLst/>
            </a:prstGeom>
            <a:solidFill>
              <a:schemeClr val="accent2">
                <a:alpha val="0"/>
              </a:schemeClr>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Consolas" panose="020B0609020204030204" pitchFamily="49" charset="0"/>
                <a:ea typeface="仿宋" panose="02010609060101010101" charset="-122"/>
                <a:cs typeface="Consolas" panose="020B0609020204030204" pitchFamily="49"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childTnLst>
                          </p:cTn>
                        </p:par>
                        <p:par>
                          <p:cTn id="17" fill="hold">
                            <p:stCondLst>
                              <p:cond delay="0"/>
                            </p:stCondLst>
                            <p:childTnLst>
                              <p:par>
                                <p:cTn id="18" presetID="18" presetClass="entr" presetSubtype="12"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strips(downLeft)">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38282" y="339006"/>
            <a:ext cx="8501122" cy="368300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4"/>
          </a:lnRef>
          <a:fillRef idx="2">
            <a:schemeClr val="accent4"/>
          </a:fillRef>
          <a:effectRef idx="1">
            <a:schemeClr val="accent4"/>
          </a:effectRef>
          <a:fontRef idx="minor">
            <a:schemeClr val="dk1"/>
          </a:fontRef>
        </p:style>
        <p:txBody>
          <a:bodyPr wrap="square" tIns="180000" bIns="180000" rtlCol="0">
            <a:spAutoFit/>
          </a:bodyPr>
          <a:lstStyle/>
          <a:p>
            <a:pPr algn="l">
              <a:lnSpc>
                <a:spcPct val="100000"/>
              </a:lnSpc>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e2.n=</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e.n</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e2.x=</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a:t>
            </a:r>
            <a:r>
              <a:rPr lang="en-US"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x</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e2.y=</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a:t>
            </a:r>
            <a:r>
              <a:rPr lang="en-US"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y</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e2.z=</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a:t>
            </a:r>
            <a:r>
              <a:rPr lang="en-US" b="1" dirty="0" err="1">
                <a:solidFill>
                  <a:srgbClr val="C00000"/>
                </a:solidFill>
                <a:latin typeface="微软雅黑" panose="020B0503020204020204" pitchFamily="34" charset="-122"/>
                <a:ea typeface="微软雅黑" panose="020B0503020204020204" pitchFamily="34" charset="-122"/>
                <a:cs typeface="Consolas" panose="020B0609020204030204" pitchFamily="49" charset="0"/>
              </a:rPr>
              <a:t>z</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;e2.flag=true;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Push(st，e2);	 </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//处理move(n，x，z)步骤</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e3.n=e.n-1; e3.x=</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e.x</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e3.y=</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e.z</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e3.z=</a:t>
            </a:r>
            <a:r>
              <a:rPr lang="en-US"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e.y</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(e3.n==1)</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0070C0"/>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//只有一个盘片时可直接移动</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e3.flag=true;</a:t>
            </a:r>
            <a:endPar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e3.flag=false;</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//有一个以上盘片时不能直接移动</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buClrTx/>
              <a:buSzTx/>
              <a:buFontTx/>
            </a:pP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Push(st，e3);</a:t>
            </a:r>
            <a:r>
              <a:rPr lang="en-US"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//处理Hanoi(n-1，x，z，y)步骤</a:t>
            </a:r>
            <a:endParaRPr 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lnSpc>
                <a:spcPct val="100000"/>
              </a:lnSpc>
            </a:pPr>
            <a:r>
              <a:rPr 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en-US" altLang="en-US"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3"/>
          <p:cNvSpPr txBox="1"/>
          <p:nvPr/>
        </p:nvSpPr>
        <p:spPr>
          <a:xfrm>
            <a:off x="1881158" y="5494339"/>
            <a:ext cx="3071834" cy="368300"/>
          </a:xfrm>
          <a:prstGeom prst="rect">
            <a:avLst/>
          </a:prstGeom>
          <a:noFill/>
        </p:spPr>
        <p:txBody>
          <a:bodyPr wrap="square" rtlCol="0">
            <a:spAutoFit/>
          </a:bodyPr>
          <a:lstStyle/>
          <a:p>
            <a:pPr algn="l"/>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n，X，Y，Z</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4"/>
          <p:cNvSpPr txBox="1"/>
          <p:nvPr/>
        </p:nvSpPr>
        <p:spPr>
          <a:xfrm>
            <a:off x="4810116" y="4851398"/>
            <a:ext cx="4071966" cy="36830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a:t>
            </a:r>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(n-1，X，Z，Y)</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任务进栈</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5"/>
          <p:cNvSpPr txBox="1"/>
          <p:nvPr/>
        </p:nvSpPr>
        <p:spPr>
          <a:xfrm>
            <a:off x="4810116" y="5422902"/>
            <a:ext cx="3643338" cy="368300"/>
          </a:xfrm>
          <a:prstGeom prst="rect">
            <a:avLst/>
          </a:prstGeom>
          <a:noFill/>
        </p:spPr>
        <p:txBody>
          <a:bodyPr wrap="square" rtlCol="0">
            <a:spAutoFit/>
          </a:bodyPr>
          <a:lstStyle/>
          <a:p>
            <a:pPr algn="l"/>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Move</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a:t>
            </a:r>
            <a:r>
              <a:rPr lang="en-US" sz="1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n，X</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flag=true</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Box 6"/>
          <p:cNvSpPr txBox="1"/>
          <p:nvPr/>
        </p:nvSpPr>
        <p:spPr>
          <a:xfrm>
            <a:off x="4810116" y="6065844"/>
            <a:ext cx="4000528" cy="368300"/>
          </a:xfrm>
          <a:prstGeom prst="rect">
            <a:avLst/>
          </a:prstGeom>
          <a:noFill/>
        </p:spPr>
        <p:txBody>
          <a:bodyPr wrap="square" rtlCol="0">
            <a:spAutoFit/>
          </a:bodyPr>
          <a:lstStyle/>
          <a:p>
            <a:pPr algn="l"/>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sym typeface="Wingdings" panose="05000000000000000000"/>
              </a:rPr>
              <a:t> </a:t>
            </a:r>
            <a:r>
              <a:rPr lang="en-US" sz="1800"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Hanoi</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(n-1，Y，</a:t>
            </a:r>
            <a:r>
              <a:rPr lang="en-US" altLang="zh-CN"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Z</a:t>
            </a:r>
            <a:r>
              <a:rPr 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，X)</a:t>
            </a:r>
            <a:r>
              <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任务进栈</a:t>
            </a:r>
            <a:endParaRPr lang="zh-CN" altLang="en-US" sz="1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左大括号 6"/>
          <p:cNvSpPr/>
          <p:nvPr/>
        </p:nvSpPr>
        <p:spPr>
          <a:xfrm>
            <a:off x="4595802" y="5137149"/>
            <a:ext cx="285752" cy="1071570"/>
          </a:xfrm>
          <a:prstGeom prst="leftBrace">
            <a:avLst/>
          </a:prstGeom>
          <a:ln w="2857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0" b="1">
              <a:latin typeface="Consolas" panose="020B0609020204030204" pitchFamily="49" charset="0"/>
              <a:cs typeface="Consolas" panose="020B0609020204030204" pitchFamily="49" charset="0"/>
            </a:endParaRPr>
          </a:p>
        </p:txBody>
      </p:sp>
      <p:grpSp>
        <p:nvGrpSpPr>
          <p:cNvPr id="8" name="组合 17"/>
          <p:cNvGrpSpPr/>
          <p:nvPr/>
        </p:nvGrpSpPr>
        <p:grpSpPr>
          <a:xfrm>
            <a:off x="2132965" y="1381125"/>
            <a:ext cx="7900035" cy="3359150"/>
            <a:chOff x="1428728" y="1357298"/>
            <a:chExt cx="7000924" cy="3572694"/>
          </a:xfrm>
        </p:grpSpPr>
        <p:sp>
          <p:nvSpPr>
            <p:cNvPr id="9" name="矩形 8"/>
            <p:cNvSpPr/>
            <p:nvPr/>
          </p:nvSpPr>
          <p:spPr>
            <a:xfrm>
              <a:off x="1428728" y="1357298"/>
              <a:ext cx="7000924" cy="2500330"/>
            </a:xfrm>
            <a:prstGeom prst="rect">
              <a:avLst/>
            </a:prstGeom>
            <a:solidFill>
              <a:schemeClr val="accent2">
                <a:alpha val="0"/>
              </a:schemeClr>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Consolas" panose="020B0609020204030204" pitchFamily="49" charset="0"/>
                <a:cs typeface="Consolas" panose="020B0609020204030204" pitchFamily="49" charset="0"/>
              </a:endParaRPr>
            </a:p>
          </p:txBody>
        </p:sp>
        <p:cxnSp>
          <p:nvCxnSpPr>
            <p:cNvPr id="10" name="直接箭头连接符 9"/>
            <p:cNvCxnSpPr>
              <a:stCxn id="9" idx="2"/>
            </p:cNvCxnSpPr>
            <p:nvPr/>
          </p:nvCxnSpPr>
          <p:spPr>
            <a:xfrm rot="5400000">
              <a:off x="4393405" y="4393413"/>
              <a:ext cx="1071570" cy="158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组合 16"/>
          <p:cNvGrpSpPr/>
          <p:nvPr/>
        </p:nvGrpSpPr>
        <p:grpSpPr>
          <a:xfrm>
            <a:off x="2182293" y="557672"/>
            <a:ext cx="7878445" cy="5234892"/>
            <a:chOff x="1428728" y="480124"/>
            <a:chExt cx="7878445" cy="5234892"/>
          </a:xfrm>
        </p:grpSpPr>
        <p:sp>
          <p:nvSpPr>
            <p:cNvPr id="12" name="矩形 11"/>
            <p:cNvSpPr/>
            <p:nvPr/>
          </p:nvSpPr>
          <p:spPr>
            <a:xfrm>
              <a:off x="1428728" y="480124"/>
              <a:ext cx="7878445" cy="765175"/>
            </a:xfrm>
            <a:prstGeom prst="rect">
              <a:avLst/>
            </a:prstGeom>
            <a:solidFill>
              <a:schemeClr val="accent2">
                <a:alpha val="0"/>
              </a:schemeClr>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Consolas" panose="020B0609020204030204" pitchFamily="49" charset="0"/>
                <a:cs typeface="Consolas" panose="020B0609020204030204" pitchFamily="49" charset="0"/>
              </a:endParaRPr>
            </a:p>
          </p:txBody>
        </p:sp>
        <p:sp>
          <p:nvSpPr>
            <p:cNvPr id="13" name="任意多边形 15"/>
            <p:cNvSpPr/>
            <p:nvPr/>
          </p:nvSpPr>
          <p:spPr>
            <a:xfrm>
              <a:off x="7286644" y="616168"/>
              <a:ext cx="1683693" cy="5098848"/>
            </a:xfrm>
            <a:custGeom>
              <a:avLst/>
              <a:gdLst>
                <a:gd name="connsiteX0" fmla="*/ 1970690 w 2701159"/>
                <a:gd name="connsiteY0" fmla="*/ 218090 h 5168462"/>
                <a:gd name="connsiteX1" fmla="*/ 2301766 w 2701159"/>
                <a:gd name="connsiteY1" fmla="*/ 675290 h 5168462"/>
                <a:gd name="connsiteX2" fmla="*/ 2317531 w 2701159"/>
                <a:gd name="connsiteY2" fmla="*/ 4269828 h 5168462"/>
                <a:gd name="connsiteX3" fmla="*/ 0 w 2701159"/>
                <a:gd name="connsiteY3" fmla="*/ 5168462 h 5168462"/>
                <a:gd name="connsiteX0-1" fmla="*/ 613400 w 1117654"/>
                <a:gd name="connsiteY0-2" fmla="*/ 218090 h 4923435"/>
                <a:gd name="connsiteX1-3" fmla="*/ 944476 w 1117654"/>
                <a:gd name="connsiteY1-4" fmla="*/ 675290 h 4923435"/>
                <a:gd name="connsiteX2-5" fmla="*/ 960241 w 1117654"/>
                <a:gd name="connsiteY2-6" fmla="*/ 4269828 h 4923435"/>
                <a:gd name="connsiteX3-7" fmla="*/ 0 w 1117654"/>
                <a:gd name="connsiteY3-8" fmla="*/ 4596934 h 4923435"/>
                <a:gd name="connsiteX0-9" fmla="*/ 613400 w 1117654"/>
                <a:gd name="connsiteY0-10" fmla="*/ 109045 h 4487889"/>
                <a:gd name="connsiteX1-11" fmla="*/ 944476 w 1117654"/>
                <a:gd name="connsiteY1-12" fmla="*/ 566245 h 4487889"/>
                <a:gd name="connsiteX2-13" fmla="*/ 960241 w 1117654"/>
                <a:gd name="connsiteY2-14" fmla="*/ 3160627 h 4487889"/>
                <a:gd name="connsiteX3-15" fmla="*/ 0 w 1117654"/>
                <a:gd name="connsiteY3-16" fmla="*/ 4487889 h 4487889"/>
              </a:gdLst>
              <a:ahLst/>
              <a:cxnLst>
                <a:cxn ang="0">
                  <a:pos x="connsiteX0-1" y="connsiteY0-2"/>
                </a:cxn>
                <a:cxn ang="0">
                  <a:pos x="connsiteX1-3" y="connsiteY1-4"/>
                </a:cxn>
                <a:cxn ang="0">
                  <a:pos x="connsiteX2-5" y="connsiteY2-6"/>
                </a:cxn>
                <a:cxn ang="0">
                  <a:pos x="connsiteX3-7" y="connsiteY3-8"/>
                </a:cxn>
              </a:cxnLst>
              <a:rect l="l" t="t" r="r" b="b"/>
              <a:pathLst>
                <a:path w="1117654" h="4487889">
                  <a:moveTo>
                    <a:pt x="613400" y="109045"/>
                  </a:moveTo>
                  <a:cubicBezTo>
                    <a:pt x="750034" y="0"/>
                    <a:pt x="886669" y="57648"/>
                    <a:pt x="944476" y="566245"/>
                  </a:cubicBezTo>
                  <a:cubicBezTo>
                    <a:pt x="1002283" y="1074842"/>
                    <a:pt x="1117654" y="2507020"/>
                    <a:pt x="960241" y="3160627"/>
                  </a:cubicBezTo>
                  <a:cubicBezTo>
                    <a:pt x="802828" y="3814234"/>
                    <a:pt x="966951" y="4413003"/>
                    <a:pt x="0" y="4487889"/>
                  </a:cubicBezTo>
                </a:path>
              </a:pathLst>
            </a:cu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Consolas" panose="020B0609020204030204" pitchFamily="49" charset="0"/>
                <a:cs typeface="Consolas" panose="020B0609020204030204" pitchFamily="49"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
                                            <p:txEl>
                                              <p:pRg st="6" end="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childTnLst>
                                </p:cTn>
                              </p:par>
                            </p:childTnLst>
                          </p:cTn>
                        </p:par>
                        <p:par>
                          <p:cTn id="24" fill="hold">
                            <p:stCondLst>
                              <p:cond delay="0"/>
                            </p:stCondLst>
                            <p:childTnLst>
                              <p:par>
                                <p:cTn id="25" presetID="18" presetClass="entr" presetSubtype="6"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trips(down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7602" name="Rectangle 2"/>
          <p:cNvSpPr>
            <a:spLocks noChangeArrowheads="1"/>
          </p:cNvSpPr>
          <p:nvPr/>
        </p:nvSpPr>
        <p:spPr bwMode="auto">
          <a:xfrm>
            <a:off x="3400425" y="381000"/>
            <a:ext cx="6060440" cy="762000"/>
          </a:xfrm>
          <a:prstGeom prst="rect">
            <a:avLst/>
          </a:prstGeom>
          <a:noFill/>
          <a:ln w="9525">
            <a:noFill/>
            <a:miter lim="800000"/>
          </a:ln>
          <a:effectLst/>
        </p:spPr>
        <p:txBody>
          <a:bodyPr lIns="92075" tIns="46038" rIns="92075" bIns="46038"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1" i="0" u="sng" strike="noStrike" kern="1200" cap="none" spc="0" normalizeH="0" baseline="0"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5.3 </a:t>
            </a:r>
            <a:r>
              <a:rPr kumimoji="1" lang="zh-CN" altLang="en-US" sz="4000" b="1" i="0" u="sng" strike="noStrike" kern="1200" cap="none" spc="0" normalizeH="0" baseline="0"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递归算法的设计</a:t>
            </a:r>
            <a:endParaRPr kumimoji="1" lang="zh-CN" altLang="en-US" sz="4000" b="1" i="0" u="sng" strike="noStrike" kern="1200" cap="none" spc="0" normalizeH="0" baseline="0" noProof="0" dirty="0">
              <a:ln>
                <a:noFill/>
              </a:ln>
              <a:solidFill>
                <a:schemeClr val="hlin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362" name="Text Box 3"/>
          <p:cNvSpPr txBox="1"/>
          <p:nvPr/>
        </p:nvSpPr>
        <p:spPr>
          <a:xfrm>
            <a:off x="517525" y="1339850"/>
            <a:ext cx="10714038" cy="584200"/>
          </a:xfrm>
          <a:prstGeom prst="rect">
            <a:avLst/>
          </a:prstGeom>
          <a:noFill/>
          <a:ln w="9525">
            <a:noFill/>
          </a:ln>
        </p:spPr>
        <p:txBody>
          <a:bodyPr wrap="square" anchor="t" anchorCtr="0">
            <a:spAutoFit/>
          </a:bodyPr>
          <a:p>
            <a:r>
              <a:rPr lang="zh-CN" altLang="en-US" sz="3200" b="1" dirty="0">
                <a:solidFill>
                  <a:schemeClr val="tx2"/>
                </a:solidFill>
                <a:latin typeface="微软雅黑" panose="020B0503020204020204" pitchFamily="34" charset="-122"/>
                <a:ea typeface="微软雅黑" panose="020B0503020204020204" pitchFamily="34" charset="-122"/>
              </a:rPr>
              <a:t>设计思想：</a:t>
            </a:r>
            <a:r>
              <a:rPr lang="zh-CN" altLang="en-US" sz="3200" b="1" dirty="0">
                <a:solidFill>
                  <a:srgbClr val="0070C0"/>
                </a:solidFill>
                <a:latin typeface="微软雅黑" panose="020B0503020204020204" pitchFamily="34" charset="-122"/>
                <a:ea typeface="微软雅黑" panose="020B0503020204020204" pitchFamily="34" charset="-122"/>
              </a:rPr>
              <a:t>寻找</a:t>
            </a:r>
            <a:r>
              <a:rPr lang="zh-CN" altLang="en-US" sz="3200" b="1" dirty="0">
                <a:solidFill>
                  <a:srgbClr val="FF0000"/>
                </a:solidFill>
                <a:latin typeface="微软雅黑" panose="020B0503020204020204" pitchFamily="34" charset="-122"/>
                <a:ea typeface="微软雅黑" panose="020B0503020204020204" pitchFamily="34" charset="-122"/>
              </a:rPr>
              <a:t>递归关系</a:t>
            </a:r>
            <a:r>
              <a:rPr lang="zh-CN" altLang="en-US" sz="3200" b="1" dirty="0">
                <a:solidFill>
                  <a:srgbClr val="0070C0"/>
                </a:solidFill>
                <a:latin typeface="微软雅黑" panose="020B0503020204020204" pitchFamily="34" charset="-122"/>
                <a:ea typeface="微软雅黑" panose="020B0503020204020204" pitchFamily="34" charset="-122"/>
              </a:rPr>
              <a:t>，确定</a:t>
            </a:r>
            <a:r>
              <a:rPr lang="zh-CN" altLang="en-US" sz="3200" b="1" dirty="0">
                <a:solidFill>
                  <a:srgbClr val="FF0000"/>
                </a:solidFill>
                <a:latin typeface="微软雅黑" panose="020B0503020204020204" pitchFamily="34" charset="-122"/>
                <a:ea typeface="微软雅黑" panose="020B0503020204020204" pitchFamily="34" charset="-122"/>
              </a:rPr>
              <a:t>递归出口</a:t>
            </a:r>
            <a:r>
              <a:rPr lang="zh-CN" altLang="en-US" sz="3200" b="1" dirty="0">
                <a:solidFill>
                  <a:schemeClr val="accent2"/>
                </a:solidFill>
                <a:latin typeface="微软雅黑" panose="020B0503020204020204" pitchFamily="34" charset="-122"/>
                <a:ea typeface="微软雅黑" panose="020B0503020204020204" pitchFamily="34" charset="-122"/>
              </a:rPr>
              <a:t>。</a:t>
            </a:r>
            <a:endParaRPr lang="zh-CN" altLang="en-US" sz="3200" b="1" dirty="0">
              <a:solidFill>
                <a:schemeClr val="accent2"/>
              </a:solidFill>
              <a:latin typeface="微软雅黑" panose="020B0503020204020204" pitchFamily="34" charset="-122"/>
              <a:ea typeface="微软雅黑" panose="020B0503020204020204" pitchFamily="34" charset="-122"/>
            </a:endParaRPr>
          </a:p>
        </p:txBody>
      </p:sp>
      <p:sp>
        <p:nvSpPr>
          <p:cNvPr id="15363" name="Text Box 4"/>
          <p:cNvSpPr txBox="1"/>
          <p:nvPr/>
        </p:nvSpPr>
        <p:spPr>
          <a:xfrm>
            <a:off x="501650" y="1913890"/>
            <a:ext cx="10818813" cy="1444625"/>
          </a:xfrm>
          <a:prstGeom prst="rect">
            <a:avLst/>
          </a:prstGeom>
          <a:noFill/>
          <a:ln w="9525">
            <a:noFill/>
          </a:ln>
        </p:spPr>
        <p:txBody>
          <a:bodyPr wrap="square" anchor="t" anchorCtr="0">
            <a:spAutoFit/>
          </a:bodyPr>
          <a:p>
            <a:r>
              <a:rPr lang="zh-CN" altLang="en-US" sz="3200" b="1" dirty="0">
                <a:solidFill>
                  <a:schemeClr val="tx2"/>
                </a:solidFill>
                <a:latin typeface="微软雅黑" panose="020B0503020204020204" pitchFamily="34" charset="-122"/>
                <a:ea typeface="微软雅黑" panose="020B0503020204020204" pitchFamily="34" charset="-122"/>
              </a:rPr>
              <a:t>递归关系</a:t>
            </a:r>
            <a:r>
              <a:rPr lang="zh-CN" altLang="en-US" sz="2800" b="1" dirty="0">
                <a:solidFill>
                  <a:schemeClr val="tx2"/>
                </a:solidFill>
                <a:latin typeface="微软雅黑" panose="020B0503020204020204" pitchFamily="34" charset="-122"/>
                <a:ea typeface="微软雅黑" panose="020B0503020204020204" pitchFamily="34" charset="-122"/>
              </a:rPr>
              <a:t>：</a:t>
            </a:r>
            <a:r>
              <a:rPr lang="zh-CN" altLang="en-US" sz="2800" b="1" dirty="0">
                <a:solidFill>
                  <a:srgbClr val="1552D1"/>
                </a:solidFill>
                <a:latin typeface="微软雅黑" panose="020B0503020204020204" pitchFamily="34" charset="-122"/>
                <a:ea typeface="微软雅黑" panose="020B0503020204020204" pitchFamily="34" charset="-122"/>
              </a:rPr>
              <a:t>将整个问题分解成若干个子问题，通过分别求解子问题，最后获得整个问题的解，其中部分子问题的解决方法和解决整个问题的方法一样，这就是</a:t>
            </a:r>
            <a:r>
              <a:rPr lang="zh-CN" altLang="en-US" sz="2800" b="1" dirty="0">
                <a:solidFill>
                  <a:srgbClr val="FF0000"/>
                </a:solidFill>
                <a:latin typeface="微软雅黑" panose="020B0503020204020204" pitchFamily="34" charset="-122"/>
                <a:ea typeface="微软雅黑" panose="020B0503020204020204" pitchFamily="34" charset="-122"/>
              </a:rPr>
              <a:t>递归关系</a:t>
            </a:r>
            <a:r>
              <a:rPr lang="zh-CN" altLang="en-US" sz="2800" b="1" dirty="0">
                <a:solidFill>
                  <a:srgbClr val="1552D1"/>
                </a:solidFill>
                <a:latin typeface="微软雅黑" panose="020B0503020204020204" pitchFamily="34" charset="-122"/>
                <a:ea typeface="微软雅黑" panose="020B0503020204020204" pitchFamily="34" charset="-122"/>
              </a:rPr>
              <a:t>。</a:t>
            </a:r>
            <a:endParaRPr lang="zh-CN" altLang="en-US" sz="2800" b="1" dirty="0">
              <a:solidFill>
                <a:srgbClr val="1552D1"/>
              </a:solidFill>
              <a:latin typeface="微软雅黑" panose="020B0503020204020204" pitchFamily="34" charset="-122"/>
              <a:ea typeface="微软雅黑" panose="020B0503020204020204" pitchFamily="34" charset="-122"/>
            </a:endParaRPr>
          </a:p>
        </p:txBody>
      </p:sp>
      <p:sp>
        <p:nvSpPr>
          <p:cNvPr id="15364" name="Text Box 5"/>
          <p:cNvSpPr txBox="1"/>
          <p:nvPr/>
        </p:nvSpPr>
        <p:spPr>
          <a:xfrm>
            <a:off x="473075" y="3429000"/>
            <a:ext cx="11023600" cy="1444625"/>
          </a:xfrm>
          <a:prstGeom prst="rect">
            <a:avLst/>
          </a:prstGeom>
          <a:noFill/>
          <a:ln w="9525">
            <a:noFill/>
          </a:ln>
        </p:spPr>
        <p:txBody>
          <a:bodyPr wrap="square" anchor="t" anchorCtr="0">
            <a:spAutoFit/>
          </a:bodyPr>
          <a:p>
            <a:r>
              <a:rPr lang="zh-CN" altLang="en-US" sz="3200" b="1" dirty="0">
                <a:solidFill>
                  <a:schemeClr val="tx2"/>
                </a:solidFill>
                <a:latin typeface="微软雅黑" panose="020B0503020204020204" pitchFamily="34" charset="-122"/>
                <a:ea typeface="微软雅黑" panose="020B0503020204020204" pitchFamily="34" charset="-122"/>
              </a:rPr>
              <a:t>递归出口：</a:t>
            </a:r>
            <a:r>
              <a:rPr lang="zh-CN" altLang="en-US" sz="2800" b="1" dirty="0">
                <a:solidFill>
                  <a:srgbClr val="1D41D5"/>
                </a:solidFill>
                <a:latin typeface="微软雅黑" panose="020B0503020204020204" pitchFamily="34" charset="-122"/>
                <a:ea typeface="微软雅黑" panose="020B0503020204020204" pitchFamily="34" charset="-122"/>
              </a:rPr>
              <a:t>整个问题分解成若干个子问题，子问题继续分解，如此反复进行，直到子问题无需再分解或不能再分解，直接得到结果时，这就是</a:t>
            </a:r>
            <a:r>
              <a:rPr lang="zh-CN" altLang="en-US" sz="2800" b="1" dirty="0">
                <a:solidFill>
                  <a:srgbClr val="FF0000"/>
                </a:solidFill>
                <a:latin typeface="微软雅黑" panose="020B0503020204020204" pitchFamily="34" charset="-122"/>
                <a:ea typeface="微软雅黑" panose="020B0503020204020204" pitchFamily="34" charset="-122"/>
              </a:rPr>
              <a:t>递归出口</a:t>
            </a:r>
            <a:r>
              <a:rPr lang="zh-CN" altLang="en-US" sz="2800" b="1" dirty="0">
                <a:solidFill>
                  <a:srgbClr val="1D41D5"/>
                </a:solidFill>
                <a:latin typeface="微软雅黑" panose="020B0503020204020204" pitchFamily="34" charset="-122"/>
                <a:ea typeface="微软雅黑" panose="020B0503020204020204" pitchFamily="34" charset="-122"/>
              </a:rPr>
              <a:t>。</a:t>
            </a:r>
            <a:endParaRPr lang="zh-CN" altLang="en-US" sz="2800" b="1" dirty="0">
              <a:solidFill>
                <a:srgbClr val="1D41D5"/>
              </a:solidFill>
              <a:latin typeface="微软雅黑" panose="020B0503020204020204" pitchFamily="34" charset="-122"/>
              <a:ea typeface="微软雅黑" panose="020B0503020204020204" pitchFamily="34" charset="-122"/>
            </a:endParaRPr>
          </a:p>
        </p:txBody>
      </p:sp>
      <p:sp>
        <p:nvSpPr>
          <p:cNvPr id="15365" name="Text Box 6"/>
          <p:cNvSpPr txBox="1"/>
          <p:nvPr/>
        </p:nvSpPr>
        <p:spPr>
          <a:xfrm>
            <a:off x="473075" y="4953000"/>
            <a:ext cx="11023600" cy="1014413"/>
          </a:xfrm>
          <a:prstGeom prst="rect">
            <a:avLst/>
          </a:prstGeom>
          <a:noFill/>
          <a:ln w="9525">
            <a:noFill/>
          </a:ln>
        </p:spPr>
        <p:txBody>
          <a:bodyPr wrap="square" anchor="t" anchorCtr="0">
            <a:spAutoFit/>
          </a:bodyPr>
          <a:p>
            <a:r>
              <a:rPr lang="zh-CN" altLang="en-US" sz="3200" b="1" dirty="0">
                <a:solidFill>
                  <a:schemeClr val="tx2"/>
                </a:solidFill>
                <a:latin typeface="微软雅黑" panose="020B0503020204020204" pitchFamily="34" charset="-122"/>
                <a:ea typeface="微软雅黑" panose="020B0503020204020204" pitchFamily="34" charset="-122"/>
              </a:rPr>
              <a:t>递归算法的设计：</a:t>
            </a:r>
            <a:r>
              <a:rPr lang="zh-CN" altLang="en-US" sz="2800" b="1" dirty="0">
                <a:solidFill>
                  <a:srgbClr val="1D41D5"/>
                </a:solidFill>
                <a:latin typeface="微软雅黑" panose="020B0503020204020204" pitchFamily="34" charset="-122"/>
                <a:ea typeface="微软雅黑" panose="020B0503020204020204" pitchFamily="34" charset="-122"/>
              </a:rPr>
              <a:t>首先判断是否满足出口条件，满足执行出口操作；否则用同样的方法解决子问题。</a:t>
            </a:r>
            <a:endParaRPr lang="zh-CN" altLang="en-US" sz="2800" b="1" dirty="0">
              <a:solidFill>
                <a:srgbClr val="1D41D5"/>
              </a:solidFill>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ext Box 2"/>
          <p:cNvSpPr txBox="1"/>
          <p:nvPr/>
        </p:nvSpPr>
        <p:spPr>
          <a:xfrm>
            <a:off x="330200" y="520700"/>
            <a:ext cx="11372850" cy="3107055"/>
          </a:xfrm>
          <a:prstGeom prst="rect">
            <a:avLst/>
          </a:prstGeom>
          <a:noFill/>
          <a:ln w="9525">
            <a:noFill/>
          </a:ln>
        </p:spPr>
        <p:txBody>
          <a:bodyPr wrap="square" anchor="t" anchorCtr="0">
            <a:spAutoFit/>
          </a:bodyPr>
          <a:p>
            <a:pPr algn="just">
              <a:lnSpc>
                <a:spcPct val="110000"/>
              </a:lnSpc>
              <a:spcBef>
                <a:spcPct val="50000"/>
              </a:spcBef>
            </a:pPr>
            <a:r>
              <a:rPr lang="en-US" altLang="zh-CN" sz="28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lang="zh-CN" altLang="en-US"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采用递归算法求实数数组</a:t>
            </a:r>
            <a:r>
              <a:rPr lang="en-US" altLang="zh-CN"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A[0..n-1]</a:t>
            </a:r>
            <a:r>
              <a:rPr lang="zh-CN" altLang="en-US"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中的最小值。</a:t>
            </a:r>
            <a:endParaRPr lang="zh-CN" altLang="en-US" sz="2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假设</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函数求数组元素</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A[0]</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中的最小值。</a:t>
            </a:r>
            <a:endPar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当</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时，有</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)=A[0]</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spcBef>
                <a:spcPct val="50000"/>
              </a:spcBef>
            </a:pP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假设</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f(A,i-1)</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已求出，则</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)=MIN(f(A,i-1),A[</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MIN()</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为求两个值较小值函数。因此得到如下递归模型：</a:t>
            </a:r>
            <a:r>
              <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86" name="Text Box 4" descr="羊皮纸"/>
          <p:cNvSpPr txBox="1"/>
          <p:nvPr/>
        </p:nvSpPr>
        <p:spPr>
          <a:xfrm>
            <a:off x="1922780" y="4003675"/>
            <a:ext cx="7942580" cy="1168400"/>
          </a:xfrm>
          <a:prstGeom prst="rect">
            <a:avLst/>
          </a:prstGeom>
          <a:noFill/>
          <a:ln w="9525">
            <a:solidFill>
              <a:schemeClr val="accent1"/>
            </a:solidFill>
          </a:ln>
        </p:spPr>
        <p:txBody>
          <a:bodyPr wrap="square" anchor="t" anchorCtr="0">
            <a:spAutoFit/>
          </a:bodyPr>
          <a:p>
            <a:pPr>
              <a:spcBef>
                <a:spcPct val="50000"/>
              </a:spcBef>
            </a:pPr>
            <a:r>
              <a:rPr lang="en-US" altLang="zh-CN" sz="2800"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f(A,i)=A[0]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i=0</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时</a:t>
            </a:r>
            <a:endPar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en-US" altLang="zh-CN" sz="2800"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f(A,i)= MIN(f(A,i-1),A[i])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a:spLocks noChangeArrowheads="1"/>
          </p:cNvSpPr>
          <p:nvPr/>
        </p:nvSpPr>
        <p:spPr bwMode="auto">
          <a:xfrm>
            <a:off x="1838325" y="142875"/>
            <a:ext cx="8229600" cy="6741795"/>
          </a:xfrm>
          <a:prstGeom prst="rect">
            <a:avLst/>
          </a:prstGeom>
          <a:noFill/>
          <a:ln w="9525">
            <a:noFill/>
            <a:miter lim="800000"/>
          </a:ln>
        </p:spPr>
        <p:txBody>
          <a:bodyPr>
            <a:spAutoFit/>
          </a:bodyPr>
          <a:lstStyle/>
          <a:p>
            <a:pPr marR="0" algn="just" defTabSz="914400">
              <a:lnSpc>
                <a:spcPct val="120000"/>
              </a:lnSpc>
              <a:spcBef>
                <a:spcPct val="50000"/>
              </a:spcBef>
              <a:buClrTx/>
              <a:buSzTx/>
              <a:defRPr/>
            </a:pPr>
            <a:r>
              <a:rPr kumimoji="1" lang="en-US" altLang="zh-CN" sz="2800" b="1" kern="1200" cap="none" spc="0" normalizeH="0" baseline="0" noProof="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2800" b="1" kern="120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3600" b="1" u="sng" kern="1200" cap="none" spc="0" normalizeH="0" baseline="0" noProof="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由此得到如下递归求解算法</a:t>
            </a:r>
            <a:r>
              <a:rPr kumimoji="1" lang="zh-CN" altLang="en-US" sz="2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zh-CN" altLang="en-US" sz="28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zh-CN" altLang="en-US" sz="2800" b="1" kern="1200" cap="none" spc="0" normalizeH="0" baseline="0" noProof="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800" b="1" kern="1200" cap="none" spc="0" normalizeH="0" baseline="0" noProof="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float f(float A[],</a:t>
            </a:r>
            <a:r>
              <a:rPr kumimoji="1" lang="en-US" altLang="zh-CN" sz="3200" b="1" kern="1200" cap="none" spc="0" normalizeH="0" baseline="0" noProof="0"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int</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3200" b="1" kern="1200" cap="none" spc="0" normalizeH="0" baseline="0" noProof="0"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  float m;</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if (</a:t>
            </a:r>
            <a:r>
              <a:rPr kumimoji="1" lang="en-US" altLang="zh-CN" sz="3200" b="1" kern="1200" cap="none" spc="0" normalizeH="0" baseline="0" noProof="0"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==0)    </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return A[0];</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else</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   m=f(A,i-1);</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if (m&gt;A[</a:t>
            </a:r>
            <a:r>
              <a:rPr kumimoji="1" lang="en-US" altLang="zh-CN" sz="3200" b="1" kern="1200" cap="none" spc="0" normalizeH="0" baseline="0" noProof="0"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return A[</a:t>
            </a:r>
            <a:r>
              <a:rPr kumimoji="1" lang="en-US" altLang="zh-CN" sz="3200" b="1" kern="1200" cap="none" spc="0" normalizeH="0" baseline="0" noProof="0"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else  </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return m;</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algn="just"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defTabSz="914400">
              <a:spcBef>
                <a:spcPts val="50"/>
              </a:spcBef>
              <a:spcAft>
                <a:spcPts val="0"/>
              </a:spcAft>
              <a:buClrTx/>
              <a:buSzTx/>
              <a:defRPr/>
            </a:pPr>
            <a:r>
              <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endParaRPr kumimoji="1" lang="en-US" altLang="zh-CN" sz="3200" b="1" kern="1200" cap="none" spc="0" normalizeH="0" baseline="0" noProof="0"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474524" y="118150"/>
            <a:ext cx="10153079" cy="521970"/>
          </a:xfrm>
          <a:prstGeom prst="rect">
            <a:avLst/>
          </a:prstGeom>
          <a:noFill/>
          <a:ln w="9525">
            <a:noFill/>
            <a:miter lim="800000"/>
          </a:ln>
          <a:effectLst/>
        </p:spPr>
        <p:txBody>
          <a:bodyPr wrap="square">
            <a:spAutoFit/>
          </a:bodyPr>
          <a:lstStyle/>
          <a:p>
            <a:pPr algn="l">
              <a:spcBef>
                <a:spcPct val="50000"/>
              </a:spcBef>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例</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5.5】</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求含</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&gt;1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）个元素的顺序表</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L</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中的最大元素。</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3" name="组合 8"/>
          <p:cNvGrpSpPr/>
          <p:nvPr/>
        </p:nvGrpSpPr>
        <p:grpSpPr>
          <a:xfrm>
            <a:off x="911424" y="881780"/>
            <a:ext cx="8858312" cy="906780"/>
            <a:chOff x="-612576" y="857232"/>
            <a:chExt cx="8858312" cy="906780"/>
          </a:xfrm>
        </p:grpSpPr>
        <p:sp>
          <p:nvSpPr>
            <p:cNvPr id="4" name="TextBox 3"/>
            <p:cNvSpPr txBox="1"/>
            <p:nvPr/>
          </p:nvSpPr>
          <p:spPr>
            <a:xfrm>
              <a:off x="530432" y="857232"/>
              <a:ext cx="7715304" cy="906780"/>
            </a:xfrm>
            <a:prstGeom prst="rect">
              <a:avLst/>
            </a:prstGeom>
            <a:noFill/>
          </p:spPr>
          <p:txBody>
            <a:bodyPr wrap="square" rtlCol="0">
              <a:spAutoFit/>
            </a:bodyPr>
            <a:lstStyle/>
            <a:p>
              <a:pPr marL="457200" indent="-457200" algn="l">
                <a:spcBef>
                  <a:spcPts val="600"/>
                </a:spcBef>
                <a:buBlip>
                  <a:blip r:embed="rId1"/>
                </a:buBlip>
              </a:pPr>
              <a:r>
                <a:rPr lang="zh-CN"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顺序表</a:t>
              </a:r>
              <a:r>
                <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L</a:t>
              </a:r>
              <a:r>
                <a:rPr lang="zh-CN"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采用数组</a:t>
              </a:r>
              <a:r>
                <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data[0..</a:t>
              </a:r>
              <a:r>
                <a:rPr lang="en-US" altLang="zh-CN" sz="24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存放全部元素</a:t>
              </a:r>
              <a:r>
                <a:rPr lang="zh-CN" altLang="en-US"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spcBef>
                  <a:spcPts val="600"/>
                </a:spcBef>
                <a:buBlip>
                  <a:blip r:embed="rId1"/>
                </a:buBlip>
              </a:pPr>
              <a:r>
                <a:rPr lang="zh-CN"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采用与例</a:t>
              </a:r>
              <a:r>
                <a:rPr lang="en-US"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5.4</a:t>
              </a:r>
              <a:r>
                <a:rPr lang="zh-CN" altLang="zh-CN"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类似的思路</a:t>
              </a:r>
              <a:r>
                <a:rPr lang="zh-CN" altLang="en-US"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24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6"/>
            <p:cNvSpPr txBox="1"/>
            <p:nvPr/>
          </p:nvSpPr>
          <p:spPr>
            <a:xfrm>
              <a:off x="-612576" y="1000108"/>
              <a:ext cx="1071570" cy="450850"/>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gn="ctr"/>
              <a:r>
                <a:rPr lang="zh-CN" altLang="zh-CN" sz="2000" b="1" dirty="0">
                  <a:latin typeface="微软雅黑" panose="020B0503020204020204" pitchFamily="34" charset="-122"/>
                  <a:ea typeface="微软雅黑" panose="020B0503020204020204" pitchFamily="34" charset="-122"/>
                  <a:cs typeface="Consolas" panose="020B0609020204030204" pitchFamily="49" charset="0"/>
                </a:rPr>
                <a:t>解法</a:t>
              </a:r>
              <a:r>
                <a:rPr lang="en-US" altLang="zh-CN" sz="2000" b="1" dirty="0">
                  <a:latin typeface="微软雅黑" panose="020B0503020204020204" pitchFamily="34" charset="-122"/>
                  <a:ea typeface="微软雅黑" panose="020B0503020204020204" pitchFamily="34" charset="-122"/>
                  <a:cs typeface="Consolas" panose="020B0609020204030204" pitchFamily="49" charset="0"/>
                </a:rPr>
                <a:t>1</a:t>
              </a:r>
              <a:endParaRPr lang="zh-CN" altLang="en-US" sz="2000" b="1" dirty="0">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6" name="Text Box 2"/>
          <p:cNvSpPr txBox="1">
            <a:spLocks noChangeArrowheads="1"/>
          </p:cNvSpPr>
          <p:nvPr/>
        </p:nvSpPr>
        <p:spPr bwMode="auto">
          <a:xfrm>
            <a:off x="1775460" y="1923415"/>
            <a:ext cx="10113645" cy="471868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216000" tIns="144000" rIns="216000" bIns="144000">
            <a:spAutoFit/>
          </a:bodyPr>
          <a:lstStyle/>
          <a:p>
            <a:pPr algn="l"/>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Max1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SqList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L,int</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zh-CN"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解法</a:t>
            </a:r>
            <a:r>
              <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：求顺序表</a:t>
            </a:r>
            <a:r>
              <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L</a:t>
            </a:r>
            <a:r>
              <a:rPr lang="zh-CN"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中最大元素</a:t>
            </a:r>
            <a:endParaRPr lang="zh-CN"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L.data</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[0];</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max=</a:t>
            </a:r>
            <a:r>
              <a:rPr lang="en-US" altLang="zh-CN" b="1" dirty="0">
                <a:solidFill>
                  <a:srgbClr val="C00000"/>
                </a:solidFill>
                <a:latin typeface="微软雅黑" panose="020B0503020204020204" pitchFamily="34" charset="-122"/>
                <a:ea typeface="微软雅黑" panose="020B0503020204020204" pitchFamily="34" charset="-122"/>
                <a:cs typeface="Consolas" panose="020B0609020204030204" pitchFamily="49" charset="0"/>
              </a:rPr>
              <a:t>Max1</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(L,i-1);</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(max&lt;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L.data</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L.data</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else</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 max;</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endParaRPr lang="zh-CN"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479425" y="838200"/>
            <a:ext cx="11454130" cy="1805940"/>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1"/>
              </a:buBlip>
            </a:pP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假设顺序表</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L</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中</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data</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数组的元素为（</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0</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i="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800"/>
              </a:lnSpc>
              <a:spcBef>
                <a:spcPts val="600"/>
              </a:spcBef>
              <a:buBlip>
                <a:blip r:embed="rId1"/>
              </a:buBlip>
            </a:pP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将其分解成（</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0</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i="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）和（</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i="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i="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a:t>
            </a:r>
            <a:r>
              <a:rPr lang="en-US" altLang="zh-CN" sz="2800" b="1" i="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n</a:t>
            </a:r>
            <a:r>
              <a:rPr lang="en-US" altLang="zh-CN" sz="2800" b="1" baseline="-25000"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）左右两个子表</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marL="457200" indent="-457200" algn="l">
              <a:lnSpc>
                <a:spcPts val="2800"/>
              </a:lnSpc>
              <a:spcBef>
                <a:spcPts val="600"/>
              </a:spcBef>
              <a:buBlip>
                <a:blip r:embed="rId1"/>
              </a:buBlip>
            </a:pP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分别求得它们的最大元素为</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max1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和</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max2</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，则整个顺序表</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L</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的最大元素就是</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max1</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和</a:t>
            </a:r>
            <a:r>
              <a:rPr lang="en-US"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max2</a:t>
            </a:r>
            <a:r>
              <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中较大者。</a:t>
            </a:r>
            <a:endParaRPr lang="zh-CN" altLang="zh-CN"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 name="TextBox 4"/>
          <p:cNvSpPr txBox="1"/>
          <p:nvPr/>
        </p:nvSpPr>
        <p:spPr>
          <a:xfrm>
            <a:off x="2927961" y="3574909"/>
            <a:ext cx="6929486" cy="2887345"/>
          </a:xfrm>
          <a:prstGeom prst="rect">
            <a:avLst/>
          </a:prstGeom>
          <a:solidFill>
            <a:schemeClr val="bg1"/>
          </a:solidFill>
          <a:ln>
            <a:solidFill>
              <a:srgbClr val="FC9A48"/>
            </a:solidFill>
          </a:ln>
        </p:spPr>
        <p:style>
          <a:lnRef idx="3">
            <a:schemeClr val="lt1"/>
          </a:lnRef>
          <a:fillRef idx="1">
            <a:schemeClr val="accent6"/>
          </a:fillRef>
          <a:effectRef idx="1">
            <a:schemeClr val="accent6"/>
          </a:effectRef>
          <a:fontRef idx="minor">
            <a:schemeClr val="lt1"/>
          </a:fontRef>
        </p:style>
        <p:txBody>
          <a:bodyPr wrap="square" lIns="216000" tIns="144000" bIns="144000" rtlCol="0">
            <a:spAutoFit/>
          </a:bodyPr>
          <a:lstStyle/>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a,i,j</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a[</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当</a:t>
            </a:r>
            <a:r>
              <a:rPr lang="en-US" altLang="zh-CN" b="1" dirty="0" err="1">
                <a:solidFill>
                  <a:srgbClr val="1D41D5"/>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=j</a:t>
            </a:r>
            <a:endPar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a,i,j</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 max</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mid=(</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i+j</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其他情况</a:t>
            </a:r>
            <a:endParaRPr lang="en-US" altLang="zh-CN"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max1=</a:t>
            </a:r>
            <a:r>
              <a:rPr lang="en-US"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a,i,mid</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max2=</a:t>
            </a:r>
            <a:r>
              <a:rPr lang="en-US" altLang="zh-CN"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f</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a,mid+i,j</a:t>
            </a: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pPr>
            <a:r>
              <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max=MAX(max1,max2)</a:t>
            </a:r>
            <a:endParaRPr lang="en-US" altLang="zh-CN"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6"/>
          <p:cNvSpPr txBox="1"/>
          <p:nvPr/>
        </p:nvSpPr>
        <p:spPr>
          <a:xfrm>
            <a:off x="496023" y="191843"/>
            <a:ext cx="1934039" cy="574040"/>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gn="ctr"/>
            <a:r>
              <a:rPr lang="zh-CN" altLang="zh-CN" sz="2800" b="1" dirty="0">
                <a:latin typeface="微软雅黑" panose="020B0503020204020204" pitchFamily="34" charset="-122"/>
                <a:ea typeface="微软雅黑" panose="020B0503020204020204" pitchFamily="34" charset="-122"/>
                <a:cs typeface="Consolas" panose="020B0609020204030204" pitchFamily="49" charset="0"/>
              </a:rPr>
              <a:t>解法</a:t>
            </a:r>
            <a:r>
              <a:rPr lang="en-US" altLang="zh-CN" sz="2800" b="1" dirty="0">
                <a:latin typeface="微软雅黑" panose="020B0503020204020204" pitchFamily="34" charset="-122"/>
                <a:ea typeface="微软雅黑" panose="020B0503020204020204" pitchFamily="34" charset="-122"/>
                <a:cs typeface="Consolas" panose="020B0609020204030204" pitchFamily="49" charset="0"/>
              </a:rPr>
              <a:t>2</a:t>
            </a:r>
            <a:endParaRPr lang="zh-CN" altLang="en-US" sz="2800" b="1" dirty="0">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下箭头 5"/>
          <p:cNvSpPr/>
          <p:nvPr/>
        </p:nvSpPr>
        <p:spPr>
          <a:xfrm>
            <a:off x="5453058" y="2864268"/>
            <a:ext cx="214314"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1"/>
          </a:p>
        </p:txBody>
      </p:sp>
      <p:sp>
        <p:nvSpPr>
          <p:cNvPr id="6" name="TextBox 8"/>
          <p:cNvSpPr txBox="1"/>
          <p:nvPr/>
        </p:nvSpPr>
        <p:spPr>
          <a:xfrm>
            <a:off x="5810248" y="2863951"/>
            <a:ext cx="1285884" cy="368300"/>
          </a:xfrm>
          <a:prstGeom prst="rect">
            <a:avLst/>
          </a:prstGeom>
          <a:noFill/>
        </p:spPr>
        <p:txBody>
          <a:bodyPr wrap="square" rtlCol="0">
            <a:spAutoFit/>
          </a:bodyPr>
          <a:lstStyle/>
          <a:p>
            <a:r>
              <a:rPr lang="zh-CN" altLang="en-US" sz="1800" b="1" dirty="0">
                <a:solidFill>
                  <a:schemeClr val="tx1"/>
                </a:solidFill>
                <a:latin typeface="微软雅黑" panose="020B0503020204020204" pitchFamily="34" charset="-122"/>
                <a:ea typeface="微软雅黑" panose="020B0503020204020204" pitchFamily="34" charset="-122"/>
              </a:rPr>
              <a:t>递归模型</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625" y="116205"/>
            <a:ext cx="12233275" cy="6196330"/>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2">
            <a:schemeClr val="accent5"/>
          </a:lnRef>
          <a:fillRef idx="1">
            <a:schemeClr val="lt1"/>
          </a:fillRef>
          <a:effectRef idx="0">
            <a:schemeClr val="accent5"/>
          </a:effectRef>
          <a:fontRef idx="minor">
            <a:schemeClr val="dk1"/>
          </a:fontRef>
        </p:style>
        <p:txBody>
          <a:bodyPr wrap="square" lIns="180000" tIns="144000" bIns="144000" rtlCol="0">
            <a:spAutoFit/>
          </a:bodyPr>
          <a:lstStyle/>
          <a:p>
            <a:pPr algn="l"/>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Max2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SqList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L,int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i,int</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j)</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//解法2：求顺序表L中最大元素</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int mid;</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ElemType</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max,max1,max2;</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if (</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==j)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//顺序表中只有一个元素，即递归出口</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buClrTx/>
              <a:buSzTx/>
              <a:buFontTx/>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max=</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L.data</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//该元素就是最大元素</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buClrTx/>
              <a:buSzTx/>
              <a:buFontTx/>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else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//顺序表中有多个元素</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buClrTx/>
              <a:buSzTx/>
              <a:buFontTx/>
            </a:pP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mid=(</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i+j</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)/2;</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//求中间位置</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max1=</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Max2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err="1">
                <a:solidFill>
                  <a:schemeClr val="tx1"/>
                </a:solidFill>
                <a:latin typeface="微软雅黑" panose="020B0503020204020204" pitchFamily="34" charset="-122"/>
                <a:ea typeface="微软雅黑" panose="020B0503020204020204" pitchFamily="34" charset="-122"/>
                <a:cs typeface="Consolas" panose="020B0609020204030204" pitchFamily="49" charset="0"/>
              </a:rPr>
              <a:t>L,i,mid</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//递归调用求左子表最大元素max1</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max2=</a:t>
            </a:r>
            <a:r>
              <a:rPr lang="en-US" altLang="zh-CN" sz="28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Max2</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(L,mid+1,j); </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//递归调用求右子表最大元素max2</a:t>
            </a:r>
            <a:endParaRPr lang="zh-CN" altLang="zh-CN" sz="2800" b="1" dirty="0">
              <a:solidFill>
                <a:srgbClr val="FC9A48"/>
              </a:solidFill>
              <a:latin typeface="微软雅黑" panose="020B0503020204020204" pitchFamily="34" charset="-122"/>
              <a:ea typeface="微软雅黑" panose="020B0503020204020204" pitchFamily="34" charset="-122"/>
              <a:cs typeface="Consolas" panose="020B0609020204030204" pitchFamily="49" charset="0"/>
            </a:endParaRPr>
          </a:p>
          <a:p>
            <a:pPr algn="l">
              <a:spcBef>
                <a:spcPts val="600"/>
              </a:spcBef>
              <a:buClrTx/>
              <a:buSzTx/>
              <a:buFontTx/>
            </a:pP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max=(max1&gt;max2)?max1:max2;</a:t>
            </a:r>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rPr>
              <a:t>//求整个表的最大元素max</a:t>
            </a:r>
            <a:endParaRPr lang="zh-CN" altLang="en-US" sz="2800" b="1" dirty="0">
              <a:solidFill>
                <a:srgbClr val="1D41D5"/>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   </a:t>
            </a:r>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   return(max);</a:t>
            </a:r>
            <a:endParaRPr lang="zh-CN"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a:p>
            <a:pPr algn="l"/>
            <a:r>
              <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rPr>
              <a:t>}</a:t>
            </a:r>
            <a:endParaRPr lang="en-US" altLang="zh-CN" sz="2800" b="1" dirty="0">
              <a:solidFill>
                <a:schemeClr val="tx1"/>
              </a:solidFill>
              <a:latin typeface="微软雅黑" panose="020B0503020204020204" pitchFamily="34" charset="-122"/>
              <a:ea typeface="微软雅黑" panose="020B0503020204020204" pitchFamily="34" charset="-122"/>
              <a:cs typeface="Consolas" panose="020B0609020204030204" pitchFamily="49" charset="0"/>
            </a:endParaRPr>
          </a:p>
        </p:txBody>
      </p:sp>
    </p:spTree>
  </p:cSld>
  <p:clrMapOvr>
    <a:masterClrMapping/>
  </p:clrMapOvr>
  <p:transition>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ext Box 2"/>
          <p:cNvSpPr txBox="1"/>
          <p:nvPr/>
        </p:nvSpPr>
        <p:spPr>
          <a:xfrm>
            <a:off x="1919288" y="333375"/>
            <a:ext cx="8280400" cy="521970"/>
          </a:xfrm>
          <a:prstGeom prst="rect">
            <a:avLst/>
          </a:prstGeom>
          <a:noFill/>
          <a:ln w="9525">
            <a:noFill/>
          </a:ln>
        </p:spPr>
        <p:txBody>
          <a:bodyPr anchor="t" anchorCtr="0">
            <a:spAutoFit/>
          </a:bodyPr>
          <a:p>
            <a:pPr>
              <a:spcBef>
                <a:spcPct val="50000"/>
              </a:spcBef>
            </a:pPr>
            <a:r>
              <a:rPr lang="en-US" altLang="zh-CN" sz="2800" b="1">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lang="zh-CN" altLang="en-US" sz="2800" b="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例如，设计不带头结点的单链表的相关递归算法</a:t>
            </a:r>
            <a:endParaRPr lang="zh-CN" altLang="en-US" sz="2800" b="1">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563" name="Rectangle 3"/>
          <p:cNvSpPr>
            <a:spLocks noChangeArrowheads="1"/>
          </p:cNvSpPr>
          <p:nvPr/>
        </p:nvSpPr>
        <p:spPr bwMode="auto">
          <a:xfrm>
            <a:off x="3575050"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a</a:t>
            </a:r>
            <a:r>
              <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1</a:t>
            </a:r>
            <a:endPar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6564" name="Rectangle 4"/>
          <p:cNvSpPr>
            <a:spLocks noChangeArrowheads="1"/>
          </p:cNvSpPr>
          <p:nvPr/>
        </p:nvSpPr>
        <p:spPr bwMode="auto">
          <a:xfrm>
            <a:off x="4079875"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6565" name="Rectangle 5"/>
          <p:cNvSpPr>
            <a:spLocks noChangeArrowheads="1"/>
          </p:cNvSpPr>
          <p:nvPr/>
        </p:nvSpPr>
        <p:spPr bwMode="auto">
          <a:xfrm>
            <a:off x="5014913"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a</a:t>
            </a:r>
            <a:r>
              <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2</a:t>
            </a:r>
            <a:endPar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6566" name="Rectangle 6"/>
          <p:cNvSpPr>
            <a:spLocks noChangeArrowheads="1"/>
          </p:cNvSpPr>
          <p:nvPr/>
        </p:nvSpPr>
        <p:spPr bwMode="auto">
          <a:xfrm>
            <a:off x="5519738"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6567" name="Rectangle 7"/>
          <p:cNvSpPr>
            <a:spLocks noChangeArrowheads="1"/>
          </p:cNvSpPr>
          <p:nvPr/>
        </p:nvSpPr>
        <p:spPr bwMode="auto">
          <a:xfrm>
            <a:off x="7677150"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a</a:t>
            </a:r>
            <a:r>
              <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n</a:t>
            </a:r>
            <a:endParaRPr kumimoji="1" lang="en-US" altLang="zh-CN" sz="2800" b="1" i="0" u="none" strike="noStrike" kern="1200" cap="none" spc="0" normalizeH="0" baseline="-2500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6568" name="Rectangle 8"/>
          <p:cNvSpPr>
            <a:spLocks noChangeArrowheads="1"/>
          </p:cNvSpPr>
          <p:nvPr/>
        </p:nvSpPr>
        <p:spPr bwMode="auto">
          <a:xfrm>
            <a:off x="8181975" y="1989138"/>
            <a:ext cx="504825" cy="360363"/>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6569" name="Line 9"/>
          <p:cNvSpPr>
            <a:spLocks noChangeShapeType="1"/>
          </p:cNvSpPr>
          <p:nvPr/>
        </p:nvSpPr>
        <p:spPr bwMode="auto">
          <a:xfrm>
            <a:off x="4367213" y="2171700"/>
            <a:ext cx="647700" cy="0"/>
          </a:xfrm>
          <a:prstGeom prst="line">
            <a:avLst/>
          </a:prstGeom>
          <a:noFill/>
          <a:ln w="9525">
            <a:solidFill>
              <a:schemeClr val="tx1"/>
            </a:solidFill>
            <a:miter lim="800000"/>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ea"/>
              <a:ea typeface="+mn-ea"/>
              <a:cs typeface="+mn-cs"/>
            </a:endParaRPr>
          </a:p>
        </p:txBody>
      </p:sp>
      <p:sp>
        <p:nvSpPr>
          <p:cNvPr id="66570" name="Line 10"/>
          <p:cNvSpPr>
            <a:spLocks noChangeShapeType="1"/>
          </p:cNvSpPr>
          <p:nvPr/>
        </p:nvSpPr>
        <p:spPr bwMode="auto">
          <a:xfrm>
            <a:off x="5808663" y="2179638"/>
            <a:ext cx="647700" cy="0"/>
          </a:xfrm>
          <a:prstGeom prst="line">
            <a:avLst/>
          </a:prstGeom>
          <a:noFill/>
          <a:ln w="9525">
            <a:solidFill>
              <a:schemeClr val="tx1"/>
            </a:solidFill>
            <a:miter lim="800000"/>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ea"/>
              <a:ea typeface="+mn-ea"/>
              <a:cs typeface="+mn-cs"/>
            </a:endParaRPr>
          </a:p>
        </p:txBody>
      </p:sp>
      <p:sp>
        <p:nvSpPr>
          <p:cNvPr id="66571" name="Line 11"/>
          <p:cNvSpPr>
            <a:spLocks noChangeShapeType="1"/>
          </p:cNvSpPr>
          <p:nvPr/>
        </p:nvSpPr>
        <p:spPr bwMode="auto">
          <a:xfrm>
            <a:off x="7031038" y="2179638"/>
            <a:ext cx="647700" cy="0"/>
          </a:xfrm>
          <a:prstGeom prst="line">
            <a:avLst/>
          </a:prstGeom>
          <a:noFill/>
          <a:ln w="9525">
            <a:solidFill>
              <a:schemeClr val="tx1"/>
            </a:solidFill>
            <a:miter lim="800000"/>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ea"/>
              <a:ea typeface="+mn-ea"/>
              <a:cs typeface="+mn-cs"/>
            </a:endParaRPr>
          </a:p>
        </p:txBody>
      </p:sp>
      <p:sp>
        <p:nvSpPr>
          <p:cNvPr id="18443" name="Text Box 12"/>
          <p:cNvSpPr txBox="1"/>
          <p:nvPr/>
        </p:nvSpPr>
        <p:spPr>
          <a:xfrm>
            <a:off x="6527800" y="1846263"/>
            <a:ext cx="720725" cy="522287"/>
          </a:xfrm>
          <a:prstGeom prst="rect">
            <a:avLst/>
          </a:prstGeom>
          <a:noFill/>
          <a:ln w="9525">
            <a:noFill/>
          </a:ln>
        </p:spPr>
        <p:txBody>
          <a:bodyPr anchor="t" anchorCtr="0">
            <a:spAutoFit/>
          </a:bodyPr>
          <a:p>
            <a:pPr>
              <a:spcBef>
                <a:spcPct val="50000"/>
              </a:spcBef>
            </a:pPr>
            <a:r>
              <a:rPr lang="en-US" altLang="zh-CN" sz="2800" b="1">
                <a:latin typeface="微软雅黑" panose="020B0503020204020204" pitchFamily="34" charset="-122"/>
                <a:ea typeface="微软雅黑" panose="020B0503020204020204" pitchFamily="34" charset="-122"/>
              </a:rPr>
              <a:t>...</a:t>
            </a:r>
            <a:endParaRPr lang="en-US" altLang="zh-CN" sz="2800" b="1">
              <a:latin typeface="微软雅黑" panose="020B0503020204020204" pitchFamily="34" charset="-122"/>
              <a:ea typeface="微软雅黑" panose="020B0503020204020204" pitchFamily="34" charset="-122"/>
            </a:endParaRPr>
          </a:p>
        </p:txBody>
      </p:sp>
      <p:sp>
        <p:nvSpPr>
          <p:cNvPr id="66573" name="Line 13"/>
          <p:cNvSpPr>
            <a:spLocks noChangeShapeType="1"/>
          </p:cNvSpPr>
          <p:nvPr/>
        </p:nvSpPr>
        <p:spPr bwMode="auto">
          <a:xfrm>
            <a:off x="3216275" y="2205038"/>
            <a:ext cx="358775" cy="0"/>
          </a:xfrm>
          <a:prstGeom prst="line">
            <a:avLst/>
          </a:prstGeom>
          <a:noFill/>
          <a:ln w="9525">
            <a:solidFill>
              <a:schemeClr val="tx1"/>
            </a:solidFill>
            <a:miter lim="800000"/>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ea"/>
              <a:ea typeface="+mn-ea"/>
              <a:cs typeface="+mn-cs"/>
            </a:endParaRPr>
          </a:p>
        </p:txBody>
      </p:sp>
      <p:sp>
        <p:nvSpPr>
          <p:cNvPr id="18445" name="Text Box 14"/>
          <p:cNvSpPr txBox="1"/>
          <p:nvPr/>
        </p:nvSpPr>
        <p:spPr>
          <a:xfrm>
            <a:off x="2854325" y="1844675"/>
            <a:ext cx="504825" cy="522288"/>
          </a:xfrm>
          <a:prstGeom prst="rect">
            <a:avLst/>
          </a:prstGeom>
          <a:noFill/>
          <a:ln w="9525">
            <a:noFill/>
          </a:ln>
        </p:spPr>
        <p:txBody>
          <a:bodyPr anchor="t" anchorCtr="0">
            <a:spAutoFit/>
          </a:bodyPr>
          <a:p>
            <a:pPr>
              <a:spcBef>
                <a:spcPct val="50000"/>
              </a:spcBef>
            </a:pPr>
            <a:r>
              <a:rPr lang="en-US" altLang="zh-CN" sz="2800" b="1" dirty="0">
                <a:latin typeface="微软雅黑" panose="020B0503020204020204" pitchFamily="34" charset="-122"/>
                <a:ea typeface="微软雅黑" panose="020B0503020204020204" pitchFamily="34" charset="-122"/>
              </a:rPr>
              <a:t>L</a:t>
            </a:r>
            <a:endParaRPr lang="en-US" altLang="zh-CN" sz="2800" b="1" dirty="0">
              <a:latin typeface="微软雅黑" panose="020B0503020204020204" pitchFamily="34" charset="-122"/>
              <a:ea typeface="微软雅黑" panose="020B0503020204020204" pitchFamily="34" charset="-122"/>
            </a:endParaRPr>
          </a:p>
        </p:txBody>
      </p:sp>
      <p:sp>
        <p:nvSpPr>
          <p:cNvPr id="66575" name="AutoShape 15"/>
          <p:cNvSpPr/>
          <p:nvPr/>
        </p:nvSpPr>
        <p:spPr bwMode="auto">
          <a:xfrm rot="5400000">
            <a:off x="6023769" y="-172244"/>
            <a:ext cx="73025" cy="4103688"/>
          </a:xfrm>
          <a:prstGeom prst="leftBrace">
            <a:avLst>
              <a:gd name="adj1" fmla="val 468297"/>
              <a:gd name="adj2" fmla="val 50000"/>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8447" name="Text Box 16"/>
          <p:cNvSpPr txBox="1"/>
          <p:nvPr/>
        </p:nvSpPr>
        <p:spPr>
          <a:xfrm>
            <a:off x="5087938" y="1196975"/>
            <a:ext cx="3254375" cy="522288"/>
          </a:xfrm>
          <a:prstGeom prst="rect">
            <a:avLst/>
          </a:prstGeom>
          <a:noFill/>
          <a:ln w="9525">
            <a:noFill/>
          </a:ln>
        </p:spPr>
        <p:txBody>
          <a:bodyPr wrap="square" anchor="t" anchorCtr="0">
            <a:spAutoFit/>
          </a:bodyPr>
          <a:p>
            <a:pPr>
              <a:spcBef>
                <a:spcPct val="50000"/>
              </a:spcBef>
            </a:pPr>
            <a:r>
              <a:rPr lang="en-US" altLang="zh-CN" sz="2800" b="1">
                <a:latin typeface="微软雅黑" panose="020B0503020204020204" pitchFamily="34" charset="-122"/>
                <a:ea typeface="微软雅黑" panose="020B0503020204020204" pitchFamily="34" charset="-122"/>
                <a:cs typeface="微软雅黑" panose="020B0503020204020204" pitchFamily="34" charset="-122"/>
              </a:rPr>
              <a:t>f(L)</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：大问题</a:t>
            </a:r>
            <a:endParaRPr lang="zh-CN" altLang="en-US" sz="28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448" name="Text Box 17"/>
          <p:cNvSpPr txBox="1"/>
          <p:nvPr/>
        </p:nvSpPr>
        <p:spPr>
          <a:xfrm>
            <a:off x="4738688" y="2852738"/>
            <a:ext cx="3444875" cy="522287"/>
          </a:xfrm>
          <a:prstGeom prst="rect">
            <a:avLst/>
          </a:prstGeom>
          <a:noFill/>
          <a:ln w="9525">
            <a:noFill/>
          </a:ln>
        </p:spPr>
        <p:txBody>
          <a:bodyPr anchor="t" anchorCtr="0">
            <a:spAutoFit/>
          </a:bodyPr>
          <a:p>
            <a:pPr>
              <a:spcBef>
                <a:spcPct val="50000"/>
              </a:spcBef>
            </a:pP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f(L-&gt;next)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：小问题</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578" name="AutoShape 18"/>
          <p:cNvSpPr/>
          <p:nvPr/>
        </p:nvSpPr>
        <p:spPr bwMode="auto">
          <a:xfrm rot="16200000">
            <a:off x="6600031" y="1197769"/>
            <a:ext cx="73025" cy="2808288"/>
          </a:xfrm>
          <a:prstGeom prst="leftBrace">
            <a:avLst>
              <a:gd name="adj1" fmla="val 320471"/>
              <a:gd name="adj2" fmla="val 50000"/>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8450" name="Text Box 19"/>
          <p:cNvSpPr txBox="1"/>
          <p:nvPr/>
        </p:nvSpPr>
        <p:spPr>
          <a:xfrm>
            <a:off x="2135505" y="3860483"/>
            <a:ext cx="7991475" cy="522287"/>
          </a:xfrm>
          <a:prstGeom prst="rect">
            <a:avLst/>
          </a:prstGeom>
          <a:noFill/>
          <a:ln w="9525">
            <a:noFill/>
          </a:ln>
        </p:spPr>
        <p:txBody>
          <a:bodyPr wrap="square" anchor="t" anchorCtr="0">
            <a:spAutoFit/>
          </a:bodyPr>
          <a:p>
            <a:pPr>
              <a:spcBef>
                <a:spcPct val="50000"/>
              </a:spcBef>
            </a:pPr>
            <a:r>
              <a:rPr lang="zh-CN" altLang="en-US" sz="2800" b="1">
                <a:latin typeface="微软雅黑" panose="020B0503020204020204" pitchFamily="34" charset="-122"/>
                <a:ea typeface="微软雅黑" panose="020B0503020204020204" pitchFamily="34" charset="-122"/>
              </a:rPr>
              <a:t>为什么在设计单链表的递归算法时不带头节点？</a:t>
            </a:r>
            <a:endParaRPr lang="zh-CN" altLang="en-US" sz="2800" b="1">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ext Box 2"/>
          <p:cNvSpPr txBox="1"/>
          <p:nvPr/>
        </p:nvSpPr>
        <p:spPr>
          <a:xfrm>
            <a:off x="1871663" y="204788"/>
            <a:ext cx="7675562" cy="521970"/>
          </a:xfrm>
          <a:prstGeom prst="rect">
            <a:avLst/>
          </a:prstGeom>
          <a:noFill/>
          <a:ln w="9525">
            <a:noFill/>
          </a:ln>
        </p:spPr>
        <p:txBody>
          <a:bodyPr anchor="t" anchorCtr="0">
            <a:spAutoFit/>
          </a:bodyPr>
          <a:p>
            <a:pPr>
              <a:spcBef>
                <a:spcPct val="50000"/>
              </a:spcBef>
              <a:buSzTx/>
            </a:pP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1</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）求单链表中数据结点个数</a:t>
            </a:r>
            <a:endPar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19458" name="Text Box 3"/>
          <p:cNvSpPr txBox="1"/>
          <p:nvPr/>
        </p:nvSpPr>
        <p:spPr>
          <a:xfrm>
            <a:off x="2279650" y="908050"/>
            <a:ext cx="7488238"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递归模型如下：</a:t>
            </a:r>
            <a:endParaRPr lang="zh-CN" altLang="en-US" b="1" dirty="0">
              <a:latin typeface="微软雅黑" panose="020B0503020204020204" pitchFamily="34" charset="-122"/>
              <a:ea typeface="微软雅黑" panose="020B0503020204020204" pitchFamily="34" charset="-122"/>
            </a:endParaRPr>
          </a:p>
        </p:txBody>
      </p:sp>
      <p:sp>
        <p:nvSpPr>
          <p:cNvPr id="19459" name="Text Box 4" descr="羊皮纸"/>
          <p:cNvSpPr txBox="1"/>
          <p:nvPr/>
        </p:nvSpPr>
        <p:spPr>
          <a:xfrm>
            <a:off x="2424430" y="1487805"/>
            <a:ext cx="8289290" cy="1014730"/>
          </a:xfrm>
          <a:prstGeom prst="rect">
            <a:avLst/>
          </a:prstGeom>
          <a:noFill/>
          <a:ln w="9525">
            <a:solidFill>
              <a:schemeClr val="accent1"/>
            </a:solidFill>
          </a:ln>
        </p:spPr>
        <p:txBody>
          <a:bodyPr wrap="square" anchor="t" anchorCtr="0">
            <a:spAutoFit/>
          </a:bodyPr>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f(L)=0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f(L)=f(L-&gt;next)+1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460" name="Text Box 5"/>
          <p:cNvSpPr txBox="1"/>
          <p:nvPr/>
        </p:nvSpPr>
        <p:spPr>
          <a:xfrm>
            <a:off x="2424113" y="3316288"/>
            <a:ext cx="8339137" cy="3538537"/>
          </a:xfrm>
          <a:prstGeom prst="rect">
            <a:avLst/>
          </a:prstGeom>
          <a:noFill/>
          <a:ln w="9525">
            <a:noFill/>
          </a:ln>
        </p:spPr>
        <p:txBody>
          <a:bodyPr wrap="square" anchor="t" anchorCtr="0">
            <a:spAutoFit/>
          </a:bodyPr>
          <a:p>
            <a:r>
              <a:rPr lang="en-US" altLang="zh-CN" sz="2800" b="1" dirty="0">
                <a:solidFill>
                  <a:srgbClr val="1D41D5"/>
                </a:solidFill>
                <a:latin typeface="微软雅黑" panose="020B0503020204020204" pitchFamily="34" charset="-122"/>
                <a:ea typeface="微软雅黑" panose="020B0503020204020204" pitchFamily="34" charset="-122"/>
              </a:rPr>
              <a:t>int ListLength(LinkList *L)</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if (L==NULL)</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return 0;</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else</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return ListLength(L-&gt;next)+1;</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p:txBody>
      </p:sp>
      <p:sp>
        <p:nvSpPr>
          <p:cNvPr id="19461" name="Text Box 6"/>
          <p:cNvSpPr txBox="1"/>
          <p:nvPr/>
        </p:nvSpPr>
        <p:spPr>
          <a:xfrm>
            <a:off x="2357438" y="2773363"/>
            <a:ext cx="2736850"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递归算法如下：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Text Box 2"/>
          <p:cNvSpPr txBox="1"/>
          <p:nvPr/>
        </p:nvSpPr>
        <p:spPr>
          <a:xfrm>
            <a:off x="1847850" y="333375"/>
            <a:ext cx="8924925" cy="521970"/>
          </a:xfrm>
          <a:prstGeom prst="rect">
            <a:avLst/>
          </a:prstGeom>
          <a:noFill/>
          <a:ln w="9525">
            <a:noFill/>
          </a:ln>
        </p:spPr>
        <p:txBody>
          <a:bodyPr wrap="square" anchor="t" anchorCtr="0">
            <a:spAutoFit/>
          </a:bodyPr>
          <a:p>
            <a:pPr>
              <a:spcBef>
                <a:spcPct val="50000"/>
              </a:spcBef>
              <a:buSzTx/>
            </a:pP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2</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）正向显示以</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为首节点指针的单链表的所有节点值</a:t>
            </a:r>
            <a:endPar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0482" name="Text Box 3"/>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递归模型如下：</a:t>
            </a:r>
            <a:endParaRPr lang="zh-CN" altLang="en-US" b="1">
              <a:latin typeface="微软雅黑" panose="020B0503020204020204" pitchFamily="34" charset="-122"/>
              <a:ea typeface="微软雅黑" panose="020B0503020204020204" pitchFamily="34" charset="-122"/>
            </a:endParaRPr>
          </a:p>
        </p:txBody>
      </p:sp>
      <p:sp>
        <p:nvSpPr>
          <p:cNvPr id="20483" name="Text Box 4" descr="羊皮纸"/>
          <p:cNvSpPr txBox="1"/>
          <p:nvPr/>
        </p:nvSpPr>
        <p:spPr>
          <a:xfrm>
            <a:off x="2279650" y="1487488"/>
            <a:ext cx="6553200" cy="1014730"/>
          </a:xfrm>
          <a:prstGeom prst="rect">
            <a:avLst/>
          </a:prstGeom>
          <a:noFill/>
          <a:ln w="9525">
            <a:solidFill>
              <a:schemeClr val="accent1"/>
            </a:solidFill>
          </a:ln>
        </p:spPr>
        <p:txBody>
          <a:bodyPr anchor="t" anchorCtr="0">
            <a:spAutoFit/>
          </a:bodyPr>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不做任何事件</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输出</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L-&gt;</a:t>
            </a:r>
            <a:r>
              <a:rPr lang="en-US" altLang="zh-CN" b="1" dirty="0" err="1">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data;f</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(L-&gt;next)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484" name="Text Box 5"/>
          <p:cNvSpPr txBox="1"/>
          <p:nvPr/>
        </p:nvSpPr>
        <p:spPr>
          <a:xfrm>
            <a:off x="2279650" y="3716338"/>
            <a:ext cx="7200900" cy="3108325"/>
          </a:xfrm>
          <a:prstGeom prst="rect">
            <a:avLst/>
          </a:prstGeom>
          <a:noFill/>
          <a:ln w="9525">
            <a:noFill/>
          </a:ln>
        </p:spPr>
        <p:txBody>
          <a:bodyPr anchor="t" anchorCtr="0">
            <a:spAutoFit/>
          </a:bodyPr>
          <a:p>
            <a:r>
              <a:rPr lang="en-US" altLang="zh-CN" sz="2800" b="1" dirty="0">
                <a:solidFill>
                  <a:srgbClr val="1D41D5"/>
                </a:solidFill>
                <a:latin typeface="微软雅黑" panose="020B0503020204020204" pitchFamily="34" charset="-122"/>
                <a:ea typeface="微软雅黑" panose="020B0503020204020204" pitchFamily="34" charset="-122"/>
              </a:rPr>
              <a:t>void </a:t>
            </a:r>
            <a:r>
              <a:rPr lang="en-US" altLang="zh-CN" sz="2800" b="1" dirty="0" err="1">
                <a:solidFill>
                  <a:srgbClr val="1D41D5"/>
                </a:solidFill>
                <a:latin typeface="微软雅黑" panose="020B0503020204020204" pitchFamily="34" charset="-122"/>
                <a:ea typeface="微软雅黑" panose="020B0503020204020204" pitchFamily="34" charset="-122"/>
              </a:rPr>
              <a:t>DispList</a:t>
            </a:r>
            <a:r>
              <a:rPr lang="en-US" altLang="zh-CN" sz="2800" b="1" dirty="0">
                <a:solidFill>
                  <a:srgbClr val="1D41D5"/>
                </a:solidFill>
                <a:latin typeface="微软雅黑" panose="020B0503020204020204" pitchFamily="34" charset="-122"/>
                <a:ea typeface="微软雅黑" panose="020B0503020204020204" pitchFamily="34" charset="-122"/>
              </a:rPr>
              <a:t>(</a:t>
            </a:r>
            <a:r>
              <a:rPr lang="en-US" altLang="zh-CN" sz="2800" b="1" dirty="0" err="1">
                <a:solidFill>
                  <a:srgbClr val="1D41D5"/>
                </a:solidFill>
                <a:latin typeface="微软雅黑" panose="020B0503020204020204" pitchFamily="34" charset="-122"/>
                <a:ea typeface="微软雅黑" panose="020B0503020204020204" pitchFamily="34" charset="-122"/>
              </a:rPr>
              <a:t>LinkList</a:t>
            </a:r>
            <a:r>
              <a:rPr lang="en-US" altLang="zh-CN" sz="2800" b="1" dirty="0">
                <a:solidFill>
                  <a:srgbClr val="1D41D5"/>
                </a:solidFill>
                <a:latin typeface="微软雅黑" panose="020B0503020204020204" pitchFamily="34" charset="-122"/>
                <a:ea typeface="微软雅黑" panose="020B0503020204020204" pitchFamily="34" charset="-122"/>
              </a:rPr>
              <a:t> *L)</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if (L==NULL) return;</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a:t>
            </a:r>
            <a:r>
              <a:rPr lang="en-US" altLang="zh-CN" sz="2800" b="1" dirty="0" err="1">
                <a:solidFill>
                  <a:srgbClr val="1D41D5"/>
                </a:solidFill>
                <a:latin typeface="微软雅黑" panose="020B0503020204020204" pitchFamily="34" charset="-122"/>
                <a:ea typeface="微软雅黑" panose="020B0503020204020204" pitchFamily="34" charset="-122"/>
              </a:rPr>
              <a:t>printf</a:t>
            </a:r>
            <a:r>
              <a:rPr lang="en-US" altLang="zh-CN" sz="2800" b="1" dirty="0">
                <a:solidFill>
                  <a:srgbClr val="1D41D5"/>
                </a:solidFill>
                <a:latin typeface="微软雅黑" panose="020B0503020204020204" pitchFamily="34" charset="-122"/>
                <a:ea typeface="微软雅黑" panose="020B0503020204020204" pitchFamily="34" charset="-122"/>
              </a:rPr>
              <a:t>("%d ",L-&gt;data);</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a:t>
            </a:r>
            <a:r>
              <a:rPr lang="en-US" altLang="zh-CN" sz="2800" b="1" dirty="0" err="1">
                <a:solidFill>
                  <a:srgbClr val="1D41D5"/>
                </a:solidFill>
                <a:latin typeface="微软雅黑" panose="020B0503020204020204" pitchFamily="34" charset="-122"/>
                <a:ea typeface="微软雅黑" panose="020B0503020204020204" pitchFamily="34" charset="-122"/>
              </a:rPr>
              <a:t>DispList</a:t>
            </a:r>
            <a:r>
              <a:rPr lang="en-US" altLang="zh-CN" sz="2800" b="1" dirty="0">
                <a:solidFill>
                  <a:srgbClr val="1D41D5"/>
                </a:solidFill>
                <a:latin typeface="微软雅黑" panose="020B0503020204020204" pitchFamily="34" charset="-122"/>
                <a:ea typeface="微软雅黑" panose="020B0503020204020204" pitchFamily="34" charset="-122"/>
              </a:rPr>
              <a:t>(L-&gt;next);</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p:txBody>
      </p:sp>
      <p:sp>
        <p:nvSpPr>
          <p:cNvPr id="20485" name="Text Box 6"/>
          <p:cNvSpPr txBox="1"/>
          <p:nvPr/>
        </p:nvSpPr>
        <p:spPr>
          <a:xfrm>
            <a:off x="2279650" y="3043238"/>
            <a:ext cx="2736850"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递归算法如下：</a:t>
            </a:r>
            <a:endParaRPr lang="zh-CN" altLang="en-US" b="1">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Text Box 2"/>
          <p:cNvSpPr txBox="1"/>
          <p:nvPr/>
        </p:nvSpPr>
        <p:spPr>
          <a:xfrm>
            <a:off x="1774825" y="260350"/>
            <a:ext cx="8137525" cy="460375"/>
          </a:xfrm>
          <a:prstGeom prst="rect">
            <a:avLst/>
          </a:prstGeom>
          <a:noFill/>
          <a:ln w="9525">
            <a:noFill/>
          </a:ln>
        </p:spPr>
        <p:txBody>
          <a:bodyPr anchor="t" anchorCtr="0">
            <a:spAutoFit/>
          </a:bodyPr>
          <a:p>
            <a:pPr>
              <a:spcBef>
                <a:spcPct val="50000"/>
              </a:spcBef>
              <a:buSzTx/>
            </a:pP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3</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）反向显示以</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为首节点指针的单链表的所有节点值</a:t>
            </a:r>
            <a:endPar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1506" name="Text Box 3"/>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递归模型如下：</a:t>
            </a:r>
            <a:endParaRPr lang="zh-CN" altLang="en-US" b="1">
              <a:latin typeface="微软雅黑" panose="020B0503020204020204" pitchFamily="34" charset="-122"/>
              <a:ea typeface="微软雅黑" panose="020B0503020204020204" pitchFamily="34" charset="-122"/>
            </a:endParaRPr>
          </a:p>
        </p:txBody>
      </p:sp>
      <p:sp>
        <p:nvSpPr>
          <p:cNvPr id="21507" name="Text Box 4" descr="羊皮纸"/>
          <p:cNvSpPr txBox="1"/>
          <p:nvPr/>
        </p:nvSpPr>
        <p:spPr>
          <a:xfrm>
            <a:off x="2279650" y="1484630"/>
            <a:ext cx="7245985" cy="1014730"/>
          </a:xfrm>
          <a:prstGeom prst="rect">
            <a:avLst/>
          </a:prstGeom>
          <a:noFill/>
          <a:ln w="9525">
            <a:solidFill>
              <a:schemeClr val="accent1"/>
            </a:solidFill>
          </a:ln>
        </p:spPr>
        <p:txBody>
          <a:bodyPr wrap="square" anchor="t" anchorCtr="0">
            <a:spAutoFit/>
          </a:bodyPr>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不做任何事件</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f(L-&gt;next);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输出</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L-&gt;data;	  </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508" name="Text Box 5"/>
          <p:cNvSpPr txBox="1"/>
          <p:nvPr/>
        </p:nvSpPr>
        <p:spPr>
          <a:xfrm>
            <a:off x="2279650" y="3716338"/>
            <a:ext cx="7200900" cy="3108325"/>
          </a:xfrm>
          <a:prstGeom prst="rect">
            <a:avLst/>
          </a:prstGeom>
          <a:noFill/>
          <a:ln w="9525">
            <a:noFill/>
          </a:ln>
        </p:spPr>
        <p:txBody>
          <a:bodyPr anchor="t" anchorCtr="0">
            <a:spAutoFit/>
          </a:bodyPr>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void </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DispList_re</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LinkList</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*L)//</a:t>
            </a:r>
            <a:r>
              <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反向显示</a:t>
            </a:r>
            <a:endParaRPr lang="zh-CN" altLang="en-US"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if (L==NULL) return;	</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DispList_re</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(L-&gt;next);</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b="1" dirty="0" err="1">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printf</a:t>
            </a:r>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("%d ",L-&gt;data);</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509" name="Text Box 6"/>
          <p:cNvSpPr txBox="1"/>
          <p:nvPr/>
        </p:nvSpPr>
        <p:spPr>
          <a:xfrm>
            <a:off x="2279650" y="3043238"/>
            <a:ext cx="2736850"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递归算法如下：</a:t>
            </a:r>
            <a:endParaRPr lang="zh-CN" altLang="en-US" b="1">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ext Box 5"/>
          <p:cNvSpPr txBox="1"/>
          <p:nvPr/>
        </p:nvSpPr>
        <p:spPr>
          <a:xfrm>
            <a:off x="1992313" y="188913"/>
            <a:ext cx="8280400" cy="460375"/>
          </a:xfrm>
          <a:prstGeom prst="rect">
            <a:avLst/>
          </a:prstGeom>
          <a:noFill/>
          <a:ln w="9525">
            <a:noFill/>
          </a:ln>
        </p:spPr>
        <p:txBody>
          <a:bodyPr anchor="t" anchorCtr="0">
            <a:spAutoFit/>
          </a:bodyPr>
          <a:p>
            <a:pPr>
              <a:spcBef>
                <a:spcPct val="50000"/>
              </a:spcBef>
              <a:buSzTx/>
            </a:pP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4</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）删除以</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为首节点指针的单链表中值为</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x</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的第一个节点</a:t>
            </a:r>
            <a:endPar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2530" name="Text Box 6"/>
          <p:cNvSpPr txBox="1"/>
          <p:nvPr/>
        </p:nvSpPr>
        <p:spPr>
          <a:xfrm>
            <a:off x="2135188" y="692150"/>
            <a:ext cx="7488237"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递归模型如下：</a:t>
            </a:r>
            <a:endParaRPr lang="zh-CN" altLang="en-US" b="1">
              <a:latin typeface="微软雅黑" panose="020B0503020204020204" pitchFamily="34" charset="-122"/>
              <a:ea typeface="微软雅黑" panose="020B0503020204020204" pitchFamily="34" charset="-122"/>
            </a:endParaRPr>
          </a:p>
        </p:txBody>
      </p:sp>
      <p:sp>
        <p:nvSpPr>
          <p:cNvPr id="22531" name="Text Box 7" descr="羊皮纸"/>
          <p:cNvSpPr txBox="1"/>
          <p:nvPr/>
        </p:nvSpPr>
        <p:spPr>
          <a:xfrm>
            <a:off x="2279650" y="1271905"/>
            <a:ext cx="7638415" cy="1235710"/>
          </a:xfrm>
          <a:prstGeom prst="rect">
            <a:avLst/>
          </a:prstGeom>
          <a:noFill/>
          <a:ln w="9525">
            <a:solidFill>
              <a:schemeClr val="accent1"/>
            </a:solidFill>
          </a:ln>
        </p:spPr>
        <p:txBody>
          <a:bodyPr wrap="square" anchor="t" anchorCtr="0">
            <a:spAutoFit/>
          </a:bodyPr>
          <a:p>
            <a:pPr>
              <a:lnSpc>
                <a:spcPct val="70000"/>
              </a:lnSpc>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b="1" dirty="0" err="1">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L,e</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不做任何事件</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70000"/>
              </a:lnSpc>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b="1" dirty="0" err="1">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L,e</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删除</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所指结点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L-&gt;data=e</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70000"/>
              </a:lnSpc>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b="1" dirty="0" err="1">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L,e</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f(L-&gt;</a:t>
            </a:r>
            <a:r>
              <a:rPr lang="en-US" altLang="zh-CN" b="1" dirty="0" err="1">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next,e</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532" name="Text Box 8"/>
          <p:cNvSpPr txBox="1"/>
          <p:nvPr/>
        </p:nvSpPr>
        <p:spPr>
          <a:xfrm>
            <a:off x="2279650" y="3219450"/>
            <a:ext cx="8520113" cy="3630613"/>
          </a:xfrm>
          <a:prstGeom prst="rect">
            <a:avLst/>
          </a:prstGeom>
          <a:noFill/>
          <a:ln w="9525">
            <a:noFill/>
          </a:ln>
        </p:spPr>
        <p:txBody>
          <a:bodyPr wrap="square" anchor="t" anchorCtr="0">
            <a:spAutoFit/>
          </a:bodyPr>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bool ListDelete(LinkList *&amp;L,ElemType e)</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LinkList *t;</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if (L==NULL) return 0;</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if (L-&gt;data==e)</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   </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t=L;</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L=L-&gt;next;</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free(t);</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return 1;</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a:t>
            </a:r>
            <a:endParaRPr lang="nb-NO" altLang="zh-CN" b="1" dirty="0">
              <a:solidFill>
                <a:srgbClr val="1D41D5"/>
              </a:solidFill>
              <a:latin typeface="微软雅黑" panose="020B0503020204020204" pitchFamily="34" charset="-122"/>
              <a:ea typeface="微软雅黑" panose="020B0503020204020204" pitchFamily="34" charset="-122"/>
            </a:endParaRPr>
          </a:p>
          <a:p>
            <a:pPr>
              <a:lnSpc>
                <a:spcPct val="80000"/>
              </a:lnSpc>
            </a:pPr>
            <a:r>
              <a:rPr lang="nb-NO" altLang="zh-CN" b="1" dirty="0">
                <a:solidFill>
                  <a:srgbClr val="1D41D5"/>
                </a:solidFill>
                <a:latin typeface="微软雅黑" panose="020B0503020204020204" pitchFamily="34" charset="-122"/>
                <a:ea typeface="微软雅黑" panose="020B0503020204020204" pitchFamily="34" charset="-122"/>
              </a:rPr>
              <a:t>	else ListDelete(L-&gt;next,e);   }</a:t>
            </a:r>
            <a:endParaRPr lang="nb-NO" altLang="zh-CN" b="1" dirty="0">
              <a:solidFill>
                <a:srgbClr val="1D41D5"/>
              </a:solidFill>
              <a:latin typeface="微软雅黑" panose="020B0503020204020204" pitchFamily="34" charset="-122"/>
              <a:ea typeface="微软雅黑" panose="020B0503020204020204" pitchFamily="34" charset="-122"/>
            </a:endParaRPr>
          </a:p>
        </p:txBody>
      </p:sp>
      <p:sp>
        <p:nvSpPr>
          <p:cNvPr id="22533" name="Text Box 9"/>
          <p:cNvSpPr txBox="1"/>
          <p:nvPr/>
        </p:nvSpPr>
        <p:spPr>
          <a:xfrm>
            <a:off x="2279650" y="2684463"/>
            <a:ext cx="2736850" cy="460375"/>
          </a:xfrm>
          <a:prstGeom prst="rect">
            <a:avLst/>
          </a:prstGeom>
          <a:noFill/>
          <a:ln w="9525">
            <a:noFill/>
          </a:ln>
        </p:spPr>
        <p:txBody>
          <a:bodyPr anchor="t" anchorCtr="0">
            <a:spAutoFit/>
          </a:bodyPr>
          <a:p>
            <a:pPr>
              <a:spcBef>
                <a:spcPct val="50000"/>
              </a:spcBef>
            </a:pPr>
            <a:r>
              <a:rPr lang="zh-CN" altLang="en-US" b="1">
                <a:latin typeface="微软雅黑" panose="020B0503020204020204" pitchFamily="34" charset="-122"/>
                <a:ea typeface="微软雅黑" panose="020B0503020204020204" pitchFamily="34" charset="-122"/>
              </a:rPr>
              <a:t>递归算法如下：</a:t>
            </a:r>
            <a:endParaRPr lang="zh-CN" altLang="en-US" b="1">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ext Box 2"/>
          <p:cNvSpPr txBox="1"/>
          <p:nvPr/>
        </p:nvSpPr>
        <p:spPr>
          <a:xfrm>
            <a:off x="1774825" y="333375"/>
            <a:ext cx="8642350" cy="460375"/>
          </a:xfrm>
          <a:prstGeom prst="rect">
            <a:avLst/>
          </a:prstGeom>
          <a:noFill/>
          <a:ln w="9525">
            <a:noFill/>
          </a:ln>
        </p:spPr>
        <p:txBody>
          <a:bodyPr anchor="t" anchorCtr="0">
            <a:spAutoFit/>
          </a:bodyPr>
          <a:p>
            <a:pPr>
              <a:spcBef>
                <a:spcPct val="50000"/>
              </a:spcBef>
              <a:buSzTx/>
            </a:pP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5</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）删除以</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为首节点指针的单链表中值为</a:t>
            </a:r>
            <a:r>
              <a:rPr lang="en-US" altLang="zh-CN"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x</a:t>
            </a:r>
            <a:r>
              <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的所有节点</a:t>
            </a:r>
            <a:endParaRPr lang="zh-CN" altLang="en-US"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3554" name="Text Box 3"/>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递归模型如下：</a:t>
            </a:r>
            <a:endParaRPr lang="zh-CN" altLang="en-US" b="1" dirty="0">
              <a:latin typeface="微软雅黑" panose="020B0503020204020204" pitchFamily="34" charset="-122"/>
              <a:ea typeface="微软雅黑" panose="020B0503020204020204" pitchFamily="34" charset="-122"/>
            </a:endParaRPr>
          </a:p>
        </p:txBody>
      </p:sp>
      <p:sp>
        <p:nvSpPr>
          <p:cNvPr id="23555" name="Text Box 4" descr="羊皮纸"/>
          <p:cNvSpPr txBox="1"/>
          <p:nvPr/>
        </p:nvSpPr>
        <p:spPr>
          <a:xfrm>
            <a:off x="2279650" y="1487488"/>
            <a:ext cx="7632700" cy="1198562"/>
          </a:xfrm>
          <a:prstGeom prst="rect">
            <a:avLst/>
          </a:prstGeom>
          <a:noFill/>
          <a:ln w="9525">
            <a:solidFill>
              <a:schemeClr val="accent1"/>
            </a:solidFill>
          </a:ln>
          <a:effectLst>
            <a:outerShdw dist="35921" dir="2699999" algn="ctr" rotWithShape="0">
              <a:schemeClr val="bg2"/>
            </a:outerShdw>
          </a:effectLst>
        </p:spPr>
        <p:txBody>
          <a:bodyPr anchor="t" anchorCtr="0">
            <a:spAutoFit/>
          </a:bodyPr>
          <a:p>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f(L,x)</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不做任何事件</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f(L,x) </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删除</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所指结点</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;f(L-&gt;next,e)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L-&gt;data=e</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f(L,x) </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f(L-&gt;next,e)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556" name="Text Box 6"/>
          <p:cNvSpPr txBox="1"/>
          <p:nvPr/>
        </p:nvSpPr>
        <p:spPr>
          <a:xfrm>
            <a:off x="2279650" y="2852738"/>
            <a:ext cx="2736850"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递归算法如下：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ext Box 2"/>
          <p:cNvSpPr txBox="1"/>
          <p:nvPr/>
        </p:nvSpPr>
        <p:spPr>
          <a:xfrm>
            <a:off x="1774825" y="333375"/>
            <a:ext cx="8353425" cy="521970"/>
          </a:xfrm>
          <a:prstGeom prst="rect">
            <a:avLst/>
          </a:prstGeom>
          <a:noFill/>
          <a:ln w="9525">
            <a:noFill/>
          </a:ln>
        </p:spPr>
        <p:txBody>
          <a:bodyPr anchor="t" anchorCtr="0">
            <a:spAutoFit/>
          </a:bodyPr>
          <a:p>
            <a:pPr>
              <a:spcBef>
                <a:spcPct val="50000"/>
              </a:spcBef>
              <a:buSzTx/>
            </a:pP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6</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）输出以</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为首节点指针的单链表中最大节点值</a:t>
            </a:r>
            <a:endPar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4578" name="Text Box 3"/>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递归模型如下：</a:t>
            </a:r>
            <a:endParaRPr lang="zh-CN" altLang="en-US" b="1" dirty="0">
              <a:latin typeface="微软雅黑" panose="020B0503020204020204" pitchFamily="34" charset="-122"/>
              <a:ea typeface="微软雅黑" panose="020B0503020204020204" pitchFamily="34" charset="-122"/>
            </a:endParaRPr>
          </a:p>
        </p:txBody>
      </p:sp>
      <p:sp>
        <p:nvSpPr>
          <p:cNvPr id="24579" name="Text Box 4" descr="羊皮纸"/>
          <p:cNvSpPr txBox="1"/>
          <p:nvPr/>
        </p:nvSpPr>
        <p:spPr>
          <a:xfrm>
            <a:off x="2279650" y="1487488"/>
            <a:ext cx="7561263" cy="865505"/>
          </a:xfrm>
          <a:prstGeom prst="rect">
            <a:avLst/>
          </a:prstGeom>
          <a:noFill/>
          <a:ln w="9525">
            <a:solidFill>
              <a:schemeClr val="accent1"/>
            </a:solidFill>
          </a:ln>
        </p:spPr>
        <p:txBody>
          <a:bodyPr anchor="t" anchorCtr="0">
            <a:spAutoFit/>
          </a:bodyPr>
          <a:p>
            <a:pPr>
              <a:lnSpc>
                <a:spcPct val="80000"/>
              </a:lnSpc>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f(L)=L-&gt;data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中只有一个结点</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80000"/>
              </a:lnSpc>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f(L)=MAX(f(L-&gt;next),L-&gt;data)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580" name="Text Box 5"/>
          <p:cNvSpPr txBox="1"/>
          <p:nvPr/>
        </p:nvSpPr>
        <p:spPr>
          <a:xfrm>
            <a:off x="2279650" y="3140710"/>
            <a:ext cx="7996238" cy="3784600"/>
          </a:xfrm>
          <a:prstGeom prst="rect">
            <a:avLst/>
          </a:prstGeom>
          <a:noFill/>
          <a:ln w="9525">
            <a:noFill/>
          </a:ln>
        </p:spPr>
        <p:txBody>
          <a:bodyPr wrap="square" anchor="t" anchorCtr="0">
            <a:spAutoFit/>
          </a:bodyPr>
          <a:p>
            <a:r>
              <a:rPr lang="en-US" altLang="zh-CN" b="1" dirty="0">
                <a:solidFill>
                  <a:srgbClr val="1D41D5"/>
                </a:solidFill>
                <a:latin typeface="微软雅黑" panose="020B0503020204020204" pitchFamily="34" charset="-122"/>
                <a:ea typeface="微软雅黑" panose="020B0503020204020204" pitchFamily="34" charset="-122"/>
              </a:rPr>
              <a:t>ElemType maxv(LinkList *L)</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ElemType m;</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if (L-&gt;next==NULL)</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return L-&gt;data;</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m=maxv(L-&gt;next);</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if (m&gt;L-&gt;data) </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return m;</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	else		return L-&gt;data;</a:t>
            </a:r>
            <a:endParaRPr lang="en-US" altLang="zh-CN" b="1" dirty="0">
              <a:solidFill>
                <a:srgbClr val="1D41D5"/>
              </a:solidFill>
              <a:latin typeface="微软雅黑" panose="020B0503020204020204" pitchFamily="34" charset="-122"/>
              <a:ea typeface="微软雅黑" panose="020B0503020204020204" pitchFamily="34" charset="-122"/>
            </a:endParaRPr>
          </a:p>
          <a:p>
            <a:r>
              <a:rPr lang="en-US" altLang="zh-CN" b="1" dirty="0">
                <a:solidFill>
                  <a:srgbClr val="1D41D5"/>
                </a:solidFill>
                <a:latin typeface="微软雅黑" panose="020B0503020204020204" pitchFamily="34" charset="-122"/>
                <a:ea typeface="微软雅黑" panose="020B0503020204020204" pitchFamily="34" charset="-122"/>
              </a:rPr>
              <a:t>}</a:t>
            </a:r>
            <a:endParaRPr lang="en-US" altLang="zh-CN" b="1" dirty="0">
              <a:solidFill>
                <a:srgbClr val="1D41D5"/>
              </a:solidFill>
              <a:latin typeface="微软雅黑" panose="020B0503020204020204" pitchFamily="34" charset="-122"/>
              <a:ea typeface="微软雅黑" panose="020B0503020204020204" pitchFamily="34" charset="-122"/>
            </a:endParaRPr>
          </a:p>
        </p:txBody>
      </p:sp>
      <p:sp>
        <p:nvSpPr>
          <p:cNvPr id="24581" name="Text Box 6"/>
          <p:cNvSpPr txBox="1"/>
          <p:nvPr/>
        </p:nvSpPr>
        <p:spPr>
          <a:xfrm>
            <a:off x="2279650" y="2781300"/>
            <a:ext cx="2736850"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递归算法如下：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ext Box 2"/>
          <p:cNvSpPr txBox="1"/>
          <p:nvPr/>
        </p:nvSpPr>
        <p:spPr>
          <a:xfrm>
            <a:off x="1703388" y="333375"/>
            <a:ext cx="8496300" cy="521970"/>
          </a:xfrm>
          <a:prstGeom prst="rect">
            <a:avLst/>
          </a:prstGeom>
          <a:noFill/>
          <a:ln w="9525">
            <a:noFill/>
          </a:ln>
        </p:spPr>
        <p:txBody>
          <a:bodyPr anchor="t" anchorCtr="0">
            <a:spAutoFit/>
          </a:bodyPr>
          <a:p>
            <a:pPr>
              <a:spcBef>
                <a:spcPct val="50000"/>
              </a:spcBef>
              <a:buSzTx/>
            </a:pP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7</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）输出以</a:t>
            </a:r>
            <a:r>
              <a:rPr lang="en-US" altLang="zh-CN"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L</a:t>
            </a:r>
            <a:r>
              <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为首节点指针的单链表中最小节点值。</a:t>
            </a:r>
            <a:endParaRPr lang="zh-CN" altLang="en-US" sz="2800" b="1"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p:txBody>
      </p:sp>
      <p:sp>
        <p:nvSpPr>
          <p:cNvPr id="25602" name="Text Box 3"/>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递归模型如下：</a:t>
            </a:r>
            <a:endParaRPr lang="zh-CN" altLang="en-US" b="1" dirty="0">
              <a:latin typeface="微软雅黑" panose="020B0503020204020204" pitchFamily="34" charset="-122"/>
              <a:ea typeface="微软雅黑" panose="020B0503020204020204" pitchFamily="34" charset="-122"/>
            </a:endParaRPr>
          </a:p>
        </p:txBody>
      </p:sp>
      <p:sp>
        <p:nvSpPr>
          <p:cNvPr id="25603" name="Text Box 4" descr="羊皮纸"/>
          <p:cNvSpPr txBox="1"/>
          <p:nvPr/>
        </p:nvSpPr>
        <p:spPr>
          <a:xfrm>
            <a:off x="2279650" y="1487488"/>
            <a:ext cx="7920038" cy="902970"/>
          </a:xfrm>
          <a:prstGeom prst="rect">
            <a:avLst/>
          </a:prstGeom>
          <a:noFill/>
          <a:ln w="9525">
            <a:solidFill>
              <a:schemeClr val="accent1"/>
            </a:solidFill>
          </a:ln>
        </p:spPr>
        <p:txBody>
          <a:bodyPr anchor="t" anchorCtr="0">
            <a:spAutoFit/>
          </a:bodyPr>
          <a:p>
            <a:pPr>
              <a:lnSpc>
                <a:spcPct val="110000"/>
              </a:lnSpc>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f(L)=L-&gt;data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中只有一个结点</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f(L)=MIN(f(L-&gt;next),L-&gt;data)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604" name="Text Box 6"/>
          <p:cNvSpPr txBox="1"/>
          <p:nvPr/>
        </p:nvSpPr>
        <p:spPr>
          <a:xfrm>
            <a:off x="2135188" y="2546350"/>
            <a:ext cx="2736850"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递归算法如下：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p:cNvSpPr txBox="1">
            <a:spLocks noChangeArrowheads="1"/>
          </p:cNvSpPr>
          <p:nvPr/>
        </p:nvSpPr>
        <p:spPr bwMode="auto">
          <a:xfrm>
            <a:off x="1774825" y="260350"/>
            <a:ext cx="8137525" cy="521970"/>
          </a:xfrm>
          <a:prstGeom prst="rect">
            <a:avLst/>
          </a:prstGeom>
          <a:noFill/>
          <a:ln w="9525">
            <a:noFill/>
            <a:miter lim="800000"/>
          </a:ln>
        </p:spPr>
        <p:txBody>
          <a:bodyPr>
            <a:spAutoFit/>
          </a:bodyPr>
          <a:lstStyle/>
          <a:p>
            <a:pPr marR="0" defTabSz="914400">
              <a:spcBef>
                <a:spcPct val="50000"/>
              </a:spcBef>
              <a:buClrTx/>
              <a:buSzTx/>
              <a:defRPr/>
            </a:pPr>
            <a:r>
              <a:rPr kumimoji="1" lang="zh-CN" altLang="en-US"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8</a:t>
            </a:r>
            <a:r>
              <a:rPr kumimoji="1" lang="zh-CN" altLang="en-US"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）释放</a:t>
            </a:r>
            <a:r>
              <a:rPr kumimoji="1" lang="en-US" altLang="zh-CN"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L</a:t>
            </a:r>
            <a:r>
              <a:rPr kumimoji="1" lang="zh-CN" altLang="en-US"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为首节点指针的单链表的所有节点</a:t>
            </a:r>
            <a:endParaRPr kumimoji="1" lang="zh-CN" altLang="en-US" sz="2800" b="1" kern="1200" cap="none" spc="0" normalizeH="0" baseline="0" noProof="0" dirty="0">
              <a:solidFill>
                <a:schemeClr val="hlink"/>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626" name="Text Box 5"/>
          <p:cNvSpPr txBox="1"/>
          <p:nvPr/>
        </p:nvSpPr>
        <p:spPr>
          <a:xfrm>
            <a:off x="2135188" y="908050"/>
            <a:ext cx="7488237"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递归模型如下：</a:t>
            </a:r>
            <a:endParaRPr lang="zh-CN" altLang="en-US" b="1" dirty="0">
              <a:latin typeface="微软雅黑" panose="020B0503020204020204" pitchFamily="34" charset="-122"/>
              <a:ea typeface="微软雅黑" panose="020B0503020204020204" pitchFamily="34" charset="-122"/>
            </a:endParaRPr>
          </a:p>
        </p:txBody>
      </p:sp>
      <p:sp>
        <p:nvSpPr>
          <p:cNvPr id="26627" name="Text Box 6" descr="羊皮纸"/>
          <p:cNvSpPr txBox="1"/>
          <p:nvPr/>
        </p:nvSpPr>
        <p:spPr>
          <a:xfrm>
            <a:off x="2279650" y="1487488"/>
            <a:ext cx="6553200" cy="1014730"/>
          </a:xfrm>
          <a:prstGeom prst="rect">
            <a:avLst/>
          </a:prstGeom>
          <a:noFill/>
          <a:ln w="9525">
            <a:solidFill>
              <a:schemeClr val="accent1"/>
            </a:solidFill>
          </a:ln>
        </p:spPr>
        <p:txBody>
          <a:bodyPr anchor="t" anchorCtr="0">
            <a:spAutoFit/>
          </a:bodyPr>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不做任何事件</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L=NULL</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f(L-&gt;next);</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释放</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所指结点</a:t>
            </a:r>
            <a:r>
              <a:rPr lang="en-US" altLang="zh-CN"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其他情况</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628" name="Text Box 7"/>
          <p:cNvSpPr txBox="1"/>
          <p:nvPr/>
        </p:nvSpPr>
        <p:spPr>
          <a:xfrm>
            <a:off x="2279650" y="3716338"/>
            <a:ext cx="7200900" cy="2676525"/>
          </a:xfrm>
          <a:prstGeom prst="rect">
            <a:avLst/>
          </a:prstGeom>
          <a:noFill/>
          <a:ln w="9525">
            <a:noFill/>
          </a:ln>
        </p:spPr>
        <p:txBody>
          <a:bodyPr anchor="t" anchorCtr="0">
            <a:spAutoFit/>
          </a:bodyPr>
          <a:p>
            <a:r>
              <a:rPr lang="en-US" altLang="zh-CN" sz="2800" b="1" dirty="0">
                <a:solidFill>
                  <a:srgbClr val="1D41D5"/>
                </a:solidFill>
                <a:latin typeface="微软雅黑" panose="020B0503020204020204" pitchFamily="34" charset="-122"/>
                <a:ea typeface="微软雅黑" panose="020B0503020204020204" pitchFamily="34" charset="-122"/>
              </a:rPr>
              <a:t>void DestroyList(LinkList *&amp;L)</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if (L==NULL) return;</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DestroyList(L-&gt;next);</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	free(L);</a:t>
            </a:r>
            <a:endParaRPr lang="en-US" altLang="zh-CN" sz="2800" b="1" dirty="0">
              <a:solidFill>
                <a:srgbClr val="1D41D5"/>
              </a:solidFill>
              <a:latin typeface="微软雅黑" panose="020B0503020204020204" pitchFamily="34" charset="-122"/>
              <a:ea typeface="微软雅黑" panose="020B0503020204020204" pitchFamily="34" charset="-122"/>
            </a:endParaRPr>
          </a:p>
          <a:p>
            <a:r>
              <a:rPr lang="en-US" altLang="zh-CN" sz="2800" b="1" dirty="0">
                <a:solidFill>
                  <a:srgbClr val="1D41D5"/>
                </a:solidFill>
                <a:latin typeface="微软雅黑" panose="020B0503020204020204" pitchFamily="34" charset="-122"/>
                <a:ea typeface="微软雅黑" panose="020B0503020204020204" pitchFamily="34" charset="-122"/>
              </a:rPr>
              <a:t>}</a:t>
            </a:r>
            <a:endParaRPr lang="en-US" altLang="zh-CN" sz="2800" b="1" dirty="0">
              <a:solidFill>
                <a:srgbClr val="1D41D5"/>
              </a:solidFill>
              <a:latin typeface="微软雅黑" panose="020B0503020204020204" pitchFamily="34" charset="-122"/>
              <a:ea typeface="微软雅黑" panose="020B0503020204020204" pitchFamily="34" charset="-122"/>
            </a:endParaRPr>
          </a:p>
        </p:txBody>
      </p:sp>
      <p:sp>
        <p:nvSpPr>
          <p:cNvPr id="26629" name="Text Box 8"/>
          <p:cNvSpPr txBox="1"/>
          <p:nvPr/>
        </p:nvSpPr>
        <p:spPr>
          <a:xfrm>
            <a:off x="2279650" y="3043238"/>
            <a:ext cx="2736850" cy="460375"/>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rPr>
              <a:t>递归算法如下：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
          <p:cNvSpPr txBox="1"/>
          <p:nvPr/>
        </p:nvSpPr>
        <p:spPr>
          <a:xfrm>
            <a:off x="198755" y="549275"/>
            <a:ext cx="11716385" cy="1014730"/>
          </a:xfrm>
          <a:prstGeom prst="rect">
            <a:avLst/>
          </a:prstGeom>
          <a:noFill/>
          <a:ln w="9525">
            <a:noFill/>
          </a:ln>
        </p:spPr>
        <p:txBody>
          <a:bodyPr wrap="square" anchor="t" anchorCtr="0">
            <a:spAutoFit/>
          </a:bodyPr>
          <a:p>
            <a:pPr>
              <a:spcBef>
                <a:spcPct val="50000"/>
              </a:spcBef>
            </a:pPr>
            <a:r>
              <a:rPr lang="en-US" altLang="zh-CN" sz="32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2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32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5-5】</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采用递归算法求解迷宫问题，并输出从入口到出口的所有迷宫路径。 </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5" name="组合 14"/>
          <p:cNvGrpSpPr/>
          <p:nvPr/>
        </p:nvGrpSpPr>
        <p:grpSpPr>
          <a:xfrm>
            <a:off x="986790" y="1786255"/>
            <a:ext cx="10367645" cy="3024504"/>
            <a:chOff x="-159100" y="1785926"/>
            <a:chExt cx="9325186" cy="3025188"/>
          </a:xfrm>
        </p:grpSpPr>
        <p:sp>
          <p:nvSpPr>
            <p:cNvPr id="27651" name="Text Box 3"/>
            <p:cNvSpPr txBox="1"/>
            <p:nvPr/>
          </p:nvSpPr>
          <p:spPr>
            <a:xfrm>
              <a:off x="500035" y="1785926"/>
              <a:ext cx="3714776" cy="460479"/>
            </a:xfrm>
            <a:prstGeom prst="rect">
              <a:avLst/>
            </a:prstGeom>
            <a:noFill/>
            <a:ln w="9525">
              <a:noFill/>
            </a:ln>
          </p:spPr>
          <p:txBody>
            <a:bodyPr anchor="t" anchorCtr="0">
              <a:spAutoFit/>
            </a:bodyPr>
            <a:p>
              <a:pPr>
                <a:spcBef>
                  <a:spcPct val="50000"/>
                </a:spcBef>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求解问题描述：</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7652" name="组合 10"/>
            <p:cNvGrpSpPr/>
            <p:nvPr/>
          </p:nvGrpSpPr>
          <p:grpSpPr>
            <a:xfrm>
              <a:off x="1571604" y="2557342"/>
              <a:ext cx="5722970" cy="1227608"/>
              <a:chOff x="1571604" y="3243204"/>
              <a:chExt cx="5722970" cy="1227608"/>
            </a:xfrm>
          </p:grpSpPr>
          <p:sp>
            <p:nvSpPr>
              <p:cNvPr id="5" name="Rectangle 5"/>
              <p:cNvSpPr>
                <a:spLocks noChangeArrowheads="1"/>
              </p:cNvSpPr>
              <p:nvPr/>
            </p:nvSpPr>
            <p:spPr bwMode="auto">
              <a:xfrm>
                <a:off x="1571604" y="3500438"/>
                <a:ext cx="1079500"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xi</a:t>
                </a:r>
                <a:r>
                  <a:rPr kumimoji="1" lang="zh-CN" altLang="en-US"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yi</a:t>
                </a:r>
                <a:r>
                  <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Rectangle 5"/>
              <p:cNvSpPr>
                <a:spLocks noChangeArrowheads="1"/>
              </p:cNvSpPr>
              <p:nvPr/>
            </p:nvSpPr>
            <p:spPr bwMode="auto">
              <a:xfrm>
                <a:off x="6215074" y="3500438"/>
                <a:ext cx="1079500"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xe</a:t>
                </a:r>
                <a:r>
                  <a:rPr kumimoji="1" lang="zh-CN" altLang="en-US"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ye</a:t>
                </a:r>
                <a:r>
                  <a:rPr kumimoji="1" lang="en-US" altLang="zh-CN" sz="20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 name="直接箭头连接符 7"/>
              <p:cNvCxnSpPr>
                <a:stCxn id="5" idx="3"/>
                <a:endCxn id="6" idx="1"/>
              </p:cNvCxnSpPr>
              <p:nvPr/>
            </p:nvCxnSpPr>
            <p:spPr>
              <a:xfrm>
                <a:off x="2651104" y="3752057"/>
                <a:ext cx="3563970" cy="1588"/>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7656" name="TextBox 8"/>
              <p:cNvSpPr txBox="1"/>
              <p:nvPr/>
            </p:nvSpPr>
            <p:spPr>
              <a:xfrm>
                <a:off x="2656792" y="3243204"/>
                <a:ext cx="4121999" cy="398870"/>
              </a:xfrm>
              <a:prstGeom prst="rect">
                <a:avLst/>
              </a:prstGeom>
              <a:noFill/>
              <a:ln w="9525">
                <a:noFill/>
              </a:ln>
            </p:spPr>
            <p:txBody>
              <a:bodyPr wrap="square" anchor="t" anchorCtr="0">
                <a:spAutoFit/>
              </a:bodyPr>
              <a:p>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mgpath(</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xi</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yi</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xe</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ye</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path)</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657" name="TextBox 9"/>
              <p:cNvSpPr txBox="1"/>
              <p:nvPr/>
            </p:nvSpPr>
            <p:spPr>
              <a:xfrm>
                <a:off x="6357950" y="4071942"/>
                <a:ext cx="857256" cy="398870"/>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出口</a:t>
                </a:r>
                <a:endParaRPr lang="zh-CN" altLang="en-US" sz="2000" b="1" dirty="0">
                  <a:latin typeface="微软雅黑" panose="020B0503020204020204" pitchFamily="34" charset="-122"/>
                  <a:ea typeface="微软雅黑" panose="020B0503020204020204" pitchFamily="34" charset="-122"/>
                </a:endParaRPr>
              </a:p>
            </p:txBody>
          </p:sp>
        </p:grpSp>
        <p:sp>
          <p:nvSpPr>
            <p:cNvPr id="12" name="TextBox 11"/>
            <p:cNvSpPr txBox="1"/>
            <p:nvPr/>
          </p:nvSpPr>
          <p:spPr>
            <a:xfrm>
              <a:off x="-159100" y="3857764"/>
              <a:ext cx="9325186" cy="953350"/>
            </a:xfrm>
            <a:prstGeom prst="rect">
              <a:avLst/>
            </a:prstGeom>
            <a:noFill/>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mgpath(int xi</a:t>
              </a:r>
              <a:r>
                <a:rPr kumimoji="1" lang="zh-CN" altLang="en-US"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 yi</a:t>
              </a:r>
              <a:r>
                <a:rPr kumimoji="1" lang="zh-CN" altLang="en-US"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 xe</a:t>
              </a:r>
              <a:r>
                <a:rPr kumimoji="1" lang="zh-CN" altLang="en-US"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 ye</a:t>
              </a:r>
              <a:r>
                <a:rPr kumimoji="1" lang="zh-CN" altLang="en-US"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PathType path)</a:t>
              </a:r>
              <a:r>
                <a:rPr kumimoji="1" lang="zh-CN" altLang="en-US"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rgbClr val="7030A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求从</a:t>
              </a: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(xi</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yi)</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到</a:t>
              </a: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(xe</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ye)</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的迷宫路径，用</a:t>
              </a:r>
              <a:r>
                <a:rPr kumimoji="1" lang="en-US" altLang="zh-CN"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path</a:t>
              </a:r>
              <a:r>
                <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变量保存迷宫路径。</a:t>
              </a:r>
              <a:endParaRPr kumimoji="1" lang="zh-CN" altLang="en-US" sz="2800" b="1" i="0" u="none" strike="noStrike" kern="1200" cap="none" spc="0" normalizeH="0" baseline="0" noProof="0" smtClean="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659" name="TextBox 13"/>
            <p:cNvSpPr txBox="1"/>
            <p:nvPr/>
          </p:nvSpPr>
          <p:spPr>
            <a:xfrm>
              <a:off x="1714480" y="3357562"/>
              <a:ext cx="857256" cy="398870"/>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入口</a:t>
              </a:r>
              <a:endParaRPr lang="zh-CN" altLang="en-US" sz="2000" b="1" dirty="0">
                <a:latin typeface="微软雅黑" panose="020B0503020204020204" pitchFamily="34" charset="-122"/>
                <a:ea typeface="微软雅黑" panose="020B0503020204020204" pitchFamily="34"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5"/>
          <p:cNvSpPr>
            <a:spLocks noChangeArrowheads="1"/>
          </p:cNvSpPr>
          <p:nvPr/>
        </p:nvSpPr>
        <p:spPr bwMode="auto">
          <a:xfrm>
            <a:off x="3095625" y="928688"/>
            <a:ext cx="1079500" cy="50323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xi</a:t>
            </a:r>
            <a:r>
              <a:rPr kumimoji="1" lang="zh-CN" altLang="en-US"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yi</a:t>
            </a:r>
            <a:r>
              <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Rectangle 5"/>
          <p:cNvSpPr>
            <a:spLocks noChangeArrowheads="1"/>
          </p:cNvSpPr>
          <p:nvPr/>
        </p:nvSpPr>
        <p:spPr bwMode="auto">
          <a:xfrm>
            <a:off x="7739063" y="928688"/>
            <a:ext cx="1079500" cy="50323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xe</a:t>
            </a:r>
            <a:r>
              <a:rPr kumimoji="1" lang="zh-CN" altLang="en-US"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ye</a:t>
            </a:r>
            <a:r>
              <a:rPr kumimoji="1" lang="en-US" altLang="zh-CN" sz="20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 name="直接箭头连接符 5"/>
          <p:cNvCxnSpPr>
            <a:stCxn id="4" idx="3"/>
            <a:endCxn id="5" idx="1"/>
          </p:cNvCxnSpPr>
          <p:nvPr/>
        </p:nvCxnSpPr>
        <p:spPr>
          <a:xfrm>
            <a:off x="4175125" y="1179513"/>
            <a:ext cx="3563938" cy="1588"/>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8676" name="TextBox 6"/>
          <p:cNvSpPr txBox="1"/>
          <p:nvPr/>
        </p:nvSpPr>
        <p:spPr>
          <a:xfrm>
            <a:off x="3791585" y="404495"/>
            <a:ext cx="4808855" cy="398780"/>
          </a:xfrm>
          <a:prstGeom prst="rect">
            <a:avLst/>
          </a:prstGeom>
          <a:noFill/>
          <a:ln w="9525">
            <a:noFill/>
          </a:ln>
        </p:spPr>
        <p:txBody>
          <a:bodyPr wrap="square" anchor="t" anchorCtr="0">
            <a:spAutoFit/>
          </a:bodyPr>
          <a:p>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mgpath(</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xi</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yi</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xe</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ye</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path)</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77" name="TextBox 7"/>
          <p:cNvSpPr txBox="1"/>
          <p:nvPr/>
        </p:nvSpPr>
        <p:spPr>
          <a:xfrm>
            <a:off x="8953500" y="1000125"/>
            <a:ext cx="857250" cy="398780"/>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出口</a:t>
            </a:r>
            <a:endParaRPr lang="zh-CN" altLang="en-US" sz="2000" b="1" dirty="0">
              <a:latin typeface="微软雅黑" panose="020B0503020204020204" pitchFamily="34" charset="-122"/>
              <a:ea typeface="微软雅黑" panose="020B0503020204020204" pitchFamily="34" charset="-122"/>
            </a:endParaRPr>
          </a:p>
        </p:txBody>
      </p:sp>
      <p:grpSp>
        <p:nvGrpSpPr>
          <p:cNvPr id="28678" name="组合 20"/>
          <p:cNvGrpSpPr/>
          <p:nvPr/>
        </p:nvGrpSpPr>
        <p:grpSpPr>
          <a:xfrm>
            <a:off x="2667000" y="3671888"/>
            <a:ext cx="3500438" cy="798671"/>
            <a:chOff x="1142976" y="3671832"/>
            <a:chExt cx="3500462" cy="799109"/>
          </a:xfrm>
        </p:grpSpPr>
        <p:sp>
          <p:nvSpPr>
            <p:cNvPr id="9" name="Rectangle 5"/>
            <p:cNvSpPr>
              <a:spLocks noChangeArrowheads="1"/>
            </p:cNvSpPr>
            <p:nvPr/>
          </p:nvSpPr>
          <p:spPr bwMode="auto">
            <a:xfrm>
              <a:off x="3563938" y="3671832"/>
              <a:ext cx="1079500"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1"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zh-CN" altLang="en-US"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1"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j</a:t>
              </a:r>
              <a:r>
                <a:rPr kumimoji="1" lang="en-US" altLang="zh-CN" sz="2000" b="1" i="0" u="none" strike="noStrike" kern="120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Rectangle 5"/>
            <p:cNvSpPr>
              <a:spLocks noChangeArrowheads="1"/>
            </p:cNvSpPr>
            <p:nvPr/>
          </p:nvSpPr>
          <p:spPr bwMode="auto">
            <a:xfrm>
              <a:off x="1142976" y="3671832"/>
              <a:ext cx="1079500"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xi</a:t>
              </a:r>
              <a:r>
                <a:rPr kumimoji="1" lang="zh-CN" altLang="en-US"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yi</a:t>
              </a:r>
              <a:r>
                <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右箭头 15"/>
            <p:cNvSpPr/>
            <p:nvPr/>
          </p:nvSpPr>
          <p:spPr>
            <a:xfrm>
              <a:off x="2285984" y="3929066"/>
              <a:ext cx="1214446" cy="71438"/>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8682" name="TextBox 16"/>
            <p:cNvSpPr txBox="1"/>
            <p:nvPr/>
          </p:nvSpPr>
          <p:spPr>
            <a:xfrm>
              <a:off x="2428860" y="4071942"/>
              <a:ext cx="1071570" cy="398999"/>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走一步</a:t>
              </a:r>
              <a:endParaRPr lang="zh-CN" altLang="en-US" sz="2000" b="1" dirty="0">
                <a:latin typeface="微软雅黑" panose="020B0503020204020204" pitchFamily="34" charset="-122"/>
                <a:ea typeface="微软雅黑" panose="020B0503020204020204" pitchFamily="34" charset="-122"/>
              </a:endParaRPr>
            </a:p>
          </p:txBody>
        </p:sp>
      </p:grpSp>
      <p:grpSp>
        <p:nvGrpSpPr>
          <p:cNvPr id="28683" name="组合 22"/>
          <p:cNvGrpSpPr/>
          <p:nvPr/>
        </p:nvGrpSpPr>
        <p:grpSpPr>
          <a:xfrm>
            <a:off x="3881438" y="1571625"/>
            <a:ext cx="4071937" cy="898652"/>
            <a:chOff x="2357422" y="1571613"/>
            <a:chExt cx="4071966" cy="898999"/>
          </a:xfrm>
        </p:grpSpPr>
        <p:sp>
          <p:nvSpPr>
            <p:cNvPr id="28684" name="TextBox 13"/>
            <p:cNvSpPr txBox="1"/>
            <p:nvPr/>
          </p:nvSpPr>
          <p:spPr>
            <a:xfrm>
              <a:off x="3714744" y="2071678"/>
              <a:ext cx="1357322" cy="398934"/>
            </a:xfrm>
            <a:prstGeom prst="rect">
              <a:avLst/>
            </a:prstGeom>
            <a:noFill/>
            <a:ln w="9525">
              <a:noFill/>
            </a:ln>
          </p:spPr>
          <p:txBody>
            <a:bodyPr anchor="t" anchorCtr="0">
              <a:spAutoFit/>
            </a:bodyPr>
            <a:p>
              <a:pPr algn="ctr"/>
              <a:r>
                <a:rPr lang="zh-CN" altLang="en-US" sz="2000" b="1" dirty="0">
                  <a:latin typeface="微软雅黑" panose="020B0503020204020204" pitchFamily="34" charset="-122"/>
                  <a:ea typeface="微软雅黑" panose="020B0503020204020204" pitchFamily="34" charset="-122"/>
                </a:rPr>
                <a:t>大问题</a:t>
              </a:r>
              <a:endParaRPr lang="zh-CN" altLang="en-US" sz="2000" b="1" dirty="0">
                <a:latin typeface="微软雅黑" panose="020B0503020204020204" pitchFamily="34" charset="-122"/>
                <a:ea typeface="微软雅黑" panose="020B0503020204020204" pitchFamily="34" charset="-122"/>
              </a:endParaRPr>
            </a:p>
          </p:txBody>
        </p:sp>
        <p:sp>
          <p:nvSpPr>
            <p:cNvPr id="18" name="左大括号 17"/>
            <p:cNvSpPr/>
            <p:nvPr/>
          </p:nvSpPr>
          <p:spPr>
            <a:xfrm rot="16200000">
              <a:off x="4179091" y="-250056"/>
              <a:ext cx="428628" cy="4071966"/>
            </a:xfrm>
            <a:prstGeom prst="leftBrace">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grpSp>
        <p:nvGrpSpPr>
          <p:cNvPr id="28686" name="组合 23"/>
          <p:cNvGrpSpPr/>
          <p:nvPr/>
        </p:nvGrpSpPr>
        <p:grpSpPr>
          <a:xfrm>
            <a:off x="5471478" y="3139758"/>
            <a:ext cx="4410710" cy="1035367"/>
            <a:chOff x="3947473" y="3139760"/>
            <a:chExt cx="4410741" cy="1035309"/>
          </a:xfrm>
        </p:grpSpPr>
        <p:sp>
          <p:nvSpPr>
            <p:cNvPr id="10" name="Rectangle 5"/>
            <p:cNvSpPr>
              <a:spLocks noChangeArrowheads="1"/>
            </p:cNvSpPr>
            <p:nvPr/>
          </p:nvSpPr>
          <p:spPr bwMode="auto">
            <a:xfrm>
              <a:off x="6215074" y="3671832"/>
              <a:ext cx="1079500"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xe</a:t>
              </a:r>
              <a:r>
                <a:rPr kumimoji="1" lang="zh-CN" altLang="en-US"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en-US" altLang="zh-CN" sz="2000" b="1" i="0" u="none" strike="noStrike" kern="1200" cap="none" spc="0" normalizeH="0" baseline="0" noProof="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ye</a:t>
              </a:r>
              <a:r>
                <a:rPr kumimoji="1" lang="en-US" altLang="zh-CN" sz="20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1" name="直接箭头连接符 10"/>
            <p:cNvCxnSpPr>
              <a:stCxn id="9" idx="3"/>
              <a:endCxn id="10" idx="1"/>
            </p:cNvCxnSpPr>
            <p:nvPr/>
          </p:nvCxnSpPr>
          <p:spPr>
            <a:xfrm>
              <a:off x="4643438" y="3923451"/>
              <a:ext cx="1571636" cy="0"/>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8689" name="TextBox 11"/>
            <p:cNvSpPr txBox="1"/>
            <p:nvPr/>
          </p:nvSpPr>
          <p:spPr>
            <a:xfrm>
              <a:off x="3947473" y="3139760"/>
              <a:ext cx="4086889" cy="398758"/>
            </a:xfrm>
            <a:prstGeom prst="rect">
              <a:avLst/>
            </a:prstGeom>
            <a:noFill/>
            <a:ln w="9525">
              <a:noFill/>
            </a:ln>
          </p:spPr>
          <p:txBody>
            <a:bodyPr wrap="square" anchor="t" anchorCtr="0">
              <a:spAutoFit/>
            </a:bodyPr>
            <a:p>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mgpath(</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j</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xe</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ye</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path)</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90" name="TextBox 12"/>
            <p:cNvSpPr txBox="1"/>
            <p:nvPr/>
          </p:nvSpPr>
          <p:spPr>
            <a:xfrm>
              <a:off x="7500958" y="3714752"/>
              <a:ext cx="857256" cy="398758"/>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出口</a:t>
              </a:r>
              <a:endParaRPr lang="zh-CN" altLang="en-US" sz="2000" b="1" dirty="0">
                <a:latin typeface="微软雅黑" panose="020B0503020204020204" pitchFamily="34" charset="-122"/>
                <a:ea typeface="微软雅黑" panose="020B0503020204020204" pitchFamily="34" charset="-122"/>
              </a:endParaRPr>
            </a:p>
          </p:txBody>
        </p:sp>
      </p:grpSp>
      <p:grpSp>
        <p:nvGrpSpPr>
          <p:cNvPr id="28691" name="组合 24"/>
          <p:cNvGrpSpPr/>
          <p:nvPr/>
        </p:nvGrpSpPr>
        <p:grpSpPr>
          <a:xfrm>
            <a:off x="5738813" y="4357688"/>
            <a:ext cx="2643187" cy="898651"/>
            <a:chOff x="4214810" y="4357695"/>
            <a:chExt cx="2643206" cy="898999"/>
          </a:xfrm>
        </p:grpSpPr>
        <p:sp>
          <p:nvSpPr>
            <p:cNvPr id="28692" name="TextBox 18"/>
            <p:cNvSpPr txBox="1"/>
            <p:nvPr/>
          </p:nvSpPr>
          <p:spPr>
            <a:xfrm>
              <a:off x="4857752" y="4857760"/>
              <a:ext cx="1357322" cy="398934"/>
            </a:xfrm>
            <a:prstGeom prst="rect">
              <a:avLst/>
            </a:prstGeom>
            <a:noFill/>
            <a:ln w="9525">
              <a:noFill/>
            </a:ln>
          </p:spPr>
          <p:txBody>
            <a:bodyPr anchor="t" anchorCtr="0">
              <a:spAutoFit/>
            </a:bodyPr>
            <a:p>
              <a:pPr algn="ctr"/>
              <a:r>
                <a:rPr lang="zh-CN" altLang="en-US" sz="2000" b="1" dirty="0">
                  <a:latin typeface="微软雅黑" panose="020B0503020204020204" pitchFamily="34" charset="-122"/>
                  <a:ea typeface="微软雅黑" panose="020B0503020204020204" pitchFamily="34" charset="-122"/>
                </a:rPr>
                <a:t>小问题</a:t>
              </a:r>
              <a:endParaRPr lang="zh-CN" altLang="en-US" sz="2000" b="1" dirty="0">
                <a:latin typeface="微软雅黑" panose="020B0503020204020204" pitchFamily="34" charset="-122"/>
                <a:ea typeface="微软雅黑" panose="020B0503020204020204" pitchFamily="34" charset="-122"/>
              </a:endParaRPr>
            </a:p>
          </p:txBody>
        </p:sp>
        <p:sp>
          <p:nvSpPr>
            <p:cNvPr id="20" name="左大括号 19"/>
            <p:cNvSpPr/>
            <p:nvPr/>
          </p:nvSpPr>
          <p:spPr>
            <a:xfrm rot="16200000">
              <a:off x="5322099" y="3250406"/>
              <a:ext cx="428628" cy="2643206"/>
            </a:xfrm>
            <a:prstGeom prst="leftBrace">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sp>
        <p:nvSpPr>
          <p:cNvPr id="26" name="下箭头 25"/>
          <p:cNvSpPr/>
          <p:nvPr/>
        </p:nvSpPr>
        <p:spPr>
          <a:xfrm>
            <a:off x="5738813" y="2571750"/>
            <a:ext cx="214313" cy="500063"/>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8695" name="TextBox 26"/>
          <p:cNvSpPr txBox="1"/>
          <p:nvPr/>
        </p:nvSpPr>
        <p:spPr>
          <a:xfrm>
            <a:off x="2309813" y="1000125"/>
            <a:ext cx="857250" cy="398780"/>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入口</a:t>
            </a:r>
            <a:endParaRPr lang="zh-CN" altLang="en-US" sz="2000" b="1" dirty="0">
              <a:latin typeface="微软雅黑" panose="020B0503020204020204" pitchFamily="34" charset="-122"/>
              <a:ea typeface="微软雅黑" panose="020B0503020204020204" pitchFamily="34" charset="-122"/>
            </a:endParaRPr>
          </a:p>
        </p:txBody>
      </p:sp>
      <p:sp>
        <p:nvSpPr>
          <p:cNvPr id="28696" name="TextBox 27"/>
          <p:cNvSpPr txBox="1"/>
          <p:nvPr/>
        </p:nvSpPr>
        <p:spPr>
          <a:xfrm>
            <a:off x="3952875" y="5500688"/>
            <a:ext cx="4286250" cy="460375"/>
          </a:xfrm>
          <a:prstGeom prst="rect">
            <a:avLst/>
          </a:prstGeom>
          <a:noFill/>
          <a:ln w="9525">
            <a:noFill/>
          </a:ln>
        </p:spPr>
        <p:txBody>
          <a:bodyPr anchor="t" anchorCtr="0">
            <a:spAutoFit/>
          </a:bodyPr>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大问题 </a:t>
            </a:r>
            <a:r>
              <a:rPr lang="zh-CN" altLang="en-US" b="1" dirty="0">
                <a:solidFill>
                  <a:srgbClr val="3366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走一步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小问题</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97" name="TextBox 28"/>
          <p:cNvSpPr txBox="1"/>
          <p:nvPr/>
        </p:nvSpPr>
        <p:spPr>
          <a:xfrm>
            <a:off x="1809750" y="3743325"/>
            <a:ext cx="857250" cy="398780"/>
          </a:xfrm>
          <a:prstGeom prst="rect">
            <a:avLst/>
          </a:prstGeom>
          <a:noFill/>
          <a:ln w="9525">
            <a:noFill/>
          </a:ln>
        </p:spPr>
        <p:txBody>
          <a:bodyPr anchor="t" anchorCtr="0">
            <a:spAutoFit/>
          </a:bodyPr>
          <a:p>
            <a:r>
              <a:rPr lang="zh-CN" altLang="en-US" sz="2000" b="1" dirty="0">
                <a:latin typeface="微软雅黑" panose="020B0503020204020204" pitchFamily="34" charset="-122"/>
                <a:ea typeface="微软雅黑" panose="020B0503020204020204" pitchFamily="34" charset="-122"/>
              </a:rPr>
              <a:t>入口</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a:spLocks noChangeArrowheads="1"/>
          </p:cNvSpPr>
          <p:nvPr/>
        </p:nvSpPr>
        <p:spPr bwMode="auto">
          <a:xfrm>
            <a:off x="1952625" y="1357313"/>
            <a:ext cx="8424863" cy="3447415"/>
          </a:xfrm>
          <a:prstGeom prst="rect">
            <a:avLst/>
          </a:prstGeom>
          <a:noFill/>
        </p:spPr>
        <p:style>
          <a:lnRef idx="1">
            <a:schemeClr val="accent3"/>
          </a:lnRef>
          <a:fillRef idx="2">
            <a:schemeClr val="accent3"/>
          </a:fillRef>
          <a:effectRef idx="1">
            <a:schemeClr val="accent3"/>
          </a:effectRef>
          <a:fontRef idx="minor">
            <a:schemeClr val="dk1"/>
          </a:fontRef>
        </p:style>
        <p:txBody>
          <a:bodyPr lIns="144000" tIns="108000" rIns="144000" bIns="108000">
            <a:spAutoFit/>
          </a:bodyPr>
          <a:lstStyle/>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mgpath(xi</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将</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添加到</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中</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输出</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中的迷宫路径</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若</a:t>
            </a:r>
            <a:r>
              <a:rPr kumimoji="1" lang="en-US" altLang="zh-CN" sz="2000" b="1" i="0" u="none" strike="noStrike" kern="1200" cap="none" spc="0" normalizeH="0" baseline="0" noProof="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mgpath(xi</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对于</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四周的每一个相邻方块</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zh-CN" altLang="en-US" sz="2000" b="1" i="0"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将</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添加到</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中</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置</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mg[xi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a:ln>
                  <a:noFill/>
                </a:ln>
                <a:solidFill>
                  <a:srgbClr val="0000FF"/>
                </a:solidFill>
                <a:effectLst/>
                <a:uLnTx/>
                <a:uFillTx/>
                <a:latin typeface="+mn-ea"/>
                <a:ea typeface="+mn-ea"/>
                <a:cs typeface="Times New Roman" panose="02020603050405020304" pitchFamily="18" charset="0"/>
                <a:sym typeface="+mn-ea"/>
              </a:rPr>
              <a:t>-</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mgpath(</a:t>
            </a: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zh-CN" altLang="en-US" sz="2000" b="1" i="0"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回退一步并置</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mg[xi][</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]=0;</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若</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不为出口且可走</a:t>
            </a:r>
            <a:endParaRPr kumimoji="1" lang="zh-CN" altLang="en-US"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29698" name="TextBox 4"/>
          <p:cNvSpPr txBox="1"/>
          <p:nvPr/>
        </p:nvSpPr>
        <p:spPr>
          <a:xfrm>
            <a:off x="1881188" y="571500"/>
            <a:ext cx="6715125" cy="460375"/>
          </a:xfrm>
          <a:prstGeom prst="rect">
            <a:avLst/>
          </a:prstGeom>
          <a:noFill/>
          <a:ln w="9525">
            <a:noFill/>
          </a:ln>
        </p:spPr>
        <p:txBody>
          <a:bodyPr anchor="t" anchorCtr="0">
            <a:spAutoFit/>
          </a:bodyPr>
          <a:p>
            <a:r>
              <a:rPr lang="zh-CN" altLang="en-US" b="1" dirty="0">
                <a:latin typeface="Times New Roman" panose="02020603050405020304" pitchFamily="18" charset="0"/>
                <a:ea typeface="楷体" panose="02010609060101010101" pitchFamily="49" charset="-122"/>
              </a:rPr>
              <a:t>求解迷宫问题的递归模型如下：</a:t>
            </a:r>
            <a:endParaRPr lang="zh-CN" altLang="en-US" b="1" dirty="0">
              <a:latin typeface="Times New Roman" panose="02020603050405020304" pitchFamily="18" charset="0"/>
              <a:ea typeface="楷体" panose="02010609060101010101" pitchFamily="49" charset="-122"/>
            </a:endParaRPr>
          </a:p>
        </p:txBody>
      </p:sp>
      <p:grpSp>
        <p:nvGrpSpPr>
          <p:cNvPr id="9" name="组合 8"/>
          <p:cNvGrpSpPr/>
          <p:nvPr/>
        </p:nvGrpSpPr>
        <p:grpSpPr>
          <a:xfrm>
            <a:off x="4524375" y="4933950"/>
            <a:ext cx="2643188" cy="1635297"/>
            <a:chOff x="2714612" y="3500438"/>
            <a:chExt cx="2643206" cy="1635564"/>
          </a:xfrm>
        </p:grpSpPr>
        <p:cxnSp>
          <p:nvCxnSpPr>
            <p:cNvPr id="7" name="直接箭头连接符 6"/>
            <p:cNvCxnSpPr/>
            <p:nvPr/>
          </p:nvCxnSpPr>
          <p:spPr>
            <a:xfrm rot="16200000" flipV="1">
              <a:off x="3464711" y="3964785"/>
              <a:ext cx="928694" cy="0"/>
            </a:xfrm>
            <a:prstGeom prst="straightConnector1">
              <a:avLst/>
            </a:prstGeom>
            <a:ln w="28575">
              <a:solidFill>
                <a:srgbClr val="336600"/>
              </a:solidFill>
              <a:tailEnd type="arrow"/>
            </a:ln>
          </p:spPr>
          <p:style>
            <a:lnRef idx="1">
              <a:schemeClr val="accent1"/>
            </a:lnRef>
            <a:fillRef idx="0">
              <a:schemeClr val="accent1"/>
            </a:fillRef>
            <a:effectRef idx="0">
              <a:schemeClr val="accent1"/>
            </a:effectRef>
            <a:fontRef idx="minor">
              <a:schemeClr val="tx1"/>
            </a:fontRef>
          </p:style>
        </p:cxnSp>
        <p:sp>
          <p:nvSpPr>
            <p:cNvPr id="29701" name="TextBox 7"/>
            <p:cNvSpPr txBox="1"/>
            <p:nvPr/>
          </p:nvSpPr>
          <p:spPr>
            <a:xfrm>
              <a:off x="2714612" y="4429132"/>
              <a:ext cx="2643206" cy="706870"/>
            </a:xfrm>
            <a:prstGeom prst="rect">
              <a:avLst/>
            </a:prstGeom>
            <a:noFill/>
            <a:ln w="9525">
              <a:noFill/>
            </a:ln>
          </p:spPr>
          <p:txBody>
            <a:bodyPr anchor="t" anchorCtr="0">
              <a:spAutoFit/>
            </a:bodyPr>
            <a:p>
              <a:pPr algn="ctr"/>
              <a:r>
                <a:rPr lang="zh-CN" altLang="en-US" sz="2000" b="1" dirty="0">
                  <a:latin typeface="楷体" panose="02010609060101010101" pitchFamily="49" charset="-122"/>
                  <a:ea typeface="楷体" panose="02010609060101010101" pitchFamily="49" charset="-122"/>
                </a:rPr>
                <a:t>在一个“小问题”执行完后回退找</a:t>
              </a:r>
              <a:r>
                <a:rPr lang="zh-CN" altLang="en-US" sz="2000" b="1" dirty="0">
                  <a:solidFill>
                    <a:srgbClr val="7030A0"/>
                  </a:solidFill>
                  <a:latin typeface="楷体" panose="02010609060101010101" pitchFamily="49" charset="-122"/>
                  <a:ea typeface="楷体" panose="02010609060101010101" pitchFamily="49" charset="-122"/>
                </a:rPr>
                <a:t>所有解</a:t>
              </a:r>
              <a:endParaRPr lang="zh-CN" altLang="en-US" sz="2000" b="1" dirty="0">
                <a:solidFill>
                  <a:srgbClr val="7030A0"/>
                </a:solidFill>
                <a:latin typeface="楷体" panose="02010609060101010101" pitchFamily="49" charset="-122"/>
                <a:ea typeface="楷体" panose="02010609060101010101" pitchFamily="49"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charRg st="0" end="45"/>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xEl>
                                              <p:charRg st="45" end="63"/>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4">
                                            <p:txEl>
                                              <p:charRg st="63" end="87"/>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charRg st="87" end="14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charRg st="140" end="207"/>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
                                            <p:txEl>
                                              <p:charRg st="207" end="232"/>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
                                            <p:txEl>
                                              <p:charRg st="232" end="26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xEl>
                                              <p:charRg st="266" end="299"/>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
                                            <p:txEl>
                                              <p:charRg st="299" end="322"/>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 Box 3"/>
          <p:cNvSpPr txBox="1"/>
          <p:nvPr/>
        </p:nvSpPr>
        <p:spPr>
          <a:xfrm>
            <a:off x="1005840" y="357505"/>
            <a:ext cx="10600055" cy="911860"/>
          </a:xfrm>
          <a:prstGeom prst="rect">
            <a:avLst/>
          </a:prstGeom>
          <a:noFill/>
          <a:ln w="9525">
            <a:noFill/>
          </a:ln>
        </p:spPr>
        <p:txBody>
          <a:bodyPr wrap="square" anchor="t" anchorCtr="0">
            <a:spAutoFit/>
          </a:bodyPr>
          <a:p>
            <a:pPr>
              <a:lnSpc>
                <a:spcPts val="32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迷宫路径用顺序表存储，它的元素由方块构成的。</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32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其</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PathType</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类型定义如下：</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500" name="Text Box 4"/>
          <p:cNvSpPr txBox="1">
            <a:spLocks noChangeArrowheads="1"/>
          </p:cNvSpPr>
          <p:nvPr/>
        </p:nvSpPr>
        <p:spPr bwMode="auto">
          <a:xfrm>
            <a:off x="1847215" y="1485265"/>
            <a:ext cx="7819390" cy="3610610"/>
          </a:xfrm>
          <a:prstGeom prst="rect">
            <a:avLst/>
          </a:prstGeom>
        </p:spPr>
        <p:style>
          <a:lnRef idx="2">
            <a:schemeClr val="dk1"/>
          </a:lnRef>
          <a:fillRef idx="1">
            <a:schemeClr val="lt1"/>
          </a:fillRef>
          <a:effectRef idx="0">
            <a:schemeClr val="dk1"/>
          </a:effectRef>
          <a:fontRef idx="minor">
            <a:schemeClr val="dk1"/>
          </a:fontRef>
        </p:style>
        <p:txBody>
          <a:bodyPr wrap="square" lIns="180000" tIns="144000" bIns="144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typedef</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struct</a:t>
            </a:r>
            <a:endPar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当前方块的行号</a:t>
            </a:r>
            <a:endPar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j;			</a:t>
            </a:r>
            <a:r>
              <a:rPr kumimoji="1" lang="en-US" altLang="zh-CN"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当前方块的列号</a:t>
            </a:r>
            <a:endPar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FF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Box</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typedef</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struct</a:t>
            </a:r>
            <a:endPar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FF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Box</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data[</a:t>
            </a:r>
            <a:r>
              <a:rPr kumimoji="1" lang="en-US" altLang="zh-CN" b="1" i="0" u="none" strike="noStrike" kern="1200" cap="none" spc="0" normalizeH="0" baseline="0" noProof="0" dirty="0" err="1">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MaxSize</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int</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length;		</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路径长度</a:t>
            </a:r>
            <a:endPar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err="1" smtClean="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PathType</a:t>
            </a:r>
            <a:r>
              <a:rPr kumimoji="1" lang="en-US" altLang="zh-CN"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定义路径类型</a:t>
            </a:r>
            <a:endParaRPr kumimoji="1" lang="zh-CN" altLang="en-US"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1" name="Text Box 3"/>
          <p:cNvSpPr txBox="1">
            <a:spLocks noChangeArrowheads="1"/>
          </p:cNvSpPr>
          <p:nvPr/>
        </p:nvSpPr>
        <p:spPr bwMode="auto">
          <a:xfrm>
            <a:off x="1738313" y="571500"/>
            <a:ext cx="8143875" cy="4707890"/>
          </a:xfrm>
          <a:prstGeom prst="rect">
            <a:avLst/>
          </a:prstGeom>
          <a:noFill/>
        </p:spPr>
        <p:style>
          <a:lnRef idx="1">
            <a:schemeClr val="accent3"/>
          </a:lnRef>
          <a:fillRef idx="2">
            <a:schemeClr val="accent3"/>
          </a:fillRef>
          <a:effectRef idx="1">
            <a:schemeClr val="accent3"/>
          </a:effectRef>
          <a:fontRef idx="minor">
            <a:schemeClr val="dk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void </a:t>
            </a:r>
            <a:r>
              <a:rPr kumimoji="1" lang="en-US" altLang="zh-CN" sz="2000" b="1" i="0" u="none" strike="noStrike" kern="1200" cap="none" spc="0" normalizeH="0" baseline="0" noProof="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mgpath</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yi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xe</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ye</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PathType </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求解路径为</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di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k</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if </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en-US" altLang="zh-CN" sz="2000" b="1" i="0" u="none" strike="noStrike" kern="1200" cap="none" spc="0" normalizeH="0" baseline="0" noProof="0" dirty="0" err="1">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&amp;&amp; </a:t>
            </a:r>
            <a:r>
              <a:rPr kumimoji="1" lang="en-US" altLang="zh-CN" sz="2000" b="1" i="0" u="none" strike="noStrike" kern="1200" cap="none" spc="0" normalizeH="0" baseline="0" noProof="0" dirty="0" err="1">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path.data[path.length</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xi;</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path.data[path.length</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 = </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path.length</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printf</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迷宫路径</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a:t>
            </a:r>
            <a:r>
              <a:rPr kumimoji="1"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如下</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count);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for </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(k=</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0;k</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&lt;</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path.length;k</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printf</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("\t</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path.data[k</a:t>
            </a:r>
            <a:r>
              <a:rPr kumimoji="1"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zh-CN" altLang="en-US"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path.data</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[k</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if </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k+1</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)%5==0)	</a:t>
            </a:r>
            <a:r>
              <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每输出每</a:t>
            </a:r>
            <a:r>
              <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5</a:t>
            </a:r>
            <a:r>
              <a:rPr kumimoji="1" lang="zh-CN" altLang="en-US"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个方块后换一行</a:t>
            </a:r>
            <a:endParaRPr kumimoji="1" lang="zh-CN" altLang="en-US"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printf</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endPar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printf</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endPar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grpSp>
        <p:nvGrpSpPr>
          <p:cNvPr id="8" name="组合 7"/>
          <p:cNvGrpSpPr/>
          <p:nvPr/>
        </p:nvGrpSpPr>
        <p:grpSpPr>
          <a:xfrm>
            <a:off x="2667000" y="1885950"/>
            <a:ext cx="7000875" cy="4327550"/>
            <a:chOff x="1000100" y="1857364"/>
            <a:chExt cx="6215106" cy="4327903"/>
          </a:xfrm>
        </p:grpSpPr>
        <p:sp>
          <p:nvSpPr>
            <p:cNvPr id="4" name="矩形 3"/>
            <p:cNvSpPr/>
            <p:nvPr/>
          </p:nvSpPr>
          <p:spPr>
            <a:xfrm>
              <a:off x="1000100" y="1857364"/>
              <a:ext cx="6215106" cy="3114754"/>
            </a:xfrm>
            <a:prstGeom prst="rect">
              <a:avLst/>
            </a:prstGeom>
            <a:solidFill>
              <a:schemeClr val="accent1">
                <a:alpha val="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a:stCxn id="4" idx="2"/>
            </p:cNvCxnSpPr>
            <p:nvPr/>
          </p:nvCxnSpPr>
          <p:spPr>
            <a:xfrm rot="5400000">
              <a:off x="3699751" y="5379344"/>
              <a:ext cx="815128" cy="67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1749" name="TextBox 6"/>
            <p:cNvSpPr txBox="1"/>
            <p:nvPr/>
          </p:nvSpPr>
          <p:spPr>
            <a:xfrm>
              <a:off x="2786050" y="5786454"/>
              <a:ext cx="3921800" cy="398813"/>
            </a:xfrm>
            <a:prstGeom prst="rect">
              <a:avLst/>
            </a:prstGeom>
            <a:noFill/>
            <a:ln w="9525">
              <a:noFill/>
            </a:ln>
          </p:spPr>
          <p:txBody>
            <a:bodyPr anchor="t" anchorCtr="0">
              <a:spAutoFit/>
            </a:bodyPr>
            <a:p>
              <a:r>
                <a:rPr lang="zh-CN" altLang="en-US" sz="2000" b="1" dirty="0">
                  <a:latin typeface="Times New Roman" panose="02020603050405020304" pitchFamily="18" charset="0"/>
                  <a:ea typeface="楷体" panose="02010609060101010101" pitchFamily="49" charset="-122"/>
                </a:rPr>
                <a:t>找到了出口，输出路径（递归出口）</a:t>
              </a:r>
              <a:endParaRPr lang="zh-CN" altLang="en-US" sz="2000" b="1" dirty="0">
                <a:latin typeface="Times New Roman" panose="02020603050405020304" pitchFamily="18" charset="0"/>
                <a:ea typeface="楷体" panose="02010609060101010101" pitchFamily="49"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charRg st="102" end="12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451">
                                            <p:txEl>
                                              <p:charRg st="127" end="17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4451">
                                            <p:txEl>
                                              <p:charRg st="170" end="21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451">
                                            <p:txEl>
                                              <p:charRg st="216" end="24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451">
                                            <p:txEl>
                                              <p:charRg st="246" end="29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451">
                                            <p:txEl>
                                              <p:charRg st="292" end="33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451">
                                            <p:txEl>
                                              <p:charRg st="335" end="40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451">
                                            <p:txEl>
                                              <p:charRg st="408" end="46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451">
                                            <p:txEl>
                                              <p:charRg st="461" end="50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451">
                                            <p:txEl>
                                              <p:charRg st="502" end="51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451">
                                            <p:txEl>
                                              <p:charRg st="519" end="54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451">
                                            <p:txEl>
                                              <p:charRg st="548" end="559"/>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4" name="Text Box 4"/>
          <p:cNvSpPr txBox="1">
            <a:spLocks noChangeArrowheads="1"/>
          </p:cNvSpPr>
          <p:nvPr/>
        </p:nvSpPr>
        <p:spPr bwMode="auto">
          <a:xfrm>
            <a:off x="1703388" y="214313"/>
            <a:ext cx="8535988" cy="5477510"/>
          </a:xfrm>
          <a:prstGeom prst="rect">
            <a:avLst/>
          </a:prstGeom>
          <a:noFill/>
        </p:spPr>
        <p:style>
          <a:lnRef idx="1">
            <a:schemeClr val="accent3"/>
          </a:lnRef>
          <a:fillRef idx="2">
            <a:schemeClr val="accent3"/>
          </a:fillRef>
          <a:effectRef idx="1">
            <a:schemeClr val="accent3"/>
          </a:effectRef>
          <a:fontRef idx="minor">
            <a:schemeClr val="dk1"/>
          </a:fontRef>
        </p:style>
        <p:txBody>
          <a:bodyPr wrap="square">
            <a:spAutoFit/>
          </a:bodyPr>
          <a:lstStyle/>
          <a:p>
            <a:pPr marL="0" marR="0" lvl="0" indent="0" algn="l" defTabSz="914400" rtl="0" eaLnBrk="1" fontAlgn="base" latinLnBrk="0" hangingPunct="1">
              <a:lnSpc>
                <a:spcPts val="2800"/>
              </a:lnSpc>
              <a:spcBef>
                <a:spcPct val="0"/>
              </a:spcBef>
              <a:spcAft>
                <a:spcPct val="0"/>
              </a:spcAft>
              <a:buClrTx/>
              <a:buSzTx/>
              <a:buFontTx/>
              <a:buNone/>
              <a:defRPr/>
            </a:pPr>
            <a:r>
              <a:rPr kumimoji="1" lang="zh-CN" altLang="pt-BR"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else			</a:t>
            </a:r>
            <a:r>
              <a:rPr kumimoji="1" lang="pt-BR"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pt-BR"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pt-BR"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pt-BR"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pt-BR"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不是出口</a:t>
            </a:r>
            <a:endParaRPr kumimoji="1" lang="zh-CN" altLang="pt-BR"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zh-CN" altLang="pt-BR"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if (mg[xi][yi]==0)</a:t>
            </a:r>
            <a:r>
              <a:rPr kumimoji="1" lang="pt-BR"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pt-BR"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pt-BR"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pt-BR"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pt-BR"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是一个可走方块</a:t>
            </a:r>
            <a:endParaRPr kumimoji="1" lang="zh-CN" altLang="pt-BR"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zh-CN" altLang="pt-BR"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di=0</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while </a:t>
            </a:r>
            <a:r>
              <a:rPr kumimoji="1" lang="pt-BR"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pt-BR" altLang="zh-CN"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di&lt;4</a:t>
            </a: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对于</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四周的每一个相邻方位</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di</a:t>
            </a:r>
            <a:endParaRPr kumimoji="1" lang="pt-BR"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pt-BR"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switch(di)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找方位</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di</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对应的方块</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1"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a:t>
            </a:r>
            <a:r>
              <a:rPr kumimoji="1" lang="zh-CN" altLang="en-US"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1"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r>
              <a:rPr kumimoji="1" lang="en-US" altLang="zh-CN" sz="20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case </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0:i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=xi-1; j=</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break;</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case </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   j=</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yi+1</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break;</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case </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xi+1</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j=</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break;</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case </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   j=</a:t>
            </a:r>
            <a:r>
              <a:rPr kumimoji="1" lang="en-US" altLang="zh-CN" sz="2000" b="1" i="0"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 break;</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path.data[path.length].i = xi;</a:t>
            </a:r>
            <a:endPar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path.data[path.length].j = yi;</a:t>
            </a:r>
            <a:endPar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path.length++;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路径长度增</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    </a:t>
            </a:r>
            <a:r>
              <a:rPr kumimoji="1" lang="en-US" altLang="zh-CN" sz="2000" b="1" i="0" u="none" strike="noStrike" kern="1200" cap="none" spc="0" normalizeH="0" baseline="0" noProof="0" smtClean="0">
                <a:ln>
                  <a:noFill/>
                </a:ln>
                <a:solidFill>
                  <a:srgbClr val="0066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mg[xi</a:t>
            </a:r>
            <a:r>
              <a:rPr kumimoji="1" lang="en-US" altLang="zh-CN" sz="2000" b="1" i="0" u="none" strike="noStrike" kern="1200" cap="none" spc="0" normalizeH="0" baseline="0" noProof="0" dirty="0"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dirty="0" err="1"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en-US" altLang="zh-CN" sz="2000" b="1" i="0" u="none" strike="noStrike" kern="1200" cap="none" spc="0" normalizeH="0" baseline="0" noProof="0" dirty="0"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避免来回重复找路径</a:t>
            </a:r>
            <a:endPar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4">
                                            <p:txEl>
                                              <p:charRg st="24" end="6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24">
                                            <p:txEl>
                                              <p:charRg st="66" end="8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524">
                                            <p:txEl>
                                              <p:charRg st="81" end="13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524">
                                            <p:txEl>
                                              <p:charRg st="138" end="20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7524">
                                            <p:txEl>
                                              <p:charRg st="203" end="23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7524">
                                            <p:txEl>
                                              <p:charRg st="234" end="29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7524">
                                            <p:txEl>
                                              <p:charRg st="293" end="35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524">
                                            <p:txEl>
                                              <p:charRg st="352" end="4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524">
                                            <p:txEl>
                                              <p:charRg st="411" end="47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7524">
                                            <p:txEl>
                                              <p:charRg st="470" end="50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524">
                                            <p:txEl>
                                              <p:charRg st="627" end="71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7524">
                                            <p:txEl>
                                              <p:charRg st="719" end="78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7524">
                                            <p:txEl>
                                              <p:charRg st="501" end="56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7524">
                                            <p:txEl>
                                              <p:charRg st="563" end="62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Text Box 2"/>
          <p:cNvSpPr txBox="1">
            <a:spLocks noChangeArrowheads="1"/>
          </p:cNvSpPr>
          <p:nvPr/>
        </p:nvSpPr>
        <p:spPr bwMode="auto">
          <a:xfrm>
            <a:off x="1703388" y="260350"/>
            <a:ext cx="7893050" cy="3159125"/>
          </a:xfrm>
          <a:prstGeom prst="rect">
            <a:avLst/>
          </a:prstGeom>
          <a:noFill/>
        </p:spPr>
        <p:style>
          <a:lnRef idx="1">
            <a:schemeClr val="accent3"/>
          </a:lnRef>
          <a:fillRef idx="2">
            <a:schemeClr val="accent3"/>
          </a:fillRef>
          <a:effectRef idx="1">
            <a:schemeClr val="accent3"/>
          </a:effectRef>
          <a:fontRef idx="minor">
            <a:schemeClr val="dk1"/>
          </a:fontRef>
        </p:style>
        <p:txBody>
          <a:bodyPr wrap="square" lIns="144000" tIns="144000" rIns="144000" bIns="144000">
            <a:spAutoFit/>
          </a:bodyPr>
          <a:lstStyle/>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mgpath(i</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j</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ye</a:t>
            </a: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path.length-</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回退一个方块</a:t>
            </a:r>
            <a:endParaRPr kumimoji="1" lang="zh-CN" altLang="en-US"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mg[xi][yi]=0;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恢复</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(xi</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yi)</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为可走</a:t>
            </a: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di</a:t>
            </a: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//-while </a:t>
            </a:r>
            <a:endPar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if (mg[xi][yi]==0)</a:t>
            </a:r>
            <a:endPar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a:t>
            </a:r>
            <a:r>
              <a:rPr kumimoji="1" lang="en-US" altLang="zh-CN"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zh-CN" altLang="en-US" sz="2000" b="1" i="0" u="none" strike="noStrike" kern="1200" cap="none" spc="0" normalizeH="0" baseline="0" noProof="0" smtClean="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递归体</a:t>
            </a:r>
            <a:endParaRPr kumimoji="1"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ts val="28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33794" name="Text Box 3"/>
          <p:cNvSpPr txBox="1"/>
          <p:nvPr/>
        </p:nvSpPr>
        <p:spPr>
          <a:xfrm>
            <a:off x="1809750" y="3786188"/>
            <a:ext cx="8207375" cy="911860"/>
          </a:xfrm>
          <a:prstGeom prst="rect">
            <a:avLst/>
          </a:prstGeom>
          <a:noFill/>
          <a:ln w="9525">
            <a:noFill/>
          </a:ln>
        </p:spPr>
        <p:txBody>
          <a:bodyPr anchor="t" anchorCtr="0">
            <a:spAutoFit/>
          </a:bodyPr>
          <a:p>
            <a:pPr>
              <a:lnSpc>
                <a:spcPts val="3200"/>
              </a:lnSpc>
              <a:spcBef>
                <a:spcPct val="50000"/>
              </a:spcBef>
            </a:pPr>
            <a:r>
              <a:rPr lang="zh-CN" altLang="en-US" b="1" dirty="0">
                <a:latin typeface="Times New Roman" panose="02020603050405020304" pitchFamily="18" charset="0"/>
                <a:ea typeface="楷体" panose="02010609060101010101" pitchFamily="49" charset="-122"/>
              </a:rPr>
              <a:t>　　本算法输出</a:t>
            </a:r>
            <a:r>
              <a:rPr lang="zh-CN" altLang="en-US" b="1" dirty="0">
                <a:solidFill>
                  <a:srgbClr val="FF00FF"/>
                </a:solidFill>
                <a:latin typeface="Times New Roman" panose="02020603050405020304" pitchFamily="18" charset="0"/>
                <a:ea typeface="楷体" panose="02010609060101010101" pitchFamily="49" charset="-122"/>
              </a:rPr>
              <a:t>所有的迷宫路径</a:t>
            </a:r>
            <a:r>
              <a:rPr lang="zh-CN" altLang="en-US" b="1" dirty="0">
                <a:latin typeface="Times New Roman" panose="02020603050405020304" pitchFamily="18" charset="0"/>
                <a:ea typeface="楷体" panose="02010609060101010101" pitchFamily="49" charset="-122"/>
              </a:rPr>
              <a:t>，可以通过进一步比较找出最短路径（可能存在多条最短路径）。</a:t>
            </a:r>
            <a:endParaRPr lang="zh-CN" altLang="en-US" b="1" dirty="0">
              <a:latin typeface="Times New Roman" panose="02020603050405020304" pitchFamily="18" charset="0"/>
              <a:ea typeface="楷体" panose="02010609060101010101" pitchFamily="49" charset="-122"/>
            </a:endParaRPr>
          </a:p>
        </p:txBody>
      </p:sp>
    </p:spTree>
  </p:cSld>
  <p:clrMapOvr>
    <a:masterClrMapping/>
  </p:clrMapOvr>
  <p:transition>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60"/>
          <p:cNvSpPr/>
          <p:nvPr/>
        </p:nvSpPr>
        <p:spPr>
          <a:xfrm>
            <a:off x="3327400" y="62071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18" name="Rectangle 61"/>
          <p:cNvSpPr/>
          <p:nvPr/>
        </p:nvSpPr>
        <p:spPr>
          <a:xfrm>
            <a:off x="3687763" y="62071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19" name="Rectangle 62"/>
          <p:cNvSpPr/>
          <p:nvPr/>
        </p:nvSpPr>
        <p:spPr>
          <a:xfrm>
            <a:off x="4048125" y="62071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20" name="Rectangle 63"/>
          <p:cNvSpPr/>
          <p:nvPr/>
        </p:nvSpPr>
        <p:spPr>
          <a:xfrm>
            <a:off x="4408488" y="62071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21" name="Rectangle 64"/>
          <p:cNvSpPr/>
          <p:nvPr/>
        </p:nvSpPr>
        <p:spPr>
          <a:xfrm>
            <a:off x="4767263" y="62071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22" name="Rectangle 65"/>
          <p:cNvSpPr/>
          <p:nvPr/>
        </p:nvSpPr>
        <p:spPr>
          <a:xfrm>
            <a:off x="5127625" y="62071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23" name="Text Box 66"/>
          <p:cNvSpPr txBox="1"/>
          <p:nvPr/>
        </p:nvSpPr>
        <p:spPr>
          <a:xfrm>
            <a:off x="3398838"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0</a:t>
            </a:r>
            <a:endParaRPr lang="en-US" altLang="zh-CN" sz="1600" dirty="0">
              <a:latin typeface="Times New Roman" panose="02020603050405020304" pitchFamily="18" charset="0"/>
              <a:ea typeface="宋体" panose="02010600030101010101" pitchFamily="2" charset="-122"/>
            </a:endParaRPr>
          </a:p>
        </p:txBody>
      </p:sp>
      <p:sp>
        <p:nvSpPr>
          <p:cNvPr id="34824" name="Text Box 67"/>
          <p:cNvSpPr txBox="1"/>
          <p:nvPr/>
        </p:nvSpPr>
        <p:spPr>
          <a:xfrm>
            <a:off x="3757613"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1</a:t>
            </a:r>
            <a:endParaRPr lang="en-US" altLang="zh-CN" sz="1600" dirty="0">
              <a:latin typeface="Times New Roman" panose="02020603050405020304" pitchFamily="18" charset="0"/>
              <a:ea typeface="宋体" panose="02010600030101010101" pitchFamily="2" charset="-122"/>
            </a:endParaRPr>
          </a:p>
        </p:txBody>
      </p:sp>
      <p:sp>
        <p:nvSpPr>
          <p:cNvPr id="34825" name="Text Box 68"/>
          <p:cNvSpPr txBox="1"/>
          <p:nvPr/>
        </p:nvSpPr>
        <p:spPr>
          <a:xfrm>
            <a:off x="4117975"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2</a:t>
            </a:r>
            <a:endParaRPr lang="en-US" altLang="zh-CN" sz="1600" dirty="0">
              <a:latin typeface="Times New Roman" panose="02020603050405020304" pitchFamily="18" charset="0"/>
              <a:ea typeface="宋体" panose="02010600030101010101" pitchFamily="2" charset="-122"/>
            </a:endParaRPr>
          </a:p>
        </p:txBody>
      </p:sp>
      <p:sp>
        <p:nvSpPr>
          <p:cNvPr id="34826" name="Text Box 69"/>
          <p:cNvSpPr txBox="1"/>
          <p:nvPr/>
        </p:nvSpPr>
        <p:spPr>
          <a:xfrm>
            <a:off x="4516438"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3</a:t>
            </a:r>
            <a:endParaRPr lang="en-US" altLang="zh-CN" sz="1600" dirty="0">
              <a:latin typeface="Times New Roman" panose="02020603050405020304" pitchFamily="18" charset="0"/>
              <a:ea typeface="宋体" panose="02010600030101010101" pitchFamily="2" charset="-122"/>
            </a:endParaRPr>
          </a:p>
        </p:txBody>
      </p:sp>
      <p:sp>
        <p:nvSpPr>
          <p:cNvPr id="34827" name="Text Box 70"/>
          <p:cNvSpPr txBox="1"/>
          <p:nvPr/>
        </p:nvSpPr>
        <p:spPr>
          <a:xfrm>
            <a:off x="4875213"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4</a:t>
            </a:r>
            <a:endParaRPr lang="en-US" altLang="zh-CN" sz="1600" dirty="0">
              <a:latin typeface="Times New Roman" panose="02020603050405020304" pitchFamily="18" charset="0"/>
              <a:ea typeface="宋体" panose="02010600030101010101" pitchFamily="2" charset="-122"/>
            </a:endParaRPr>
          </a:p>
        </p:txBody>
      </p:sp>
      <p:sp>
        <p:nvSpPr>
          <p:cNvPr id="34828" name="Text Box 71"/>
          <p:cNvSpPr txBox="1"/>
          <p:nvPr/>
        </p:nvSpPr>
        <p:spPr>
          <a:xfrm>
            <a:off x="5235575" y="2603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5</a:t>
            </a:r>
            <a:endParaRPr lang="en-US" altLang="zh-CN" sz="1600" dirty="0">
              <a:latin typeface="Times New Roman" panose="02020603050405020304" pitchFamily="18" charset="0"/>
              <a:ea typeface="宋体" panose="02010600030101010101" pitchFamily="2" charset="-122"/>
            </a:endParaRPr>
          </a:p>
        </p:txBody>
      </p:sp>
      <p:sp>
        <p:nvSpPr>
          <p:cNvPr id="34829" name="Text Box 72"/>
          <p:cNvSpPr txBox="1"/>
          <p:nvPr/>
        </p:nvSpPr>
        <p:spPr>
          <a:xfrm>
            <a:off x="2822575" y="644525"/>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0</a:t>
            </a:r>
            <a:endParaRPr lang="en-US" altLang="zh-CN" sz="1600" dirty="0">
              <a:latin typeface="Times New Roman" panose="02020603050405020304" pitchFamily="18" charset="0"/>
              <a:ea typeface="宋体" panose="02010600030101010101" pitchFamily="2" charset="-122"/>
            </a:endParaRPr>
          </a:p>
        </p:txBody>
      </p:sp>
      <p:sp>
        <p:nvSpPr>
          <p:cNvPr id="34830" name="Rectangle 73"/>
          <p:cNvSpPr/>
          <p:nvPr/>
        </p:nvSpPr>
        <p:spPr>
          <a:xfrm>
            <a:off x="3327400" y="9810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99402" name="Rectangle 74"/>
          <p:cNvSpPr>
            <a:spLocks noChangeArrowheads="1"/>
          </p:cNvSpPr>
          <p:nvPr/>
        </p:nvSpPr>
        <p:spPr bwMode="auto">
          <a:xfrm>
            <a:off x="3687763" y="9810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99403" name="Rectangle 75"/>
          <p:cNvSpPr>
            <a:spLocks noChangeArrowheads="1"/>
          </p:cNvSpPr>
          <p:nvPr/>
        </p:nvSpPr>
        <p:spPr bwMode="auto">
          <a:xfrm>
            <a:off x="4048125" y="9810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04" name="Rectangle 76"/>
          <p:cNvSpPr>
            <a:spLocks noChangeArrowheads="1"/>
          </p:cNvSpPr>
          <p:nvPr/>
        </p:nvSpPr>
        <p:spPr bwMode="auto">
          <a:xfrm>
            <a:off x="4408488" y="9810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34" name="Rectangle 77"/>
          <p:cNvSpPr/>
          <p:nvPr/>
        </p:nvSpPr>
        <p:spPr>
          <a:xfrm>
            <a:off x="4767263" y="9810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35" name="Rectangle 78"/>
          <p:cNvSpPr/>
          <p:nvPr/>
        </p:nvSpPr>
        <p:spPr>
          <a:xfrm>
            <a:off x="5127625" y="9810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36" name="Text Box 79"/>
          <p:cNvSpPr txBox="1"/>
          <p:nvPr/>
        </p:nvSpPr>
        <p:spPr>
          <a:xfrm>
            <a:off x="2822575" y="1004888"/>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1</a:t>
            </a:r>
            <a:endParaRPr lang="en-US" altLang="zh-CN" sz="1600" dirty="0">
              <a:latin typeface="Times New Roman" panose="02020603050405020304" pitchFamily="18" charset="0"/>
              <a:ea typeface="宋体" panose="02010600030101010101" pitchFamily="2" charset="-122"/>
            </a:endParaRPr>
          </a:p>
        </p:txBody>
      </p:sp>
      <p:sp>
        <p:nvSpPr>
          <p:cNvPr id="34837" name="Rectangle 80"/>
          <p:cNvSpPr/>
          <p:nvPr/>
        </p:nvSpPr>
        <p:spPr>
          <a:xfrm>
            <a:off x="3327400" y="13414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99409" name="Rectangle 81"/>
          <p:cNvSpPr>
            <a:spLocks noChangeArrowheads="1"/>
          </p:cNvSpPr>
          <p:nvPr/>
        </p:nvSpPr>
        <p:spPr bwMode="auto">
          <a:xfrm>
            <a:off x="3687763" y="1341438"/>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39" name="Rectangle 82"/>
          <p:cNvSpPr/>
          <p:nvPr/>
        </p:nvSpPr>
        <p:spPr>
          <a:xfrm>
            <a:off x="4048125" y="13414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99411" name="Rectangle 83"/>
          <p:cNvSpPr>
            <a:spLocks noChangeArrowheads="1"/>
          </p:cNvSpPr>
          <p:nvPr/>
        </p:nvSpPr>
        <p:spPr bwMode="auto">
          <a:xfrm>
            <a:off x="4408488" y="1341438"/>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12" name="Rectangle 84"/>
          <p:cNvSpPr>
            <a:spLocks noChangeArrowheads="1"/>
          </p:cNvSpPr>
          <p:nvPr/>
        </p:nvSpPr>
        <p:spPr bwMode="auto">
          <a:xfrm>
            <a:off x="4767263" y="1341438"/>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42" name="Rectangle 85"/>
          <p:cNvSpPr/>
          <p:nvPr/>
        </p:nvSpPr>
        <p:spPr>
          <a:xfrm>
            <a:off x="5127625" y="13414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43" name="Text Box 86"/>
          <p:cNvSpPr txBox="1"/>
          <p:nvPr/>
        </p:nvSpPr>
        <p:spPr>
          <a:xfrm>
            <a:off x="2822575" y="13652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2</a:t>
            </a:r>
            <a:endParaRPr lang="en-US" altLang="zh-CN" sz="1600" dirty="0">
              <a:latin typeface="Times New Roman" panose="02020603050405020304" pitchFamily="18" charset="0"/>
              <a:ea typeface="宋体" panose="02010600030101010101" pitchFamily="2" charset="-122"/>
            </a:endParaRPr>
          </a:p>
        </p:txBody>
      </p:sp>
      <p:sp>
        <p:nvSpPr>
          <p:cNvPr id="34844" name="Rectangle 87"/>
          <p:cNvSpPr/>
          <p:nvPr/>
        </p:nvSpPr>
        <p:spPr>
          <a:xfrm>
            <a:off x="3327400" y="170021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99416" name="Rectangle 88"/>
          <p:cNvSpPr>
            <a:spLocks noChangeArrowheads="1"/>
          </p:cNvSpPr>
          <p:nvPr/>
        </p:nvSpPr>
        <p:spPr bwMode="auto">
          <a:xfrm>
            <a:off x="3687763" y="1700213"/>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17" name="Rectangle 89"/>
          <p:cNvSpPr>
            <a:spLocks noChangeArrowheads="1"/>
          </p:cNvSpPr>
          <p:nvPr/>
        </p:nvSpPr>
        <p:spPr bwMode="auto">
          <a:xfrm>
            <a:off x="4048125" y="1700213"/>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18" name="Rectangle 90"/>
          <p:cNvSpPr>
            <a:spLocks noChangeArrowheads="1"/>
          </p:cNvSpPr>
          <p:nvPr/>
        </p:nvSpPr>
        <p:spPr bwMode="auto">
          <a:xfrm>
            <a:off x="4408488" y="1700213"/>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48" name="Rectangle 91"/>
          <p:cNvSpPr/>
          <p:nvPr/>
        </p:nvSpPr>
        <p:spPr>
          <a:xfrm>
            <a:off x="4767263" y="170021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49" name="Rectangle 92"/>
          <p:cNvSpPr/>
          <p:nvPr/>
        </p:nvSpPr>
        <p:spPr>
          <a:xfrm>
            <a:off x="5127625" y="170021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50" name="Text Box 93"/>
          <p:cNvSpPr txBox="1"/>
          <p:nvPr/>
        </p:nvSpPr>
        <p:spPr>
          <a:xfrm>
            <a:off x="2822575" y="1724025"/>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3</a:t>
            </a:r>
            <a:endParaRPr lang="en-US" altLang="zh-CN" sz="1600" dirty="0">
              <a:latin typeface="Times New Roman" panose="02020603050405020304" pitchFamily="18" charset="0"/>
              <a:ea typeface="宋体" panose="02010600030101010101" pitchFamily="2" charset="-122"/>
            </a:endParaRPr>
          </a:p>
        </p:txBody>
      </p:sp>
      <p:sp>
        <p:nvSpPr>
          <p:cNvPr id="34851" name="Rectangle 94"/>
          <p:cNvSpPr/>
          <p:nvPr/>
        </p:nvSpPr>
        <p:spPr>
          <a:xfrm>
            <a:off x="3327400" y="20605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52" name="Rectangle 95"/>
          <p:cNvSpPr/>
          <p:nvPr/>
        </p:nvSpPr>
        <p:spPr>
          <a:xfrm>
            <a:off x="3687763" y="20605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99424" name="Rectangle 96"/>
          <p:cNvSpPr>
            <a:spLocks noChangeArrowheads="1"/>
          </p:cNvSpPr>
          <p:nvPr/>
        </p:nvSpPr>
        <p:spPr bwMode="auto">
          <a:xfrm>
            <a:off x="4048125" y="20605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25" name="Rectangle 97"/>
          <p:cNvSpPr>
            <a:spLocks noChangeArrowheads="1"/>
          </p:cNvSpPr>
          <p:nvPr/>
        </p:nvSpPr>
        <p:spPr bwMode="auto">
          <a:xfrm>
            <a:off x="4408488" y="20605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426" name="Rectangle 98"/>
          <p:cNvSpPr>
            <a:spLocks noChangeArrowheads="1"/>
          </p:cNvSpPr>
          <p:nvPr/>
        </p:nvSpPr>
        <p:spPr bwMode="auto">
          <a:xfrm>
            <a:off x="4767263" y="20605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4856" name="Rectangle 99"/>
          <p:cNvSpPr/>
          <p:nvPr/>
        </p:nvSpPr>
        <p:spPr>
          <a:xfrm>
            <a:off x="5127625" y="20605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57" name="Text Box 100"/>
          <p:cNvSpPr txBox="1"/>
          <p:nvPr/>
        </p:nvSpPr>
        <p:spPr>
          <a:xfrm>
            <a:off x="2822575" y="2084388"/>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4</a:t>
            </a:r>
            <a:endParaRPr lang="en-US" altLang="zh-CN" sz="1600" dirty="0">
              <a:latin typeface="Times New Roman" panose="02020603050405020304" pitchFamily="18" charset="0"/>
              <a:ea typeface="宋体" panose="02010600030101010101" pitchFamily="2" charset="-122"/>
            </a:endParaRPr>
          </a:p>
        </p:txBody>
      </p:sp>
      <p:sp>
        <p:nvSpPr>
          <p:cNvPr id="34858" name="Rectangle 101"/>
          <p:cNvSpPr/>
          <p:nvPr/>
        </p:nvSpPr>
        <p:spPr>
          <a:xfrm>
            <a:off x="3327400" y="24209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59" name="Rectangle 102"/>
          <p:cNvSpPr/>
          <p:nvPr/>
        </p:nvSpPr>
        <p:spPr>
          <a:xfrm>
            <a:off x="3687763" y="24209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60" name="Rectangle 103"/>
          <p:cNvSpPr/>
          <p:nvPr/>
        </p:nvSpPr>
        <p:spPr>
          <a:xfrm>
            <a:off x="4048125" y="24209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61" name="Rectangle 104"/>
          <p:cNvSpPr/>
          <p:nvPr/>
        </p:nvSpPr>
        <p:spPr>
          <a:xfrm>
            <a:off x="4408488" y="24209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62" name="Rectangle 105"/>
          <p:cNvSpPr/>
          <p:nvPr/>
        </p:nvSpPr>
        <p:spPr>
          <a:xfrm>
            <a:off x="4767263" y="24209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63" name="Rectangle 106"/>
          <p:cNvSpPr/>
          <p:nvPr/>
        </p:nvSpPr>
        <p:spPr>
          <a:xfrm>
            <a:off x="5127625" y="24209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4864" name="Text Box 107"/>
          <p:cNvSpPr txBox="1"/>
          <p:nvPr/>
        </p:nvSpPr>
        <p:spPr>
          <a:xfrm>
            <a:off x="2822575" y="2444750"/>
            <a:ext cx="431800" cy="336550"/>
          </a:xfrm>
          <a:prstGeom prst="rect">
            <a:avLst/>
          </a:prstGeom>
          <a:noFill/>
          <a:ln w="38100">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5</a:t>
            </a:r>
            <a:endParaRPr lang="en-US" altLang="zh-CN" sz="1600" dirty="0">
              <a:latin typeface="Times New Roman" panose="02020603050405020304" pitchFamily="18" charset="0"/>
              <a:ea typeface="宋体" panose="02010600030101010101" pitchFamily="2" charset="-122"/>
            </a:endParaRPr>
          </a:p>
        </p:txBody>
      </p:sp>
      <p:sp>
        <p:nvSpPr>
          <p:cNvPr id="34865" name="Text Box 108"/>
          <p:cNvSpPr txBox="1"/>
          <p:nvPr/>
        </p:nvSpPr>
        <p:spPr>
          <a:xfrm>
            <a:off x="6134100" y="476250"/>
            <a:ext cx="4319588" cy="2306638"/>
          </a:xfrm>
          <a:prstGeom prst="rect">
            <a:avLst/>
          </a:prstGeom>
          <a:noFill/>
          <a:ln w="38100">
            <a:noFill/>
          </a:ln>
        </p:spPr>
        <p:txBody>
          <a:bodyPr anchor="t" anchorCtr="0">
            <a:spAutoFit/>
          </a:bodyPr>
          <a:p>
            <a:r>
              <a:rPr lang="en-US" altLang="zh-CN" sz="2000" dirty="0">
                <a:latin typeface="Times New Roman" panose="02020603050405020304" pitchFamily="18" charset="0"/>
                <a:ea typeface="宋体" panose="02010600030101010101" pitchFamily="2" charset="-122"/>
              </a:rPr>
              <a:t>int mg[M+2][N+2]=        //</a:t>
            </a:r>
            <a:r>
              <a:rPr lang="en-US" altLang="zh-CN" sz="2000" i="1" dirty="0">
                <a:latin typeface="Times New Roman" panose="02020603050405020304" pitchFamily="18" charset="0"/>
                <a:ea typeface="宋体" panose="02010600030101010101" pitchFamily="2" charset="-122"/>
              </a:rPr>
              <a:t>M</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 </a:t>
            </a:r>
            <a:r>
              <a:rPr lang="zh-CN" altLang="en-US" sz="2000" dirty="0">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1</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en-US" altLang="zh-CN" sz="2000" dirty="0">
                <a:latin typeface="Times New Roman" panose="02020603050405020304" pitchFamily="18" charset="0"/>
                <a:ea typeface="宋体" panose="02010600030101010101" pitchFamily="2" charset="-122"/>
              </a:rPr>
              <a:t>     {</a:t>
            </a:r>
            <a:r>
              <a:rPr lang="en-US" altLang="zh-CN" sz="2000" dirty="0">
                <a:solidFill>
                  <a:srgbClr val="FF00FF"/>
                </a:solidFill>
                <a:latin typeface="Times New Roman" panose="02020603050405020304" pitchFamily="18" charset="0"/>
                <a:ea typeface="宋体" panose="02010600030101010101" pitchFamily="2" charset="-122"/>
              </a:rPr>
              <a:t>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zh-CN" altLang="en-US" sz="2000" dirty="0">
                <a:solidFill>
                  <a:srgbClr val="FF00FF"/>
                </a:solidFill>
                <a:latin typeface="Times New Roman" panose="02020603050405020304" pitchFamily="18" charset="0"/>
                <a:ea typeface="宋体" panose="02010600030101010101" pitchFamily="2" charset="-122"/>
              </a:rPr>
              <a:t>，</a:t>
            </a:r>
            <a:r>
              <a:rPr lang="en-US" altLang="zh-CN" sz="2000" dirty="0">
                <a:solidFill>
                  <a:srgbClr val="FF00FF"/>
                </a:solidFill>
                <a:latin typeface="Times New Roman" panose="02020603050405020304" pitchFamily="18" charset="0"/>
                <a:ea typeface="宋体" panose="02010600030101010101" pitchFamily="2" charset="-122"/>
              </a:rPr>
              <a:t> 1</a:t>
            </a:r>
            <a:r>
              <a:rPr lang="en-US" altLang="zh-CN" sz="2000" dirty="0">
                <a:latin typeface="Times New Roman" panose="02020603050405020304" pitchFamily="18" charset="0"/>
                <a:ea typeface="宋体" panose="02010600030101010101" pitchFamily="2" charset="-122"/>
              </a:rPr>
              <a:t>}  };</a:t>
            </a:r>
            <a:endParaRPr lang="en-US" altLang="zh-CN" sz="2000" dirty="0">
              <a:latin typeface="Times New Roman" panose="02020603050405020304" pitchFamily="18" charset="0"/>
              <a:ea typeface="Times New Roman" panose="02020603050405020304" pitchFamily="18" charset="0"/>
            </a:endParaRPr>
          </a:p>
        </p:txBody>
      </p:sp>
      <p:sp>
        <p:nvSpPr>
          <p:cNvPr id="99437" name="Text Box 109"/>
          <p:cNvSpPr txBox="1">
            <a:spLocks noChangeArrowheads="1"/>
          </p:cNvSpPr>
          <p:nvPr/>
        </p:nvSpPr>
        <p:spPr bwMode="auto">
          <a:xfrm>
            <a:off x="2063750" y="3573463"/>
            <a:ext cx="4175125" cy="1754188"/>
          </a:xfrm>
          <a:prstGeom prst="rect">
            <a:avLst/>
          </a:prstGeom>
        </p:spPr>
        <p:style>
          <a:lnRef idx="1">
            <a:schemeClr val="accent3"/>
          </a:lnRef>
          <a:fillRef idx="2">
            <a:schemeClr val="accent3"/>
          </a:fillRef>
          <a:effectRef idx="1">
            <a:schemeClr val="accent3"/>
          </a:effectRef>
          <a:fontRef idx="minor">
            <a:schemeClr val="dk1"/>
          </a:fontRef>
        </p:style>
        <p:txBody>
          <a:bodyPr wrap="square" lIns="180000" tIns="108000" bIns="108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void main()</a:t>
            </a:r>
            <a:endPar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PathType</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path;</a:t>
            </a:r>
            <a:endPar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path.length</a:t>
            </a: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=0; </a:t>
            </a:r>
            <a:endPar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    </a:t>
            </a:r>
            <a:r>
              <a:rPr kumimoji="1" lang="en-US" altLang="zh-CN"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   mgpath(1</a:t>
            </a:r>
            <a:r>
              <a:rPr kumimoji="1" lang="zh-CN" altLang="en-US"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a:t>
            </a:r>
            <a:r>
              <a:rPr kumimoji="1" lang="en-US" altLang="zh-CN"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1</a:t>
            </a:r>
            <a:r>
              <a:rPr kumimoji="1" lang="zh-CN" altLang="en-US"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a:t>
            </a:r>
            <a:r>
              <a:rPr kumimoji="1" lang="en-US" altLang="zh-CN"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4</a:t>
            </a:r>
            <a:r>
              <a:rPr kumimoji="1" lang="zh-CN" altLang="en-US"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a:t>
            </a:r>
            <a:r>
              <a:rPr kumimoji="1" lang="en-US" altLang="zh-CN"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4</a:t>
            </a:r>
            <a:r>
              <a:rPr kumimoji="1" lang="zh-CN" altLang="en-US"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a:t>
            </a:r>
            <a:r>
              <a:rPr kumimoji="1" lang="en-US" altLang="zh-CN" sz="2000" b="0" i="0" u="none" strike="noStrike" kern="1200" cap="none" spc="0" normalizeH="0" baseline="0" noProof="0" smtClean="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path</a:t>
            </a:r>
            <a:r>
              <a:rPr kumimoji="1" lang="en-US" altLang="zh-CN" sz="20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rPr>
              <a:t>);</a:t>
            </a:r>
            <a:endParaRPr kumimoji="1" lang="en-US" altLang="zh-CN" sz="20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rPr>
              <a:t>}</a:t>
            </a:r>
            <a:endParaRPr kumimoji="1"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sym typeface="+mn-ea"/>
            </a:endParaRPr>
          </a:p>
        </p:txBody>
      </p:sp>
      <p:sp>
        <p:nvSpPr>
          <p:cNvPr id="34867" name="TextBox 51"/>
          <p:cNvSpPr txBox="1"/>
          <p:nvPr/>
        </p:nvSpPr>
        <p:spPr>
          <a:xfrm>
            <a:off x="1738313" y="285750"/>
            <a:ext cx="928687" cy="460375"/>
          </a:xfrm>
          <a:prstGeom prst="rect">
            <a:avLst/>
          </a:prstGeom>
          <a:noFill/>
          <a:ln w="9525">
            <a:noFill/>
          </a:ln>
        </p:spPr>
        <p:txBody>
          <a:bodyPr anchor="t" anchorCtr="0">
            <a:spAutoFit/>
          </a:bodyPr>
          <a:p>
            <a:r>
              <a:rPr lang="zh-CN" altLang="en-US" dirty="0">
                <a:solidFill>
                  <a:srgbClr val="FF0000"/>
                </a:solidFill>
                <a:latin typeface="黑体" panose="02010609060101010101" pitchFamily="49" charset="-122"/>
                <a:ea typeface="黑体" panose="02010609060101010101" pitchFamily="49" charset="-122"/>
              </a:rPr>
              <a:t>应用</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53" name="左右箭头 52"/>
          <p:cNvSpPr/>
          <p:nvPr/>
        </p:nvSpPr>
        <p:spPr>
          <a:xfrm>
            <a:off x="5738813" y="1428750"/>
            <a:ext cx="428625" cy="214313"/>
          </a:xfrm>
          <a:prstGeom prst="lef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4"/>
          <p:cNvSpPr txBox="1"/>
          <p:nvPr/>
        </p:nvSpPr>
        <p:spPr>
          <a:xfrm>
            <a:off x="1952625" y="285750"/>
            <a:ext cx="3462338" cy="460375"/>
          </a:xfrm>
          <a:prstGeom prst="rect">
            <a:avLst/>
          </a:prstGeom>
          <a:noFill/>
          <a:ln w="38100">
            <a:noFill/>
          </a:ln>
        </p:spPr>
        <p:txBody>
          <a:bodyPr anchor="t" anchorCtr="0">
            <a:spAutoFit/>
          </a:bodyPr>
          <a:p>
            <a:r>
              <a:rPr lang="zh-CN" altLang="en-US" dirty="0">
                <a:latin typeface="Times New Roman" panose="02020603050405020304" pitchFamily="18" charset="0"/>
                <a:ea typeface="楷体" panose="02010609060101010101" pitchFamily="49" charset="-122"/>
              </a:rPr>
              <a:t>得到如下</a:t>
            </a: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条</a:t>
            </a:r>
            <a:r>
              <a:rPr lang="zh-CN" altLang="en-US" dirty="0">
                <a:solidFill>
                  <a:srgbClr val="FF00FF"/>
                </a:solidFill>
                <a:latin typeface="Times New Roman" panose="02020603050405020304" pitchFamily="18" charset="0"/>
                <a:ea typeface="楷体" panose="02010609060101010101" pitchFamily="49" charset="-122"/>
              </a:rPr>
              <a:t>迷宫路径：</a:t>
            </a:r>
            <a:endParaRPr lang="en-US" altLang="zh-CN" dirty="0">
              <a:latin typeface="Times New Roman" panose="02020603050405020304" pitchFamily="18" charset="0"/>
              <a:ea typeface="楷体" panose="02010609060101010101" pitchFamily="49" charset="-122"/>
            </a:endParaRPr>
          </a:p>
        </p:txBody>
      </p:sp>
      <p:grpSp>
        <p:nvGrpSpPr>
          <p:cNvPr id="35842" name="组合 100"/>
          <p:cNvGrpSpPr/>
          <p:nvPr/>
        </p:nvGrpSpPr>
        <p:grpSpPr>
          <a:xfrm>
            <a:off x="3238500" y="1071563"/>
            <a:ext cx="2160588" cy="2160587"/>
            <a:chOff x="2690821" y="1196975"/>
            <a:chExt cx="2160587" cy="2160588"/>
          </a:xfrm>
        </p:grpSpPr>
        <p:sp>
          <p:nvSpPr>
            <p:cNvPr id="35843" name="Rectangle 5"/>
            <p:cNvSpPr/>
            <p:nvPr/>
          </p:nvSpPr>
          <p:spPr>
            <a:xfrm>
              <a:off x="2690821"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4" name="Rectangle 6"/>
            <p:cNvSpPr/>
            <p:nvPr/>
          </p:nvSpPr>
          <p:spPr>
            <a:xfrm>
              <a:off x="3051183"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5" name="Rectangle 7"/>
            <p:cNvSpPr/>
            <p:nvPr/>
          </p:nvSpPr>
          <p:spPr>
            <a:xfrm>
              <a:off x="3411546"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6" name="Rectangle 8"/>
            <p:cNvSpPr/>
            <p:nvPr/>
          </p:nvSpPr>
          <p:spPr>
            <a:xfrm>
              <a:off x="3771908"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7" name="Rectangle 9"/>
            <p:cNvSpPr/>
            <p:nvPr/>
          </p:nvSpPr>
          <p:spPr>
            <a:xfrm>
              <a:off x="4130683"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8" name="Rectangle 10"/>
            <p:cNvSpPr/>
            <p:nvPr/>
          </p:nvSpPr>
          <p:spPr>
            <a:xfrm>
              <a:off x="4491046"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49" name="Rectangle 18"/>
            <p:cNvSpPr/>
            <p:nvPr/>
          </p:nvSpPr>
          <p:spPr>
            <a:xfrm>
              <a:off x="2690821" y="15573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371" name="Rectangle 19"/>
            <p:cNvSpPr>
              <a:spLocks noChangeArrowheads="1"/>
            </p:cNvSpPr>
            <p:nvPr/>
          </p:nvSpPr>
          <p:spPr bwMode="auto">
            <a:xfrm>
              <a:off x="3051183" y="15573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372" name="Rectangle 20"/>
            <p:cNvSpPr>
              <a:spLocks noChangeArrowheads="1"/>
            </p:cNvSpPr>
            <p:nvPr/>
          </p:nvSpPr>
          <p:spPr bwMode="auto">
            <a:xfrm>
              <a:off x="3411546" y="15573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373" name="Rectangle 21"/>
            <p:cNvSpPr>
              <a:spLocks noChangeArrowheads="1"/>
            </p:cNvSpPr>
            <p:nvPr/>
          </p:nvSpPr>
          <p:spPr bwMode="auto">
            <a:xfrm>
              <a:off x="3771908" y="15573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35853" name="Rectangle 22"/>
            <p:cNvSpPr/>
            <p:nvPr/>
          </p:nvSpPr>
          <p:spPr>
            <a:xfrm>
              <a:off x="4130683" y="15573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54" name="Rectangle 23"/>
            <p:cNvSpPr/>
            <p:nvPr/>
          </p:nvSpPr>
          <p:spPr>
            <a:xfrm>
              <a:off x="4491046" y="15573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55" name="Rectangle 25"/>
            <p:cNvSpPr/>
            <p:nvPr/>
          </p:nvSpPr>
          <p:spPr>
            <a:xfrm>
              <a:off x="2690821" y="19177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378" name="Rectangle 26"/>
            <p:cNvSpPr>
              <a:spLocks noChangeArrowheads="1"/>
            </p:cNvSpPr>
            <p:nvPr/>
          </p:nvSpPr>
          <p:spPr bwMode="auto">
            <a:xfrm>
              <a:off x="3051183" y="1917700"/>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57" name="Rectangle 27"/>
            <p:cNvSpPr/>
            <p:nvPr/>
          </p:nvSpPr>
          <p:spPr>
            <a:xfrm>
              <a:off x="3411546" y="19177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380" name="Rectangle 28"/>
            <p:cNvSpPr>
              <a:spLocks noChangeArrowheads="1"/>
            </p:cNvSpPr>
            <p:nvPr/>
          </p:nvSpPr>
          <p:spPr bwMode="auto">
            <a:xfrm>
              <a:off x="3771908" y="1917700"/>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381" name="Rectangle 29"/>
            <p:cNvSpPr>
              <a:spLocks noChangeArrowheads="1"/>
            </p:cNvSpPr>
            <p:nvPr/>
          </p:nvSpPr>
          <p:spPr bwMode="auto">
            <a:xfrm>
              <a:off x="4130683" y="1917700"/>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60" name="Rectangle 30"/>
            <p:cNvSpPr/>
            <p:nvPr/>
          </p:nvSpPr>
          <p:spPr>
            <a:xfrm>
              <a:off x="4491046" y="19177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61" name="Rectangle 32"/>
            <p:cNvSpPr/>
            <p:nvPr/>
          </p:nvSpPr>
          <p:spPr>
            <a:xfrm>
              <a:off x="2690821" y="22764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385" name="Rectangle 33"/>
            <p:cNvSpPr>
              <a:spLocks noChangeArrowheads="1"/>
            </p:cNvSpPr>
            <p:nvPr/>
          </p:nvSpPr>
          <p:spPr bwMode="auto">
            <a:xfrm>
              <a:off x="3051183" y="22764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86" name="Rectangle 34"/>
            <p:cNvSpPr>
              <a:spLocks noChangeArrowheads="1"/>
            </p:cNvSpPr>
            <p:nvPr/>
          </p:nvSpPr>
          <p:spPr bwMode="auto">
            <a:xfrm>
              <a:off x="3411546" y="2276475"/>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87" name="Rectangle 35"/>
            <p:cNvSpPr>
              <a:spLocks noChangeArrowheads="1"/>
            </p:cNvSpPr>
            <p:nvPr/>
          </p:nvSpPr>
          <p:spPr bwMode="auto">
            <a:xfrm>
              <a:off x="3771908" y="22764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865" name="Rectangle 36"/>
            <p:cNvSpPr/>
            <p:nvPr/>
          </p:nvSpPr>
          <p:spPr>
            <a:xfrm>
              <a:off x="4130683" y="22764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66" name="Rectangle 37"/>
            <p:cNvSpPr/>
            <p:nvPr/>
          </p:nvSpPr>
          <p:spPr>
            <a:xfrm>
              <a:off x="4491046" y="22764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67" name="Rectangle 39"/>
            <p:cNvSpPr/>
            <p:nvPr/>
          </p:nvSpPr>
          <p:spPr>
            <a:xfrm>
              <a:off x="2690821" y="26368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68" name="Rectangle 40"/>
            <p:cNvSpPr/>
            <p:nvPr/>
          </p:nvSpPr>
          <p:spPr>
            <a:xfrm>
              <a:off x="3051183" y="26368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393" name="Rectangle 41"/>
            <p:cNvSpPr>
              <a:spLocks noChangeArrowheads="1"/>
            </p:cNvSpPr>
            <p:nvPr/>
          </p:nvSpPr>
          <p:spPr bwMode="auto">
            <a:xfrm>
              <a:off x="3411546" y="26368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94" name="Rectangle 42"/>
            <p:cNvSpPr>
              <a:spLocks noChangeArrowheads="1"/>
            </p:cNvSpPr>
            <p:nvPr/>
          </p:nvSpPr>
          <p:spPr bwMode="auto">
            <a:xfrm>
              <a:off x="3771908" y="26368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395" name="Rectangle 43"/>
            <p:cNvSpPr>
              <a:spLocks noChangeArrowheads="1"/>
            </p:cNvSpPr>
            <p:nvPr/>
          </p:nvSpPr>
          <p:spPr bwMode="auto">
            <a:xfrm>
              <a:off x="4130683" y="26368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35872" name="Rectangle 44"/>
            <p:cNvSpPr/>
            <p:nvPr/>
          </p:nvSpPr>
          <p:spPr>
            <a:xfrm>
              <a:off x="4491046" y="26368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3" name="Rectangle 46"/>
            <p:cNvSpPr/>
            <p:nvPr/>
          </p:nvSpPr>
          <p:spPr>
            <a:xfrm>
              <a:off x="2690821"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4" name="Rectangle 47"/>
            <p:cNvSpPr/>
            <p:nvPr/>
          </p:nvSpPr>
          <p:spPr>
            <a:xfrm>
              <a:off x="3051183"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5" name="Rectangle 48"/>
            <p:cNvSpPr/>
            <p:nvPr/>
          </p:nvSpPr>
          <p:spPr>
            <a:xfrm>
              <a:off x="3411546"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6" name="Rectangle 49"/>
            <p:cNvSpPr/>
            <p:nvPr/>
          </p:nvSpPr>
          <p:spPr>
            <a:xfrm>
              <a:off x="3771908"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7" name="Rectangle 50"/>
            <p:cNvSpPr/>
            <p:nvPr/>
          </p:nvSpPr>
          <p:spPr>
            <a:xfrm>
              <a:off x="4130683"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78" name="Rectangle 51"/>
            <p:cNvSpPr/>
            <p:nvPr/>
          </p:nvSpPr>
          <p:spPr>
            <a:xfrm>
              <a:off x="4491046"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grpSp>
      <p:grpSp>
        <p:nvGrpSpPr>
          <p:cNvPr id="35879" name="组合 99"/>
          <p:cNvGrpSpPr/>
          <p:nvPr/>
        </p:nvGrpSpPr>
        <p:grpSpPr>
          <a:xfrm>
            <a:off x="7096125" y="1071563"/>
            <a:ext cx="2160588" cy="2160587"/>
            <a:chOff x="2690821" y="4508500"/>
            <a:chExt cx="2160587" cy="2160588"/>
          </a:xfrm>
        </p:grpSpPr>
        <p:sp>
          <p:nvSpPr>
            <p:cNvPr id="35880" name="Rectangle 54"/>
            <p:cNvSpPr/>
            <p:nvPr/>
          </p:nvSpPr>
          <p:spPr>
            <a:xfrm>
              <a:off x="2690821" y="45085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1" name="Rectangle 55"/>
            <p:cNvSpPr/>
            <p:nvPr/>
          </p:nvSpPr>
          <p:spPr>
            <a:xfrm>
              <a:off x="3051183" y="45085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2" name="Rectangle 56"/>
            <p:cNvSpPr/>
            <p:nvPr/>
          </p:nvSpPr>
          <p:spPr>
            <a:xfrm>
              <a:off x="3411546" y="45085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3" name="Rectangle 57"/>
            <p:cNvSpPr/>
            <p:nvPr/>
          </p:nvSpPr>
          <p:spPr>
            <a:xfrm>
              <a:off x="3771908" y="45085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4" name="Rectangle 58"/>
            <p:cNvSpPr/>
            <p:nvPr/>
          </p:nvSpPr>
          <p:spPr>
            <a:xfrm>
              <a:off x="4130683" y="45085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5" name="Rectangle 59"/>
            <p:cNvSpPr/>
            <p:nvPr/>
          </p:nvSpPr>
          <p:spPr>
            <a:xfrm>
              <a:off x="4491046" y="45085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86" name="Rectangle 67"/>
            <p:cNvSpPr/>
            <p:nvPr/>
          </p:nvSpPr>
          <p:spPr>
            <a:xfrm>
              <a:off x="2690821" y="486886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420" name="Rectangle 68"/>
            <p:cNvSpPr>
              <a:spLocks noChangeArrowheads="1"/>
            </p:cNvSpPr>
            <p:nvPr/>
          </p:nvSpPr>
          <p:spPr bwMode="auto">
            <a:xfrm>
              <a:off x="3051183" y="4868863"/>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21" name="Rectangle 69"/>
            <p:cNvSpPr>
              <a:spLocks noChangeArrowheads="1"/>
            </p:cNvSpPr>
            <p:nvPr/>
          </p:nvSpPr>
          <p:spPr bwMode="auto">
            <a:xfrm>
              <a:off x="3411546" y="4868863"/>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22" name="Rectangle 70"/>
            <p:cNvSpPr>
              <a:spLocks noChangeArrowheads="1"/>
            </p:cNvSpPr>
            <p:nvPr/>
          </p:nvSpPr>
          <p:spPr bwMode="auto">
            <a:xfrm>
              <a:off x="3771908" y="4868863"/>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890" name="Rectangle 71"/>
            <p:cNvSpPr/>
            <p:nvPr/>
          </p:nvSpPr>
          <p:spPr>
            <a:xfrm>
              <a:off x="4130683" y="486886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91" name="Rectangle 72"/>
            <p:cNvSpPr/>
            <p:nvPr/>
          </p:nvSpPr>
          <p:spPr>
            <a:xfrm>
              <a:off x="4491046" y="486886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92" name="Rectangle 74"/>
            <p:cNvSpPr/>
            <p:nvPr/>
          </p:nvSpPr>
          <p:spPr>
            <a:xfrm>
              <a:off x="2690821" y="52292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427" name="Rectangle 75"/>
            <p:cNvSpPr>
              <a:spLocks noChangeArrowheads="1"/>
            </p:cNvSpPr>
            <p:nvPr/>
          </p:nvSpPr>
          <p:spPr bwMode="auto">
            <a:xfrm>
              <a:off x="3051183" y="522922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94" name="Rectangle 76"/>
            <p:cNvSpPr/>
            <p:nvPr/>
          </p:nvSpPr>
          <p:spPr>
            <a:xfrm>
              <a:off x="3411546" y="52292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429" name="Rectangle 77"/>
            <p:cNvSpPr>
              <a:spLocks noChangeArrowheads="1"/>
            </p:cNvSpPr>
            <p:nvPr/>
          </p:nvSpPr>
          <p:spPr bwMode="auto">
            <a:xfrm>
              <a:off x="3771908" y="522922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30" name="Rectangle 78"/>
            <p:cNvSpPr>
              <a:spLocks noChangeArrowheads="1"/>
            </p:cNvSpPr>
            <p:nvPr/>
          </p:nvSpPr>
          <p:spPr bwMode="auto">
            <a:xfrm>
              <a:off x="4130683" y="522922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97" name="Rectangle 79"/>
            <p:cNvSpPr/>
            <p:nvPr/>
          </p:nvSpPr>
          <p:spPr>
            <a:xfrm>
              <a:off x="4491046" y="52292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898" name="Rectangle 81"/>
            <p:cNvSpPr/>
            <p:nvPr/>
          </p:nvSpPr>
          <p:spPr>
            <a:xfrm>
              <a:off x="2690821" y="55880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434" name="Rectangle 82"/>
            <p:cNvSpPr>
              <a:spLocks noChangeArrowheads="1"/>
            </p:cNvSpPr>
            <p:nvPr/>
          </p:nvSpPr>
          <p:spPr bwMode="auto">
            <a:xfrm>
              <a:off x="3051183" y="5588000"/>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435" name="Rectangle 83"/>
            <p:cNvSpPr>
              <a:spLocks noChangeArrowheads="1"/>
            </p:cNvSpPr>
            <p:nvPr/>
          </p:nvSpPr>
          <p:spPr bwMode="auto">
            <a:xfrm>
              <a:off x="3411546" y="558800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36" name="Rectangle 84"/>
            <p:cNvSpPr>
              <a:spLocks noChangeArrowheads="1"/>
            </p:cNvSpPr>
            <p:nvPr/>
          </p:nvSpPr>
          <p:spPr bwMode="auto">
            <a:xfrm>
              <a:off x="3771908" y="5588000"/>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35902" name="Rectangle 85"/>
            <p:cNvSpPr/>
            <p:nvPr/>
          </p:nvSpPr>
          <p:spPr>
            <a:xfrm>
              <a:off x="4130683" y="55880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03" name="Rectangle 86"/>
            <p:cNvSpPr/>
            <p:nvPr/>
          </p:nvSpPr>
          <p:spPr>
            <a:xfrm>
              <a:off x="4491046" y="55880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04" name="Rectangle 88"/>
            <p:cNvSpPr/>
            <p:nvPr/>
          </p:nvSpPr>
          <p:spPr>
            <a:xfrm>
              <a:off x="2690821" y="594836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05" name="Rectangle 89"/>
            <p:cNvSpPr/>
            <p:nvPr/>
          </p:nvSpPr>
          <p:spPr>
            <a:xfrm>
              <a:off x="3051183" y="5948363"/>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00442" name="Rectangle 90"/>
            <p:cNvSpPr>
              <a:spLocks noChangeArrowheads="1"/>
            </p:cNvSpPr>
            <p:nvPr/>
          </p:nvSpPr>
          <p:spPr bwMode="auto">
            <a:xfrm>
              <a:off x="3411546" y="5948363"/>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43" name="Rectangle 91"/>
            <p:cNvSpPr>
              <a:spLocks noChangeArrowheads="1"/>
            </p:cNvSpPr>
            <p:nvPr/>
          </p:nvSpPr>
          <p:spPr bwMode="auto">
            <a:xfrm>
              <a:off x="3771908" y="5948363"/>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00444" name="Rectangle 92"/>
            <p:cNvSpPr>
              <a:spLocks noChangeArrowheads="1"/>
            </p:cNvSpPr>
            <p:nvPr/>
          </p:nvSpPr>
          <p:spPr bwMode="auto">
            <a:xfrm>
              <a:off x="4130683" y="5948363"/>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909" name="Rectangle 93"/>
            <p:cNvSpPr/>
            <p:nvPr/>
          </p:nvSpPr>
          <p:spPr>
            <a:xfrm>
              <a:off x="4491046" y="5948363"/>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0" name="Rectangle 95"/>
            <p:cNvSpPr/>
            <p:nvPr/>
          </p:nvSpPr>
          <p:spPr>
            <a:xfrm>
              <a:off x="2690821" y="63087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1" name="Rectangle 96"/>
            <p:cNvSpPr/>
            <p:nvPr/>
          </p:nvSpPr>
          <p:spPr>
            <a:xfrm>
              <a:off x="3051183" y="63087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2" name="Rectangle 97"/>
            <p:cNvSpPr/>
            <p:nvPr/>
          </p:nvSpPr>
          <p:spPr>
            <a:xfrm>
              <a:off x="3411546" y="63087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3" name="Rectangle 98"/>
            <p:cNvSpPr/>
            <p:nvPr/>
          </p:nvSpPr>
          <p:spPr>
            <a:xfrm>
              <a:off x="3771908" y="63087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4" name="Rectangle 99"/>
            <p:cNvSpPr/>
            <p:nvPr/>
          </p:nvSpPr>
          <p:spPr>
            <a:xfrm>
              <a:off x="4130683" y="63087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15" name="Rectangle 100"/>
            <p:cNvSpPr/>
            <p:nvPr/>
          </p:nvSpPr>
          <p:spPr>
            <a:xfrm>
              <a:off x="4491046" y="63087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grpSp>
      <p:sp>
        <p:nvSpPr>
          <p:cNvPr id="35916" name="TextBox 101"/>
          <p:cNvSpPr txBox="1"/>
          <p:nvPr/>
        </p:nvSpPr>
        <p:spPr>
          <a:xfrm>
            <a:off x="2533650" y="1357313"/>
            <a:ext cx="490538" cy="1500187"/>
          </a:xfrm>
          <a:prstGeom prst="rect">
            <a:avLst/>
          </a:prstGeom>
          <a:noFill/>
          <a:ln w="9525">
            <a:noFill/>
          </a:ln>
        </p:spPr>
        <p:txBody>
          <a:bodyPr vert="eaVert" anchor="t" anchorCtr="0">
            <a:spAutoFit/>
          </a:bodyPr>
          <a:p>
            <a:r>
              <a:rPr lang="zh-CN" altLang="en-US" sz="2000" dirty="0">
                <a:latin typeface="Times New Roman" panose="02020603050405020304" pitchFamily="18" charset="0"/>
                <a:ea typeface="楷体" panose="02010609060101010101" pitchFamily="49" charset="-122"/>
              </a:rPr>
              <a:t>迷宫路径</a:t>
            </a:r>
            <a:r>
              <a:rPr lang="en-US" altLang="zh-CN" sz="2000" dirty="0">
                <a:latin typeface="Times New Roman" panose="02020603050405020304" pitchFamily="18" charset="0"/>
                <a:ea typeface="楷体" panose="02010609060101010101" pitchFamily="49" charset="-122"/>
              </a:rPr>
              <a:t>1</a:t>
            </a:r>
            <a:endParaRPr lang="zh-CN" altLang="en-US" sz="2000" dirty="0">
              <a:latin typeface="Times New Roman" panose="02020603050405020304" pitchFamily="18" charset="0"/>
              <a:ea typeface="宋体" panose="02010600030101010101" pitchFamily="2" charset="-122"/>
            </a:endParaRPr>
          </a:p>
        </p:txBody>
      </p:sp>
      <p:sp>
        <p:nvSpPr>
          <p:cNvPr id="35917" name="TextBox 102"/>
          <p:cNvSpPr txBox="1"/>
          <p:nvPr/>
        </p:nvSpPr>
        <p:spPr>
          <a:xfrm>
            <a:off x="6534150" y="1357313"/>
            <a:ext cx="490538" cy="1500187"/>
          </a:xfrm>
          <a:prstGeom prst="rect">
            <a:avLst/>
          </a:prstGeom>
          <a:noFill/>
          <a:ln w="9525">
            <a:noFill/>
          </a:ln>
        </p:spPr>
        <p:txBody>
          <a:bodyPr vert="eaVert" anchor="t" anchorCtr="0">
            <a:spAutoFit/>
          </a:bodyPr>
          <a:p>
            <a:r>
              <a:rPr lang="zh-CN" altLang="en-US" sz="2000" dirty="0">
                <a:latin typeface="Times New Roman" panose="02020603050405020304" pitchFamily="18" charset="0"/>
                <a:ea typeface="楷体" panose="02010609060101010101" pitchFamily="49" charset="-122"/>
              </a:rPr>
              <a:t>迷宫路径</a:t>
            </a:r>
            <a:r>
              <a:rPr lang="en-US" altLang="zh-CN" sz="2000" dirty="0">
                <a:latin typeface="Times New Roman" panose="02020603050405020304" pitchFamily="18" charset="0"/>
                <a:ea typeface="楷体" panose="02010609060101010101" pitchFamily="49" charset="-122"/>
              </a:rPr>
              <a:t>2</a:t>
            </a:r>
            <a:endParaRPr lang="zh-CN" altLang="en-US" sz="2000" dirty="0">
              <a:latin typeface="Times New Roman" panose="02020603050405020304" pitchFamily="18" charset="0"/>
              <a:ea typeface="宋体" panose="02010600030101010101" pitchFamily="2" charset="-122"/>
            </a:endParaRPr>
          </a:p>
        </p:txBody>
      </p:sp>
      <p:grpSp>
        <p:nvGrpSpPr>
          <p:cNvPr id="35918" name="组合 103"/>
          <p:cNvGrpSpPr/>
          <p:nvPr/>
        </p:nvGrpSpPr>
        <p:grpSpPr>
          <a:xfrm>
            <a:off x="3238500" y="4054475"/>
            <a:ext cx="2160588" cy="2160588"/>
            <a:chOff x="2511432" y="1196975"/>
            <a:chExt cx="2160588" cy="2160588"/>
          </a:xfrm>
        </p:grpSpPr>
        <p:sp>
          <p:nvSpPr>
            <p:cNvPr id="35919" name="Rectangle 6"/>
            <p:cNvSpPr/>
            <p:nvPr/>
          </p:nvSpPr>
          <p:spPr>
            <a:xfrm>
              <a:off x="2511432"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0" name="Rectangle 7"/>
            <p:cNvSpPr/>
            <p:nvPr/>
          </p:nvSpPr>
          <p:spPr>
            <a:xfrm>
              <a:off x="2871795"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1" name="Rectangle 8"/>
            <p:cNvSpPr/>
            <p:nvPr/>
          </p:nvSpPr>
          <p:spPr>
            <a:xfrm>
              <a:off x="3232157"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2" name="Rectangle 9"/>
            <p:cNvSpPr/>
            <p:nvPr/>
          </p:nvSpPr>
          <p:spPr>
            <a:xfrm>
              <a:off x="3592520"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3" name="Rectangle 10"/>
            <p:cNvSpPr/>
            <p:nvPr/>
          </p:nvSpPr>
          <p:spPr>
            <a:xfrm>
              <a:off x="3951295" y="11969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4" name="Rectangle 11"/>
            <p:cNvSpPr/>
            <p:nvPr/>
          </p:nvSpPr>
          <p:spPr>
            <a:xfrm>
              <a:off x="4311657" y="11969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25" name="Rectangle 19"/>
            <p:cNvSpPr/>
            <p:nvPr/>
          </p:nvSpPr>
          <p:spPr>
            <a:xfrm>
              <a:off x="2511432" y="15573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12" name="Rectangle 20"/>
            <p:cNvSpPr>
              <a:spLocks noChangeArrowheads="1"/>
            </p:cNvSpPr>
            <p:nvPr/>
          </p:nvSpPr>
          <p:spPr bwMode="auto">
            <a:xfrm>
              <a:off x="2871795" y="15573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13" name="Rectangle 21"/>
            <p:cNvSpPr>
              <a:spLocks noChangeArrowheads="1"/>
            </p:cNvSpPr>
            <p:nvPr/>
          </p:nvSpPr>
          <p:spPr bwMode="auto">
            <a:xfrm>
              <a:off x="3232157" y="15573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4" name="Rectangle 22"/>
            <p:cNvSpPr>
              <a:spLocks noChangeArrowheads="1"/>
            </p:cNvSpPr>
            <p:nvPr/>
          </p:nvSpPr>
          <p:spPr bwMode="auto">
            <a:xfrm>
              <a:off x="3592520" y="15573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929" name="Rectangle 23"/>
            <p:cNvSpPr/>
            <p:nvPr/>
          </p:nvSpPr>
          <p:spPr>
            <a:xfrm>
              <a:off x="3951295" y="15573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30" name="Rectangle 24"/>
            <p:cNvSpPr/>
            <p:nvPr/>
          </p:nvSpPr>
          <p:spPr>
            <a:xfrm>
              <a:off x="4311657" y="15573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31" name="Rectangle 26"/>
            <p:cNvSpPr/>
            <p:nvPr/>
          </p:nvSpPr>
          <p:spPr>
            <a:xfrm>
              <a:off x="2511432" y="19177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18" name="Rectangle 27"/>
            <p:cNvSpPr>
              <a:spLocks noChangeArrowheads="1"/>
            </p:cNvSpPr>
            <p:nvPr/>
          </p:nvSpPr>
          <p:spPr bwMode="auto">
            <a:xfrm>
              <a:off x="2871795" y="191770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933" name="Rectangle 28"/>
            <p:cNvSpPr/>
            <p:nvPr/>
          </p:nvSpPr>
          <p:spPr>
            <a:xfrm>
              <a:off x="3232157" y="19177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20" name="Rectangle 29"/>
            <p:cNvSpPr>
              <a:spLocks noChangeArrowheads="1"/>
            </p:cNvSpPr>
            <p:nvPr/>
          </p:nvSpPr>
          <p:spPr bwMode="auto">
            <a:xfrm>
              <a:off x="3592520" y="191770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1" name="Rectangle 30"/>
            <p:cNvSpPr>
              <a:spLocks noChangeArrowheads="1"/>
            </p:cNvSpPr>
            <p:nvPr/>
          </p:nvSpPr>
          <p:spPr bwMode="auto">
            <a:xfrm>
              <a:off x="3951295" y="191770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936" name="Rectangle 31"/>
            <p:cNvSpPr/>
            <p:nvPr/>
          </p:nvSpPr>
          <p:spPr>
            <a:xfrm>
              <a:off x="4311657" y="19177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37" name="Rectangle 33"/>
            <p:cNvSpPr/>
            <p:nvPr/>
          </p:nvSpPr>
          <p:spPr>
            <a:xfrm>
              <a:off x="2511432" y="22764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24" name="Rectangle 34"/>
            <p:cNvSpPr>
              <a:spLocks noChangeArrowheads="1"/>
            </p:cNvSpPr>
            <p:nvPr/>
          </p:nvSpPr>
          <p:spPr bwMode="auto">
            <a:xfrm>
              <a:off x="2871795" y="2276475"/>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25" name="Rectangle 35"/>
            <p:cNvSpPr>
              <a:spLocks noChangeArrowheads="1"/>
            </p:cNvSpPr>
            <p:nvPr/>
          </p:nvSpPr>
          <p:spPr bwMode="auto">
            <a:xfrm>
              <a:off x="3232157" y="227647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26" name="Rectangle 36"/>
            <p:cNvSpPr>
              <a:spLocks noChangeArrowheads="1"/>
            </p:cNvSpPr>
            <p:nvPr/>
          </p:nvSpPr>
          <p:spPr bwMode="auto">
            <a:xfrm>
              <a:off x="3592520" y="2276475"/>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941" name="Rectangle 37"/>
            <p:cNvSpPr/>
            <p:nvPr/>
          </p:nvSpPr>
          <p:spPr>
            <a:xfrm>
              <a:off x="3951295" y="227647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42" name="Rectangle 38"/>
            <p:cNvSpPr/>
            <p:nvPr/>
          </p:nvSpPr>
          <p:spPr>
            <a:xfrm>
              <a:off x="4311657" y="227647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43" name="Rectangle 40"/>
            <p:cNvSpPr/>
            <p:nvPr/>
          </p:nvSpPr>
          <p:spPr>
            <a:xfrm>
              <a:off x="2511432" y="26368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44" name="Rectangle 41"/>
            <p:cNvSpPr/>
            <p:nvPr/>
          </p:nvSpPr>
          <p:spPr>
            <a:xfrm>
              <a:off x="2871795" y="263683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31" name="Rectangle 42"/>
            <p:cNvSpPr>
              <a:spLocks noChangeArrowheads="1"/>
            </p:cNvSpPr>
            <p:nvPr/>
          </p:nvSpPr>
          <p:spPr bwMode="auto">
            <a:xfrm>
              <a:off x="3232157" y="263683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2" name="Rectangle 43"/>
            <p:cNvSpPr>
              <a:spLocks noChangeArrowheads="1"/>
            </p:cNvSpPr>
            <p:nvPr/>
          </p:nvSpPr>
          <p:spPr bwMode="auto">
            <a:xfrm>
              <a:off x="3592520" y="26368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33" name="Rectangle 44"/>
            <p:cNvSpPr>
              <a:spLocks noChangeArrowheads="1"/>
            </p:cNvSpPr>
            <p:nvPr/>
          </p:nvSpPr>
          <p:spPr bwMode="auto">
            <a:xfrm>
              <a:off x="3951295" y="263683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35948" name="Rectangle 45"/>
            <p:cNvSpPr/>
            <p:nvPr/>
          </p:nvSpPr>
          <p:spPr>
            <a:xfrm>
              <a:off x="4311657" y="263683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49" name="Rectangle 47"/>
            <p:cNvSpPr/>
            <p:nvPr/>
          </p:nvSpPr>
          <p:spPr>
            <a:xfrm>
              <a:off x="2511432"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0" name="Rectangle 48"/>
            <p:cNvSpPr/>
            <p:nvPr/>
          </p:nvSpPr>
          <p:spPr>
            <a:xfrm>
              <a:off x="2871795"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1" name="Rectangle 49"/>
            <p:cNvSpPr/>
            <p:nvPr/>
          </p:nvSpPr>
          <p:spPr>
            <a:xfrm>
              <a:off x="3232157"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2" name="Rectangle 50"/>
            <p:cNvSpPr/>
            <p:nvPr/>
          </p:nvSpPr>
          <p:spPr>
            <a:xfrm>
              <a:off x="3592520"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3" name="Rectangle 51"/>
            <p:cNvSpPr/>
            <p:nvPr/>
          </p:nvSpPr>
          <p:spPr>
            <a:xfrm>
              <a:off x="3951295" y="299720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4" name="Rectangle 52"/>
            <p:cNvSpPr/>
            <p:nvPr/>
          </p:nvSpPr>
          <p:spPr>
            <a:xfrm>
              <a:off x="4311657" y="299720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grpSp>
      <p:grpSp>
        <p:nvGrpSpPr>
          <p:cNvPr id="35955" name="组合 140"/>
          <p:cNvGrpSpPr/>
          <p:nvPr/>
        </p:nvGrpSpPr>
        <p:grpSpPr>
          <a:xfrm>
            <a:off x="7096125" y="4054475"/>
            <a:ext cx="2160588" cy="2160588"/>
            <a:chOff x="2511432" y="4581525"/>
            <a:chExt cx="2160588" cy="2160588"/>
          </a:xfrm>
        </p:grpSpPr>
        <p:sp>
          <p:nvSpPr>
            <p:cNvPr id="35956" name="Rectangle 54"/>
            <p:cNvSpPr/>
            <p:nvPr/>
          </p:nvSpPr>
          <p:spPr>
            <a:xfrm>
              <a:off x="2511432" y="45815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7" name="Rectangle 55"/>
            <p:cNvSpPr/>
            <p:nvPr/>
          </p:nvSpPr>
          <p:spPr>
            <a:xfrm>
              <a:off x="2871795" y="45815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8" name="Rectangle 56"/>
            <p:cNvSpPr/>
            <p:nvPr/>
          </p:nvSpPr>
          <p:spPr>
            <a:xfrm>
              <a:off x="3232157" y="45815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59" name="Rectangle 57"/>
            <p:cNvSpPr/>
            <p:nvPr/>
          </p:nvSpPr>
          <p:spPr>
            <a:xfrm>
              <a:off x="3592520" y="45815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60" name="Rectangle 58"/>
            <p:cNvSpPr/>
            <p:nvPr/>
          </p:nvSpPr>
          <p:spPr>
            <a:xfrm>
              <a:off x="3951295" y="45815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61" name="Rectangle 59"/>
            <p:cNvSpPr/>
            <p:nvPr/>
          </p:nvSpPr>
          <p:spPr>
            <a:xfrm>
              <a:off x="4311657" y="45815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62" name="Rectangle 67"/>
            <p:cNvSpPr/>
            <p:nvPr/>
          </p:nvSpPr>
          <p:spPr>
            <a:xfrm>
              <a:off x="2511432" y="494188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49" name="Rectangle 68"/>
            <p:cNvSpPr>
              <a:spLocks noChangeArrowheads="1"/>
            </p:cNvSpPr>
            <p:nvPr/>
          </p:nvSpPr>
          <p:spPr bwMode="auto">
            <a:xfrm>
              <a:off x="2851143" y="494188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zh-CN" altLang="zh-CN"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150" name="Rectangle 69"/>
            <p:cNvSpPr>
              <a:spLocks noChangeArrowheads="1"/>
            </p:cNvSpPr>
            <p:nvPr/>
          </p:nvSpPr>
          <p:spPr bwMode="auto">
            <a:xfrm>
              <a:off x="3211505" y="494188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1" name="Rectangle 70"/>
            <p:cNvSpPr>
              <a:spLocks noChangeArrowheads="1"/>
            </p:cNvSpPr>
            <p:nvPr/>
          </p:nvSpPr>
          <p:spPr bwMode="auto">
            <a:xfrm>
              <a:off x="3571868" y="494188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966" name="Rectangle 71"/>
            <p:cNvSpPr/>
            <p:nvPr/>
          </p:nvSpPr>
          <p:spPr>
            <a:xfrm>
              <a:off x="3951295" y="494188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67" name="Rectangle 72"/>
            <p:cNvSpPr/>
            <p:nvPr/>
          </p:nvSpPr>
          <p:spPr>
            <a:xfrm>
              <a:off x="4311657" y="494188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68" name="Rectangle 74"/>
            <p:cNvSpPr/>
            <p:nvPr/>
          </p:nvSpPr>
          <p:spPr>
            <a:xfrm>
              <a:off x="2511432" y="53022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55" name="Rectangle 75"/>
            <p:cNvSpPr>
              <a:spLocks noChangeArrowheads="1"/>
            </p:cNvSpPr>
            <p:nvPr/>
          </p:nvSpPr>
          <p:spPr bwMode="auto">
            <a:xfrm>
              <a:off x="2851143" y="530225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35970" name="Rectangle 76"/>
            <p:cNvSpPr/>
            <p:nvPr/>
          </p:nvSpPr>
          <p:spPr>
            <a:xfrm>
              <a:off x="3232157" y="53022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57" name="Rectangle 77"/>
            <p:cNvSpPr>
              <a:spLocks noChangeArrowheads="1"/>
            </p:cNvSpPr>
            <p:nvPr/>
          </p:nvSpPr>
          <p:spPr bwMode="auto">
            <a:xfrm>
              <a:off x="3571868" y="530225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8" name="Rectangle 78"/>
            <p:cNvSpPr>
              <a:spLocks noChangeArrowheads="1"/>
            </p:cNvSpPr>
            <p:nvPr/>
          </p:nvSpPr>
          <p:spPr bwMode="auto">
            <a:xfrm>
              <a:off x="3951295" y="5302250"/>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973" name="Rectangle 79"/>
            <p:cNvSpPr/>
            <p:nvPr/>
          </p:nvSpPr>
          <p:spPr>
            <a:xfrm>
              <a:off x="4311657" y="53022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74" name="Rectangle 81"/>
            <p:cNvSpPr/>
            <p:nvPr/>
          </p:nvSpPr>
          <p:spPr>
            <a:xfrm>
              <a:off x="2511432" y="56610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61" name="Rectangle 82"/>
            <p:cNvSpPr>
              <a:spLocks noChangeArrowheads="1"/>
            </p:cNvSpPr>
            <p:nvPr/>
          </p:nvSpPr>
          <p:spPr bwMode="auto">
            <a:xfrm>
              <a:off x="2871795" y="5661025"/>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162" name="Rectangle 83"/>
            <p:cNvSpPr>
              <a:spLocks noChangeArrowheads="1"/>
            </p:cNvSpPr>
            <p:nvPr/>
          </p:nvSpPr>
          <p:spPr bwMode="auto">
            <a:xfrm>
              <a:off x="3232157" y="5661025"/>
              <a:ext cx="360363"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163" name="Rectangle 84"/>
            <p:cNvSpPr>
              <a:spLocks noChangeArrowheads="1"/>
            </p:cNvSpPr>
            <p:nvPr/>
          </p:nvSpPr>
          <p:spPr bwMode="auto">
            <a:xfrm>
              <a:off x="3592520" y="5661025"/>
              <a:ext cx="360362" cy="360363"/>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978" name="Rectangle 85"/>
            <p:cNvSpPr/>
            <p:nvPr/>
          </p:nvSpPr>
          <p:spPr>
            <a:xfrm>
              <a:off x="3951295" y="5661025"/>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79" name="Rectangle 86"/>
            <p:cNvSpPr/>
            <p:nvPr/>
          </p:nvSpPr>
          <p:spPr>
            <a:xfrm>
              <a:off x="4311657" y="5661025"/>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0" name="Rectangle 88"/>
            <p:cNvSpPr/>
            <p:nvPr/>
          </p:nvSpPr>
          <p:spPr>
            <a:xfrm>
              <a:off x="2511432" y="602138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1" name="Rectangle 89"/>
            <p:cNvSpPr/>
            <p:nvPr/>
          </p:nvSpPr>
          <p:spPr>
            <a:xfrm>
              <a:off x="2871795" y="6021388"/>
              <a:ext cx="360362"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168" name="Rectangle 90"/>
            <p:cNvSpPr>
              <a:spLocks noChangeArrowheads="1"/>
            </p:cNvSpPr>
            <p:nvPr/>
          </p:nvSpPr>
          <p:spPr bwMode="auto">
            <a:xfrm>
              <a:off x="3232157" y="6021388"/>
              <a:ext cx="360363"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169" name="Rectangle 91"/>
            <p:cNvSpPr>
              <a:spLocks noChangeArrowheads="1"/>
            </p:cNvSpPr>
            <p:nvPr/>
          </p:nvSpPr>
          <p:spPr bwMode="auto">
            <a:xfrm>
              <a:off x="3592520" y="602138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170" name="Rectangle 92"/>
            <p:cNvSpPr>
              <a:spLocks noChangeArrowheads="1"/>
            </p:cNvSpPr>
            <p:nvPr/>
          </p:nvSpPr>
          <p:spPr bwMode="auto">
            <a:xfrm>
              <a:off x="3951295" y="6021388"/>
              <a:ext cx="360362" cy="360362"/>
            </a:xfrm>
            <a:prstGeom prst="rect">
              <a:avLst/>
            </a:prstGeom>
            <a:solidFill>
              <a:schemeClr val="accent3">
                <a:lumMod val="60000"/>
                <a:lumOff val="40000"/>
              </a:schemeClr>
            </a:solidFill>
            <a:ln w="38100" algn="ctr">
              <a:solidFill>
                <a:srgbClr val="FF33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Wingdings" panose="05000000000000000000"/>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35985" name="Rectangle 93"/>
            <p:cNvSpPr/>
            <p:nvPr/>
          </p:nvSpPr>
          <p:spPr>
            <a:xfrm>
              <a:off x="4311657" y="6021388"/>
              <a:ext cx="360363" cy="360362"/>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6" name="Rectangle 95"/>
            <p:cNvSpPr/>
            <p:nvPr/>
          </p:nvSpPr>
          <p:spPr>
            <a:xfrm>
              <a:off x="2511432" y="63817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7" name="Rectangle 96"/>
            <p:cNvSpPr/>
            <p:nvPr/>
          </p:nvSpPr>
          <p:spPr>
            <a:xfrm>
              <a:off x="2871795" y="638175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8" name="Rectangle 97"/>
            <p:cNvSpPr/>
            <p:nvPr/>
          </p:nvSpPr>
          <p:spPr>
            <a:xfrm>
              <a:off x="3232157" y="63817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89" name="Rectangle 98"/>
            <p:cNvSpPr/>
            <p:nvPr/>
          </p:nvSpPr>
          <p:spPr>
            <a:xfrm>
              <a:off x="3592520" y="638175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90" name="Rectangle 99"/>
            <p:cNvSpPr/>
            <p:nvPr/>
          </p:nvSpPr>
          <p:spPr>
            <a:xfrm>
              <a:off x="3951295" y="6381750"/>
              <a:ext cx="360362"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sp>
          <p:nvSpPr>
            <p:cNvPr id="35991" name="Rectangle 100"/>
            <p:cNvSpPr/>
            <p:nvPr/>
          </p:nvSpPr>
          <p:spPr>
            <a:xfrm>
              <a:off x="4311657" y="6381750"/>
              <a:ext cx="360363" cy="360363"/>
            </a:xfrm>
            <a:prstGeom prst="rect">
              <a:avLst/>
            </a:prstGeom>
            <a:solidFill>
              <a:srgbClr val="336600"/>
            </a:solidFill>
            <a:ln w="38100" cap="flat" cmpd="sng">
              <a:solidFill>
                <a:srgbClr val="FF3300"/>
              </a:solidFill>
              <a:prstDash val="solid"/>
              <a:miter/>
              <a:headEnd type="none" w="med" len="med"/>
              <a:tailEnd type="none" w="med" len="med"/>
            </a:ln>
          </p:spPr>
          <p:txBody>
            <a:bodyPr wrap="none" anchor="ctr" anchorCtr="0"/>
            <a:p>
              <a:endParaRPr lang="zh-CN" altLang="zh-CN" dirty="0">
                <a:latin typeface="Times New Roman" panose="02020603050405020304" pitchFamily="18" charset="0"/>
                <a:ea typeface="宋体" panose="02010600030101010101" pitchFamily="2" charset="-122"/>
              </a:endParaRPr>
            </a:p>
          </p:txBody>
        </p:sp>
      </p:grpSp>
      <p:sp>
        <p:nvSpPr>
          <p:cNvPr id="35992" name="TextBox 177"/>
          <p:cNvSpPr txBox="1"/>
          <p:nvPr/>
        </p:nvSpPr>
        <p:spPr>
          <a:xfrm>
            <a:off x="2525713" y="4357688"/>
            <a:ext cx="490537" cy="1500187"/>
          </a:xfrm>
          <a:prstGeom prst="rect">
            <a:avLst/>
          </a:prstGeom>
          <a:noFill/>
          <a:ln w="9525">
            <a:noFill/>
          </a:ln>
        </p:spPr>
        <p:txBody>
          <a:bodyPr vert="eaVert" anchor="t" anchorCtr="0">
            <a:spAutoFit/>
          </a:bodyPr>
          <a:p>
            <a:r>
              <a:rPr lang="zh-CN" altLang="en-US" sz="2000" dirty="0">
                <a:latin typeface="Times New Roman" panose="02020603050405020304" pitchFamily="18" charset="0"/>
                <a:ea typeface="楷体" panose="02010609060101010101" pitchFamily="49" charset="-122"/>
              </a:rPr>
              <a:t>迷宫路径</a:t>
            </a:r>
            <a:r>
              <a:rPr lang="en-US" altLang="zh-CN" sz="2000" dirty="0">
                <a:latin typeface="Times New Roman" panose="02020603050405020304" pitchFamily="18" charset="0"/>
                <a:ea typeface="楷体" panose="02010609060101010101" pitchFamily="49" charset="-122"/>
              </a:rPr>
              <a:t>3</a:t>
            </a:r>
            <a:endParaRPr lang="zh-CN" altLang="en-US" sz="2000" dirty="0">
              <a:latin typeface="Times New Roman" panose="02020603050405020304" pitchFamily="18" charset="0"/>
              <a:ea typeface="宋体" panose="02010600030101010101" pitchFamily="2" charset="-122"/>
            </a:endParaRPr>
          </a:p>
        </p:txBody>
      </p:sp>
      <p:sp>
        <p:nvSpPr>
          <p:cNvPr id="35993" name="TextBox 178"/>
          <p:cNvSpPr txBox="1"/>
          <p:nvPr/>
        </p:nvSpPr>
        <p:spPr>
          <a:xfrm>
            <a:off x="6526213" y="4357688"/>
            <a:ext cx="490537" cy="1500187"/>
          </a:xfrm>
          <a:prstGeom prst="rect">
            <a:avLst/>
          </a:prstGeom>
          <a:noFill/>
          <a:ln w="9525">
            <a:noFill/>
          </a:ln>
        </p:spPr>
        <p:txBody>
          <a:bodyPr vert="eaVert" anchor="t" anchorCtr="0">
            <a:spAutoFit/>
          </a:bodyPr>
          <a:p>
            <a:r>
              <a:rPr lang="zh-CN" altLang="en-US" sz="2000" dirty="0">
                <a:latin typeface="Times New Roman" panose="02020603050405020304" pitchFamily="18" charset="0"/>
                <a:ea typeface="楷体" panose="02010609060101010101" pitchFamily="49" charset="-122"/>
              </a:rPr>
              <a:t>迷宫路径</a:t>
            </a:r>
            <a:r>
              <a:rPr lang="en-US" altLang="zh-CN" sz="2000" dirty="0">
                <a:latin typeface="Times New Roman" panose="02020603050405020304" pitchFamily="18" charset="0"/>
                <a:ea typeface="楷体" panose="02010609060101010101" pitchFamily="49" charset="-122"/>
              </a:rPr>
              <a:t>4</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p:transition>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extBox 4"/>
          <p:cNvSpPr txBox="1"/>
          <p:nvPr/>
        </p:nvSpPr>
        <p:spPr>
          <a:xfrm>
            <a:off x="3095625" y="566738"/>
            <a:ext cx="4643438" cy="521970"/>
          </a:xfrm>
          <a:prstGeom prst="rect">
            <a:avLst/>
          </a:prstGeom>
          <a:noFill/>
          <a:ln w="9525">
            <a:noFill/>
          </a:ln>
        </p:spPr>
        <p:txBody>
          <a:bodyPr anchor="t" anchorCtr="0">
            <a:spAutoFit/>
          </a:bodyPr>
          <a:p>
            <a:r>
              <a:rPr lang="zh-CN" altLang="en-US" sz="2800" b="1" dirty="0">
                <a:solidFill>
                  <a:srgbClr val="FF0000"/>
                </a:solidFill>
                <a:latin typeface="微软雅黑" panose="020B0503020204020204" pitchFamily="34" charset="-122"/>
                <a:ea typeface="微软雅黑" panose="020B0503020204020204" pitchFamily="34" charset="-122"/>
              </a:rPr>
              <a:t>递归函数设计中几个问题</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2666976" y="1333485"/>
            <a:ext cx="6929479" cy="4603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R="0" defTabSz="914400">
              <a:buClrTx/>
              <a:buSzTx/>
              <a:defRPr/>
            </a:pPr>
            <a:r>
              <a:rPr kumimoji="1" lang="zh-CN" altLang="en-US" b="1" kern="1200" cap="none" spc="50" normalizeH="0" baseline="0" noProof="0" smtClean="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mn-cs"/>
                <a:sym typeface="Wingdings" panose="05000000000000000000"/>
              </a:rPr>
              <a:t>  递归函数中的引用形参可以用全局变量代替</a:t>
            </a:r>
            <a:endParaRPr kumimoji="1" lang="zh-CN" altLang="en-US" b="1" kern="1200" cap="none" spc="50" normalizeH="0" baseline="0" noProof="0" smtClean="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mn-cs"/>
              <a:sym typeface="Wingdings" panose="05000000000000000000"/>
            </a:endParaRPr>
          </a:p>
        </p:txBody>
      </p:sp>
      <p:sp>
        <p:nvSpPr>
          <p:cNvPr id="7" name="TextBox 6"/>
          <p:cNvSpPr txBox="1"/>
          <p:nvPr/>
        </p:nvSpPr>
        <p:spPr>
          <a:xfrm>
            <a:off x="2595563" y="2000250"/>
            <a:ext cx="6346825" cy="521970"/>
          </a:xfrm>
          <a:prstGeom prst="rect">
            <a:avLst/>
          </a:prstGeom>
          <a:noFill/>
          <a:ln w="9525">
            <a:noFill/>
          </a:ln>
        </p:spPr>
        <p:txBody>
          <a:bodyPr wrap="square" anchor="t" anchorCtr="0">
            <a:spAutoFit/>
          </a:bodyPr>
          <a:p>
            <a:r>
              <a:rPr lang="zh-CN" altLang="en-US" sz="2800" b="1">
                <a:solidFill>
                  <a:srgbClr val="0000FF"/>
                </a:solidFill>
                <a:latin typeface="Times New Roman" panose="02020603050405020304" pitchFamily="18" charset="0"/>
                <a:ea typeface="楷体" panose="02010609060101010101" pitchFamily="49" charset="-122"/>
              </a:rPr>
              <a:t>例如，求</a:t>
            </a:r>
            <a:r>
              <a:rPr lang="en-US" altLang="zh-CN" sz="2800" b="1">
                <a:solidFill>
                  <a:srgbClr val="0000FF"/>
                </a:solidFill>
                <a:latin typeface="Times New Roman" panose="02020603050405020304" pitchFamily="18" charset="0"/>
                <a:ea typeface="楷体" panose="02010609060101010101" pitchFamily="49" charset="-122"/>
              </a:rPr>
              <a:t>1+2+</a:t>
            </a:r>
            <a:r>
              <a:rPr lang="en-US" altLang="zh-CN" sz="2800" b="1">
                <a:solidFill>
                  <a:srgbClr val="0000FF"/>
                </a:solidFill>
                <a:latin typeface="宋体" panose="02010600030101010101" pitchFamily="2" charset="-122"/>
                <a:ea typeface="宋体" panose="02010600030101010101" pitchFamily="2" charset="-122"/>
              </a:rPr>
              <a:t>…</a:t>
            </a:r>
            <a:r>
              <a:rPr lang="en-US" altLang="zh-CN" sz="2800" b="1">
                <a:solidFill>
                  <a:srgbClr val="0000FF"/>
                </a:solidFill>
                <a:latin typeface="Times New Roman" panose="02020603050405020304" pitchFamily="18" charset="0"/>
                <a:ea typeface="楷体" panose="02010609060101010101" pitchFamily="49" charset="-122"/>
              </a:rPr>
              <a:t>+</a:t>
            </a:r>
            <a:r>
              <a:rPr lang="en-US" altLang="zh-CN" sz="2800" b="1" i="1">
                <a:solidFill>
                  <a:srgbClr val="0000FF"/>
                </a:solidFill>
                <a:latin typeface="Times New Roman" panose="02020603050405020304" pitchFamily="18" charset="0"/>
                <a:ea typeface="楷体" panose="02010609060101010101" pitchFamily="49" charset="-122"/>
              </a:rPr>
              <a:t>n</a:t>
            </a:r>
            <a:endParaRPr lang="en-US" altLang="zh-CN" sz="2800" b="1" i="1">
              <a:solidFill>
                <a:srgbClr val="0000FF"/>
              </a:solidFill>
              <a:latin typeface="Times New Roman" panose="02020603050405020304" pitchFamily="18" charset="0"/>
              <a:ea typeface="楷体" panose="02010609060101010101" pitchFamily="49" charset="-122"/>
            </a:endParaRPr>
          </a:p>
        </p:txBody>
      </p:sp>
      <p:sp>
        <p:nvSpPr>
          <p:cNvPr id="8" name="TextBox 7"/>
          <p:cNvSpPr txBox="1"/>
          <p:nvPr/>
        </p:nvSpPr>
        <p:spPr>
          <a:xfrm>
            <a:off x="2823210" y="2522219"/>
            <a:ext cx="6384925" cy="3969385"/>
          </a:xfrm>
          <a:prstGeom prst="rect">
            <a:avLst/>
          </a:prstGeom>
          <a:noFill/>
          <a:ln>
            <a:solidFill>
              <a:schemeClr val="accent1"/>
            </a:solidFill>
          </a:ln>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void </a:t>
            </a:r>
            <a:r>
              <a:rPr kumimoji="1"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add</a:t>
            </a: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n</a:t>
            </a:r>
            <a:r>
              <a:rPr kumimoji="1" lang="zh-CN" altLang="en-US"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a:t>
            </a:r>
            <a:r>
              <a:rPr kumimoji="1" lang="en-US" altLang="zh-CN" sz="28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&amp;s</a:t>
            </a: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2800" b="1" i="0" u="none" strike="noStrike" kern="1200" cap="none" spc="0" normalizeH="0" baseline="0" noProof="0" smtClean="0">
                <a:ln>
                  <a:noFill/>
                </a:ln>
                <a:solidFill>
                  <a:srgbClr val="6600CC"/>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//s=1+2+</a:t>
            </a:r>
            <a:r>
              <a:rPr kumimoji="1" lang="en-US" altLang="zh-CN" sz="2800" b="1" i="0" u="none" strike="noStrike" kern="1200" cap="none" spc="0" normalizeH="0" baseline="0" noProof="0" smtClean="0">
                <a:ln>
                  <a:noFill/>
                </a:ln>
                <a:solidFill>
                  <a:srgbClr val="6600CC"/>
                </a:solidFill>
                <a:effectLst>
                  <a:outerShdw blurRad="38100" dist="38100" dir="2700000" algn="tl">
                    <a:srgbClr val="000000">
                      <a:alpha val="43137"/>
                    </a:srgbClr>
                  </a:outerShdw>
                </a:effectLst>
                <a:uLnTx/>
                <a:uFillTx/>
                <a:latin typeface="+mj-ea"/>
                <a:ea typeface="+mn-ea"/>
                <a:cs typeface="Times New Roman" panose="02020603050405020304" pitchFamily="18" charset="0"/>
                <a:sym typeface="+mn-ea"/>
              </a:rPr>
              <a:t>…</a:t>
            </a:r>
            <a:r>
              <a:rPr kumimoji="1" lang="en-US" altLang="zh-CN" sz="2800" b="1" i="0" u="none" strike="noStrike" kern="1200" cap="none" spc="0" normalizeH="0" baseline="0" noProof="0" smtClean="0">
                <a:ln>
                  <a:noFill/>
                </a:ln>
                <a:solidFill>
                  <a:srgbClr val="6600CC"/>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800" b="1" i="1" u="none" strike="noStrike" kern="1200" cap="none" spc="0" normalizeH="0" baseline="0" noProof="0" smtClean="0">
                <a:ln>
                  <a:noFill/>
                </a:ln>
                <a:solidFill>
                  <a:srgbClr val="6600CC"/>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endParaRPr kumimoji="1" lang="en-US" altLang="zh-CN" sz="2800" b="1" i="0" u="none" strike="noStrike" kern="1200" cap="none" spc="0" normalizeH="0" baseline="0" noProof="0" smtClean="0">
              <a:ln>
                <a:noFill/>
              </a:ln>
              <a:solidFill>
                <a:srgbClr val="6600CC"/>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int s1;</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if (n==1)</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s=1;</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else</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a:t>
            </a:r>
            <a:r>
              <a:rPr kumimoji="1"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add</a:t>
            </a: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(n-1</a:t>
            </a:r>
            <a:r>
              <a:rPr kumimoji="1" lang="zh-CN" altLang="en-US"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s1);</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s=s1+n;</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en-US" altLang="zh-CN" sz="28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10" name="灯片编号占位符 9"/>
          <p:cNvSpPr txBox="1">
            <a:spLocks noGrp="1"/>
          </p:cNvSpPr>
          <p:nvPr>
            <p:ph type="sldNum" sz="quarter" idx="12"/>
          </p:nvPr>
        </p:nvSpPr>
        <p:spPr>
          <a:no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36E68863-33C2-4D6D-B9FA-F4917E910219}" type="slidenum">
              <a:rPr kumimoji="1" lang="en-US" altLang="zh-CN" sz="825" b="1"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r>
              <a:rPr kumimoji="1" lang="en-US" altLang="zh-CN" sz="825" b="1"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t>/16</a:t>
            </a:r>
            <a:endParaRPr kumimoji="1" lang="en-US" altLang="zh-CN" sz="825" b="1"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TextBox 2"/>
          <p:cNvSpPr txBox="1"/>
          <p:nvPr/>
        </p:nvSpPr>
        <p:spPr>
          <a:xfrm>
            <a:off x="2024063" y="571500"/>
            <a:ext cx="3500437" cy="460375"/>
          </a:xfrm>
          <a:prstGeom prst="rect">
            <a:avLst/>
          </a:prstGeom>
          <a:noFill/>
          <a:ln w="9525">
            <a:noFill/>
          </a:ln>
        </p:spPr>
        <p:txBody>
          <a:bodyPr anchor="t" anchorCtr="0">
            <a:spAutoFit/>
          </a:bodyPr>
          <a:p>
            <a:r>
              <a:rPr lang="zh-CN" altLang="en-US" b="1" dirty="0">
                <a:solidFill>
                  <a:srgbClr val="0000FF"/>
                </a:solidFill>
                <a:latin typeface="Times New Roman" panose="02020603050405020304" pitchFamily="18" charset="0"/>
                <a:ea typeface="楷体" panose="02010609060101010101" pitchFamily="49" charset="-122"/>
              </a:rPr>
              <a:t>可以用</a:t>
            </a:r>
            <a:r>
              <a:rPr lang="zh-CN" altLang="en-US" b="1" dirty="0">
                <a:solidFill>
                  <a:srgbClr val="0000FF"/>
                </a:solidFill>
                <a:latin typeface="Times New Roman" panose="02020603050405020304" pitchFamily="18" charset="0"/>
                <a:ea typeface="楷体" panose="02010609060101010101" pitchFamily="49" charset="-122"/>
                <a:sym typeface="Wingdings" panose="05000000000000000000" pitchFamily="2" charset="2"/>
              </a:rPr>
              <a:t>全局变量代替：</a:t>
            </a:r>
            <a:endParaRPr lang="zh-CN" altLang="en-US" b="1" dirty="0">
              <a:solidFill>
                <a:srgbClr val="0000FF"/>
              </a:solidFill>
              <a:latin typeface="Times New Roman" panose="02020603050405020304" pitchFamily="18" charset="0"/>
              <a:ea typeface="楷体" panose="02010609060101010101" pitchFamily="49" charset="-122"/>
            </a:endParaRPr>
          </a:p>
        </p:txBody>
      </p:sp>
      <p:sp>
        <p:nvSpPr>
          <p:cNvPr id="4" name="TextBox 3"/>
          <p:cNvSpPr txBox="1"/>
          <p:nvPr/>
        </p:nvSpPr>
        <p:spPr>
          <a:xfrm>
            <a:off x="2166620" y="1238250"/>
            <a:ext cx="7992110" cy="5247640"/>
          </a:xfrm>
          <a:prstGeom prst="rect">
            <a:avLst/>
          </a:prstGeom>
          <a:noFill/>
          <a:ln>
            <a:solidFill>
              <a:schemeClr val="accent1"/>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5"/>
          </a:lnRef>
          <a:fillRef idx="2">
            <a:schemeClr val="accent5"/>
          </a:fillRef>
          <a:effectRef idx="1">
            <a:schemeClr val="accent5"/>
          </a:effectRef>
          <a:fontRef idx="minor">
            <a:schemeClr val="dk1"/>
          </a:fontRef>
        </p:style>
        <p:txBody>
          <a:bodyPr wrap="square" lIns="180000" tIns="144000" bIns="180000" rtlCol="0">
            <a:spAutoFit/>
          </a:bodyPr>
          <a:lstStyle/>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a:t>
            </a:r>
            <a:r>
              <a:rPr kumimoji="1" lang="pt-BR" altLang="zh-CN" sz="32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s</a:t>
            </a: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=0;		</a:t>
            </a:r>
            <a:r>
              <a:rPr kumimoji="1" lang="en-US"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全局变量</a:t>
            </a:r>
            <a:endParaRPr kumimoji="1" lang="pt-BR"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void </a:t>
            </a: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add</a:t>
            </a:r>
            <a:r>
              <a:rPr kumimoji="1" lang="pt-BR"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a:t>
            </a: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(int n)    </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zh-CN" altLang="en-US"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理解为</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pt-BR"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s</a:t>
            </a:r>
            <a:r>
              <a:rPr kumimoji="1" lang="zh-CN" altLang="en-US"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与</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add(n)</a:t>
            </a:r>
            <a:r>
              <a:rPr kumimoji="1" lang="zh-CN" altLang="en-US"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绑定，</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s=1+2+</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mj-ea"/>
                <a:ea typeface="+mn-ea"/>
                <a:cs typeface="Times New Roman" panose="02020603050405020304" pitchFamily="18" charset="0"/>
                <a:sym typeface="+mn-ea"/>
              </a:rPr>
              <a:t>…</a:t>
            </a:r>
            <a:r>
              <a:rPr kumimoji="1" lang="en-US"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kumimoji="1" lang="en-US" altLang="zh-CN" sz="3200" b="1" i="1"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endParaRPr kumimoji="1" lang="pt-BR" altLang="zh-CN" sz="3200" b="1" i="0" u="none" strike="noStrike" kern="1200" cap="none" spc="0" normalizeH="0" baseline="0" noProof="0" smtClean="0">
              <a:ln>
                <a:noFill/>
              </a:ln>
              <a:solidFill>
                <a:srgbClr val="7030A0"/>
              </a:solidFill>
              <a:effectLst>
                <a:outerShdw blurRad="38100" dist="38100" dir="2700000" algn="tl">
                  <a:srgbClr val="000000">
                    <a:alpha val="43137"/>
                  </a:srgbClr>
                </a:outerShdw>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if (n==1)</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32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s</a:t>
            </a: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else</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	</a:t>
            </a:r>
            <a:r>
              <a:rPr kumimoji="1" lang="pt-BR"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add1</a:t>
            </a: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(n-1);</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1" lang="pt-BR" altLang="zh-CN" sz="3200" b="1" i="0" u="none" strike="noStrike" kern="1200" cap="none" spc="0" normalizeH="0" baseline="0" noProof="0" smtClean="0">
                <a:ln>
                  <a:noFill/>
                </a:ln>
                <a:solidFill>
                  <a:srgbClr val="FF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s</a:t>
            </a: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kumimoji="1" lang="pt-BR" altLang="zh-CN" sz="3200" b="1" i="0" u="none" strike="noStrike" kern="1200" cap="none" spc="0" normalizeH="0" baseline="0" noProof="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36E68863-33C2-4D6D-B9FA-F4917E910219}" type="slidenum">
              <a:rPr kumimoji="1" lang="en-US" altLang="zh-CN" sz="825" b="1"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fld>
            <a:r>
              <a:rPr kumimoji="1" lang="en-US" altLang="zh-CN" sz="825" b="1" i="0" u="none" strike="noStrike" kern="1200" cap="none" spc="0" normalizeH="0" baseline="0" noProof="0" smtClean="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t>/16</a:t>
            </a:r>
            <a:endParaRPr kumimoji="1" lang="en-US" altLang="zh-CN" sz="825" b="1"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
</file>

<file path=ppt/tags/tag1.xml><?xml version="1.0" encoding="utf-8"?>
<p:tagLst xmlns:p="http://schemas.openxmlformats.org/presentationml/2006/main">
  <p:tag name="COMMONDATA" val="eyJoZGlkIjoiYWY4M2M4ZjcxYTRmOTM0MDhmYTU4NDE0NDhlMjU2NDMifQ=="/>
</p:tagLst>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TM02900720[[fn=积分]]</Template>
  <TotalTime>0</TotalTime>
  <Words>14754</Words>
  <Application>WPS 演示</Application>
  <PresentationFormat>全屏显示(4:3)</PresentationFormat>
  <Paragraphs>1216</Paragraphs>
  <Slides>71</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71</vt:i4>
      </vt:variant>
    </vt:vector>
  </HeadingPairs>
  <TitlesOfParts>
    <vt:vector size="90" baseType="lpstr">
      <vt:lpstr>Arial</vt:lpstr>
      <vt:lpstr>宋体</vt:lpstr>
      <vt:lpstr>Wingdings</vt:lpstr>
      <vt:lpstr>Times New Roman</vt:lpstr>
      <vt:lpstr>微软雅黑</vt:lpstr>
      <vt:lpstr>Wingdings 2</vt:lpstr>
      <vt:lpstr>隶书</vt:lpstr>
      <vt:lpstr>Consolas</vt:lpstr>
      <vt:lpstr>Arial Unicode MS</vt:lpstr>
      <vt:lpstr>Symbol</vt:lpstr>
      <vt:lpstr>Wingdings</vt:lpstr>
      <vt:lpstr>仿宋</vt:lpstr>
      <vt:lpstr>Symbol</vt:lpstr>
      <vt:lpstr>楷体</vt:lpstr>
      <vt:lpstr>黑体</vt:lpstr>
      <vt:lpstr>Calibri</vt:lpstr>
      <vt:lpstr>HDOfficeLightV0</vt:lpstr>
      <vt:lpstr>1_HDOfficeLightV0</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djzx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yang</cp:lastModifiedBy>
  <cp:revision>232</cp:revision>
  <dcterms:created xsi:type="dcterms:W3CDTF">2000-01-30T08:24:00Z</dcterms:created>
  <dcterms:modified xsi:type="dcterms:W3CDTF">2022-10-10T01:34:39Z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68AD9181FE9B4919ABC042D83DDB1C5A</vt:lpwstr>
  </property>
</Properties>
</file>